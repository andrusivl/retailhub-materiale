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Apare puțină aritmetică, dar tot gândim. Ideea unică: un KPI e un număr legat de o decizie. Distincția-cheie: volum (cât de mult) vs eficiență (cât de bine).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L3: Decision Tree, reper→unde→ce→cum→de ce, frunzele întreabă despre o schimbare de KPI. Puntea: azi definim KPI-ul.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Cele 4 obiective din §1. Apare aritmetică, dar tot gândim.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Ședința de luni. Elena: 7,5M vs Cluj 2M. Tu te blochezi. Andrei: ca s-o susții, trebuie să știi ce măsoară fiecare număr.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București are cel mai mare Revenue pentru că are cel mai mult trafic → cele mai multe comenzi. Volum vs eficiență.</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Exercițiu: dacă împarți ceva la ceva... ajungi la «vânzări pe comandă» = AOV.</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Definiția. «Suntem mai buni sau mai proști la ceva care contează?». Fără decizie în spate → doar o cifră.</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KPI vine cu 4 lucruri: ce măsoară, formulă, decizie, proprietar. AOV = Revenue ÷ Orders. Revenue = Orders × AOV.</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Volum (Revenue, Orders, Units) vs eficiență (AOV, Conversion, Retention, ROAS, Gross Margin). Capcana: Revenue sus, profit jos.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Primele patru: Revenue, Orders, Units Sold (volum) + AOV (primul de eficiență). Reține: e de volum sau de eficiență? ce decizie sprijină?</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Restul, toate de eficiență. Nu memora — reține cele două întrebări din spate.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Andrei: Revenue = Orders × AOV; «e cel mai bun?» se sparge în AOV vs Orders. Alege KPI-ul potrivit pentru întrebare.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Cele 4 greșeli din §11. La orice «cel mai mult» → «raportat la 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Cele 5 idei + puntea spre L5 (observație/insight/recomandare + prima cerere reală).</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51517"/>
        </a:solidFill>
        <a:effectLst/>
      </p:bgPr>
    </p:bg>
    <p:spTree>
      <p:nvGrpSpPr>
        <p:cNvPr id="1" name=""/>
        <p:cNvGrpSpPr/>
        <p:nvPr/>
      </p:nvGrpSpPr>
      <p:grpSpPr/>
      <p:pic>
        <p:nvPicPr>
          <p:cNvPr id="2" name="Picture 1" descr="orange_systems_logo_dark.png"/>
          <p:cNvPicPr>
            <a:picLocks noChangeAspect="1"/>
          </p:cNvPicPr>
          <p:nvPr/>
        </p:nvPicPr>
        <p:blipFill>
          <a:blip r:embed="rId2"/>
          <a:stretch>
            <a:fillRect/>
          </a:stretch>
        </p:blipFill>
        <p:spPr>
          <a:xfrm>
            <a:off x="9613087" y="502920"/>
            <a:ext cx="1920240" cy="696351"/>
          </a:xfrm>
          <a:prstGeom prst="rect">
            <a:avLst/>
          </a:prstGeom>
        </p:spPr>
      </p:pic>
      <p:sp>
        <p:nvSpPr>
          <p:cNvPr id="3" name="TextBox 2"/>
          <p:cNvSpPr txBox="1"/>
          <p:nvPr/>
        </p:nvSpPr>
        <p:spPr>
          <a:xfrm>
            <a:off x="658368" y="2148840"/>
            <a:ext cx="10874959" cy="457200"/>
          </a:xfrm>
          <a:prstGeom prst="rect">
            <a:avLst/>
          </a:prstGeom>
          <a:noFill/>
        </p:spPr>
        <p:txBody>
          <a:bodyPr wrap="none">
            <a:spAutoFit/>
          </a:bodyPr>
          <a:lstStyle/>
          <a:p>
            <a:r>
              <a:rPr sz="1300">
                <a:solidFill>
                  <a:srgbClr val="FF7900"/>
                </a:solidFill>
                <a:latin typeface="Consolas"/>
              </a:rPr>
              <a:t>● </a:t>
            </a:r>
            <a:r>
              <a:rPr sz="1300" b="1">
                <a:solidFill>
                  <a:srgbClr val="FFA24E"/>
                </a:solidFill>
                <a:latin typeface="Consolas"/>
              </a:rPr>
              <a:t>MODULUL 1 · LECȚIA 4 · A PATRA LECȚIE</a:t>
            </a:r>
          </a:p>
        </p:txBody>
      </p:sp>
      <p:sp>
        <p:nvSpPr>
          <p:cNvPr id="4" name="TextBox 3"/>
          <p:cNvSpPr txBox="1"/>
          <p:nvPr/>
        </p:nvSpPr>
        <p:spPr>
          <a:xfrm>
            <a:off x="658368" y="2697480"/>
            <a:ext cx="10874959" cy="1737360"/>
          </a:xfrm>
          <a:prstGeom prst="rect">
            <a:avLst/>
          </a:prstGeom>
          <a:noFill/>
        </p:spPr>
        <p:txBody>
          <a:bodyPr wrap="square">
            <a:spAutoFit/>
          </a:bodyPr>
          <a:lstStyle/>
          <a:p>
            <a:pPr>
              <a:defRPr b="1"/>
            </a:pPr>
            <a:r>
              <a:rPr b="1" sz="4400">
                <a:solidFill>
                  <a:srgbClr val="F2F2F2"/>
                </a:solidFill>
                <a:latin typeface="Arial"/>
              </a:rPr>
              <a:t>Ce este, de fapt, un KPI</a:t>
            </a:r>
          </a:p>
        </p:txBody>
      </p:sp>
      <p:sp>
        <p:nvSpPr>
          <p:cNvPr id="5" name="Rectangle 4"/>
          <p:cNvSpPr/>
          <p:nvPr/>
        </p:nvSpPr>
        <p:spPr>
          <a:xfrm>
            <a:off x="658368" y="4297680"/>
            <a:ext cx="1280160" cy="50800"/>
          </a:xfrm>
          <a:prstGeom prst="rect">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4526280"/>
            <a:ext cx="10874959" cy="640080"/>
          </a:xfrm>
          <a:prstGeom prst="rect">
            <a:avLst/>
          </a:prstGeom>
          <a:noFill/>
        </p:spPr>
        <p:txBody>
          <a:bodyPr wrap="none">
            <a:spAutoFit/>
          </a:bodyPr>
          <a:lstStyle/>
          <a:p>
            <a:r>
              <a:rPr b="0" sz="1700">
                <a:solidFill>
                  <a:srgbClr val="B0B0B4"/>
                </a:solidFill>
                <a:latin typeface="Arial"/>
              </a:rPr>
              <a:t>Un număr legat de o decizie · volum vs eficiență · Revenue = Orders × AOV</a:t>
            </a:r>
          </a:p>
        </p:txBody>
      </p:sp>
      <p:sp>
        <p:nvSpPr>
          <p:cNvPr id="7" name="TextBox 6"/>
          <p:cNvSpPr txBox="1"/>
          <p:nvPr/>
        </p:nvSpPr>
        <p:spPr>
          <a:xfrm>
            <a:off x="658368" y="5440680"/>
            <a:ext cx="10874959" cy="822960"/>
          </a:xfrm>
          <a:prstGeom prst="rect">
            <a:avLst/>
          </a:prstGeom>
          <a:noFill/>
        </p:spPr>
        <p:txBody>
          <a:bodyPr wrap="none">
            <a:spAutoFit/>
          </a:bodyPr>
          <a:lstStyle/>
          <a:p>
            <a:r>
              <a:rPr sz="1200">
                <a:solidFill>
                  <a:srgbClr val="77777C"/>
                </a:solidFill>
                <a:latin typeface="Consolas"/>
              </a:rPr>
              <a:t>Vineri, 25 septembrie 2026  ·  Offline, Orange Systems</a:t>
            </a:r>
          </a:p>
          <a:p>
            <a:r>
              <a:rPr sz="1300" b="1">
                <a:solidFill>
                  <a:srgbClr val="F2F2F2"/>
                </a:solidFill>
                <a:latin typeface="Arial"/>
              </a:rPr>
              <a:t>Liliana Spatari — Lead Data Analyst, Orange Systems</a:t>
            </a:r>
          </a:p>
        </p:txBody>
      </p:sp>
      <p:sp>
        <p:nvSpPr>
          <p:cNvPr id="8" name="TextBox 7"/>
          <p:cNvSpPr txBox="1"/>
          <p:nvPr/>
        </p:nvSpPr>
        <p:spPr>
          <a:xfrm>
            <a:off x="658368" y="6382512"/>
            <a:ext cx="10874959" cy="292608"/>
          </a:xfrm>
          <a:prstGeom prst="rect">
            <a:avLst/>
          </a:prstGeom>
          <a:noFill/>
        </p:spPr>
        <p:txBody>
          <a:bodyPr wrap="none">
            <a:spAutoFit/>
          </a:bodyPr>
          <a:lstStyle/>
          <a:p>
            <a:r>
              <a:rPr sz="850">
                <a:solidFill>
                  <a:srgbClr val="FF7900"/>
                </a:solidFill>
                <a:latin typeface="Consolas"/>
              </a:rPr>
              <a:t>● </a:t>
            </a:r>
            <a:r>
              <a:rPr sz="850">
                <a:solidFill>
                  <a:srgbClr val="77777C"/>
                </a:solidFill>
                <a:latin typeface="Consolas"/>
              </a:rPr>
              <a:t>Orange Systems  ·  Data Analysis</a:t>
            </a:r>
          </a:p>
        </p:txBody>
      </p:sp>
      <p:sp>
        <p:nvSpPr>
          <p:cNvPr id="9" name="TextBox 8"/>
          <p:cNvSpPr txBox="1"/>
          <p:nvPr/>
        </p:nvSpPr>
        <p:spPr>
          <a:xfrm>
            <a:off x="9247327" y="6382512"/>
            <a:ext cx="2286000" cy="292608"/>
          </a:xfrm>
          <a:prstGeom prst="rect">
            <a:avLst/>
          </a:prstGeom>
          <a:noFill/>
        </p:spPr>
        <p:txBody>
          <a:bodyPr wrap="none">
            <a:spAutoFit/>
          </a:bodyPr>
          <a:lstStyle/>
          <a:p>
            <a:pPr algn="r"/>
            <a:r>
              <a:rPr sz="850">
                <a:solidFill>
                  <a:srgbClr val="77777C"/>
                </a:solidFill>
                <a:latin typeface="Consolas"/>
              </a:rPr>
              <a:t>L4 · KPI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51517"/>
        </a:solidFill>
        <a:effectLst/>
      </p:bgPr>
    </p:bg>
    <p:spTree>
      <p:nvGrpSpPr>
        <p:cNvPr id="1" name=""/>
        <p:cNvGrpSpPr/>
        <p:nvPr/>
      </p:nvGrpSpPr>
      <p:grpSpPr/>
      <p:pic>
        <p:nvPicPr>
          <p:cNvPr id="2" name="Picture 1" descr="orange_systems_logo_dark.png"/>
          <p:cNvPicPr>
            <a:picLocks noChangeAspect="1"/>
          </p:cNvPicPr>
          <p:nvPr/>
        </p:nvPicPr>
        <p:blipFill>
          <a:blip r:embed="rId2"/>
          <a:stretch>
            <a:fillRect/>
          </a:stretch>
        </p:blipFill>
        <p:spPr>
          <a:xfrm>
            <a:off x="10116007" y="310896"/>
            <a:ext cx="1417320" cy="513973"/>
          </a:xfrm>
          <a:prstGeom prst="rect">
            <a:avLst/>
          </a:prstGeom>
        </p:spPr>
      </p:pic>
      <p:sp>
        <p:nvSpPr>
          <p:cNvPr id="3" name="TextBox 2"/>
          <p:cNvSpPr txBox="1"/>
          <p:nvPr/>
        </p:nvSpPr>
        <p:spPr>
          <a:xfrm>
            <a:off x="658368" y="457200"/>
            <a:ext cx="9320479" cy="365760"/>
          </a:xfrm>
          <a:prstGeom prst="rect">
            <a:avLst/>
          </a:prstGeom>
          <a:noFill/>
        </p:spPr>
        <p:txBody>
          <a:bodyPr wrap="none">
            <a:spAutoFit/>
          </a:bodyPr>
          <a:lstStyle/>
          <a:p>
            <a:r>
              <a:rPr sz="1100">
                <a:solidFill>
                  <a:srgbClr val="FF7900"/>
                </a:solidFill>
                <a:latin typeface="Consolas"/>
              </a:rPr>
              <a:t>● </a:t>
            </a:r>
            <a:r>
              <a:rPr sz="1150" b="1">
                <a:solidFill>
                  <a:srgbClr val="FFA24E"/>
                </a:solidFill>
                <a:latin typeface="Consolas"/>
              </a:rPr>
              <a:t>RECAP · L3</a:t>
            </a:r>
          </a:p>
        </p:txBody>
      </p:sp>
      <p:sp>
        <p:nvSpPr>
          <p:cNvPr id="4" name="TextBox 3"/>
          <p:cNvSpPr txBox="1"/>
          <p:nvPr/>
        </p:nvSpPr>
        <p:spPr>
          <a:xfrm>
            <a:off x="658368" y="896112"/>
            <a:ext cx="9320479" cy="914400"/>
          </a:xfrm>
          <a:prstGeom prst="rect">
            <a:avLst/>
          </a:prstGeom>
          <a:noFill/>
        </p:spPr>
        <p:txBody>
          <a:bodyPr wrap="square">
            <a:spAutoFit/>
          </a:bodyPr>
          <a:lstStyle/>
          <a:p>
            <a:pPr>
              <a:defRPr b="1"/>
            </a:pPr>
            <a:r>
              <a:rPr b="1" sz="3000">
                <a:solidFill>
                  <a:srgbClr val="F2F2F2"/>
                </a:solidFill>
                <a:latin typeface="Arial"/>
              </a:rPr>
              <a:t>Unde ai rămas — despici, apoi măsori</a:t>
            </a:r>
          </a:p>
        </p:txBody>
      </p:sp>
      <p:sp>
        <p:nvSpPr>
          <p:cNvPr id="5" name="Rectangle 4"/>
          <p:cNvSpPr/>
          <p:nvPr/>
        </p:nvSpPr>
        <p:spPr>
          <a:xfrm>
            <a:off x="658368" y="1664208"/>
            <a:ext cx="822960" cy="38100"/>
          </a:xfrm>
          <a:prstGeom prst="rect">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83080"/>
            <a:ext cx="10874959" cy="2066543"/>
          </a:xfrm>
          <a:prstGeom prst="rect">
            <a:avLst/>
          </a:prstGeom>
          <a:noFill/>
        </p:spPr>
        <p:txBody>
          <a:bodyPr wrap="square">
            <a:spAutoFit/>
          </a:bodyPr>
          <a:lstStyle/>
          <a:p>
            <a:pPr>
              <a:lnSpc>
                <a:spcPct val="110000"/>
              </a:lnSpc>
              <a:spcAft>
                <a:spcPts val="700"/>
              </a:spcAft>
            </a:pPr>
            <a:r>
              <a:rPr sz="1500">
                <a:solidFill>
                  <a:srgbClr val="FF7900"/>
                </a:solidFill>
                <a:latin typeface="Consolas"/>
              </a:rPr>
              <a:t>— </a:t>
            </a:r>
            <a:r>
              <a:rPr b="1" sz="1500">
                <a:solidFill>
                  <a:srgbClr val="F2F2F2"/>
                </a:solidFill>
                <a:latin typeface="Arial"/>
              </a:rPr>
              <a:t>L1:</a:t>
            </a:r>
            <a:r>
              <a:rPr b="0" sz="1500">
                <a:solidFill>
                  <a:srgbClr val="F2F2F2"/>
                </a:solidFill>
                <a:latin typeface="Arial"/>
              </a:rPr>
              <a:t> traduci cererea în întrebare analitică (măsură + reper)</a:t>
            </a:r>
          </a:p>
          <a:p>
            <a:pPr>
              <a:lnSpc>
                <a:spcPct val="110000"/>
              </a:lnSpc>
              <a:spcAft>
                <a:spcPts val="700"/>
              </a:spcAft>
            </a:pPr>
            <a:r>
              <a:rPr sz="1500">
                <a:solidFill>
                  <a:srgbClr val="FF7900"/>
                </a:solidFill>
                <a:latin typeface="Consolas"/>
              </a:rPr>
              <a:t>— </a:t>
            </a:r>
            <a:r>
              <a:rPr b="1" sz="1500">
                <a:solidFill>
                  <a:srgbClr val="F2F2F2"/>
                </a:solidFill>
                <a:latin typeface="Arial"/>
              </a:rPr>
              <a:t>L2:</a:t>
            </a:r>
            <a:r>
              <a:rPr b="0" sz="1500">
                <a:solidFill>
                  <a:srgbClr val="F2F2F2"/>
                </a:solidFill>
                <a:latin typeface="Arial"/>
              </a:rPr>
              <a:t> fiecare KPI are un proprietar și trăiește într-un tabel</a:t>
            </a:r>
          </a:p>
          <a:p>
            <a:pPr>
              <a:lnSpc>
                <a:spcPct val="110000"/>
              </a:lnSpc>
              <a:spcAft>
                <a:spcPts val="700"/>
              </a:spcAft>
            </a:pPr>
            <a:r>
              <a:rPr sz="1500">
                <a:solidFill>
                  <a:srgbClr val="FF7900"/>
                </a:solidFill>
                <a:latin typeface="Consolas"/>
              </a:rPr>
              <a:t>— </a:t>
            </a:r>
            <a:r>
              <a:rPr b="1" sz="1500">
                <a:solidFill>
                  <a:srgbClr val="F2F2F2"/>
                </a:solidFill>
                <a:latin typeface="Arial"/>
              </a:rPr>
              <a:t>L3:</a:t>
            </a:r>
            <a:r>
              <a:rPr b="0" sz="1500">
                <a:solidFill>
                  <a:srgbClr val="F2F2F2"/>
                </a:solidFill>
                <a:latin typeface="Arial"/>
              </a:rPr>
              <a:t> despici întrebarea într-un </a:t>
            </a:r>
            <a:r>
              <a:rPr b="1" sz="1500">
                <a:solidFill>
                  <a:srgbClr val="F2F2F2"/>
                </a:solidFill>
                <a:latin typeface="Arial"/>
              </a:rPr>
              <a:t>Decision Tree</a:t>
            </a:r>
            <a:r>
              <a:rPr b="0" sz="1500">
                <a:solidFill>
                  <a:srgbClr val="F2F2F2"/>
                </a:solidFill>
                <a:latin typeface="Arial"/>
              </a:rPr>
              <a:t> — frunzele întreabă despre un KPI</a:t>
            </a:r>
          </a:p>
        </p:txBody>
      </p:sp>
      <p:sp>
        <p:nvSpPr>
          <p:cNvPr id="7" name="Rounded Rectangle 6"/>
          <p:cNvSpPr/>
          <p:nvPr/>
        </p:nvSpPr>
        <p:spPr>
          <a:xfrm>
            <a:off x="658368" y="3849624"/>
            <a:ext cx="10874959" cy="1450848"/>
          </a:xfrm>
          <a:prstGeom prst="roundRect">
            <a:avLst/>
          </a:prstGeom>
          <a:solidFill>
            <a:srgbClr val="1B1B1F"/>
          </a:solidFill>
          <a:ln w="12700">
            <a:solidFill>
              <a:srgbClr val="FF79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lnSpc>
                <a:spcPct val="112000"/>
              </a:lnSpc>
            </a:pPr>
            <a:r>
              <a:rPr b="0" sz="1400">
                <a:solidFill>
                  <a:srgbClr val="F2F2F2"/>
                </a:solidFill>
                <a:latin typeface="Arial"/>
              </a:rPr>
              <a:t>Ai numit o grămadă de indicatori — Revenue, Orders, AOV, ROAS — fără să-i fi definit. Azi înțelegi ce e un </a:t>
            </a:r>
            <a:r>
              <a:rPr b="1" sz="1400">
                <a:solidFill>
                  <a:srgbClr val="F2F2F2"/>
                </a:solidFill>
                <a:latin typeface="Arial"/>
              </a:rPr>
              <a:t>KPI</a:t>
            </a:r>
            <a:r>
              <a:rPr b="0" sz="1400">
                <a:solidFill>
                  <a:srgbClr val="F2F2F2"/>
                </a:solidFill>
                <a:latin typeface="Arial"/>
              </a:rPr>
              <a:t>, de ce există și cum poate să te inducă în eroare.</a:t>
            </a:r>
          </a:p>
        </p:txBody>
      </p:sp>
      <p:sp>
        <p:nvSpPr>
          <p:cNvPr id="8" name="TextBox 7"/>
          <p:cNvSpPr txBox="1"/>
          <p:nvPr/>
        </p:nvSpPr>
        <p:spPr>
          <a:xfrm>
            <a:off x="658368" y="6382512"/>
            <a:ext cx="10874959" cy="292608"/>
          </a:xfrm>
          <a:prstGeom prst="rect">
            <a:avLst/>
          </a:prstGeom>
          <a:noFill/>
        </p:spPr>
        <p:txBody>
          <a:bodyPr wrap="none">
            <a:spAutoFit/>
          </a:bodyPr>
          <a:lstStyle/>
          <a:p>
            <a:r>
              <a:rPr sz="850">
                <a:solidFill>
                  <a:srgbClr val="FF7900"/>
                </a:solidFill>
                <a:latin typeface="Consolas"/>
              </a:rPr>
              <a:t>● </a:t>
            </a:r>
            <a:r>
              <a:rPr sz="850">
                <a:solidFill>
                  <a:srgbClr val="77777C"/>
                </a:solidFill>
                <a:latin typeface="Consolas"/>
              </a:rPr>
              <a:t>Orange Systems  ·  Data Analysis</a:t>
            </a:r>
          </a:p>
        </p:txBody>
      </p:sp>
      <p:sp>
        <p:nvSpPr>
          <p:cNvPr id="9" name="TextBox 8"/>
          <p:cNvSpPr txBox="1"/>
          <p:nvPr/>
        </p:nvSpPr>
        <p:spPr>
          <a:xfrm>
            <a:off x="9247327" y="6382512"/>
            <a:ext cx="2286000" cy="292608"/>
          </a:xfrm>
          <a:prstGeom prst="rect">
            <a:avLst/>
          </a:prstGeom>
          <a:noFill/>
        </p:spPr>
        <p:txBody>
          <a:bodyPr wrap="none">
            <a:spAutoFit/>
          </a:bodyPr>
          <a:lstStyle/>
          <a:p>
            <a:pPr algn="r"/>
            <a:r>
              <a:rPr sz="850">
                <a:solidFill>
                  <a:srgbClr val="77777C"/>
                </a:solidFill>
                <a:latin typeface="Consolas"/>
              </a:rPr>
              <a:t>L4 · KPI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51517"/>
        </a:solidFill>
        <a:effectLst/>
      </p:bgPr>
    </p:bg>
    <p:spTree>
      <p:nvGrpSpPr>
        <p:cNvPr id="1" name=""/>
        <p:cNvGrpSpPr/>
        <p:nvPr/>
      </p:nvGrpSpPr>
      <p:grpSpPr/>
      <p:pic>
        <p:nvPicPr>
          <p:cNvPr id="2" name="Picture 1" descr="orange_systems_logo_dark.png"/>
          <p:cNvPicPr>
            <a:picLocks noChangeAspect="1"/>
          </p:cNvPicPr>
          <p:nvPr/>
        </p:nvPicPr>
        <p:blipFill>
          <a:blip r:embed="rId2"/>
          <a:stretch>
            <a:fillRect/>
          </a:stretch>
        </p:blipFill>
        <p:spPr>
          <a:xfrm>
            <a:off x="10116007" y="310896"/>
            <a:ext cx="1417320" cy="513973"/>
          </a:xfrm>
          <a:prstGeom prst="rect">
            <a:avLst/>
          </a:prstGeom>
        </p:spPr>
      </p:pic>
      <p:sp>
        <p:nvSpPr>
          <p:cNvPr id="3" name="TextBox 2"/>
          <p:cNvSpPr txBox="1"/>
          <p:nvPr/>
        </p:nvSpPr>
        <p:spPr>
          <a:xfrm>
            <a:off x="658368" y="457200"/>
            <a:ext cx="9320479" cy="365760"/>
          </a:xfrm>
          <a:prstGeom prst="rect">
            <a:avLst/>
          </a:prstGeom>
          <a:noFill/>
        </p:spPr>
        <p:txBody>
          <a:bodyPr wrap="none">
            <a:spAutoFit/>
          </a:bodyPr>
          <a:lstStyle/>
          <a:p>
            <a:r>
              <a:rPr sz="1100">
                <a:solidFill>
                  <a:srgbClr val="FF7900"/>
                </a:solidFill>
                <a:latin typeface="Consolas"/>
              </a:rPr>
              <a:t>● </a:t>
            </a:r>
            <a:r>
              <a:rPr sz="1150" b="1">
                <a:solidFill>
                  <a:srgbClr val="FFA24E"/>
                </a:solidFill>
                <a:latin typeface="Consolas"/>
              </a:rPr>
              <a:t>OBJECTIVES</a:t>
            </a:r>
          </a:p>
        </p:txBody>
      </p:sp>
      <p:sp>
        <p:nvSpPr>
          <p:cNvPr id="4" name="TextBox 3"/>
          <p:cNvSpPr txBox="1"/>
          <p:nvPr/>
        </p:nvSpPr>
        <p:spPr>
          <a:xfrm>
            <a:off x="658368" y="896112"/>
            <a:ext cx="9320479" cy="914400"/>
          </a:xfrm>
          <a:prstGeom prst="rect">
            <a:avLst/>
          </a:prstGeom>
          <a:noFill/>
        </p:spPr>
        <p:txBody>
          <a:bodyPr wrap="square">
            <a:spAutoFit/>
          </a:bodyPr>
          <a:lstStyle/>
          <a:p>
            <a:pPr>
              <a:defRPr b="1"/>
            </a:pPr>
            <a:r>
              <a:rPr b="1" sz="3000">
                <a:solidFill>
                  <a:srgbClr val="F2F2F2"/>
                </a:solidFill>
                <a:latin typeface="Arial"/>
              </a:rPr>
              <a:t>Ce vei putea face după lecția asta</a:t>
            </a:r>
          </a:p>
        </p:txBody>
      </p:sp>
      <p:sp>
        <p:nvSpPr>
          <p:cNvPr id="5" name="Rectangle 4"/>
          <p:cNvSpPr/>
          <p:nvPr/>
        </p:nvSpPr>
        <p:spPr>
          <a:xfrm>
            <a:off x="658368" y="1664208"/>
            <a:ext cx="822960" cy="38100"/>
          </a:xfrm>
          <a:prstGeom prst="rect">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83080"/>
            <a:ext cx="10874959" cy="2511552"/>
          </a:xfrm>
          <a:prstGeom prst="rect">
            <a:avLst/>
          </a:prstGeom>
          <a:noFill/>
        </p:spPr>
        <p:txBody>
          <a:bodyPr wrap="square">
            <a:spAutoFit/>
          </a:bodyPr>
          <a:lstStyle/>
          <a:p>
            <a:pPr>
              <a:lnSpc>
                <a:spcPct val="110000"/>
              </a:lnSpc>
              <a:spcAft>
                <a:spcPts val="700"/>
              </a:spcAft>
            </a:pPr>
            <a:r>
              <a:rPr sz="1400">
                <a:solidFill>
                  <a:srgbClr val="FF7900"/>
                </a:solidFill>
                <a:latin typeface="Consolas"/>
              </a:rPr>
              <a:t>— </a:t>
            </a:r>
            <a:r>
              <a:rPr b="0" sz="1400">
                <a:solidFill>
                  <a:srgbClr val="F2F2F2"/>
                </a:solidFill>
                <a:latin typeface="Arial"/>
              </a:rPr>
              <a:t>Să explici ce e un KPI și ce-l deosebește de «un simplu număr»</a:t>
            </a:r>
          </a:p>
          <a:p>
            <a:pPr>
              <a:lnSpc>
                <a:spcPct val="110000"/>
              </a:lnSpc>
              <a:spcAft>
                <a:spcPts val="700"/>
              </a:spcAft>
            </a:pPr>
            <a:r>
              <a:rPr sz="1400">
                <a:solidFill>
                  <a:srgbClr val="FF7900"/>
                </a:solidFill>
                <a:latin typeface="Consolas"/>
              </a:rPr>
              <a:t>— </a:t>
            </a:r>
            <a:r>
              <a:rPr b="0" sz="1400">
                <a:solidFill>
                  <a:srgbClr val="F2F2F2"/>
                </a:solidFill>
                <a:latin typeface="Arial"/>
              </a:rPr>
              <a:t>Să citești KPI-urile de bază: ce măsoară, ce formulă, ce </a:t>
            </a:r>
            <a:r>
              <a:rPr b="1" sz="1400">
                <a:solidFill>
                  <a:srgbClr val="F2F2F2"/>
                </a:solidFill>
                <a:latin typeface="Arial"/>
              </a:rPr>
              <a:t>decizie</a:t>
            </a:r>
            <a:r>
              <a:rPr b="0" sz="1400">
                <a:solidFill>
                  <a:srgbClr val="F2F2F2"/>
                </a:solidFill>
                <a:latin typeface="Arial"/>
              </a:rPr>
              <a:t> sprijină</a:t>
            </a:r>
          </a:p>
          <a:p>
            <a:pPr>
              <a:lnSpc>
                <a:spcPct val="110000"/>
              </a:lnSpc>
              <a:spcAft>
                <a:spcPts val="700"/>
              </a:spcAft>
            </a:pPr>
            <a:r>
              <a:rPr sz="1400">
                <a:solidFill>
                  <a:srgbClr val="FF7900"/>
                </a:solidFill>
                <a:latin typeface="Consolas"/>
              </a:rPr>
              <a:t>— </a:t>
            </a:r>
            <a:r>
              <a:rPr b="0" sz="1400">
                <a:solidFill>
                  <a:srgbClr val="F2F2F2"/>
                </a:solidFill>
                <a:latin typeface="Arial"/>
              </a:rPr>
              <a:t>Să folosești </a:t>
            </a:r>
            <a:r>
              <a:rPr b="1" sz="1400">
                <a:solidFill>
                  <a:srgbClr val="F2F2F2"/>
                </a:solidFill>
                <a:latin typeface="Arial"/>
              </a:rPr>
              <a:t>Revenue = Orders × AOV</a:t>
            </a:r>
            <a:r>
              <a:rPr b="0" sz="1400">
                <a:solidFill>
                  <a:srgbClr val="F2F2F2"/>
                </a:solidFill>
                <a:latin typeface="Arial"/>
              </a:rPr>
              <a:t> ca să vezi </a:t>
            </a:r>
            <a:r>
              <a:rPr i="1" sz="1400">
                <a:solidFill>
                  <a:srgbClr val="F2F2F2"/>
                </a:solidFill>
                <a:latin typeface="Arial"/>
              </a:rPr>
              <a:t>care pârghie s-a mișcat</a:t>
            </a:r>
          </a:p>
          <a:p>
            <a:pPr>
              <a:lnSpc>
                <a:spcPct val="110000"/>
              </a:lnSpc>
              <a:spcAft>
                <a:spcPts val="700"/>
              </a:spcAft>
            </a:pPr>
            <a:r>
              <a:rPr sz="1400">
                <a:solidFill>
                  <a:srgbClr val="FF7900"/>
                </a:solidFill>
                <a:latin typeface="Consolas"/>
              </a:rPr>
              <a:t>— </a:t>
            </a:r>
            <a:r>
              <a:rPr b="0" sz="1400">
                <a:solidFill>
                  <a:srgbClr val="F2F2F2"/>
                </a:solidFill>
                <a:latin typeface="Arial"/>
              </a:rPr>
              <a:t>Să distingi </a:t>
            </a:r>
            <a:r>
              <a:rPr b="1" sz="1400">
                <a:solidFill>
                  <a:srgbClr val="F2F2F2"/>
                </a:solidFill>
                <a:latin typeface="Arial"/>
              </a:rPr>
              <a:t>volum</a:t>
            </a:r>
            <a:r>
              <a:rPr b="0" sz="1400">
                <a:solidFill>
                  <a:srgbClr val="F2F2F2"/>
                </a:solidFill>
                <a:latin typeface="Arial"/>
              </a:rPr>
              <a:t> (cât de mult) de </a:t>
            </a:r>
            <a:r>
              <a:rPr b="1" sz="1400">
                <a:solidFill>
                  <a:srgbClr val="F2F2F2"/>
                </a:solidFill>
                <a:latin typeface="Arial"/>
              </a:rPr>
              <a:t>eficiență</a:t>
            </a:r>
            <a:r>
              <a:rPr b="0" sz="1400">
                <a:solidFill>
                  <a:srgbClr val="F2F2F2"/>
                </a:solidFill>
                <a:latin typeface="Arial"/>
              </a:rPr>
              <a:t> (cât de bine)</a:t>
            </a:r>
          </a:p>
        </p:txBody>
      </p:sp>
      <p:sp>
        <p:nvSpPr>
          <p:cNvPr id="7" name="Rounded Rectangle 6"/>
          <p:cNvSpPr/>
          <p:nvPr/>
        </p:nvSpPr>
        <p:spPr>
          <a:xfrm>
            <a:off x="658368" y="4294632"/>
            <a:ext cx="10874959" cy="1450848"/>
          </a:xfrm>
          <a:prstGeom prst="roundRect">
            <a:avLst/>
          </a:prstGeom>
          <a:solidFill>
            <a:srgbClr val="1B1B1F"/>
          </a:solidFill>
          <a:ln w="12700">
            <a:solidFill>
              <a:srgbClr val="FF79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lnSpc>
                <a:spcPct val="112000"/>
              </a:lnSpc>
            </a:pPr>
            <a:r>
              <a:rPr b="0" sz="1400">
                <a:solidFill>
                  <a:srgbClr val="F2F2F2"/>
                </a:solidFill>
                <a:latin typeface="Arial"/>
              </a:rPr>
              <a:t>Apare puțină aritmetică — dar tot gândim, nu executăm. Evităm capcana «Revenue în sus, profit în jos».</a:t>
            </a:r>
          </a:p>
        </p:txBody>
      </p:sp>
      <p:sp>
        <p:nvSpPr>
          <p:cNvPr id="8" name="TextBox 7"/>
          <p:cNvSpPr txBox="1"/>
          <p:nvPr/>
        </p:nvSpPr>
        <p:spPr>
          <a:xfrm>
            <a:off x="658368" y="6382512"/>
            <a:ext cx="10874959" cy="292608"/>
          </a:xfrm>
          <a:prstGeom prst="rect">
            <a:avLst/>
          </a:prstGeom>
          <a:noFill/>
        </p:spPr>
        <p:txBody>
          <a:bodyPr wrap="none">
            <a:spAutoFit/>
          </a:bodyPr>
          <a:lstStyle/>
          <a:p>
            <a:r>
              <a:rPr sz="850">
                <a:solidFill>
                  <a:srgbClr val="FF7900"/>
                </a:solidFill>
                <a:latin typeface="Consolas"/>
              </a:rPr>
              <a:t>● </a:t>
            </a:r>
            <a:r>
              <a:rPr sz="850">
                <a:solidFill>
                  <a:srgbClr val="77777C"/>
                </a:solidFill>
                <a:latin typeface="Consolas"/>
              </a:rPr>
              <a:t>Orange Systems  ·  Data Analysis</a:t>
            </a:r>
          </a:p>
        </p:txBody>
      </p:sp>
      <p:sp>
        <p:nvSpPr>
          <p:cNvPr id="9" name="TextBox 8"/>
          <p:cNvSpPr txBox="1"/>
          <p:nvPr/>
        </p:nvSpPr>
        <p:spPr>
          <a:xfrm>
            <a:off x="9247327" y="6382512"/>
            <a:ext cx="2286000" cy="292608"/>
          </a:xfrm>
          <a:prstGeom prst="rect">
            <a:avLst/>
          </a:prstGeom>
          <a:noFill/>
        </p:spPr>
        <p:txBody>
          <a:bodyPr wrap="none">
            <a:spAutoFit/>
          </a:bodyPr>
          <a:lstStyle/>
          <a:p>
            <a:pPr algn="r"/>
            <a:r>
              <a:rPr sz="850">
                <a:solidFill>
                  <a:srgbClr val="77777C"/>
                </a:solidFill>
                <a:latin typeface="Consolas"/>
              </a:rPr>
              <a:t>L4 · KPI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51517"/>
        </a:solidFill>
        <a:effectLst/>
      </p:bgPr>
    </p:bg>
    <p:spTree>
      <p:nvGrpSpPr>
        <p:cNvPr id="1" name=""/>
        <p:cNvGrpSpPr/>
        <p:nvPr/>
      </p:nvGrpSpPr>
      <p:grpSpPr/>
      <p:pic>
        <p:nvPicPr>
          <p:cNvPr id="2" name="Picture 1" descr="orange_systems_logo_dark.png"/>
          <p:cNvPicPr>
            <a:picLocks noChangeAspect="1"/>
          </p:cNvPicPr>
          <p:nvPr/>
        </p:nvPicPr>
        <p:blipFill>
          <a:blip r:embed="rId2"/>
          <a:stretch>
            <a:fillRect/>
          </a:stretch>
        </p:blipFill>
        <p:spPr>
          <a:xfrm>
            <a:off x="10116007" y="310896"/>
            <a:ext cx="1417320" cy="513973"/>
          </a:xfrm>
          <a:prstGeom prst="rect">
            <a:avLst/>
          </a:prstGeom>
        </p:spPr>
      </p:pic>
      <p:sp>
        <p:nvSpPr>
          <p:cNvPr id="3" name="TextBox 2"/>
          <p:cNvSpPr txBox="1"/>
          <p:nvPr/>
        </p:nvSpPr>
        <p:spPr>
          <a:xfrm>
            <a:off x="658368" y="457200"/>
            <a:ext cx="9320479" cy="365760"/>
          </a:xfrm>
          <a:prstGeom prst="rect">
            <a:avLst/>
          </a:prstGeom>
          <a:noFill/>
        </p:spPr>
        <p:txBody>
          <a:bodyPr wrap="none">
            <a:spAutoFit/>
          </a:bodyPr>
          <a:lstStyle/>
          <a:p>
            <a:r>
              <a:rPr sz="1100">
                <a:solidFill>
                  <a:srgbClr val="FF7900"/>
                </a:solidFill>
                <a:latin typeface="Consolas"/>
              </a:rPr>
              <a:t>● </a:t>
            </a:r>
            <a:r>
              <a:rPr sz="1150" b="1">
                <a:solidFill>
                  <a:srgbClr val="FFA24E"/>
                </a:solidFill>
                <a:latin typeface="Consolas"/>
              </a:rPr>
              <a:t>MOMENTUL</a:t>
            </a:r>
          </a:p>
        </p:txBody>
      </p:sp>
      <p:sp>
        <p:nvSpPr>
          <p:cNvPr id="4" name="TextBox 3"/>
          <p:cNvSpPr txBox="1"/>
          <p:nvPr/>
        </p:nvSpPr>
        <p:spPr>
          <a:xfrm>
            <a:off x="658368" y="896112"/>
            <a:ext cx="9320479" cy="914400"/>
          </a:xfrm>
          <a:prstGeom prst="rect">
            <a:avLst/>
          </a:prstGeom>
          <a:noFill/>
        </p:spPr>
        <p:txBody>
          <a:bodyPr wrap="square">
            <a:spAutoFit/>
          </a:bodyPr>
          <a:lstStyle/>
          <a:p>
            <a:pPr>
              <a:defRPr b="1"/>
            </a:pPr>
            <a:r>
              <a:rPr b="1" sz="3000">
                <a:solidFill>
                  <a:srgbClr val="F2F2F2"/>
                </a:solidFill>
                <a:latin typeface="Arial"/>
              </a:rPr>
              <a:t>«București e cel mai bun — vinde cel mai mult»</a:t>
            </a:r>
          </a:p>
        </p:txBody>
      </p:sp>
      <p:sp>
        <p:nvSpPr>
          <p:cNvPr id="5" name="Rectangle 4"/>
          <p:cNvSpPr/>
          <p:nvPr/>
        </p:nvSpPr>
        <p:spPr>
          <a:xfrm>
            <a:off x="658368" y="1664208"/>
            <a:ext cx="822960" cy="38100"/>
          </a:xfrm>
          <a:prstGeom prst="rect">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83080"/>
            <a:ext cx="10874959" cy="2293033"/>
          </a:xfrm>
          <a:prstGeom prst="rect">
            <a:avLst/>
          </a:prstGeom>
          <a:noFill/>
        </p:spPr>
        <p:txBody>
          <a:bodyPr wrap="square">
            <a:spAutoFit/>
          </a:bodyPr>
          <a:lstStyle/>
          <a:p>
            <a:pPr>
              <a:lnSpc>
                <a:spcPct val="115000"/>
              </a:lnSpc>
            </a:pPr>
            <a:r>
              <a:rPr b="0" sz="1500">
                <a:solidFill>
                  <a:srgbClr val="F2F2F2"/>
                </a:solidFill>
                <a:latin typeface="Arial"/>
              </a:rPr>
              <a:t>Ședința de luni. Elena spune, ca pe un lucru evident: «București e clar cel mai bun magazin — vinde cel mai mult, vreo </a:t>
            </a:r>
            <a:r>
              <a:rPr b="1" sz="1500">
                <a:solidFill>
                  <a:srgbClr val="F2F2F2"/>
                </a:solidFill>
                <a:latin typeface="Arial"/>
              </a:rPr>
              <a:t>7,5 milioane</a:t>
            </a:r>
            <a:r>
              <a:rPr b="0" sz="1500">
                <a:solidFill>
                  <a:srgbClr val="F2F2F2"/>
                </a:solidFill>
                <a:latin typeface="Arial"/>
              </a:rPr>
              <a:t>, când Cluj-Napoca abia face </a:t>
            </a:r>
            <a:r>
              <a:rPr b="1" sz="1500">
                <a:solidFill>
                  <a:srgbClr val="F2F2F2"/>
                </a:solidFill>
                <a:latin typeface="Arial"/>
              </a:rPr>
              <a:t>2</a:t>
            </a:r>
            <a:r>
              <a:rPr b="0" sz="1500">
                <a:solidFill>
                  <a:srgbClr val="F2F2F2"/>
                </a:solidFill>
                <a:latin typeface="Arial"/>
              </a:rPr>
              <a:t>. Ar trebui să băgăm și mai multe resurse acolo.» Tu ai notat în jurnal că «vinde cel mai mult» și «e cel mai bun» </a:t>
            </a:r>
            <a:r>
              <a:rPr i="1" sz="1500">
                <a:solidFill>
                  <a:srgbClr val="F2F2F2"/>
                </a:solidFill>
                <a:latin typeface="Arial"/>
              </a:rPr>
              <a:t>ar putea</a:t>
            </a:r>
            <a:r>
              <a:rPr b="0" sz="1500">
                <a:solidFill>
                  <a:srgbClr val="F2F2F2"/>
                </a:solidFill>
                <a:latin typeface="Arial"/>
              </a:rPr>
              <a:t> fi două lucruri diferite — dar, pus să argumentezi, te blochezi.</a:t>
            </a:r>
          </a:p>
        </p:txBody>
      </p:sp>
      <p:sp>
        <p:nvSpPr>
          <p:cNvPr id="7" name="Rounded Rectangle 6"/>
          <p:cNvSpPr/>
          <p:nvPr/>
        </p:nvSpPr>
        <p:spPr>
          <a:xfrm>
            <a:off x="658368" y="4185841"/>
            <a:ext cx="10874959" cy="1450848"/>
          </a:xfrm>
          <a:prstGeom prst="roundRect">
            <a:avLst/>
          </a:prstGeom>
          <a:solidFill>
            <a:srgbClr val="1B1B1F"/>
          </a:solidFill>
          <a:ln w="12700">
            <a:solidFill>
              <a:srgbClr val="FF79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lnSpc>
                <a:spcPct val="112000"/>
              </a:lnSpc>
            </a:pPr>
            <a:r>
              <a:rPr b="0" sz="1400">
                <a:solidFill>
                  <a:srgbClr val="F2F2F2"/>
                </a:solidFill>
                <a:latin typeface="Arial"/>
              </a:rPr>
              <a:t>Andrei: «Ai avut dreptate în jurnal. Dar ca s-o poți susține, trebuie să știi exact ce </a:t>
            </a:r>
            <a:r>
              <a:rPr i="1" sz="1400">
                <a:solidFill>
                  <a:srgbClr val="F2F2F2"/>
                </a:solidFill>
                <a:latin typeface="Arial"/>
              </a:rPr>
              <a:t>măsoară</a:t>
            </a:r>
            <a:r>
              <a:rPr b="0" sz="1400">
                <a:solidFill>
                  <a:srgbClr val="F2F2F2"/>
                </a:solidFill>
                <a:latin typeface="Arial"/>
              </a:rPr>
              <a:t> fiecare număr. «Vinde cel mai mult» e un KPI. «Cel mai bun» cere alt KPI.»</a:t>
            </a:r>
          </a:p>
        </p:txBody>
      </p:sp>
      <p:sp>
        <p:nvSpPr>
          <p:cNvPr id="8" name="TextBox 7"/>
          <p:cNvSpPr txBox="1"/>
          <p:nvPr/>
        </p:nvSpPr>
        <p:spPr>
          <a:xfrm>
            <a:off x="658368" y="6382512"/>
            <a:ext cx="10874959" cy="292608"/>
          </a:xfrm>
          <a:prstGeom prst="rect">
            <a:avLst/>
          </a:prstGeom>
          <a:noFill/>
        </p:spPr>
        <p:txBody>
          <a:bodyPr wrap="none">
            <a:spAutoFit/>
          </a:bodyPr>
          <a:lstStyle/>
          <a:p>
            <a:r>
              <a:rPr sz="850">
                <a:solidFill>
                  <a:srgbClr val="FF7900"/>
                </a:solidFill>
                <a:latin typeface="Consolas"/>
              </a:rPr>
              <a:t>● </a:t>
            </a:r>
            <a:r>
              <a:rPr sz="850">
                <a:solidFill>
                  <a:srgbClr val="77777C"/>
                </a:solidFill>
                <a:latin typeface="Consolas"/>
              </a:rPr>
              <a:t>Orange Systems  ·  Data Analysis</a:t>
            </a:r>
          </a:p>
        </p:txBody>
      </p:sp>
      <p:sp>
        <p:nvSpPr>
          <p:cNvPr id="9" name="TextBox 8"/>
          <p:cNvSpPr txBox="1"/>
          <p:nvPr/>
        </p:nvSpPr>
        <p:spPr>
          <a:xfrm>
            <a:off x="9247327" y="6382512"/>
            <a:ext cx="2286000" cy="292608"/>
          </a:xfrm>
          <a:prstGeom prst="rect">
            <a:avLst/>
          </a:prstGeom>
          <a:noFill/>
        </p:spPr>
        <p:txBody>
          <a:bodyPr wrap="none">
            <a:spAutoFit/>
          </a:bodyPr>
          <a:lstStyle/>
          <a:p>
            <a:pPr algn="r"/>
            <a:r>
              <a:rPr sz="850">
                <a:solidFill>
                  <a:srgbClr val="77777C"/>
                </a:solidFill>
                <a:latin typeface="Consolas"/>
              </a:rPr>
              <a:t>L4 · KPI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51517"/>
        </a:solidFill>
        <a:effectLst/>
      </p:bgPr>
    </p:bg>
    <p:spTree>
      <p:nvGrpSpPr>
        <p:cNvPr id="1" name=""/>
        <p:cNvGrpSpPr/>
        <p:nvPr/>
      </p:nvGrpSpPr>
      <p:grpSpPr/>
      <p:pic>
        <p:nvPicPr>
          <p:cNvPr id="2" name="Picture 1" descr="orange_systems_logo_dark.png"/>
          <p:cNvPicPr>
            <a:picLocks noChangeAspect="1"/>
          </p:cNvPicPr>
          <p:nvPr/>
        </p:nvPicPr>
        <p:blipFill>
          <a:blip r:embed="rId2"/>
          <a:stretch>
            <a:fillRect/>
          </a:stretch>
        </p:blipFill>
        <p:spPr>
          <a:xfrm>
            <a:off x="10116007" y="310896"/>
            <a:ext cx="1417320" cy="513973"/>
          </a:xfrm>
          <a:prstGeom prst="rect">
            <a:avLst/>
          </a:prstGeom>
        </p:spPr>
      </p:pic>
      <p:sp>
        <p:nvSpPr>
          <p:cNvPr id="3" name="TextBox 2"/>
          <p:cNvSpPr txBox="1"/>
          <p:nvPr/>
        </p:nvSpPr>
        <p:spPr>
          <a:xfrm>
            <a:off x="658368" y="457200"/>
            <a:ext cx="9320479" cy="365760"/>
          </a:xfrm>
          <a:prstGeom prst="rect">
            <a:avLst/>
          </a:prstGeom>
          <a:noFill/>
        </p:spPr>
        <p:txBody>
          <a:bodyPr wrap="none">
            <a:spAutoFit/>
          </a:bodyPr>
          <a:lstStyle/>
          <a:p>
            <a:r>
              <a:rPr sz="1100">
                <a:solidFill>
                  <a:srgbClr val="FF7900"/>
                </a:solidFill>
                <a:latin typeface="Consolas"/>
              </a:rPr>
              <a:t>● </a:t>
            </a:r>
            <a:r>
              <a:rPr sz="1150" b="1">
                <a:solidFill>
                  <a:srgbClr val="FFA24E"/>
                </a:solidFill>
                <a:latin typeface="Consolas"/>
              </a:rPr>
              <a:t>THEORY</a:t>
            </a:r>
          </a:p>
        </p:txBody>
      </p:sp>
      <p:sp>
        <p:nvSpPr>
          <p:cNvPr id="4" name="TextBox 3"/>
          <p:cNvSpPr txBox="1"/>
          <p:nvPr/>
        </p:nvSpPr>
        <p:spPr>
          <a:xfrm>
            <a:off x="658368" y="896112"/>
            <a:ext cx="9320479" cy="914400"/>
          </a:xfrm>
          <a:prstGeom prst="rect">
            <a:avLst/>
          </a:prstGeom>
          <a:noFill/>
        </p:spPr>
        <p:txBody>
          <a:bodyPr wrap="square">
            <a:spAutoFit/>
          </a:bodyPr>
          <a:lstStyle/>
          <a:p>
            <a:pPr>
              <a:defRPr b="1"/>
            </a:pPr>
            <a:r>
              <a:rPr b="1" sz="3000">
                <a:solidFill>
                  <a:srgbClr val="F2F2F2"/>
                </a:solidFill>
                <a:latin typeface="Arial"/>
              </a:rPr>
              <a:t>«Cel mai mult» și «cel mai bun» nu măsoară la fel</a:t>
            </a:r>
          </a:p>
        </p:txBody>
      </p:sp>
      <p:sp>
        <p:nvSpPr>
          <p:cNvPr id="5" name="Rectangle 4"/>
          <p:cNvSpPr/>
          <p:nvPr/>
        </p:nvSpPr>
        <p:spPr>
          <a:xfrm>
            <a:off x="658368" y="1664208"/>
            <a:ext cx="822960" cy="38100"/>
          </a:xfrm>
          <a:prstGeom prst="rect">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83080"/>
            <a:ext cx="10874959" cy="2293033"/>
          </a:xfrm>
          <a:prstGeom prst="rect">
            <a:avLst/>
          </a:prstGeom>
          <a:noFill/>
        </p:spPr>
        <p:txBody>
          <a:bodyPr wrap="square">
            <a:spAutoFit/>
          </a:bodyPr>
          <a:lstStyle/>
          <a:p>
            <a:pPr>
              <a:lnSpc>
                <a:spcPct val="115000"/>
              </a:lnSpc>
            </a:pPr>
            <a:r>
              <a:rPr b="0" sz="1500">
                <a:solidFill>
                  <a:srgbClr val="F2F2F2"/>
                </a:solidFill>
                <a:latin typeface="Arial"/>
              </a:rPr>
              <a:t>«București vinde cel mai mult» e adevărat — cel mai mare </a:t>
            </a:r>
            <a:r>
              <a:rPr b="1" sz="1500">
                <a:solidFill>
                  <a:srgbClr val="F2F2F2"/>
                </a:solidFill>
                <a:latin typeface="Arial"/>
              </a:rPr>
              <a:t>Revenue</a:t>
            </a:r>
            <a:r>
              <a:rPr b="0" sz="1500">
                <a:solidFill>
                  <a:srgbClr val="F2F2F2"/>
                </a:solidFill>
                <a:latin typeface="Arial"/>
              </a:rPr>
              <a:t>, ~7,5 milioane. Dar e cel mai mare oraș, cu cel mai mult trafic, deci cele mai multe comenzi. Un magazin cu de patru ori mai mulți clienți va avea cel mai mare Revenue — chiar dacă la </a:t>
            </a:r>
            <a:r>
              <a:rPr i="1" sz="1500">
                <a:solidFill>
                  <a:srgbClr val="F2F2F2"/>
                </a:solidFill>
                <a:latin typeface="Arial"/>
              </a:rPr>
              <a:t>fiecare</a:t>
            </a:r>
            <a:r>
              <a:rPr b="0" sz="1500">
                <a:solidFill>
                  <a:srgbClr val="F2F2F2"/>
                </a:solidFill>
                <a:latin typeface="Arial"/>
              </a:rPr>
              <a:t> comandă vinde mai prost.</a:t>
            </a:r>
          </a:p>
        </p:txBody>
      </p:sp>
      <p:sp>
        <p:nvSpPr>
          <p:cNvPr id="7" name="Rounded Rectangle 6"/>
          <p:cNvSpPr/>
          <p:nvPr/>
        </p:nvSpPr>
        <p:spPr>
          <a:xfrm>
            <a:off x="658368" y="4185841"/>
            <a:ext cx="10874959" cy="1984248"/>
          </a:xfrm>
          <a:prstGeom prst="roundRect">
            <a:avLst/>
          </a:prstGeom>
          <a:solidFill>
            <a:srgbClr val="1B1B1F"/>
          </a:solidFill>
          <a:ln w="12700">
            <a:solidFill>
              <a:srgbClr val="FF79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lnSpc>
                <a:spcPct val="112000"/>
              </a:lnSpc>
            </a:pPr>
            <a:r>
              <a:rPr b="0" sz="1400">
                <a:solidFill>
                  <a:srgbClr val="F2F2F2"/>
                </a:solidFill>
                <a:latin typeface="Arial"/>
              </a:rPr>
              <a:t>«Cel mai mult» (Revenue total) = măsură de </a:t>
            </a:r>
            <a:r>
              <a:rPr b="1" sz="1400">
                <a:solidFill>
                  <a:srgbClr val="F2F2F2"/>
                </a:solidFill>
                <a:latin typeface="Arial"/>
              </a:rPr>
              <a:t>volum</a:t>
            </a:r>
            <a:r>
              <a:rPr b="0" sz="1400">
                <a:solidFill>
                  <a:srgbClr val="F2F2F2"/>
                </a:solidFill>
                <a:latin typeface="Arial"/>
              </a:rPr>
              <a:t>. «Cel mai bun» = măsură de </a:t>
            </a:r>
            <a:r>
              <a:rPr b="1" sz="1400">
                <a:solidFill>
                  <a:srgbClr val="F2F2F2"/>
                </a:solidFill>
                <a:latin typeface="Arial"/>
              </a:rPr>
              <a:t>eficiență</a:t>
            </a:r>
            <a:r>
              <a:rPr b="0" sz="1400">
                <a:solidFill>
                  <a:srgbClr val="F2F2F2"/>
                </a:solidFill>
                <a:latin typeface="Arial"/>
              </a:rPr>
              <a:t> — cât de bine transformă magazinul fiecare comandă în vânzări. Întrebări diferite, numere diferite.</a:t>
            </a:r>
          </a:p>
        </p:txBody>
      </p:sp>
      <p:sp>
        <p:nvSpPr>
          <p:cNvPr id="8" name="TextBox 7"/>
          <p:cNvSpPr txBox="1"/>
          <p:nvPr/>
        </p:nvSpPr>
        <p:spPr>
          <a:xfrm>
            <a:off x="658368" y="6382512"/>
            <a:ext cx="10874959" cy="292608"/>
          </a:xfrm>
          <a:prstGeom prst="rect">
            <a:avLst/>
          </a:prstGeom>
          <a:noFill/>
        </p:spPr>
        <p:txBody>
          <a:bodyPr wrap="none">
            <a:spAutoFit/>
          </a:bodyPr>
          <a:lstStyle/>
          <a:p>
            <a:r>
              <a:rPr sz="850">
                <a:solidFill>
                  <a:srgbClr val="FF7900"/>
                </a:solidFill>
                <a:latin typeface="Consolas"/>
              </a:rPr>
              <a:t>● </a:t>
            </a:r>
            <a:r>
              <a:rPr sz="850">
                <a:solidFill>
                  <a:srgbClr val="77777C"/>
                </a:solidFill>
                <a:latin typeface="Consolas"/>
              </a:rPr>
              <a:t>Orange Systems  ·  Data Analysis</a:t>
            </a:r>
          </a:p>
        </p:txBody>
      </p:sp>
      <p:sp>
        <p:nvSpPr>
          <p:cNvPr id="9" name="TextBox 8"/>
          <p:cNvSpPr txBox="1"/>
          <p:nvPr/>
        </p:nvSpPr>
        <p:spPr>
          <a:xfrm>
            <a:off x="9247327" y="6382512"/>
            <a:ext cx="2286000" cy="292608"/>
          </a:xfrm>
          <a:prstGeom prst="rect">
            <a:avLst/>
          </a:prstGeom>
          <a:noFill/>
        </p:spPr>
        <p:txBody>
          <a:bodyPr wrap="none">
            <a:spAutoFit/>
          </a:bodyPr>
          <a:lstStyle/>
          <a:p>
            <a:pPr algn="r"/>
            <a:r>
              <a:rPr sz="850">
                <a:solidFill>
                  <a:srgbClr val="77777C"/>
                </a:solidFill>
                <a:latin typeface="Consolas"/>
              </a:rPr>
              <a:t>L4 · KPI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51517"/>
        </a:solidFill>
        <a:effectLst/>
      </p:bgPr>
    </p:bg>
    <p:spTree>
      <p:nvGrpSpPr>
        <p:cNvPr id="1" name=""/>
        <p:cNvGrpSpPr/>
        <p:nvPr/>
      </p:nvGrpSpPr>
      <p:grpSpPr/>
      <p:pic>
        <p:nvPicPr>
          <p:cNvPr id="2" name="Picture 1" descr="orange_systems_logo_dark.png"/>
          <p:cNvPicPr>
            <a:picLocks noChangeAspect="1"/>
          </p:cNvPicPr>
          <p:nvPr/>
        </p:nvPicPr>
        <p:blipFill>
          <a:blip r:embed="rId2"/>
          <a:stretch>
            <a:fillRect/>
          </a:stretch>
        </p:blipFill>
        <p:spPr>
          <a:xfrm>
            <a:off x="10116007" y="310896"/>
            <a:ext cx="1417320" cy="513973"/>
          </a:xfrm>
          <a:prstGeom prst="rect">
            <a:avLst/>
          </a:prstGeom>
        </p:spPr>
      </p:pic>
      <p:sp>
        <p:nvSpPr>
          <p:cNvPr id="3" name="TextBox 2"/>
          <p:cNvSpPr txBox="1"/>
          <p:nvPr/>
        </p:nvSpPr>
        <p:spPr>
          <a:xfrm>
            <a:off x="658368" y="457200"/>
            <a:ext cx="9320479" cy="365760"/>
          </a:xfrm>
          <a:prstGeom prst="rect">
            <a:avLst/>
          </a:prstGeom>
          <a:noFill/>
        </p:spPr>
        <p:txBody>
          <a:bodyPr wrap="none">
            <a:spAutoFit/>
          </a:bodyPr>
          <a:lstStyle/>
          <a:p>
            <a:r>
              <a:rPr sz="1100">
                <a:solidFill>
                  <a:srgbClr val="FF7900"/>
                </a:solidFill>
                <a:latin typeface="Consolas"/>
              </a:rPr>
              <a:t>● </a:t>
            </a:r>
            <a:r>
              <a:rPr sz="1150" b="1">
                <a:solidFill>
                  <a:srgbClr val="FFA24E"/>
                </a:solidFill>
                <a:latin typeface="Consolas"/>
              </a:rPr>
              <a:t>THEORY</a:t>
            </a:r>
          </a:p>
        </p:txBody>
      </p:sp>
      <p:sp>
        <p:nvSpPr>
          <p:cNvPr id="4" name="TextBox 3"/>
          <p:cNvSpPr txBox="1"/>
          <p:nvPr/>
        </p:nvSpPr>
        <p:spPr>
          <a:xfrm>
            <a:off x="658368" y="896112"/>
            <a:ext cx="9320479" cy="914400"/>
          </a:xfrm>
          <a:prstGeom prst="rect">
            <a:avLst/>
          </a:prstGeom>
          <a:noFill/>
        </p:spPr>
        <p:txBody>
          <a:bodyPr wrap="square">
            <a:spAutoFit/>
          </a:bodyPr>
          <a:lstStyle/>
          <a:p>
            <a:pPr>
              <a:defRPr b="1"/>
            </a:pPr>
            <a:r>
              <a:rPr b="1" sz="3000">
                <a:solidFill>
                  <a:srgbClr val="F2F2F2"/>
                </a:solidFill>
                <a:latin typeface="Arial"/>
              </a:rPr>
              <a:t>Ce ai măsura ca să compari «cât de bine»?</a:t>
            </a:r>
          </a:p>
        </p:txBody>
      </p:sp>
      <p:sp>
        <p:nvSpPr>
          <p:cNvPr id="5" name="Rectangle 4"/>
          <p:cNvSpPr/>
          <p:nvPr/>
        </p:nvSpPr>
        <p:spPr>
          <a:xfrm>
            <a:off x="658368" y="1664208"/>
            <a:ext cx="822960" cy="38100"/>
          </a:xfrm>
          <a:prstGeom prst="rect">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83080"/>
            <a:ext cx="10874959" cy="1765495"/>
          </a:xfrm>
          <a:prstGeom prst="rect">
            <a:avLst/>
          </a:prstGeom>
          <a:noFill/>
        </p:spPr>
        <p:txBody>
          <a:bodyPr wrap="square">
            <a:spAutoFit/>
          </a:bodyPr>
          <a:lstStyle/>
          <a:p>
            <a:pPr>
              <a:lnSpc>
                <a:spcPct val="115000"/>
              </a:lnSpc>
            </a:pPr>
            <a:r>
              <a:rPr b="0" sz="1500">
                <a:solidFill>
                  <a:srgbClr val="F2F2F2"/>
                </a:solidFill>
                <a:latin typeface="Arial"/>
              </a:rPr>
              <a:t>București are cel mai mare Revenue pentru că are cele mai multe comenzi. Ce număr ai construi ca să compari magazinele </a:t>
            </a:r>
            <a:r>
              <a:rPr i="1" sz="1500">
                <a:solidFill>
                  <a:srgbClr val="F2F2F2"/>
                </a:solidFill>
                <a:latin typeface="Arial"/>
              </a:rPr>
              <a:t>corect</a:t>
            </a:r>
            <a:r>
              <a:rPr b="0" sz="1500">
                <a:solidFill>
                  <a:srgbClr val="F2F2F2"/>
                </a:solidFill>
                <a:latin typeface="Arial"/>
              </a:rPr>
              <a:t>, scoțând din ecuație faptul că unul e pur și simplu mai mare? (Indiciu: dacă împarți ceva la ceva…)</a:t>
            </a:r>
          </a:p>
        </p:txBody>
      </p:sp>
      <p:sp>
        <p:nvSpPr>
          <p:cNvPr id="7" name="Rounded Rectangle 6"/>
          <p:cNvSpPr/>
          <p:nvPr/>
        </p:nvSpPr>
        <p:spPr>
          <a:xfrm>
            <a:off x="658368" y="3658303"/>
            <a:ext cx="10874959" cy="1984248"/>
          </a:xfrm>
          <a:prstGeom prst="roundRect">
            <a:avLst/>
          </a:prstGeom>
          <a:solidFill>
            <a:srgbClr val="1B1B1F"/>
          </a:solidFill>
          <a:ln w="12700">
            <a:solidFill>
              <a:srgbClr val="FF79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lnSpc>
                <a:spcPct val="112000"/>
              </a:lnSpc>
            </a:pPr>
            <a:r>
              <a:rPr b="0" sz="1400">
                <a:solidFill>
                  <a:srgbClr val="F2F2F2"/>
                </a:solidFill>
                <a:latin typeface="Arial"/>
              </a:rPr>
              <a:t>Aproape sigur ai ajuns la «vânzări </a:t>
            </a:r>
            <a:r>
              <a:rPr b="1" sz="1400">
                <a:solidFill>
                  <a:srgbClr val="F2F2F2"/>
                </a:solidFill>
                <a:latin typeface="Arial"/>
              </a:rPr>
              <a:t>pe</a:t>
            </a:r>
            <a:r>
              <a:rPr b="0" sz="1400">
                <a:solidFill>
                  <a:srgbClr val="F2F2F2"/>
                </a:solidFill>
                <a:latin typeface="Arial"/>
              </a:rPr>
              <a:t> comandă». Un total împărțit la ceva îți spune cât de </a:t>
            </a:r>
            <a:r>
              <a:rPr i="1" sz="1400">
                <a:solidFill>
                  <a:srgbClr val="F2F2F2"/>
                </a:solidFill>
                <a:latin typeface="Arial"/>
              </a:rPr>
              <a:t>bine</a:t>
            </a:r>
            <a:r>
              <a:rPr b="0" sz="1400">
                <a:solidFill>
                  <a:srgbClr val="F2F2F2"/>
                </a:solidFill>
                <a:latin typeface="Arial"/>
              </a:rPr>
              <a:t> lucrează, indiferent de mărime. Numărul are un nume: </a:t>
            </a:r>
            <a:r>
              <a:rPr b="1" sz="1400">
                <a:solidFill>
                  <a:srgbClr val="F2F2F2"/>
                </a:solidFill>
                <a:latin typeface="Arial"/>
              </a:rPr>
              <a:t>AOV</a:t>
            </a:r>
            <a:r>
              <a:rPr b="0" sz="1400">
                <a:solidFill>
                  <a:srgbClr val="F2F2F2"/>
                </a:solidFill>
                <a:latin typeface="Arial"/>
              </a:rPr>
              <a:t> — Average Order Value.</a:t>
            </a:r>
          </a:p>
        </p:txBody>
      </p:sp>
      <p:sp>
        <p:nvSpPr>
          <p:cNvPr id="8" name="TextBox 7"/>
          <p:cNvSpPr txBox="1"/>
          <p:nvPr/>
        </p:nvSpPr>
        <p:spPr>
          <a:xfrm>
            <a:off x="658368" y="6382512"/>
            <a:ext cx="10874959" cy="292608"/>
          </a:xfrm>
          <a:prstGeom prst="rect">
            <a:avLst/>
          </a:prstGeom>
          <a:noFill/>
        </p:spPr>
        <p:txBody>
          <a:bodyPr wrap="none">
            <a:spAutoFit/>
          </a:bodyPr>
          <a:lstStyle/>
          <a:p>
            <a:r>
              <a:rPr sz="850">
                <a:solidFill>
                  <a:srgbClr val="FF7900"/>
                </a:solidFill>
                <a:latin typeface="Consolas"/>
              </a:rPr>
              <a:t>● </a:t>
            </a:r>
            <a:r>
              <a:rPr sz="850">
                <a:solidFill>
                  <a:srgbClr val="77777C"/>
                </a:solidFill>
                <a:latin typeface="Consolas"/>
              </a:rPr>
              <a:t>Orange Systems  ·  Data Analysis</a:t>
            </a:r>
          </a:p>
        </p:txBody>
      </p:sp>
      <p:sp>
        <p:nvSpPr>
          <p:cNvPr id="9" name="TextBox 8"/>
          <p:cNvSpPr txBox="1"/>
          <p:nvPr/>
        </p:nvSpPr>
        <p:spPr>
          <a:xfrm>
            <a:off x="9247327" y="6382512"/>
            <a:ext cx="2286000" cy="292608"/>
          </a:xfrm>
          <a:prstGeom prst="rect">
            <a:avLst/>
          </a:prstGeom>
          <a:noFill/>
        </p:spPr>
        <p:txBody>
          <a:bodyPr wrap="none">
            <a:spAutoFit/>
          </a:bodyPr>
          <a:lstStyle/>
          <a:p>
            <a:pPr algn="r"/>
            <a:r>
              <a:rPr sz="850">
                <a:solidFill>
                  <a:srgbClr val="77777C"/>
                </a:solidFill>
                <a:latin typeface="Consolas"/>
              </a:rPr>
              <a:t>L4 · KPI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51517"/>
        </a:solidFill>
        <a:effectLst/>
      </p:bgPr>
    </p:bg>
    <p:spTree>
      <p:nvGrpSpPr>
        <p:cNvPr id="1" name=""/>
        <p:cNvGrpSpPr/>
        <p:nvPr/>
      </p:nvGrpSpPr>
      <p:grpSpPr/>
      <p:pic>
        <p:nvPicPr>
          <p:cNvPr id="2" name="Picture 1" descr="orange_systems_logo_dark.png"/>
          <p:cNvPicPr>
            <a:picLocks noChangeAspect="1"/>
          </p:cNvPicPr>
          <p:nvPr/>
        </p:nvPicPr>
        <p:blipFill>
          <a:blip r:embed="rId2"/>
          <a:stretch>
            <a:fillRect/>
          </a:stretch>
        </p:blipFill>
        <p:spPr>
          <a:xfrm>
            <a:off x="10116007" y="310896"/>
            <a:ext cx="1417320" cy="513973"/>
          </a:xfrm>
          <a:prstGeom prst="rect">
            <a:avLst/>
          </a:prstGeom>
        </p:spPr>
      </p:pic>
      <p:sp>
        <p:nvSpPr>
          <p:cNvPr id="3" name="TextBox 2"/>
          <p:cNvSpPr txBox="1"/>
          <p:nvPr/>
        </p:nvSpPr>
        <p:spPr>
          <a:xfrm>
            <a:off x="658368" y="457200"/>
            <a:ext cx="9320479" cy="365760"/>
          </a:xfrm>
          <a:prstGeom prst="rect">
            <a:avLst/>
          </a:prstGeom>
          <a:noFill/>
        </p:spPr>
        <p:txBody>
          <a:bodyPr wrap="none">
            <a:spAutoFit/>
          </a:bodyPr>
          <a:lstStyle/>
          <a:p>
            <a:r>
              <a:rPr sz="1100">
                <a:solidFill>
                  <a:srgbClr val="FF7900"/>
                </a:solidFill>
                <a:latin typeface="Consolas"/>
              </a:rPr>
              <a:t>● </a:t>
            </a:r>
            <a:r>
              <a:rPr sz="1150" b="1">
                <a:solidFill>
                  <a:srgbClr val="FFA24E"/>
                </a:solidFill>
                <a:latin typeface="Consolas"/>
              </a:rPr>
              <a:t>IDEEA CENTRALĂ</a:t>
            </a:r>
          </a:p>
        </p:txBody>
      </p:sp>
      <p:sp>
        <p:nvSpPr>
          <p:cNvPr id="4" name="TextBox 3"/>
          <p:cNvSpPr txBox="1"/>
          <p:nvPr/>
        </p:nvSpPr>
        <p:spPr>
          <a:xfrm>
            <a:off x="658368" y="896112"/>
            <a:ext cx="9320479" cy="914400"/>
          </a:xfrm>
          <a:prstGeom prst="rect">
            <a:avLst/>
          </a:prstGeom>
          <a:noFill/>
        </p:spPr>
        <p:txBody>
          <a:bodyPr wrap="square">
            <a:spAutoFit/>
          </a:bodyPr>
          <a:lstStyle/>
          <a:p>
            <a:pPr>
              <a:defRPr b="1"/>
            </a:pPr>
            <a:r>
              <a:rPr b="1" sz="3000">
                <a:solidFill>
                  <a:srgbClr val="F2F2F2"/>
                </a:solidFill>
                <a:latin typeface="Arial"/>
              </a:rPr>
              <a:t>Un KPI e un număr legat de o decizie</a:t>
            </a:r>
          </a:p>
        </p:txBody>
      </p:sp>
      <p:sp>
        <p:nvSpPr>
          <p:cNvPr id="5" name="Rectangle 4"/>
          <p:cNvSpPr/>
          <p:nvPr/>
        </p:nvSpPr>
        <p:spPr>
          <a:xfrm>
            <a:off x="658368" y="1664208"/>
            <a:ext cx="822960" cy="38100"/>
          </a:xfrm>
          <a:prstGeom prst="rect">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83080"/>
            <a:ext cx="10874959" cy="2293033"/>
          </a:xfrm>
          <a:prstGeom prst="rect">
            <a:avLst/>
          </a:prstGeom>
          <a:noFill/>
        </p:spPr>
        <p:txBody>
          <a:bodyPr wrap="square">
            <a:spAutoFit/>
          </a:bodyPr>
          <a:lstStyle/>
          <a:p>
            <a:pPr>
              <a:lnSpc>
                <a:spcPct val="115000"/>
              </a:lnSpc>
            </a:pPr>
            <a:r>
              <a:rPr b="0" sz="1500">
                <a:solidFill>
                  <a:srgbClr val="F2F2F2"/>
                </a:solidFill>
                <a:latin typeface="Arial"/>
              </a:rPr>
              <a:t>Un </a:t>
            </a:r>
            <a:r>
              <a:rPr b="1" sz="1500">
                <a:solidFill>
                  <a:srgbClr val="F2F2F2"/>
                </a:solidFill>
                <a:latin typeface="Arial"/>
              </a:rPr>
              <a:t>KPI</a:t>
            </a:r>
            <a:r>
              <a:rPr b="0" sz="1500">
                <a:solidFill>
                  <a:srgbClr val="F2F2F2"/>
                </a:solidFill>
                <a:latin typeface="Arial"/>
              </a:rPr>
              <a:t> (Key Performance Indicator) e numărul pe care îl verifici ca să răspunzi la «suntem mai buni sau mai proști la ceva care contează?». Un manager se uită la vânzările de luna trecută și se întreabă «chiar performăm mai prost, sau se întâmplă altceva?». Numărul la care se uită — ăla e un KPI.</a:t>
            </a:r>
          </a:p>
        </p:txBody>
      </p:sp>
      <p:sp>
        <p:nvSpPr>
          <p:cNvPr id="7" name="Rounded Rectangle 6"/>
          <p:cNvSpPr/>
          <p:nvPr/>
        </p:nvSpPr>
        <p:spPr>
          <a:xfrm>
            <a:off x="658368" y="4185841"/>
            <a:ext cx="10874959" cy="1984248"/>
          </a:xfrm>
          <a:prstGeom prst="roundRect">
            <a:avLst/>
          </a:prstGeom>
          <a:solidFill>
            <a:srgbClr val="1B1B1F"/>
          </a:solidFill>
          <a:ln w="12700">
            <a:solidFill>
              <a:srgbClr val="FF79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lnSpc>
                <a:spcPct val="112000"/>
              </a:lnSpc>
            </a:pPr>
            <a:r>
              <a:rPr b="0" sz="1400">
                <a:solidFill>
                  <a:srgbClr val="F2F2F2"/>
                </a:solidFill>
                <a:latin typeface="Arial"/>
              </a:rPr>
              <a:t>Ce-l deosebește de «un simplu număr»? E legat de o </a:t>
            </a:r>
            <a:r>
              <a:rPr b="1" sz="1400">
                <a:solidFill>
                  <a:srgbClr val="F2F2F2"/>
                </a:solidFill>
                <a:latin typeface="Arial"/>
              </a:rPr>
              <a:t>decizie</a:t>
            </a:r>
            <a:r>
              <a:rPr b="0" sz="1400">
                <a:solidFill>
                  <a:srgbClr val="F2F2F2"/>
                </a:solidFill>
                <a:latin typeface="Arial"/>
              </a:rPr>
              <a:t>. «Câte litere are numele magazinului» e un număr, dar nu ajută pe nimeni să decidă — nu e KPI. Regula: dacă un număr nu sprijină o decizie, e doar o cifră.</a:t>
            </a:r>
          </a:p>
        </p:txBody>
      </p:sp>
      <p:sp>
        <p:nvSpPr>
          <p:cNvPr id="8" name="TextBox 7"/>
          <p:cNvSpPr txBox="1"/>
          <p:nvPr/>
        </p:nvSpPr>
        <p:spPr>
          <a:xfrm>
            <a:off x="658368" y="6382512"/>
            <a:ext cx="10874959" cy="292608"/>
          </a:xfrm>
          <a:prstGeom prst="rect">
            <a:avLst/>
          </a:prstGeom>
          <a:noFill/>
        </p:spPr>
        <p:txBody>
          <a:bodyPr wrap="none">
            <a:spAutoFit/>
          </a:bodyPr>
          <a:lstStyle/>
          <a:p>
            <a:r>
              <a:rPr sz="850">
                <a:solidFill>
                  <a:srgbClr val="FF7900"/>
                </a:solidFill>
                <a:latin typeface="Consolas"/>
              </a:rPr>
              <a:t>● </a:t>
            </a:r>
            <a:r>
              <a:rPr sz="850">
                <a:solidFill>
                  <a:srgbClr val="77777C"/>
                </a:solidFill>
                <a:latin typeface="Consolas"/>
              </a:rPr>
              <a:t>Orange Systems  ·  Data Analysis</a:t>
            </a:r>
          </a:p>
        </p:txBody>
      </p:sp>
      <p:sp>
        <p:nvSpPr>
          <p:cNvPr id="9" name="TextBox 8"/>
          <p:cNvSpPr txBox="1"/>
          <p:nvPr/>
        </p:nvSpPr>
        <p:spPr>
          <a:xfrm>
            <a:off x="9247327" y="6382512"/>
            <a:ext cx="2286000" cy="292608"/>
          </a:xfrm>
          <a:prstGeom prst="rect">
            <a:avLst/>
          </a:prstGeom>
          <a:noFill/>
        </p:spPr>
        <p:txBody>
          <a:bodyPr wrap="none">
            <a:spAutoFit/>
          </a:bodyPr>
          <a:lstStyle/>
          <a:p>
            <a:pPr algn="r"/>
            <a:r>
              <a:rPr sz="850">
                <a:solidFill>
                  <a:srgbClr val="77777C"/>
                </a:solidFill>
                <a:latin typeface="Consolas"/>
              </a:rPr>
              <a:t>L4 · KPI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51517"/>
        </a:solidFill>
        <a:effectLst/>
      </p:bgPr>
    </p:bg>
    <p:spTree>
      <p:nvGrpSpPr>
        <p:cNvPr id="1" name=""/>
        <p:cNvGrpSpPr/>
        <p:nvPr/>
      </p:nvGrpSpPr>
      <p:grpSpPr/>
      <p:pic>
        <p:nvPicPr>
          <p:cNvPr id="2" name="Picture 1" descr="orange_systems_logo_dark.png"/>
          <p:cNvPicPr>
            <a:picLocks noChangeAspect="1"/>
          </p:cNvPicPr>
          <p:nvPr/>
        </p:nvPicPr>
        <p:blipFill>
          <a:blip r:embed="rId2"/>
          <a:stretch>
            <a:fillRect/>
          </a:stretch>
        </p:blipFill>
        <p:spPr>
          <a:xfrm>
            <a:off x="10116007" y="310896"/>
            <a:ext cx="1417320" cy="513973"/>
          </a:xfrm>
          <a:prstGeom prst="rect">
            <a:avLst/>
          </a:prstGeom>
        </p:spPr>
      </p:pic>
      <p:sp>
        <p:nvSpPr>
          <p:cNvPr id="3" name="TextBox 2"/>
          <p:cNvSpPr txBox="1"/>
          <p:nvPr/>
        </p:nvSpPr>
        <p:spPr>
          <a:xfrm>
            <a:off x="658368" y="457200"/>
            <a:ext cx="9320479" cy="365760"/>
          </a:xfrm>
          <a:prstGeom prst="rect">
            <a:avLst/>
          </a:prstGeom>
          <a:noFill/>
        </p:spPr>
        <p:txBody>
          <a:bodyPr wrap="none">
            <a:spAutoFit/>
          </a:bodyPr>
          <a:lstStyle/>
          <a:p>
            <a:r>
              <a:rPr sz="1100">
                <a:solidFill>
                  <a:srgbClr val="FF7900"/>
                </a:solidFill>
                <a:latin typeface="Consolas"/>
              </a:rPr>
              <a:t>● </a:t>
            </a:r>
            <a:r>
              <a:rPr sz="1150" b="1">
                <a:solidFill>
                  <a:srgbClr val="FFA24E"/>
                </a:solidFill>
                <a:latin typeface="Consolas"/>
              </a:rPr>
              <a:t>APLICARE</a:t>
            </a:r>
          </a:p>
        </p:txBody>
      </p:sp>
      <p:sp>
        <p:nvSpPr>
          <p:cNvPr id="4" name="TextBox 3"/>
          <p:cNvSpPr txBox="1"/>
          <p:nvPr/>
        </p:nvSpPr>
        <p:spPr>
          <a:xfrm>
            <a:off x="658368" y="896112"/>
            <a:ext cx="9320479" cy="914400"/>
          </a:xfrm>
          <a:prstGeom prst="rect">
            <a:avLst/>
          </a:prstGeom>
          <a:noFill/>
        </p:spPr>
        <p:txBody>
          <a:bodyPr wrap="square">
            <a:spAutoFit/>
          </a:bodyPr>
          <a:lstStyle/>
          <a:p>
            <a:pPr>
              <a:defRPr b="1"/>
            </a:pPr>
            <a:r>
              <a:rPr b="1" sz="3000">
                <a:solidFill>
                  <a:srgbClr val="F2F2F2"/>
                </a:solidFill>
                <a:latin typeface="Arial"/>
              </a:rPr>
              <a:t>AOV, complet — și relația care rezolvă cazul</a:t>
            </a:r>
          </a:p>
        </p:txBody>
      </p:sp>
      <p:sp>
        <p:nvSpPr>
          <p:cNvPr id="5" name="Rectangle 4"/>
          <p:cNvSpPr/>
          <p:nvPr/>
        </p:nvSpPr>
        <p:spPr>
          <a:xfrm>
            <a:off x="658368" y="1664208"/>
            <a:ext cx="822960" cy="38100"/>
          </a:xfrm>
          <a:prstGeom prst="rect">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83080"/>
            <a:ext cx="10874959" cy="1450848"/>
          </a:xfrm>
          <a:prstGeom prst="roundRect">
            <a:avLst/>
          </a:prstGeom>
          <a:solidFill>
            <a:srgbClr val="1B1B1F"/>
          </a:solidFill>
          <a:ln w="12700">
            <a:solidFill>
              <a:srgbClr val="FF79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lnSpc>
                <a:spcPct val="112000"/>
              </a:lnSpc>
            </a:pPr>
            <a:r>
              <a:rPr b="1" sz="1400">
                <a:solidFill>
                  <a:srgbClr val="F2F2F2"/>
                </a:solidFill>
                <a:latin typeface="Arial"/>
              </a:rPr>
              <a:t>AOV = Revenue ÷ Orders</a:t>
            </a:r>
            <a:r>
              <a:rPr b="0" sz="1400">
                <a:solidFill>
                  <a:srgbClr val="F2F2F2"/>
                </a:solidFill>
                <a:latin typeface="Arial"/>
              </a:rPr>
              <a:t> — cât cheltuie, în medie, un client la o comandă. Decizie: care magazin e </a:t>
            </a:r>
            <a:r>
              <a:rPr i="1" sz="1400">
                <a:solidFill>
                  <a:srgbClr val="F2F2F2"/>
                </a:solidFill>
                <a:latin typeface="Arial"/>
              </a:rPr>
              <a:t>eficient</a:t>
            </a:r>
            <a:r>
              <a:rPr b="0" sz="1400">
                <a:solidFill>
                  <a:srgbClr val="F2F2F2"/>
                </a:solidFill>
                <a:latin typeface="Arial"/>
              </a:rPr>
              <a:t>, nu doar mare? · Proprietar: </a:t>
            </a:r>
            <a:r>
              <a:rPr b="1" sz="1400">
                <a:solidFill>
                  <a:srgbClr val="F2F2F2"/>
                </a:solidFill>
                <a:latin typeface="Arial"/>
              </a:rPr>
              <a:t>Sales / Elena.</a:t>
            </a:r>
          </a:p>
        </p:txBody>
      </p:sp>
      <p:sp>
        <p:nvSpPr>
          <p:cNvPr id="7" name="Rounded Rectangle 6"/>
          <p:cNvSpPr/>
          <p:nvPr/>
        </p:nvSpPr>
        <p:spPr>
          <a:xfrm>
            <a:off x="658368" y="3371088"/>
            <a:ext cx="10874959" cy="722376"/>
          </a:xfrm>
          <a:prstGeom prst="roundRect">
            <a:avLst/>
          </a:prstGeom>
          <a:solidFill>
            <a:srgbClr val="1E1E22"/>
          </a:solidFill>
          <a:ln w="9525">
            <a:solidFill>
              <a:srgbClr val="2E2E34"/>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164592" tIns="109728" bIns="109728"/>
          <a:lstStyle/>
          <a:p>
            <a:pPr algn="ctr">
              <a:lnSpc>
                <a:spcPct val="100000"/>
              </a:lnSpc>
            </a:pPr>
            <a:r>
              <a:rPr sz="1300">
                <a:solidFill>
                  <a:srgbClr val="FFA24E"/>
                </a:solidFill>
                <a:latin typeface="Consolas"/>
              </a:rPr>
              <a:t>Ex: Revenue 1.000.000 ÷ Orders 5.000 = AOV 200 lei/comanda</a:t>
            </a:r>
          </a:p>
          <a:p>
            <a:pPr>
              <a:lnSpc>
                <a:spcPct val="100000"/>
              </a:lnSpc>
            </a:pPr>
            <a:r>
              <a:rPr sz="1300">
                <a:solidFill>
                  <a:srgbClr val="FFA24E"/>
                </a:solidFill>
                <a:latin typeface="Consolas"/>
              </a:rPr>
              <a:t>Revenue = Orders × AOV   (volum × eficienta)</a:t>
            </a:r>
          </a:p>
        </p:txBody>
      </p:sp>
      <p:sp>
        <p:nvSpPr>
          <p:cNvPr id="8" name="Rounded Rectangle 7"/>
          <p:cNvSpPr/>
          <p:nvPr/>
        </p:nvSpPr>
        <p:spPr>
          <a:xfrm>
            <a:off x="658368" y="4230624"/>
            <a:ext cx="10874959" cy="1450848"/>
          </a:xfrm>
          <a:prstGeom prst="roundRect">
            <a:avLst/>
          </a:prstGeom>
          <a:solidFill>
            <a:srgbClr val="1B1B1F"/>
          </a:solidFill>
          <a:ln w="12700">
            <a:solidFill>
              <a:srgbClr val="FF79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lnSpc>
                <a:spcPct val="112000"/>
              </a:lnSpc>
            </a:pPr>
            <a:r>
              <a:rPr b="0" sz="1400">
                <a:solidFill>
                  <a:srgbClr val="F2F2F2"/>
                </a:solidFill>
                <a:latin typeface="Arial"/>
              </a:rPr>
              <a:t>Revenue-ul mare al Bucureștiului poate veni din </a:t>
            </a:r>
            <a:r>
              <a:rPr b="1" sz="1400">
                <a:solidFill>
                  <a:srgbClr val="F2F2F2"/>
                </a:solidFill>
                <a:latin typeface="Arial"/>
              </a:rPr>
              <a:t>multe comenzi</a:t>
            </a:r>
            <a:r>
              <a:rPr b="0" sz="1400">
                <a:solidFill>
                  <a:srgbClr val="F2F2F2"/>
                </a:solidFill>
                <a:latin typeface="Arial"/>
              </a:rPr>
              <a:t> (Orders mare), nu din comenzi </a:t>
            </a:r>
            <a:r>
              <a:rPr i="1" sz="1400">
                <a:solidFill>
                  <a:srgbClr val="F2F2F2"/>
                </a:solidFill>
                <a:latin typeface="Arial"/>
              </a:rPr>
              <a:t>valoroase</a:t>
            </a:r>
            <a:r>
              <a:rPr b="0" sz="1400">
                <a:solidFill>
                  <a:srgbClr val="F2F2F2"/>
                </a:solidFill>
                <a:latin typeface="Arial"/>
              </a:rPr>
              <a:t> (AOV mare). «Cel mai mult» ≠ «cel mai bun», acum cu numere.</a:t>
            </a:r>
          </a:p>
        </p:txBody>
      </p:sp>
      <p:sp>
        <p:nvSpPr>
          <p:cNvPr id="9" name="TextBox 8"/>
          <p:cNvSpPr txBox="1"/>
          <p:nvPr/>
        </p:nvSpPr>
        <p:spPr>
          <a:xfrm>
            <a:off x="658368" y="6382512"/>
            <a:ext cx="10874959" cy="292608"/>
          </a:xfrm>
          <a:prstGeom prst="rect">
            <a:avLst/>
          </a:prstGeom>
          <a:noFill/>
        </p:spPr>
        <p:txBody>
          <a:bodyPr wrap="none">
            <a:spAutoFit/>
          </a:bodyPr>
          <a:lstStyle/>
          <a:p>
            <a:r>
              <a:rPr sz="850">
                <a:solidFill>
                  <a:srgbClr val="FF7900"/>
                </a:solidFill>
                <a:latin typeface="Consolas"/>
              </a:rPr>
              <a:t>● </a:t>
            </a:r>
            <a:r>
              <a:rPr sz="850">
                <a:solidFill>
                  <a:srgbClr val="77777C"/>
                </a:solidFill>
                <a:latin typeface="Consolas"/>
              </a:rPr>
              <a:t>Orange Systems  ·  Data Analysis</a:t>
            </a:r>
          </a:p>
        </p:txBody>
      </p:sp>
      <p:sp>
        <p:nvSpPr>
          <p:cNvPr id="10" name="TextBox 9"/>
          <p:cNvSpPr txBox="1"/>
          <p:nvPr/>
        </p:nvSpPr>
        <p:spPr>
          <a:xfrm>
            <a:off x="9247327" y="6382512"/>
            <a:ext cx="2286000" cy="292608"/>
          </a:xfrm>
          <a:prstGeom prst="rect">
            <a:avLst/>
          </a:prstGeom>
          <a:noFill/>
        </p:spPr>
        <p:txBody>
          <a:bodyPr wrap="none">
            <a:spAutoFit/>
          </a:bodyPr>
          <a:lstStyle/>
          <a:p>
            <a:pPr algn="r"/>
            <a:r>
              <a:rPr sz="850">
                <a:solidFill>
                  <a:srgbClr val="77777C"/>
                </a:solidFill>
                <a:latin typeface="Consolas"/>
              </a:rPr>
              <a:t>L4 · KPI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51517"/>
        </a:solidFill>
        <a:effectLst/>
      </p:bgPr>
    </p:bg>
    <p:spTree>
      <p:nvGrpSpPr>
        <p:cNvPr id="1" name=""/>
        <p:cNvGrpSpPr/>
        <p:nvPr/>
      </p:nvGrpSpPr>
      <p:grpSpPr/>
      <p:pic>
        <p:nvPicPr>
          <p:cNvPr id="2" name="Picture 1" descr="orange_systems_logo_dark.png"/>
          <p:cNvPicPr>
            <a:picLocks noChangeAspect="1"/>
          </p:cNvPicPr>
          <p:nvPr/>
        </p:nvPicPr>
        <p:blipFill>
          <a:blip r:embed="rId2"/>
          <a:stretch>
            <a:fillRect/>
          </a:stretch>
        </p:blipFill>
        <p:spPr>
          <a:xfrm>
            <a:off x="10116007" y="310896"/>
            <a:ext cx="1417320" cy="513973"/>
          </a:xfrm>
          <a:prstGeom prst="rect">
            <a:avLst/>
          </a:prstGeom>
        </p:spPr>
      </p:pic>
      <p:sp>
        <p:nvSpPr>
          <p:cNvPr id="3" name="TextBox 2"/>
          <p:cNvSpPr txBox="1"/>
          <p:nvPr/>
        </p:nvSpPr>
        <p:spPr>
          <a:xfrm>
            <a:off x="658368" y="457200"/>
            <a:ext cx="9320479" cy="365760"/>
          </a:xfrm>
          <a:prstGeom prst="rect">
            <a:avLst/>
          </a:prstGeom>
          <a:noFill/>
        </p:spPr>
        <p:txBody>
          <a:bodyPr wrap="none">
            <a:spAutoFit/>
          </a:bodyPr>
          <a:lstStyle/>
          <a:p>
            <a:r>
              <a:rPr sz="1100">
                <a:solidFill>
                  <a:srgbClr val="FF7900"/>
                </a:solidFill>
                <a:latin typeface="Consolas"/>
              </a:rPr>
              <a:t>● </a:t>
            </a:r>
            <a:r>
              <a:rPr sz="1150" b="1">
                <a:solidFill>
                  <a:srgbClr val="FFA24E"/>
                </a:solidFill>
                <a:latin typeface="Consolas"/>
              </a:rPr>
              <a:t>STRUCTURA</a:t>
            </a:r>
          </a:p>
        </p:txBody>
      </p:sp>
      <p:sp>
        <p:nvSpPr>
          <p:cNvPr id="4" name="TextBox 3"/>
          <p:cNvSpPr txBox="1"/>
          <p:nvPr/>
        </p:nvSpPr>
        <p:spPr>
          <a:xfrm>
            <a:off x="658368" y="896112"/>
            <a:ext cx="9320479" cy="914400"/>
          </a:xfrm>
          <a:prstGeom prst="rect">
            <a:avLst/>
          </a:prstGeom>
          <a:noFill/>
        </p:spPr>
        <p:txBody>
          <a:bodyPr wrap="square">
            <a:spAutoFit/>
          </a:bodyPr>
          <a:lstStyle/>
          <a:p>
            <a:pPr>
              <a:defRPr b="1"/>
            </a:pPr>
            <a:r>
              <a:rPr b="1" sz="3000">
                <a:solidFill>
                  <a:srgbClr val="F2F2F2"/>
                </a:solidFill>
                <a:latin typeface="Arial"/>
              </a:rPr>
              <a:t>Două familii de KPI — și capcana centrală</a:t>
            </a:r>
          </a:p>
        </p:txBody>
      </p:sp>
      <p:sp>
        <p:nvSpPr>
          <p:cNvPr id="5" name="Rectangle 4"/>
          <p:cNvSpPr/>
          <p:nvPr/>
        </p:nvSpPr>
        <p:spPr>
          <a:xfrm>
            <a:off x="658368" y="1664208"/>
            <a:ext cx="822960" cy="38100"/>
          </a:xfrm>
          <a:prstGeom prst="rect">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83080"/>
            <a:ext cx="10874959" cy="1438656"/>
          </a:xfrm>
          <a:prstGeom prst="rect">
            <a:avLst/>
          </a:prstGeom>
          <a:noFill/>
        </p:spPr>
        <p:txBody>
          <a:bodyPr wrap="square">
            <a:spAutoFit/>
          </a:bodyPr>
          <a:lstStyle/>
          <a:p>
            <a:pPr>
              <a:lnSpc>
                <a:spcPct val="110000"/>
              </a:lnSpc>
              <a:spcAft>
                <a:spcPts val="700"/>
              </a:spcAft>
            </a:pPr>
            <a:r>
              <a:rPr sz="1400">
                <a:solidFill>
                  <a:srgbClr val="FF7900"/>
                </a:solidFill>
                <a:latin typeface="Consolas"/>
              </a:rPr>
              <a:t>— </a:t>
            </a:r>
            <a:r>
              <a:rPr b="1" sz="1400">
                <a:solidFill>
                  <a:srgbClr val="F2F2F2"/>
                </a:solidFill>
                <a:latin typeface="Arial"/>
              </a:rPr>
              <a:t>Volum</a:t>
            </a:r>
            <a:r>
              <a:rPr b="0" sz="1400">
                <a:solidFill>
                  <a:srgbClr val="F2F2F2"/>
                </a:solidFill>
                <a:latin typeface="Arial"/>
              </a:rPr>
              <a:t> — cât de mult? Revenue, Orders, Units Sold (cresc când compania e mai activă)</a:t>
            </a:r>
          </a:p>
          <a:p>
            <a:pPr>
              <a:lnSpc>
                <a:spcPct val="110000"/>
              </a:lnSpc>
              <a:spcAft>
                <a:spcPts val="700"/>
              </a:spcAft>
            </a:pPr>
            <a:r>
              <a:rPr sz="1400">
                <a:solidFill>
                  <a:srgbClr val="FF7900"/>
                </a:solidFill>
                <a:latin typeface="Consolas"/>
              </a:rPr>
              <a:t>— </a:t>
            </a:r>
            <a:r>
              <a:rPr b="1" sz="1400">
                <a:solidFill>
                  <a:srgbClr val="F2F2F2"/>
                </a:solidFill>
                <a:latin typeface="Arial"/>
              </a:rPr>
              <a:t>Eficiență</a:t>
            </a:r>
            <a:r>
              <a:rPr b="0" sz="1400">
                <a:solidFill>
                  <a:srgbClr val="F2F2F2"/>
                </a:solidFill>
                <a:latin typeface="Arial"/>
              </a:rPr>
              <a:t> — cât de bine? AOV, Conversion, Retention, ROAS, Gross Margin</a:t>
            </a:r>
          </a:p>
        </p:txBody>
      </p:sp>
      <p:sp>
        <p:nvSpPr>
          <p:cNvPr id="7" name="Rounded Rectangle 6"/>
          <p:cNvSpPr/>
          <p:nvPr/>
        </p:nvSpPr>
        <p:spPr>
          <a:xfrm>
            <a:off x="658368" y="3221736"/>
            <a:ext cx="10874959" cy="1984248"/>
          </a:xfrm>
          <a:prstGeom prst="roundRect">
            <a:avLst/>
          </a:prstGeom>
          <a:solidFill>
            <a:srgbClr val="1B1B1F"/>
          </a:solidFill>
          <a:ln w="12700">
            <a:solidFill>
              <a:srgbClr val="FF79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lnSpc>
                <a:spcPct val="112000"/>
              </a:lnSpc>
            </a:pPr>
            <a:r>
              <a:rPr b="0" sz="1400">
                <a:solidFill>
                  <a:srgbClr val="F2F2F2"/>
                </a:solidFill>
                <a:latin typeface="Arial"/>
              </a:rPr>
              <a:t>Capcana: un KPI de volum arată grozav în timp ce unul de eficiență se prăbușește. Clasicul: </a:t>
            </a:r>
            <a:r>
              <a:rPr b="1" sz="1400">
                <a:solidFill>
                  <a:srgbClr val="F2F2F2"/>
                </a:solidFill>
                <a:latin typeface="Arial"/>
              </a:rPr>
              <a:t>Revenue în sus, profit în jos</a:t>
            </a:r>
            <a:r>
              <a:rPr b="0" sz="1400">
                <a:solidFill>
                  <a:srgbClr val="F2F2F2"/>
                </a:solidFill>
                <a:latin typeface="Arial"/>
              </a:rPr>
              <a:t> — Beauty are marjă ~55%, Electronics ~15%; dacă mixul se mută spre electronice, Revenue urcă dar Gross Margin coboară.</a:t>
            </a:r>
          </a:p>
        </p:txBody>
      </p:sp>
      <p:sp>
        <p:nvSpPr>
          <p:cNvPr id="8" name="TextBox 7"/>
          <p:cNvSpPr txBox="1"/>
          <p:nvPr/>
        </p:nvSpPr>
        <p:spPr>
          <a:xfrm>
            <a:off x="658368" y="6382512"/>
            <a:ext cx="10874959" cy="292608"/>
          </a:xfrm>
          <a:prstGeom prst="rect">
            <a:avLst/>
          </a:prstGeom>
          <a:noFill/>
        </p:spPr>
        <p:txBody>
          <a:bodyPr wrap="none">
            <a:spAutoFit/>
          </a:bodyPr>
          <a:lstStyle/>
          <a:p>
            <a:r>
              <a:rPr sz="850">
                <a:solidFill>
                  <a:srgbClr val="FF7900"/>
                </a:solidFill>
                <a:latin typeface="Consolas"/>
              </a:rPr>
              <a:t>● </a:t>
            </a:r>
            <a:r>
              <a:rPr sz="850">
                <a:solidFill>
                  <a:srgbClr val="77777C"/>
                </a:solidFill>
                <a:latin typeface="Consolas"/>
              </a:rPr>
              <a:t>Orange Systems  ·  Data Analysis</a:t>
            </a:r>
          </a:p>
        </p:txBody>
      </p:sp>
      <p:sp>
        <p:nvSpPr>
          <p:cNvPr id="9" name="TextBox 8"/>
          <p:cNvSpPr txBox="1"/>
          <p:nvPr/>
        </p:nvSpPr>
        <p:spPr>
          <a:xfrm>
            <a:off x="9247327" y="6382512"/>
            <a:ext cx="2286000" cy="292608"/>
          </a:xfrm>
          <a:prstGeom prst="rect">
            <a:avLst/>
          </a:prstGeom>
          <a:noFill/>
        </p:spPr>
        <p:txBody>
          <a:bodyPr wrap="none">
            <a:spAutoFit/>
          </a:bodyPr>
          <a:lstStyle/>
          <a:p>
            <a:pPr algn="r"/>
            <a:r>
              <a:rPr sz="850">
                <a:solidFill>
                  <a:srgbClr val="77777C"/>
                </a:solidFill>
                <a:latin typeface="Consolas"/>
              </a:rPr>
              <a:t>L4 · KPI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51517"/>
        </a:solidFill>
        <a:effectLst/>
      </p:bgPr>
    </p:bg>
    <p:spTree>
      <p:nvGrpSpPr>
        <p:cNvPr id="1" name=""/>
        <p:cNvGrpSpPr/>
        <p:nvPr/>
      </p:nvGrpSpPr>
      <p:grpSpPr/>
      <p:pic>
        <p:nvPicPr>
          <p:cNvPr id="2" name="Picture 1" descr="orange_systems_logo_dark.png"/>
          <p:cNvPicPr>
            <a:picLocks noChangeAspect="1"/>
          </p:cNvPicPr>
          <p:nvPr/>
        </p:nvPicPr>
        <p:blipFill>
          <a:blip r:embed="rId2"/>
          <a:stretch>
            <a:fillRect/>
          </a:stretch>
        </p:blipFill>
        <p:spPr>
          <a:xfrm>
            <a:off x="10116007" y="310896"/>
            <a:ext cx="1417320" cy="513973"/>
          </a:xfrm>
          <a:prstGeom prst="rect">
            <a:avLst/>
          </a:prstGeom>
        </p:spPr>
      </p:pic>
      <p:sp>
        <p:nvSpPr>
          <p:cNvPr id="3" name="TextBox 2"/>
          <p:cNvSpPr txBox="1"/>
          <p:nvPr/>
        </p:nvSpPr>
        <p:spPr>
          <a:xfrm>
            <a:off x="658368" y="457200"/>
            <a:ext cx="9320479" cy="365760"/>
          </a:xfrm>
          <a:prstGeom prst="rect">
            <a:avLst/>
          </a:prstGeom>
          <a:noFill/>
        </p:spPr>
        <p:txBody>
          <a:bodyPr wrap="none">
            <a:spAutoFit/>
          </a:bodyPr>
          <a:lstStyle/>
          <a:p>
            <a:r>
              <a:rPr sz="1100">
                <a:solidFill>
                  <a:srgbClr val="FF7900"/>
                </a:solidFill>
                <a:latin typeface="Consolas"/>
              </a:rPr>
              <a:t>● </a:t>
            </a:r>
            <a:r>
              <a:rPr sz="1150" b="1">
                <a:solidFill>
                  <a:srgbClr val="FFA24E"/>
                </a:solidFill>
                <a:latin typeface="Consolas"/>
              </a:rPr>
              <a:t>APLICARE · FIȘA 1/2</a:t>
            </a:r>
          </a:p>
        </p:txBody>
      </p:sp>
      <p:sp>
        <p:nvSpPr>
          <p:cNvPr id="4" name="TextBox 3"/>
          <p:cNvSpPr txBox="1"/>
          <p:nvPr/>
        </p:nvSpPr>
        <p:spPr>
          <a:xfrm>
            <a:off x="658368" y="896112"/>
            <a:ext cx="9320479" cy="914400"/>
          </a:xfrm>
          <a:prstGeom prst="rect">
            <a:avLst/>
          </a:prstGeom>
          <a:noFill/>
        </p:spPr>
        <p:txBody>
          <a:bodyPr wrap="square">
            <a:spAutoFit/>
          </a:bodyPr>
          <a:lstStyle/>
          <a:p>
            <a:pPr>
              <a:defRPr b="1"/>
            </a:pPr>
            <a:r>
              <a:rPr b="1" sz="3000">
                <a:solidFill>
                  <a:srgbClr val="F2F2F2"/>
                </a:solidFill>
                <a:latin typeface="Arial"/>
              </a:rPr>
              <a:t>Fișa KPI-urilor RetailHub (1/2)</a:t>
            </a:r>
          </a:p>
        </p:txBody>
      </p:sp>
      <p:sp>
        <p:nvSpPr>
          <p:cNvPr id="5" name="Rectangle 4"/>
          <p:cNvSpPr/>
          <p:nvPr/>
        </p:nvSpPr>
        <p:spPr>
          <a:xfrm>
            <a:off x="658368" y="1664208"/>
            <a:ext cx="822960" cy="38100"/>
          </a:xfrm>
          <a:prstGeom prst="rect">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658368" y="1783080"/>
          <a:ext cx="10874959" cy="1847088"/>
        </p:xfrm>
        <a:graphic>
          <a:graphicData uri="http://schemas.openxmlformats.org/drawingml/2006/table">
            <a:tbl>
              <a:tblPr>
                <a:tableStyleId>{5C22544A-7EE6-4342-B048-85BDC9FD1C3A}</a:tableStyleId>
              </a:tblPr>
              <a:tblGrid>
                <a:gridCol w="2718739"/>
                <a:gridCol w="2718739"/>
                <a:gridCol w="2718739"/>
                <a:gridCol w="2718742"/>
              </a:tblGrid>
              <a:tr h="369417">
                <a:tc>
                  <a:txBody>
                    <a:bodyPr/>
                    <a:lstStyle/>
                    <a:p>
                      <a:r>
                        <a:rPr b="1" sz="1100">
                          <a:solidFill>
                            <a:srgbClr val="B0B0B4"/>
                          </a:solidFill>
                          <a:latin typeface="Consolas"/>
                        </a:rPr>
                        <a:t>KPI</a:t>
                      </a:r>
                    </a:p>
                  </a:txBody>
                  <a:tcPr marL="91440" marT="27432" marB="27432" anchor="ctr">
                    <a:solidFill>
                      <a:srgbClr val="1E1E22"/>
                    </a:solidFill>
                  </a:tcPr>
                </a:tc>
                <a:tc>
                  <a:txBody>
                    <a:bodyPr/>
                    <a:lstStyle/>
                    <a:p>
                      <a:r>
                        <a:rPr b="1" sz="1100">
                          <a:solidFill>
                            <a:srgbClr val="B0B0B4"/>
                          </a:solidFill>
                          <a:latin typeface="Consolas"/>
                        </a:rPr>
                        <a:t>Ce măsoară · formulă</a:t>
                      </a:r>
                    </a:p>
                  </a:txBody>
                  <a:tcPr marL="91440" marT="27432" marB="27432" anchor="ctr">
                    <a:solidFill>
                      <a:srgbClr val="1E1E22"/>
                    </a:solidFill>
                  </a:tcPr>
                </a:tc>
                <a:tc>
                  <a:txBody>
                    <a:bodyPr/>
                    <a:lstStyle/>
                    <a:p>
                      <a:r>
                        <a:rPr b="1" sz="1100">
                          <a:solidFill>
                            <a:srgbClr val="B0B0B4"/>
                          </a:solidFill>
                          <a:latin typeface="Consolas"/>
                        </a:rPr>
                        <a:t>Familie</a:t>
                      </a:r>
                    </a:p>
                  </a:txBody>
                  <a:tcPr marL="91440" marT="27432" marB="27432" anchor="ctr">
                    <a:solidFill>
                      <a:srgbClr val="1E1E22"/>
                    </a:solidFill>
                  </a:tcPr>
                </a:tc>
                <a:tc>
                  <a:txBody>
                    <a:bodyPr/>
                    <a:lstStyle/>
                    <a:p>
                      <a:r>
                        <a:rPr b="1" sz="1100">
                          <a:solidFill>
                            <a:srgbClr val="B0B0B4"/>
                          </a:solidFill>
                          <a:latin typeface="Consolas"/>
                        </a:rPr>
                        <a:t>Decizie · proprietar</a:t>
                      </a:r>
                    </a:p>
                  </a:txBody>
                  <a:tcPr marL="91440" marT="27432" marB="27432" anchor="ctr">
                    <a:solidFill>
                      <a:srgbClr val="1E1E22"/>
                    </a:solidFill>
                  </a:tcPr>
                </a:tc>
              </a:tr>
              <a:tr h="369417">
                <a:tc>
                  <a:txBody>
                    <a:bodyPr/>
                    <a:lstStyle/>
                    <a:p>
                      <a:r>
                        <a:rPr b="1" sz="1100">
                          <a:solidFill>
                            <a:srgbClr val="F2F2F2"/>
                          </a:solidFill>
                          <a:latin typeface="Arial"/>
                        </a:rPr>
                        <a:t>Revenue</a:t>
                      </a:r>
                    </a:p>
                  </a:txBody>
                  <a:tcPr marL="91440" marT="27432" marB="27432" anchor="ctr">
                    <a:solidFill>
                      <a:srgbClr val="151517"/>
                    </a:solidFill>
                  </a:tcPr>
                </a:tc>
                <a:tc>
                  <a:txBody>
                    <a:bodyPr/>
                    <a:lstStyle/>
                    <a:p>
                      <a:r>
                        <a:rPr b="0" sz="1100">
                          <a:solidFill>
                            <a:srgbClr val="F2F2F2"/>
                          </a:solidFill>
                          <a:latin typeface="Arial"/>
                        </a:rPr>
                        <a:t>banii din comenzi · Σ TotalAmount</a:t>
                      </a:r>
                    </a:p>
                  </a:txBody>
                  <a:tcPr marL="91440" marT="27432" marB="27432" anchor="ctr">
                    <a:solidFill>
                      <a:srgbClr val="151517"/>
                    </a:solidFill>
                  </a:tcPr>
                </a:tc>
                <a:tc>
                  <a:txBody>
                    <a:bodyPr/>
                    <a:lstStyle/>
                    <a:p>
                      <a:r>
                        <a:rPr b="0" sz="1100">
                          <a:solidFill>
                            <a:srgbClr val="F2F2F2"/>
                          </a:solidFill>
                          <a:latin typeface="Arial"/>
                        </a:rPr>
                        <a:t>volum</a:t>
                      </a:r>
                    </a:p>
                  </a:txBody>
                  <a:tcPr marL="91440" marT="27432" marB="27432" anchor="ctr">
                    <a:solidFill>
                      <a:srgbClr val="151517"/>
                    </a:solidFill>
                  </a:tcPr>
                </a:tc>
                <a:tc>
                  <a:txBody>
                    <a:bodyPr/>
                    <a:lstStyle/>
                    <a:p>
                      <a:r>
                        <a:rPr b="0" sz="1100">
                          <a:solidFill>
                            <a:srgbClr val="F2F2F2"/>
                          </a:solidFill>
                          <a:latin typeface="Arial"/>
                        </a:rPr>
                        <a:t>creștem? unde? · Sales</a:t>
                      </a:r>
                    </a:p>
                  </a:txBody>
                  <a:tcPr marL="91440" marT="27432" marB="27432" anchor="ctr">
                    <a:solidFill>
                      <a:srgbClr val="151517"/>
                    </a:solidFill>
                  </a:tcPr>
                </a:tc>
              </a:tr>
              <a:tr h="369417">
                <a:tc>
                  <a:txBody>
                    <a:bodyPr/>
                    <a:lstStyle/>
                    <a:p>
                      <a:r>
                        <a:rPr b="1" sz="1100">
                          <a:solidFill>
                            <a:srgbClr val="F2F2F2"/>
                          </a:solidFill>
                          <a:latin typeface="Arial"/>
                        </a:rPr>
                        <a:t>Orders</a:t>
                      </a:r>
                    </a:p>
                  </a:txBody>
                  <a:tcPr marL="91440" marT="27432" marB="27432" anchor="ctr">
                    <a:solidFill>
                      <a:srgbClr val="1A1A1E"/>
                    </a:solidFill>
                  </a:tcPr>
                </a:tc>
                <a:tc>
                  <a:txBody>
                    <a:bodyPr/>
                    <a:lstStyle/>
                    <a:p>
                      <a:r>
                        <a:rPr b="0" sz="1100">
                          <a:solidFill>
                            <a:srgbClr val="F2F2F2"/>
                          </a:solidFill>
                          <a:latin typeface="Arial"/>
                        </a:rPr>
                        <a:t>câte comenzi · count</a:t>
                      </a:r>
                    </a:p>
                  </a:txBody>
                  <a:tcPr marL="91440" marT="27432" marB="27432" anchor="ctr">
                    <a:solidFill>
                      <a:srgbClr val="1A1A1E"/>
                    </a:solidFill>
                  </a:tcPr>
                </a:tc>
                <a:tc>
                  <a:txBody>
                    <a:bodyPr/>
                    <a:lstStyle/>
                    <a:p>
                      <a:r>
                        <a:rPr b="0" sz="1100">
                          <a:solidFill>
                            <a:srgbClr val="F2F2F2"/>
                          </a:solidFill>
                          <a:latin typeface="Arial"/>
                        </a:rPr>
                        <a:t>volum</a:t>
                      </a:r>
                    </a:p>
                  </a:txBody>
                  <a:tcPr marL="91440" marT="27432" marB="27432" anchor="ctr">
                    <a:solidFill>
                      <a:srgbClr val="1A1A1E"/>
                    </a:solidFill>
                  </a:tcPr>
                </a:tc>
                <a:tc>
                  <a:txBody>
                    <a:bodyPr/>
                    <a:lstStyle/>
                    <a:p>
                      <a:r>
                        <a:rPr b="0" sz="1100">
                          <a:solidFill>
                            <a:srgbClr val="F2F2F2"/>
                          </a:solidFill>
                          <a:latin typeface="Arial"/>
                        </a:rPr>
                        <a:t>cât de activi · Sales</a:t>
                      </a:r>
                    </a:p>
                  </a:txBody>
                  <a:tcPr marL="91440" marT="27432" marB="27432" anchor="ctr">
                    <a:solidFill>
                      <a:srgbClr val="1A1A1E"/>
                    </a:solidFill>
                  </a:tcPr>
                </a:tc>
              </a:tr>
              <a:tr h="369417">
                <a:tc>
                  <a:txBody>
                    <a:bodyPr/>
                    <a:lstStyle/>
                    <a:p>
                      <a:r>
                        <a:rPr b="1" sz="1100">
                          <a:solidFill>
                            <a:srgbClr val="F2F2F2"/>
                          </a:solidFill>
                          <a:latin typeface="Arial"/>
                        </a:rPr>
                        <a:t>Units Sold</a:t>
                      </a:r>
                    </a:p>
                  </a:txBody>
                  <a:tcPr marL="91440" marT="27432" marB="27432" anchor="ctr">
                    <a:solidFill>
                      <a:srgbClr val="151517"/>
                    </a:solidFill>
                  </a:tcPr>
                </a:tc>
                <a:tc>
                  <a:txBody>
                    <a:bodyPr/>
                    <a:lstStyle/>
                    <a:p>
                      <a:r>
                        <a:rPr b="0" sz="1100">
                          <a:solidFill>
                            <a:srgbClr val="F2F2F2"/>
                          </a:solidFill>
                          <a:latin typeface="Arial"/>
                        </a:rPr>
                        <a:t>câte bucăți · Σ Quantity</a:t>
                      </a:r>
                    </a:p>
                  </a:txBody>
                  <a:tcPr marL="91440" marT="27432" marB="27432" anchor="ctr">
                    <a:solidFill>
                      <a:srgbClr val="151517"/>
                    </a:solidFill>
                  </a:tcPr>
                </a:tc>
                <a:tc>
                  <a:txBody>
                    <a:bodyPr/>
                    <a:lstStyle/>
                    <a:p>
                      <a:r>
                        <a:rPr b="0" sz="1100">
                          <a:solidFill>
                            <a:srgbClr val="F2F2F2"/>
                          </a:solidFill>
                          <a:latin typeface="Arial"/>
                        </a:rPr>
                        <a:t>volum</a:t>
                      </a:r>
                    </a:p>
                  </a:txBody>
                  <a:tcPr marL="91440" marT="27432" marB="27432" anchor="ctr">
                    <a:solidFill>
                      <a:srgbClr val="151517"/>
                    </a:solidFill>
                  </a:tcPr>
                </a:tc>
                <a:tc>
                  <a:txBody>
                    <a:bodyPr/>
                    <a:lstStyle/>
                    <a:p>
                      <a:r>
                        <a:rPr b="0" sz="1100">
                          <a:solidFill>
                            <a:srgbClr val="F2F2F2"/>
                          </a:solidFill>
                          <a:latin typeface="Arial"/>
                        </a:rPr>
                        <a:t>ce se mișcă · Sales</a:t>
                      </a:r>
                    </a:p>
                  </a:txBody>
                  <a:tcPr marL="91440" marT="27432" marB="27432" anchor="ctr">
                    <a:solidFill>
                      <a:srgbClr val="151517"/>
                    </a:solidFill>
                  </a:tcPr>
                </a:tc>
              </a:tr>
              <a:tr h="369420">
                <a:tc>
                  <a:txBody>
                    <a:bodyPr/>
                    <a:lstStyle/>
                    <a:p>
                      <a:r>
                        <a:rPr b="1" sz="1100">
                          <a:solidFill>
                            <a:srgbClr val="F2F2F2"/>
                          </a:solidFill>
                          <a:latin typeface="Arial"/>
                        </a:rPr>
                        <a:t>AOV</a:t>
                      </a:r>
                    </a:p>
                  </a:txBody>
                  <a:tcPr marL="91440" marT="27432" marB="27432" anchor="ctr">
                    <a:solidFill>
                      <a:srgbClr val="1A1A1E"/>
                    </a:solidFill>
                  </a:tcPr>
                </a:tc>
                <a:tc>
                  <a:txBody>
                    <a:bodyPr/>
                    <a:lstStyle/>
                    <a:p>
                      <a:r>
                        <a:rPr b="0" sz="1100">
                          <a:solidFill>
                            <a:srgbClr val="F2F2F2"/>
                          </a:solidFill>
                          <a:latin typeface="Arial"/>
                        </a:rPr>
                        <a:t>Revenue ÷ Orders</a:t>
                      </a:r>
                    </a:p>
                  </a:txBody>
                  <a:tcPr marL="91440" marT="27432" marB="27432" anchor="ctr">
                    <a:solidFill>
                      <a:srgbClr val="1A1A1E"/>
                    </a:solidFill>
                  </a:tcPr>
                </a:tc>
                <a:tc>
                  <a:txBody>
                    <a:bodyPr/>
                    <a:lstStyle/>
                    <a:p>
                      <a:r>
                        <a:rPr b="0" sz="1100">
                          <a:solidFill>
                            <a:srgbClr val="F2F2F2"/>
                          </a:solidFill>
                          <a:latin typeface="Arial"/>
                        </a:rPr>
                        <a:t>eficiență</a:t>
                      </a:r>
                    </a:p>
                  </a:txBody>
                  <a:tcPr marL="91440" marT="27432" marB="27432" anchor="ctr">
                    <a:solidFill>
                      <a:srgbClr val="1A1A1E"/>
                    </a:solidFill>
                  </a:tcPr>
                </a:tc>
                <a:tc>
                  <a:txBody>
                    <a:bodyPr/>
                    <a:lstStyle/>
                    <a:p>
                      <a:r>
                        <a:rPr b="0" sz="1100">
                          <a:solidFill>
                            <a:srgbClr val="F2F2F2"/>
                          </a:solidFill>
                          <a:latin typeface="Arial"/>
                        </a:rPr>
                        <a:t>magazin eficient? · Sales</a:t>
                      </a:r>
                    </a:p>
                  </a:txBody>
                  <a:tcPr marL="91440" marT="27432" marB="27432" anchor="ctr">
                    <a:solidFill>
                      <a:srgbClr val="1A1A1E"/>
                    </a:solidFill>
                  </a:tcPr>
                </a:tc>
              </a:tr>
            </a:tbl>
          </a:graphicData>
        </a:graphic>
      </p:graphicFrame>
      <p:sp>
        <p:nvSpPr>
          <p:cNvPr id="7" name="TextBox 6"/>
          <p:cNvSpPr txBox="1"/>
          <p:nvPr/>
        </p:nvSpPr>
        <p:spPr>
          <a:xfrm>
            <a:off x="658368" y="6382512"/>
            <a:ext cx="10874959" cy="292608"/>
          </a:xfrm>
          <a:prstGeom prst="rect">
            <a:avLst/>
          </a:prstGeom>
          <a:noFill/>
        </p:spPr>
        <p:txBody>
          <a:bodyPr wrap="none">
            <a:spAutoFit/>
          </a:bodyPr>
          <a:lstStyle/>
          <a:p>
            <a:r>
              <a:rPr sz="850">
                <a:solidFill>
                  <a:srgbClr val="FF7900"/>
                </a:solidFill>
                <a:latin typeface="Consolas"/>
              </a:rPr>
              <a:t>● </a:t>
            </a:r>
            <a:r>
              <a:rPr sz="850">
                <a:solidFill>
                  <a:srgbClr val="77777C"/>
                </a:solidFill>
                <a:latin typeface="Consolas"/>
              </a:rPr>
              <a:t>Orange Systems  ·  Data Analysis</a:t>
            </a:r>
          </a:p>
        </p:txBody>
      </p:sp>
      <p:sp>
        <p:nvSpPr>
          <p:cNvPr id="8" name="TextBox 7"/>
          <p:cNvSpPr txBox="1"/>
          <p:nvPr/>
        </p:nvSpPr>
        <p:spPr>
          <a:xfrm>
            <a:off x="9247327" y="6382512"/>
            <a:ext cx="2286000" cy="292608"/>
          </a:xfrm>
          <a:prstGeom prst="rect">
            <a:avLst/>
          </a:prstGeom>
          <a:noFill/>
        </p:spPr>
        <p:txBody>
          <a:bodyPr wrap="none">
            <a:spAutoFit/>
          </a:bodyPr>
          <a:lstStyle/>
          <a:p>
            <a:pPr algn="r"/>
            <a:r>
              <a:rPr sz="850">
                <a:solidFill>
                  <a:srgbClr val="77777C"/>
                </a:solidFill>
                <a:latin typeface="Consolas"/>
              </a:rPr>
              <a:t>L4 · KPI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51517"/>
        </a:solidFill>
        <a:effectLst/>
      </p:bgPr>
    </p:bg>
    <p:spTree>
      <p:nvGrpSpPr>
        <p:cNvPr id="1" name=""/>
        <p:cNvGrpSpPr/>
        <p:nvPr/>
      </p:nvGrpSpPr>
      <p:grpSpPr/>
      <p:pic>
        <p:nvPicPr>
          <p:cNvPr id="2" name="Picture 1" descr="orange_systems_logo_dark.png"/>
          <p:cNvPicPr>
            <a:picLocks noChangeAspect="1"/>
          </p:cNvPicPr>
          <p:nvPr/>
        </p:nvPicPr>
        <p:blipFill>
          <a:blip r:embed="rId2"/>
          <a:stretch>
            <a:fillRect/>
          </a:stretch>
        </p:blipFill>
        <p:spPr>
          <a:xfrm>
            <a:off x="10116007" y="310896"/>
            <a:ext cx="1417320" cy="513973"/>
          </a:xfrm>
          <a:prstGeom prst="rect">
            <a:avLst/>
          </a:prstGeom>
        </p:spPr>
      </p:pic>
      <p:sp>
        <p:nvSpPr>
          <p:cNvPr id="3" name="TextBox 2"/>
          <p:cNvSpPr txBox="1"/>
          <p:nvPr/>
        </p:nvSpPr>
        <p:spPr>
          <a:xfrm>
            <a:off x="658368" y="457200"/>
            <a:ext cx="9320479" cy="365760"/>
          </a:xfrm>
          <a:prstGeom prst="rect">
            <a:avLst/>
          </a:prstGeom>
          <a:noFill/>
        </p:spPr>
        <p:txBody>
          <a:bodyPr wrap="none">
            <a:spAutoFit/>
          </a:bodyPr>
          <a:lstStyle/>
          <a:p>
            <a:r>
              <a:rPr sz="1100">
                <a:solidFill>
                  <a:srgbClr val="FF7900"/>
                </a:solidFill>
                <a:latin typeface="Consolas"/>
              </a:rPr>
              <a:t>● </a:t>
            </a:r>
            <a:r>
              <a:rPr sz="1150" b="1">
                <a:solidFill>
                  <a:srgbClr val="FFA24E"/>
                </a:solidFill>
                <a:latin typeface="Consolas"/>
              </a:rPr>
              <a:t>APLICARE · FIȘA 2/2</a:t>
            </a:r>
          </a:p>
        </p:txBody>
      </p:sp>
      <p:sp>
        <p:nvSpPr>
          <p:cNvPr id="4" name="TextBox 3"/>
          <p:cNvSpPr txBox="1"/>
          <p:nvPr/>
        </p:nvSpPr>
        <p:spPr>
          <a:xfrm>
            <a:off x="658368" y="896112"/>
            <a:ext cx="9320479" cy="914400"/>
          </a:xfrm>
          <a:prstGeom prst="rect">
            <a:avLst/>
          </a:prstGeom>
          <a:noFill/>
        </p:spPr>
        <p:txBody>
          <a:bodyPr wrap="square">
            <a:spAutoFit/>
          </a:bodyPr>
          <a:lstStyle/>
          <a:p>
            <a:pPr>
              <a:defRPr b="1"/>
            </a:pPr>
            <a:r>
              <a:rPr b="1" sz="3000">
                <a:solidFill>
                  <a:srgbClr val="F2F2F2"/>
                </a:solidFill>
                <a:latin typeface="Arial"/>
              </a:rPr>
              <a:t>Fișa KPI-urilor RetailHub (2/2)</a:t>
            </a:r>
          </a:p>
        </p:txBody>
      </p:sp>
      <p:sp>
        <p:nvSpPr>
          <p:cNvPr id="5" name="Rectangle 4"/>
          <p:cNvSpPr/>
          <p:nvPr/>
        </p:nvSpPr>
        <p:spPr>
          <a:xfrm>
            <a:off x="658368" y="1664208"/>
            <a:ext cx="822960" cy="38100"/>
          </a:xfrm>
          <a:prstGeom prst="rect">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658368" y="1783080"/>
          <a:ext cx="10874959" cy="2212848"/>
        </p:xfrm>
        <a:graphic>
          <a:graphicData uri="http://schemas.openxmlformats.org/drawingml/2006/table">
            <a:tbl>
              <a:tblPr>
                <a:tableStyleId>{5C22544A-7EE6-4342-B048-85BDC9FD1C3A}</a:tableStyleId>
              </a:tblPr>
              <a:tblGrid>
                <a:gridCol w="2718739"/>
                <a:gridCol w="2718739"/>
                <a:gridCol w="2718739"/>
                <a:gridCol w="2718742"/>
              </a:tblGrid>
              <a:tr h="368808">
                <a:tc>
                  <a:txBody>
                    <a:bodyPr/>
                    <a:lstStyle/>
                    <a:p>
                      <a:r>
                        <a:rPr b="1" sz="1100">
                          <a:solidFill>
                            <a:srgbClr val="B0B0B4"/>
                          </a:solidFill>
                          <a:latin typeface="Consolas"/>
                        </a:rPr>
                        <a:t>KPI</a:t>
                      </a:r>
                    </a:p>
                  </a:txBody>
                  <a:tcPr marL="91440" marT="27432" marB="27432" anchor="ctr">
                    <a:solidFill>
                      <a:srgbClr val="1E1E22"/>
                    </a:solidFill>
                  </a:tcPr>
                </a:tc>
                <a:tc>
                  <a:txBody>
                    <a:bodyPr/>
                    <a:lstStyle/>
                    <a:p>
                      <a:r>
                        <a:rPr b="1" sz="1100">
                          <a:solidFill>
                            <a:srgbClr val="B0B0B4"/>
                          </a:solidFill>
                          <a:latin typeface="Consolas"/>
                        </a:rPr>
                        <a:t>Ce măsoară · formulă</a:t>
                      </a:r>
                    </a:p>
                  </a:txBody>
                  <a:tcPr marL="91440" marT="27432" marB="27432" anchor="ctr">
                    <a:solidFill>
                      <a:srgbClr val="1E1E22"/>
                    </a:solidFill>
                  </a:tcPr>
                </a:tc>
                <a:tc>
                  <a:txBody>
                    <a:bodyPr/>
                    <a:lstStyle/>
                    <a:p>
                      <a:r>
                        <a:rPr b="1" sz="1100">
                          <a:solidFill>
                            <a:srgbClr val="B0B0B4"/>
                          </a:solidFill>
                          <a:latin typeface="Consolas"/>
                        </a:rPr>
                        <a:t>Familie</a:t>
                      </a:r>
                    </a:p>
                  </a:txBody>
                  <a:tcPr marL="91440" marT="27432" marB="27432" anchor="ctr">
                    <a:solidFill>
                      <a:srgbClr val="1E1E22"/>
                    </a:solidFill>
                  </a:tcPr>
                </a:tc>
                <a:tc>
                  <a:txBody>
                    <a:bodyPr/>
                    <a:lstStyle/>
                    <a:p>
                      <a:r>
                        <a:rPr b="1" sz="1100">
                          <a:solidFill>
                            <a:srgbClr val="B0B0B4"/>
                          </a:solidFill>
                          <a:latin typeface="Consolas"/>
                        </a:rPr>
                        <a:t>Decizie · proprietar</a:t>
                      </a:r>
                    </a:p>
                  </a:txBody>
                  <a:tcPr marL="91440" marT="27432" marB="27432" anchor="ctr">
                    <a:solidFill>
                      <a:srgbClr val="1E1E22"/>
                    </a:solidFill>
                  </a:tcPr>
                </a:tc>
              </a:tr>
              <a:tr h="368808">
                <a:tc>
                  <a:txBody>
                    <a:bodyPr/>
                    <a:lstStyle/>
                    <a:p>
                      <a:r>
                        <a:rPr b="1" sz="1100">
                          <a:solidFill>
                            <a:srgbClr val="F2F2F2"/>
                          </a:solidFill>
                          <a:latin typeface="Arial"/>
                        </a:rPr>
                        <a:t>Conversion</a:t>
                      </a:r>
                    </a:p>
                  </a:txBody>
                  <a:tcPr marL="91440" marT="27432" marB="27432" anchor="ctr">
                    <a:solidFill>
                      <a:srgbClr val="151517"/>
                    </a:solidFill>
                  </a:tcPr>
                </a:tc>
                <a:tc>
                  <a:txBody>
                    <a:bodyPr/>
                    <a:lstStyle/>
                    <a:p>
                      <a:r>
                        <a:rPr b="0" sz="1100">
                          <a:solidFill>
                            <a:srgbClr val="F2F2F2"/>
                          </a:solidFill>
                          <a:latin typeface="Arial"/>
                        </a:rPr>
                        <a:t>% vizite → comenzi</a:t>
                      </a:r>
                    </a:p>
                  </a:txBody>
                  <a:tcPr marL="91440" marT="27432" marB="27432" anchor="ctr">
                    <a:solidFill>
                      <a:srgbClr val="151517"/>
                    </a:solidFill>
                  </a:tcPr>
                </a:tc>
                <a:tc>
                  <a:txBody>
                    <a:bodyPr/>
                    <a:lstStyle/>
                    <a:p>
                      <a:r>
                        <a:rPr b="0" sz="1100">
                          <a:solidFill>
                            <a:srgbClr val="F2F2F2"/>
                          </a:solidFill>
                          <a:latin typeface="Arial"/>
                        </a:rPr>
                        <a:t>eficiență</a:t>
                      </a:r>
                    </a:p>
                  </a:txBody>
                  <a:tcPr marL="91440" marT="27432" marB="27432" anchor="ctr">
                    <a:solidFill>
                      <a:srgbClr val="151517"/>
                    </a:solidFill>
                  </a:tcPr>
                </a:tc>
                <a:tc>
                  <a:txBody>
                    <a:bodyPr/>
                    <a:lstStyle/>
                    <a:p>
                      <a:r>
                        <a:rPr b="0" sz="1100">
                          <a:solidFill>
                            <a:srgbClr val="F2F2F2"/>
                          </a:solidFill>
                          <a:latin typeface="Arial"/>
                        </a:rPr>
                        <a:t>funnel? · Marketing/Radu</a:t>
                      </a:r>
                    </a:p>
                  </a:txBody>
                  <a:tcPr marL="91440" marT="27432" marB="27432" anchor="ctr">
                    <a:solidFill>
                      <a:srgbClr val="151517"/>
                    </a:solidFill>
                  </a:tcPr>
                </a:tc>
              </a:tr>
              <a:tr h="368808">
                <a:tc>
                  <a:txBody>
                    <a:bodyPr/>
                    <a:lstStyle/>
                    <a:p>
                      <a:r>
                        <a:rPr b="1" sz="1100">
                          <a:solidFill>
                            <a:srgbClr val="F2F2F2"/>
                          </a:solidFill>
                          <a:latin typeface="Arial"/>
                        </a:rPr>
                        <a:t>Retention</a:t>
                      </a:r>
                    </a:p>
                  </a:txBody>
                  <a:tcPr marL="91440" marT="27432" marB="27432" anchor="ctr">
                    <a:solidFill>
                      <a:srgbClr val="1A1A1E"/>
                    </a:solidFill>
                  </a:tcPr>
                </a:tc>
                <a:tc>
                  <a:txBody>
                    <a:bodyPr/>
                    <a:lstStyle/>
                    <a:p>
                      <a:r>
                        <a:rPr b="0" sz="1100">
                          <a:solidFill>
                            <a:srgbClr val="F2F2F2"/>
                          </a:solidFill>
                          <a:latin typeface="Arial"/>
                        </a:rPr>
                        <a:t>% clienți care revin</a:t>
                      </a:r>
                    </a:p>
                  </a:txBody>
                  <a:tcPr marL="91440" marT="27432" marB="27432" anchor="ctr">
                    <a:solidFill>
                      <a:srgbClr val="1A1A1E"/>
                    </a:solidFill>
                  </a:tcPr>
                </a:tc>
                <a:tc>
                  <a:txBody>
                    <a:bodyPr/>
                    <a:lstStyle/>
                    <a:p>
                      <a:r>
                        <a:rPr b="0" sz="1100">
                          <a:solidFill>
                            <a:srgbClr val="F2F2F2"/>
                          </a:solidFill>
                          <a:latin typeface="Arial"/>
                        </a:rPr>
                        <a:t>eficiență</a:t>
                      </a:r>
                    </a:p>
                  </a:txBody>
                  <a:tcPr marL="91440" marT="27432" marB="27432" anchor="ctr">
                    <a:solidFill>
                      <a:srgbClr val="1A1A1E"/>
                    </a:solidFill>
                  </a:tcPr>
                </a:tc>
                <a:tc>
                  <a:txBody>
                    <a:bodyPr/>
                    <a:lstStyle/>
                    <a:p>
                      <a:r>
                        <a:rPr b="0" sz="1100">
                          <a:solidFill>
                            <a:srgbClr val="F2F2F2"/>
                          </a:solidFill>
                          <a:latin typeface="Arial"/>
                        </a:rPr>
                        <a:t>îi ținem? · CX</a:t>
                      </a:r>
                    </a:p>
                  </a:txBody>
                  <a:tcPr marL="91440" marT="27432" marB="27432" anchor="ctr">
                    <a:solidFill>
                      <a:srgbClr val="1A1A1E"/>
                    </a:solidFill>
                  </a:tcPr>
                </a:tc>
              </a:tr>
              <a:tr h="368808">
                <a:tc>
                  <a:txBody>
                    <a:bodyPr/>
                    <a:lstStyle/>
                    <a:p>
                      <a:r>
                        <a:rPr b="1" sz="1100">
                          <a:solidFill>
                            <a:srgbClr val="F2F2F2"/>
                          </a:solidFill>
                          <a:latin typeface="Arial"/>
                        </a:rPr>
                        <a:t>ROAS</a:t>
                      </a:r>
                    </a:p>
                  </a:txBody>
                  <a:tcPr marL="91440" marT="27432" marB="27432" anchor="ctr">
                    <a:solidFill>
                      <a:srgbClr val="151517"/>
                    </a:solidFill>
                  </a:tcPr>
                </a:tc>
                <a:tc>
                  <a:txBody>
                    <a:bodyPr/>
                    <a:lstStyle/>
                    <a:p>
                      <a:r>
                        <a:rPr b="0" sz="1100">
                          <a:solidFill>
                            <a:srgbClr val="F2F2F2"/>
                          </a:solidFill>
                          <a:latin typeface="Arial"/>
                        </a:rPr>
                        <a:t>Campaign Rev ÷ Spend</a:t>
                      </a:r>
                    </a:p>
                  </a:txBody>
                  <a:tcPr marL="91440" marT="27432" marB="27432" anchor="ctr">
                    <a:solidFill>
                      <a:srgbClr val="151517"/>
                    </a:solidFill>
                  </a:tcPr>
                </a:tc>
                <a:tc>
                  <a:txBody>
                    <a:bodyPr/>
                    <a:lstStyle/>
                    <a:p>
                      <a:r>
                        <a:rPr b="0" sz="1100">
                          <a:solidFill>
                            <a:srgbClr val="F2F2F2"/>
                          </a:solidFill>
                          <a:latin typeface="Arial"/>
                        </a:rPr>
                        <a:t>eficiență</a:t>
                      </a:r>
                    </a:p>
                  </a:txBody>
                  <a:tcPr marL="91440" marT="27432" marB="27432" anchor="ctr">
                    <a:solidFill>
                      <a:srgbClr val="151517"/>
                    </a:solidFill>
                  </a:tcPr>
                </a:tc>
                <a:tc>
                  <a:txBody>
                    <a:bodyPr/>
                    <a:lstStyle/>
                    <a:p>
                      <a:r>
                        <a:rPr b="0" sz="1100">
                          <a:solidFill>
                            <a:srgbClr val="F2F2F2"/>
                          </a:solidFill>
                          <a:latin typeface="Arial"/>
                        </a:rPr>
                        <a:t>campania a meritat? · Radu</a:t>
                      </a:r>
                    </a:p>
                  </a:txBody>
                  <a:tcPr marL="91440" marT="27432" marB="27432" anchor="ctr">
                    <a:solidFill>
                      <a:srgbClr val="151517"/>
                    </a:solidFill>
                  </a:tcPr>
                </a:tc>
              </a:tr>
              <a:tr h="368808">
                <a:tc>
                  <a:txBody>
                    <a:bodyPr/>
                    <a:lstStyle/>
                    <a:p>
                      <a:r>
                        <a:rPr b="1" sz="1100">
                          <a:solidFill>
                            <a:srgbClr val="F2F2F2"/>
                          </a:solidFill>
                          <a:latin typeface="Arial"/>
                        </a:rPr>
                        <a:t>Gross Margin</a:t>
                      </a:r>
                    </a:p>
                  </a:txBody>
                  <a:tcPr marL="91440" marT="27432" marB="27432" anchor="ctr">
                    <a:solidFill>
                      <a:srgbClr val="1A1A1E"/>
                    </a:solidFill>
                  </a:tcPr>
                </a:tc>
                <a:tc>
                  <a:txBody>
                    <a:bodyPr/>
                    <a:lstStyle/>
                    <a:p>
                      <a:r>
                        <a:rPr b="0" sz="1100">
                          <a:solidFill>
                            <a:srgbClr val="F2F2F2"/>
                          </a:solidFill>
                          <a:latin typeface="Arial"/>
                        </a:rPr>
                        <a:t>(Rev − COGS) ÷ Rev</a:t>
                      </a:r>
                    </a:p>
                  </a:txBody>
                  <a:tcPr marL="91440" marT="27432" marB="27432" anchor="ctr">
                    <a:solidFill>
                      <a:srgbClr val="1A1A1E"/>
                    </a:solidFill>
                  </a:tcPr>
                </a:tc>
                <a:tc>
                  <a:txBody>
                    <a:bodyPr/>
                    <a:lstStyle/>
                    <a:p>
                      <a:r>
                        <a:rPr b="0" sz="1100">
                          <a:solidFill>
                            <a:srgbClr val="F2F2F2"/>
                          </a:solidFill>
                          <a:latin typeface="Arial"/>
                        </a:rPr>
                        <a:t>eficiență</a:t>
                      </a:r>
                    </a:p>
                  </a:txBody>
                  <a:tcPr marL="91440" marT="27432" marB="27432" anchor="ctr">
                    <a:solidFill>
                      <a:srgbClr val="1A1A1E"/>
                    </a:solidFill>
                  </a:tcPr>
                </a:tc>
                <a:tc>
                  <a:txBody>
                    <a:bodyPr/>
                    <a:lstStyle/>
                    <a:p>
                      <a:r>
                        <a:rPr b="0" sz="1100">
                          <a:solidFill>
                            <a:srgbClr val="F2F2F2"/>
                          </a:solidFill>
                          <a:latin typeface="Arial"/>
                        </a:rPr>
                        <a:t>vindem profitabil? · Finance</a:t>
                      </a:r>
                    </a:p>
                  </a:txBody>
                  <a:tcPr marL="91440" marT="27432" marB="27432" anchor="ctr">
                    <a:solidFill>
                      <a:srgbClr val="1A1A1E"/>
                    </a:solidFill>
                  </a:tcPr>
                </a:tc>
              </a:tr>
              <a:tr h="368808">
                <a:tc>
                  <a:txBody>
                    <a:bodyPr/>
                    <a:lstStyle/>
                    <a:p>
                      <a:r>
                        <a:rPr b="1" sz="1100">
                          <a:solidFill>
                            <a:srgbClr val="F2F2F2"/>
                          </a:solidFill>
                          <a:latin typeface="Arial"/>
                        </a:rPr>
                        <a:t>Out-of-Stock</a:t>
                      </a:r>
                    </a:p>
                  </a:txBody>
                  <a:tcPr marL="91440" marT="27432" marB="27432" anchor="ctr">
                    <a:solidFill>
                      <a:srgbClr val="151517"/>
                    </a:solidFill>
                  </a:tcPr>
                </a:tc>
                <a:tc>
                  <a:txBody>
                    <a:bodyPr/>
                    <a:lstStyle/>
                    <a:p>
                      <a:r>
                        <a:rPr b="0" sz="1100">
                          <a:solidFill>
                            <a:srgbClr val="F2F2F2"/>
                          </a:solidFill>
                          <a:latin typeface="Arial"/>
                        </a:rPr>
                        <a:t>cât de des lipsește</a:t>
                      </a:r>
                    </a:p>
                  </a:txBody>
                  <a:tcPr marL="91440" marT="27432" marB="27432" anchor="ctr">
                    <a:solidFill>
                      <a:srgbClr val="151517"/>
                    </a:solidFill>
                  </a:tcPr>
                </a:tc>
                <a:tc>
                  <a:txBody>
                    <a:bodyPr/>
                    <a:lstStyle/>
                    <a:p>
                      <a:r>
                        <a:rPr b="0" sz="1100">
                          <a:solidFill>
                            <a:srgbClr val="F2F2F2"/>
                          </a:solidFill>
                          <a:latin typeface="Arial"/>
                        </a:rPr>
                        <a:t>eficiență</a:t>
                      </a:r>
                    </a:p>
                  </a:txBody>
                  <a:tcPr marL="91440" marT="27432" marB="27432" anchor="ctr">
                    <a:solidFill>
                      <a:srgbClr val="151517"/>
                    </a:solidFill>
                  </a:tcPr>
                </a:tc>
                <a:tc>
                  <a:txBody>
                    <a:bodyPr/>
                    <a:lstStyle/>
                    <a:p>
                      <a:r>
                        <a:rPr b="0" sz="1100">
                          <a:solidFill>
                            <a:srgbClr val="F2F2F2"/>
                          </a:solidFill>
                          <a:latin typeface="Arial"/>
                        </a:rPr>
                        <a:t>reaprovizionăm? · Mihai</a:t>
                      </a:r>
                    </a:p>
                  </a:txBody>
                  <a:tcPr marL="91440" marT="27432" marB="27432" anchor="ctr">
                    <a:solidFill>
                      <a:srgbClr val="151517"/>
                    </a:solidFill>
                  </a:tcPr>
                </a:tc>
              </a:tr>
            </a:tbl>
          </a:graphicData>
        </a:graphic>
      </p:graphicFrame>
      <p:sp>
        <p:nvSpPr>
          <p:cNvPr id="7" name="Rounded Rectangle 6"/>
          <p:cNvSpPr/>
          <p:nvPr/>
        </p:nvSpPr>
        <p:spPr>
          <a:xfrm>
            <a:off x="658368" y="4133088"/>
            <a:ext cx="10874959" cy="1450848"/>
          </a:xfrm>
          <a:prstGeom prst="roundRect">
            <a:avLst/>
          </a:prstGeom>
          <a:solidFill>
            <a:srgbClr val="1B1B1F"/>
          </a:solidFill>
          <a:ln w="12700">
            <a:solidFill>
              <a:srgbClr val="FF79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lnSpc>
                <a:spcPct val="112000"/>
              </a:lnSpc>
            </a:pPr>
            <a:r>
              <a:rPr b="0" sz="1400">
                <a:solidFill>
                  <a:srgbClr val="F2F2F2"/>
                </a:solidFill>
                <a:latin typeface="Arial"/>
              </a:rPr>
              <a:t>Nu memora — reține două întrebări: </a:t>
            </a:r>
            <a:r>
              <a:rPr i="1" sz="1400">
                <a:solidFill>
                  <a:srgbClr val="F2F2F2"/>
                </a:solidFill>
                <a:latin typeface="Arial"/>
              </a:rPr>
              <a:t>e de volum sau de eficiență?</a:t>
            </a:r>
            <a:r>
              <a:rPr b="0" sz="1400">
                <a:solidFill>
                  <a:srgbClr val="F2F2F2"/>
                </a:solidFill>
                <a:latin typeface="Arial"/>
              </a:rPr>
              <a:t> și </a:t>
            </a:r>
            <a:r>
              <a:rPr i="1" sz="1400">
                <a:solidFill>
                  <a:srgbClr val="F2F2F2"/>
                </a:solidFill>
                <a:latin typeface="Arial"/>
              </a:rPr>
              <a:t>ce decizie sprijină?</a:t>
            </a:r>
            <a:r>
              <a:rPr b="0" sz="1400">
                <a:solidFill>
                  <a:srgbClr val="F2F2F2"/>
                </a:solidFill>
                <a:latin typeface="Arial"/>
              </a:rPr>
              <a:t> Un KPI fără o decizie în spate e doar un număr frumos.</a:t>
            </a:r>
          </a:p>
        </p:txBody>
      </p:sp>
      <p:sp>
        <p:nvSpPr>
          <p:cNvPr id="8" name="TextBox 7"/>
          <p:cNvSpPr txBox="1"/>
          <p:nvPr/>
        </p:nvSpPr>
        <p:spPr>
          <a:xfrm>
            <a:off x="658368" y="6382512"/>
            <a:ext cx="10874959" cy="292608"/>
          </a:xfrm>
          <a:prstGeom prst="rect">
            <a:avLst/>
          </a:prstGeom>
          <a:noFill/>
        </p:spPr>
        <p:txBody>
          <a:bodyPr wrap="none">
            <a:spAutoFit/>
          </a:bodyPr>
          <a:lstStyle/>
          <a:p>
            <a:r>
              <a:rPr sz="850">
                <a:solidFill>
                  <a:srgbClr val="FF7900"/>
                </a:solidFill>
                <a:latin typeface="Consolas"/>
              </a:rPr>
              <a:t>● </a:t>
            </a:r>
            <a:r>
              <a:rPr sz="850">
                <a:solidFill>
                  <a:srgbClr val="77777C"/>
                </a:solidFill>
                <a:latin typeface="Consolas"/>
              </a:rPr>
              <a:t>Orange Systems  ·  Data Analysis</a:t>
            </a:r>
          </a:p>
        </p:txBody>
      </p:sp>
      <p:sp>
        <p:nvSpPr>
          <p:cNvPr id="9" name="TextBox 8"/>
          <p:cNvSpPr txBox="1"/>
          <p:nvPr/>
        </p:nvSpPr>
        <p:spPr>
          <a:xfrm>
            <a:off x="9247327" y="6382512"/>
            <a:ext cx="2286000" cy="292608"/>
          </a:xfrm>
          <a:prstGeom prst="rect">
            <a:avLst/>
          </a:prstGeom>
          <a:noFill/>
        </p:spPr>
        <p:txBody>
          <a:bodyPr wrap="none">
            <a:spAutoFit/>
          </a:bodyPr>
          <a:lstStyle/>
          <a:p>
            <a:pPr algn="r"/>
            <a:r>
              <a:rPr sz="850">
                <a:solidFill>
                  <a:srgbClr val="77777C"/>
                </a:solidFill>
                <a:latin typeface="Consolas"/>
              </a:rPr>
              <a:t>L4 · KPI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51517"/>
        </a:solidFill>
        <a:effectLst/>
      </p:bgPr>
    </p:bg>
    <p:spTree>
      <p:nvGrpSpPr>
        <p:cNvPr id="1" name=""/>
        <p:cNvGrpSpPr/>
        <p:nvPr/>
      </p:nvGrpSpPr>
      <p:grpSpPr/>
      <p:pic>
        <p:nvPicPr>
          <p:cNvPr id="2" name="Picture 1" descr="orange_systems_logo_dark.png"/>
          <p:cNvPicPr>
            <a:picLocks noChangeAspect="1"/>
          </p:cNvPicPr>
          <p:nvPr/>
        </p:nvPicPr>
        <p:blipFill>
          <a:blip r:embed="rId2"/>
          <a:stretch>
            <a:fillRect/>
          </a:stretch>
        </p:blipFill>
        <p:spPr>
          <a:xfrm>
            <a:off x="10116007" y="310896"/>
            <a:ext cx="1417320" cy="513973"/>
          </a:xfrm>
          <a:prstGeom prst="rect">
            <a:avLst/>
          </a:prstGeom>
        </p:spPr>
      </p:pic>
      <p:sp>
        <p:nvSpPr>
          <p:cNvPr id="3" name="TextBox 2"/>
          <p:cNvSpPr txBox="1"/>
          <p:nvPr/>
        </p:nvSpPr>
        <p:spPr>
          <a:xfrm>
            <a:off x="658368" y="457200"/>
            <a:ext cx="9320479" cy="365760"/>
          </a:xfrm>
          <a:prstGeom prst="rect">
            <a:avLst/>
          </a:prstGeom>
          <a:noFill/>
        </p:spPr>
        <p:txBody>
          <a:bodyPr wrap="none">
            <a:spAutoFit/>
          </a:bodyPr>
          <a:lstStyle/>
          <a:p>
            <a:r>
              <a:rPr sz="1100">
                <a:solidFill>
                  <a:srgbClr val="FF7900"/>
                </a:solidFill>
                <a:latin typeface="Consolas"/>
              </a:rPr>
              <a:t>● </a:t>
            </a:r>
            <a:r>
              <a:rPr sz="1150" b="1">
                <a:solidFill>
                  <a:srgbClr val="FFA24E"/>
                </a:solidFill>
                <a:latin typeface="Consolas"/>
              </a:rPr>
              <a:t>DEMONSTRAȚIE</a:t>
            </a:r>
          </a:p>
        </p:txBody>
      </p:sp>
      <p:sp>
        <p:nvSpPr>
          <p:cNvPr id="4" name="TextBox 3"/>
          <p:cNvSpPr txBox="1"/>
          <p:nvPr/>
        </p:nvSpPr>
        <p:spPr>
          <a:xfrm>
            <a:off x="658368" y="896112"/>
            <a:ext cx="9320479" cy="914400"/>
          </a:xfrm>
          <a:prstGeom prst="rect">
            <a:avLst/>
          </a:prstGeom>
          <a:noFill/>
        </p:spPr>
        <p:txBody>
          <a:bodyPr wrap="square">
            <a:spAutoFit/>
          </a:bodyPr>
          <a:lstStyle/>
          <a:p>
            <a:pPr>
              <a:defRPr b="1"/>
            </a:pPr>
            <a:r>
              <a:rPr b="1" sz="3000">
                <a:solidFill>
                  <a:srgbClr val="F2F2F2"/>
                </a:solidFill>
                <a:latin typeface="Arial"/>
              </a:rPr>
              <a:t>Cum desface Andrei afirmația Elenei, cu numere</a:t>
            </a:r>
          </a:p>
        </p:txBody>
      </p:sp>
      <p:sp>
        <p:nvSpPr>
          <p:cNvPr id="5" name="Rectangle 4"/>
          <p:cNvSpPr/>
          <p:nvPr/>
        </p:nvSpPr>
        <p:spPr>
          <a:xfrm>
            <a:off x="658368" y="1664208"/>
            <a:ext cx="822960" cy="38100"/>
          </a:xfrm>
          <a:prstGeom prst="rect">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83080"/>
            <a:ext cx="10874959" cy="1984248"/>
          </a:xfrm>
          <a:prstGeom prst="roundRect">
            <a:avLst/>
          </a:prstGeom>
          <a:solidFill>
            <a:srgbClr val="1B1B1F"/>
          </a:solidFill>
          <a:ln w="12700">
            <a:solidFill>
              <a:srgbClr val="FF79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lnSpc>
                <a:spcPct val="112000"/>
              </a:lnSpc>
            </a:pPr>
            <a:r>
              <a:rPr b="0" sz="1400">
                <a:solidFill>
                  <a:srgbClr val="F2F2F2"/>
                </a:solidFill>
                <a:latin typeface="Arial"/>
              </a:rPr>
              <a:t>«‘București vinde cel mai mult’ — adevărat, Revenue ~7,5M. Dar Revenue = Orders × AOV. ‘E cel mai bun?’ se sparge: cel mai mare </a:t>
            </a:r>
            <a:r>
              <a:rPr b="1" sz="1400">
                <a:solidFill>
                  <a:srgbClr val="F2F2F2"/>
                </a:solidFill>
                <a:latin typeface="Arial"/>
              </a:rPr>
              <a:t>AOV</a:t>
            </a:r>
            <a:r>
              <a:rPr b="0" sz="1400">
                <a:solidFill>
                  <a:srgbClr val="F2F2F2"/>
                </a:solidFill>
                <a:latin typeface="Arial"/>
              </a:rPr>
              <a:t> (comenzi valoroase) sau doar cele mai multe </a:t>
            </a:r>
            <a:r>
              <a:rPr b="1" sz="1400">
                <a:solidFill>
                  <a:srgbClr val="F2F2F2"/>
                </a:solidFill>
                <a:latin typeface="Arial"/>
              </a:rPr>
              <a:t>Orders</a:t>
            </a:r>
            <a:r>
              <a:rPr b="0" sz="1400">
                <a:solidFill>
                  <a:srgbClr val="F2F2F2"/>
                </a:solidFill>
                <a:latin typeface="Arial"/>
              </a:rPr>
              <a:t> (mult trafic)? Dacă AOV e mic, ‘cel mai bun pe comandă’ nu e Bucureștiul.»</a:t>
            </a:r>
          </a:p>
        </p:txBody>
      </p:sp>
      <p:sp>
        <p:nvSpPr>
          <p:cNvPr id="7" name="TextBox 6"/>
          <p:cNvSpPr txBox="1"/>
          <p:nvPr/>
        </p:nvSpPr>
        <p:spPr>
          <a:xfrm>
            <a:off x="658368" y="3904488"/>
            <a:ext cx="10874959" cy="1765495"/>
          </a:xfrm>
          <a:prstGeom prst="rect">
            <a:avLst/>
          </a:prstGeom>
          <a:noFill/>
        </p:spPr>
        <p:txBody>
          <a:bodyPr wrap="square">
            <a:spAutoFit/>
          </a:bodyPr>
          <a:lstStyle/>
          <a:p>
            <a:pPr>
              <a:lnSpc>
                <a:spcPct val="115000"/>
              </a:lnSpc>
            </a:pPr>
            <a:r>
              <a:rPr b="0" sz="1500">
                <a:solidFill>
                  <a:srgbClr val="F2F2F2"/>
                </a:solidFill>
                <a:latin typeface="Arial"/>
              </a:rPr>
              <a:t>Apoi leagă de Lecția 3: «‘E cel mai bun magazin?’ e o frunză de Decision Tree. Ca s-o verific, aleg KPI-ul potrivit — </a:t>
            </a:r>
            <a:r>
              <a:rPr b="1" sz="1500">
                <a:solidFill>
                  <a:srgbClr val="F2F2F2"/>
                </a:solidFill>
                <a:latin typeface="Arial"/>
              </a:rPr>
              <a:t>AOV, nu Revenue</a:t>
            </a:r>
            <a:r>
              <a:rPr b="0" sz="1500">
                <a:solidFill>
                  <a:srgbClr val="F2F2F2"/>
                </a:solidFill>
                <a:latin typeface="Arial"/>
              </a:rPr>
              <a:t>. Jumătate din greșelile de analist vin din a alege KPI-ul greșit: răspunzi corect... la altă întrebare.»</a:t>
            </a:r>
          </a:p>
        </p:txBody>
      </p:sp>
      <p:sp>
        <p:nvSpPr>
          <p:cNvPr id="8" name="TextBox 7"/>
          <p:cNvSpPr txBox="1"/>
          <p:nvPr/>
        </p:nvSpPr>
        <p:spPr>
          <a:xfrm>
            <a:off x="658368" y="6382512"/>
            <a:ext cx="10874959" cy="292608"/>
          </a:xfrm>
          <a:prstGeom prst="rect">
            <a:avLst/>
          </a:prstGeom>
          <a:noFill/>
        </p:spPr>
        <p:txBody>
          <a:bodyPr wrap="none">
            <a:spAutoFit/>
          </a:bodyPr>
          <a:lstStyle/>
          <a:p>
            <a:r>
              <a:rPr sz="850">
                <a:solidFill>
                  <a:srgbClr val="FF7900"/>
                </a:solidFill>
                <a:latin typeface="Consolas"/>
              </a:rPr>
              <a:t>● </a:t>
            </a:r>
            <a:r>
              <a:rPr sz="850">
                <a:solidFill>
                  <a:srgbClr val="77777C"/>
                </a:solidFill>
                <a:latin typeface="Consolas"/>
              </a:rPr>
              <a:t>Orange Systems  ·  Data Analysis</a:t>
            </a:r>
          </a:p>
        </p:txBody>
      </p:sp>
      <p:sp>
        <p:nvSpPr>
          <p:cNvPr id="9" name="TextBox 8"/>
          <p:cNvSpPr txBox="1"/>
          <p:nvPr/>
        </p:nvSpPr>
        <p:spPr>
          <a:xfrm>
            <a:off x="9247327" y="6382512"/>
            <a:ext cx="2286000" cy="292608"/>
          </a:xfrm>
          <a:prstGeom prst="rect">
            <a:avLst/>
          </a:prstGeom>
          <a:noFill/>
        </p:spPr>
        <p:txBody>
          <a:bodyPr wrap="none">
            <a:spAutoFit/>
          </a:bodyPr>
          <a:lstStyle/>
          <a:p>
            <a:pPr algn="r"/>
            <a:r>
              <a:rPr sz="850">
                <a:solidFill>
                  <a:srgbClr val="77777C"/>
                </a:solidFill>
                <a:latin typeface="Consolas"/>
              </a:rPr>
              <a:t>L4 · KPI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51517"/>
        </a:solidFill>
        <a:effectLst/>
      </p:bgPr>
    </p:bg>
    <p:spTree>
      <p:nvGrpSpPr>
        <p:cNvPr id="1" name=""/>
        <p:cNvGrpSpPr/>
        <p:nvPr/>
      </p:nvGrpSpPr>
      <p:grpSpPr/>
      <p:pic>
        <p:nvPicPr>
          <p:cNvPr id="2" name="Picture 1" descr="orange_systems_logo_dark.png"/>
          <p:cNvPicPr>
            <a:picLocks noChangeAspect="1"/>
          </p:cNvPicPr>
          <p:nvPr/>
        </p:nvPicPr>
        <p:blipFill>
          <a:blip r:embed="rId2"/>
          <a:stretch>
            <a:fillRect/>
          </a:stretch>
        </p:blipFill>
        <p:spPr>
          <a:xfrm>
            <a:off x="10116007" y="310896"/>
            <a:ext cx="1417320" cy="513973"/>
          </a:xfrm>
          <a:prstGeom prst="rect">
            <a:avLst/>
          </a:prstGeom>
        </p:spPr>
      </p:pic>
      <p:sp>
        <p:nvSpPr>
          <p:cNvPr id="3" name="TextBox 2"/>
          <p:cNvSpPr txBox="1"/>
          <p:nvPr/>
        </p:nvSpPr>
        <p:spPr>
          <a:xfrm>
            <a:off x="658368" y="457200"/>
            <a:ext cx="9320479" cy="365760"/>
          </a:xfrm>
          <a:prstGeom prst="rect">
            <a:avLst/>
          </a:prstGeom>
          <a:noFill/>
        </p:spPr>
        <p:txBody>
          <a:bodyPr wrap="none">
            <a:spAutoFit/>
          </a:bodyPr>
          <a:lstStyle/>
          <a:p>
            <a:r>
              <a:rPr sz="1100">
                <a:solidFill>
                  <a:srgbClr val="FF7900"/>
                </a:solidFill>
                <a:latin typeface="Consolas"/>
              </a:rPr>
              <a:t>● </a:t>
            </a:r>
            <a:r>
              <a:rPr sz="1150" b="1">
                <a:solidFill>
                  <a:srgbClr val="FFA24E"/>
                </a:solidFill>
                <a:latin typeface="Consolas"/>
              </a:rPr>
              <a:t>GREȘELI</a:t>
            </a:r>
          </a:p>
        </p:txBody>
      </p:sp>
      <p:sp>
        <p:nvSpPr>
          <p:cNvPr id="4" name="TextBox 3"/>
          <p:cNvSpPr txBox="1"/>
          <p:nvPr/>
        </p:nvSpPr>
        <p:spPr>
          <a:xfrm>
            <a:off x="658368" y="896112"/>
            <a:ext cx="9320479" cy="914400"/>
          </a:xfrm>
          <a:prstGeom prst="rect">
            <a:avLst/>
          </a:prstGeom>
          <a:noFill/>
        </p:spPr>
        <p:txBody>
          <a:bodyPr wrap="square">
            <a:spAutoFit/>
          </a:bodyPr>
          <a:lstStyle/>
          <a:p>
            <a:pPr>
              <a:defRPr b="1"/>
            </a:pPr>
            <a:r>
              <a:rPr b="1" sz="3000">
                <a:solidFill>
                  <a:srgbClr val="F2F2F2"/>
                </a:solidFill>
                <a:latin typeface="Arial"/>
              </a:rPr>
              <a:t>Greșeli pe care le fac aproape toți juniorii</a:t>
            </a:r>
          </a:p>
        </p:txBody>
      </p:sp>
      <p:sp>
        <p:nvSpPr>
          <p:cNvPr id="5" name="Rectangle 4"/>
          <p:cNvSpPr/>
          <p:nvPr/>
        </p:nvSpPr>
        <p:spPr>
          <a:xfrm>
            <a:off x="658368" y="1664208"/>
            <a:ext cx="822960" cy="38100"/>
          </a:xfrm>
          <a:prstGeom prst="rect">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83080"/>
            <a:ext cx="10874959" cy="2389632"/>
          </a:xfrm>
          <a:prstGeom prst="rect">
            <a:avLst/>
          </a:prstGeom>
          <a:noFill/>
        </p:spPr>
        <p:txBody>
          <a:bodyPr wrap="square">
            <a:spAutoFit/>
          </a:bodyPr>
          <a:lstStyle/>
          <a:p>
            <a:pPr>
              <a:lnSpc>
                <a:spcPct val="110000"/>
              </a:lnSpc>
              <a:spcAft>
                <a:spcPts val="700"/>
              </a:spcAft>
            </a:pPr>
            <a:r>
              <a:rPr sz="1300">
                <a:solidFill>
                  <a:srgbClr val="FF7900"/>
                </a:solidFill>
                <a:latin typeface="Consolas"/>
              </a:rPr>
              <a:t>— </a:t>
            </a:r>
            <a:r>
              <a:rPr b="0" sz="1300">
                <a:solidFill>
                  <a:srgbClr val="F2F2F2"/>
                </a:solidFill>
                <a:latin typeface="Arial"/>
              </a:rPr>
              <a:t>Numesc </a:t>
            </a:r>
            <a:r>
              <a:rPr b="1" sz="1300">
                <a:solidFill>
                  <a:srgbClr val="F2F2F2"/>
                </a:solidFill>
                <a:latin typeface="Arial"/>
              </a:rPr>
              <a:t>«KPI» orice număr</a:t>
            </a:r>
            <a:r>
              <a:rPr b="0" sz="1300">
                <a:solidFill>
                  <a:srgbClr val="F2F2F2"/>
                </a:solidFill>
                <a:latin typeface="Arial"/>
              </a:rPr>
              <a:t> — testul: ce decizie sprijină cifra asta?</a:t>
            </a:r>
          </a:p>
          <a:p>
            <a:pPr>
              <a:lnSpc>
                <a:spcPct val="110000"/>
              </a:lnSpc>
              <a:spcAft>
                <a:spcPts val="700"/>
              </a:spcAft>
            </a:pPr>
            <a:r>
              <a:rPr sz="1300">
                <a:solidFill>
                  <a:srgbClr val="FF7900"/>
                </a:solidFill>
                <a:latin typeface="Consolas"/>
              </a:rPr>
              <a:t>— </a:t>
            </a:r>
            <a:r>
              <a:rPr b="0" sz="1300">
                <a:solidFill>
                  <a:srgbClr val="F2F2F2"/>
                </a:solidFill>
                <a:latin typeface="Arial"/>
              </a:rPr>
              <a:t>Confundă </a:t>
            </a:r>
            <a:r>
              <a:rPr b="1" sz="1300">
                <a:solidFill>
                  <a:srgbClr val="F2F2F2"/>
                </a:solidFill>
                <a:latin typeface="Arial"/>
              </a:rPr>
              <a:t>volumul cu eficiența</a:t>
            </a:r>
            <a:r>
              <a:rPr b="0" sz="1300">
                <a:solidFill>
                  <a:srgbClr val="F2F2F2"/>
                </a:solidFill>
                <a:latin typeface="Arial"/>
              </a:rPr>
              <a:t> — «cel mai mare Revenue = cel mai bun»</a:t>
            </a:r>
          </a:p>
          <a:p>
            <a:pPr>
              <a:lnSpc>
                <a:spcPct val="110000"/>
              </a:lnSpc>
              <a:spcAft>
                <a:spcPts val="700"/>
              </a:spcAft>
            </a:pPr>
            <a:r>
              <a:rPr sz="1300">
                <a:solidFill>
                  <a:srgbClr val="FF7900"/>
                </a:solidFill>
                <a:latin typeface="Consolas"/>
              </a:rPr>
              <a:t>— </a:t>
            </a:r>
            <a:r>
              <a:rPr b="0" sz="1300">
                <a:solidFill>
                  <a:srgbClr val="F2F2F2"/>
                </a:solidFill>
                <a:latin typeface="Arial"/>
              </a:rPr>
              <a:t>Se laudă cu un </a:t>
            </a:r>
            <a:r>
              <a:rPr b="1" sz="1300">
                <a:solidFill>
                  <a:srgbClr val="F2F2F2"/>
                </a:solidFill>
                <a:latin typeface="Arial"/>
              </a:rPr>
              <a:t>vanity metric</a:t>
            </a:r>
            <a:r>
              <a:rPr b="0" sz="1300">
                <a:solidFill>
                  <a:srgbClr val="F2F2F2"/>
                </a:solidFill>
                <a:latin typeface="Arial"/>
              </a:rPr>
              <a:t> — «100.000 de vizite!», fără Conversion</a:t>
            </a:r>
          </a:p>
          <a:p>
            <a:pPr>
              <a:lnSpc>
                <a:spcPct val="110000"/>
              </a:lnSpc>
              <a:spcAft>
                <a:spcPts val="700"/>
              </a:spcAft>
            </a:pPr>
            <a:r>
              <a:rPr sz="1300">
                <a:solidFill>
                  <a:srgbClr val="FF7900"/>
                </a:solidFill>
                <a:latin typeface="Consolas"/>
              </a:rPr>
              <a:t>— </a:t>
            </a:r>
            <a:r>
              <a:rPr b="0" sz="1300">
                <a:solidFill>
                  <a:srgbClr val="F2F2F2"/>
                </a:solidFill>
                <a:latin typeface="Arial"/>
              </a:rPr>
              <a:t>Uită </a:t>
            </a:r>
            <a:r>
              <a:rPr b="1" sz="1300">
                <a:solidFill>
                  <a:srgbClr val="F2F2F2"/>
                </a:solidFill>
                <a:latin typeface="Arial"/>
              </a:rPr>
              <a:t>relația</a:t>
            </a:r>
            <a:r>
              <a:rPr b="0" sz="1300">
                <a:solidFill>
                  <a:srgbClr val="F2F2F2"/>
                </a:solidFill>
                <a:latin typeface="Arial"/>
              </a:rPr>
              <a:t> dintre KPI-uri — Orders sus nu înseamnă automat Revenue sus</a:t>
            </a:r>
          </a:p>
        </p:txBody>
      </p:sp>
      <p:sp>
        <p:nvSpPr>
          <p:cNvPr id="7" name="TextBox 6"/>
          <p:cNvSpPr txBox="1"/>
          <p:nvPr/>
        </p:nvSpPr>
        <p:spPr>
          <a:xfrm>
            <a:off x="658368" y="6382512"/>
            <a:ext cx="10874959" cy="292608"/>
          </a:xfrm>
          <a:prstGeom prst="rect">
            <a:avLst/>
          </a:prstGeom>
          <a:noFill/>
        </p:spPr>
        <p:txBody>
          <a:bodyPr wrap="none">
            <a:spAutoFit/>
          </a:bodyPr>
          <a:lstStyle/>
          <a:p>
            <a:r>
              <a:rPr sz="850">
                <a:solidFill>
                  <a:srgbClr val="FF7900"/>
                </a:solidFill>
                <a:latin typeface="Consolas"/>
              </a:rPr>
              <a:t>● </a:t>
            </a:r>
            <a:r>
              <a:rPr sz="850">
                <a:solidFill>
                  <a:srgbClr val="77777C"/>
                </a:solidFill>
                <a:latin typeface="Consolas"/>
              </a:rPr>
              <a:t>Orange Systems  ·  Data Analysis</a:t>
            </a:r>
          </a:p>
        </p:txBody>
      </p:sp>
      <p:sp>
        <p:nvSpPr>
          <p:cNvPr id="8" name="TextBox 7"/>
          <p:cNvSpPr txBox="1"/>
          <p:nvPr/>
        </p:nvSpPr>
        <p:spPr>
          <a:xfrm>
            <a:off x="9247327" y="6382512"/>
            <a:ext cx="2286000" cy="292608"/>
          </a:xfrm>
          <a:prstGeom prst="rect">
            <a:avLst/>
          </a:prstGeom>
          <a:noFill/>
        </p:spPr>
        <p:txBody>
          <a:bodyPr wrap="none">
            <a:spAutoFit/>
          </a:bodyPr>
          <a:lstStyle/>
          <a:p>
            <a:pPr algn="r"/>
            <a:r>
              <a:rPr sz="850">
                <a:solidFill>
                  <a:srgbClr val="77777C"/>
                </a:solidFill>
                <a:latin typeface="Consolas"/>
              </a:rPr>
              <a:t>L4 · KPI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51517"/>
        </a:solidFill>
        <a:effectLst/>
      </p:bgPr>
    </p:bg>
    <p:spTree>
      <p:nvGrpSpPr>
        <p:cNvPr id="1" name=""/>
        <p:cNvGrpSpPr/>
        <p:nvPr/>
      </p:nvGrpSpPr>
      <p:grpSpPr/>
      <p:pic>
        <p:nvPicPr>
          <p:cNvPr id="2" name="Picture 1" descr="orange_systems_logo_dark.png"/>
          <p:cNvPicPr>
            <a:picLocks noChangeAspect="1"/>
          </p:cNvPicPr>
          <p:nvPr/>
        </p:nvPicPr>
        <p:blipFill>
          <a:blip r:embed="rId2"/>
          <a:stretch>
            <a:fillRect/>
          </a:stretch>
        </p:blipFill>
        <p:spPr>
          <a:xfrm>
            <a:off x="10116007" y="310896"/>
            <a:ext cx="1417320" cy="513973"/>
          </a:xfrm>
          <a:prstGeom prst="rect">
            <a:avLst/>
          </a:prstGeom>
        </p:spPr>
      </p:pic>
      <p:sp>
        <p:nvSpPr>
          <p:cNvPr id="3" name="TextBox 2"/>
          <p:cNvSpPr txBox="1"/>
          <p:nvPr/>
        </p:nvSpPr>
        <p:spPr>
          <a:xfrm>
            <a:off x="658368" y="457200"/>
            <a:ext cx="9320479" cy="365760"/>
          </a:xfrm>
          <a:prstGeom prst="rect">
            <a:avLst/>
          </a:prstGeom>
          <a:noFill/>
        </p:spPr>
        <p:txBody>
          <a:bodyPr wrap="none">
            <a:spAutoFit/>
          </a:bodyPr>
          <a:lstStyle/>
          <a:p>
            <a:r>
              <a:rPr sz="1100">
                <a:solidFill>
                  <a:srgbClr val="FF7900"/>
                </a:solidFill>
                <a:latin typeface="Consolas"/>
              </a:rPr>
              <a:t>● </a:t>
            </a:r>
            <a:r>
              <a:rPr sz="1150" b="1">
                <a:solidFill>
                  <a:srgbClr val="FFA24E"/>
                </a:solidFill>
                <a:latin typeface="Consolas"/>
              </a:rPr>
              <a:t>RECAP</a:t>
            </a:r>
          </a:p>
        </p:txBody>
      </p:sp>
      <p:sp>
        <p:nvSpPr>
          <p:cNvPr id="4" name="TextBox 3"/>
          <p:cNvSpPr txBox="1"/>
          <p:nvPr/>
        </p:nvSpPr>
        <p:spPr>
          <a:xfrm>
            <a:off x="658368" y="896112"/>
            <a:ext cx="9320479" cy="914400"/>
          </a:xfrm>
          <a:prstGeom prst="rect">
            <a:avLst/>
          </a:prstGeom>
          <a:noFill/>
        </p:spPr>
        <p:txBody>
          <a:bodyPr wrap="square">
            <a:spAutoFit/>
          </a:bodyPr>
          <a:lstStyle/>
          <a:p>
            <a:pPr>
              <a:defRPr b="1"/>
            </a:pPr>
            <a:r>
              <a:rPr b="1" sz="3000">
                <a:solidFill>
                  <a:srgbClr val="F2F2F2"/>
                </a:solidFill>
                <a:latin typeface="Arial"/>
              </a:rPr>
              <a:t>Ce reții — în 5 idei</a:t>
            </a:r>
          </a:p>
        </p:txBody>
      </p:sp>
      <p:sp>
        <p:nvSpPr>
          <p:cNvPr id="5" name="Rectangle 4"/>
          <p:cNvSpPr/>
          <p:nvPr/>
        </p:nvSpPr>
        <p:spPr>
          <a:xfrm>
            <a:off x="658368" y="1664208"/>
            <a:ext cx="822960" cy="38100"/>
          </a:xfrm>
          <a:prstGeom prst="rect">
            <a:avLst/>
          </a:prstGeom>
          <a:solidFill>
            <a:srgbClr val="FF7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83080"/>
            <a:ext cx="10874959" cy="2895600"/>
          </a:xfrm>
          <a:prstGeom prst="rect">
            <a:avLst/>
          </a:prstGeom>
          <a:noFill/>
        </p:spPr>
        <p:txBody>
          <a:bodyPr wrap="square">
            <a:spAutoFit/>
          </a:bodyPr>
          <a:lstStyle/>
          <a:p>
            <a:pPr>
              <a:lnSpc>
                <a:spcPct val="110000"/>
              </a:lnSpc>
              <a:spcAft>
                <a:spcPts val="700"/>
              </a:spcAft>
            </a:pPr>
            <a:r>
              <a:rPr sz="1300">
                <a:solidFill>
                  <a:srgbClr val="FF7900"/>
                </a:solidFill>
                <a:latin typeface="Consolas"/>
              </a:rPr>
              <a:t>— </a:t>
            </a:r>
            <a:r>
              <a:rPr b="0" sz="1300">
                <a:solidFill>
                  <a:srgbClr val="F2F2F2"/>
                </a:solidFill>
                <a:latin typeface="Arial"/>
              </a:rPr>
              <a:t>Un KPI e un număr </a:t>
            </a:r>
            <a:r>
              <a:rPr b="1" sz="1300">
                <a:solidFill>
                  <a:srgbClr val="F2F2F2"/>
                </a:solidFill>
                <a:latin typeface="Arial"/>
              </a:rPr>
              <a:t>legat de o decizie</a:t>
            </a:r>
            <a:r>
              <a:rPr b="0" sz="1300">
                <a:solidFill>
                  <a:srgbClr val="F2F2F2"/>
                </a:solidFill>
                <a:latin typeface="Arial"/>
              </a:rPr>
              <a:t> — altfel e doar o cifră</a:t>
            </a:r>
          </a:p>
          <a:p>
            <a:pPr>
              <a:lnSpc>
                <a:spcPct val="110000"/>
              </a:lnSpc>
              <a:spcAft>
                <a:spcPts val="700"/>
              </a:spcAft>
            </a:pPr>
            <a:r>
              <a:rPr sz="1300">
                <a:solidFill>
                  <a:srgbClr val="FF7900"/>
                </a:solidFill>
                <a:latin typeface="Consolas"/>
              </a:rPr>
              <a:t>— </a:t>
            </a:r>
            <a:r>
              <a:rPr b="0" sz="1300">
                <a:solidFill>
                  <a:srgbClr val="F2F2F2"/>
                </a:solidFill>
                <a:latin typeface="Arial"/>
              </a:rPr>
              <a:t>KPI de </a:t>
            </a:r>
            <a:r>
              <a:rPr b="1" sz="1300">
                <a:solidFill>
                  <a:srgbClr val="F2F2F2"/>
                </a:solidFill>
                <a:latin typeface="Arial"/>
              </a:rPr>
              <a:t>volum</a:t>
            </a:r>
            <a:r>
              <a:rPr b="0" sz="1300">
                <a:solidFill>
                  <a:srgbClr val="F2F2F2"/>
                </a:solidFill>
                <a:latin typeface="Arial"/>
              </a:rPr>
              <a:t> (cât de mult) vs de </a:t>
            </a:r>
            <a:r>
              <a:rPr b="1" sz="1300">
                <a:solidFill>
                  <a:srgbClr val="F2F2F2"/>
                </a:solidFill>
                <a:latin typeface="Arial"/>
              </a:rPr>
              <a:t>eficiență</a:t>
            </a:r>
            <a:r>
              <a:rPr b="0" sz="1300">
                <a:solidFill>
                  <a:srgbClr val="F2F2F2"/>
                </a:solidFill>
                <a:latin typeface="Arial"/>
              </a:rPr>
              <a:t> (cât de bine) — nu le confunda</a:t>
            </a:r>
          </a:p>
          <a:p>
            <a:pPr>
              <a:lnSpc>
                <a:spcPct val="110000"/>
              </a:lnSpc>
              <a:spcAft>
                <a:spcPts val="700"/>
              </a:spcAft>
            </a:pPr>
            <a:r>
              <a:rPr sz="1300">
                <a:solidFill>
                  <a:srgbClr val="FF7900"/>
                </a:solidFill>
                <a:latin typeface="Consolas"/>
              </a:rPr>
              <a:t>— </a:t>
            </a:r>
            <a:r>
              <a:rPr b="1" sz="1300">
                <a:solidFill>
                  <a:srgbClr val="F2F2F2"/>
                </a:solidFill>
                <a:latin typeface="Arial"/>
              </a:rPr>
              <a:t>Revenue = Orders × AOV</a:t>
            </a:r>
            <a:r>
              <a:rPr b="0" sz="1300">
                <a:solidFill>
                  <a:srgbClr val="F2F2F2"/>
                </a:solidFill>
                <a:latin typeface="Arial"/>
              </a:rPr>
              <a:t> — îți arată </a:t>
            </a:r>
            <a:r>
              <a:rPr i="1" sz="1300">
                <a:solidFill>
                  <a:srgbClr val="F2F2F2"/>
                </a:solidFill>
                <a:latin typeface="Arial"/>
              </a:rPr>
              <a:t>care pârghie</a:t>
            </a:r>
            <a:r>
              <a:rPr b="0" sz="1300">
                <a:solidFill>
                  <a:srgbClr val="F2F2F2"/>
                </a:solidFill>
                <a:latin typeface="Arial"/>
              </a:rPr>
              <a:t> s-a mișcat</a:t>
            </a:r>
          </a:p>
          <a:p>
            <a:pPr>
              <a:lnSpc>
                <a:spcPct val="110000"/>
              </a:lnSpc>
              <a:spcAft>
                <a:spcPts val="700"/>
              </a:spcAft>
            </a:pPr>
            <a:r>
              <a:rPr sz="1300">
                <a:solidFill>
                  <a:srgbClr val="FF7900"/>
                </a:solidFill>
                <a:latin typeface="Consolas"/>
              </a:rPr>
              <a:t>— </a:t>
            </a:r>
            <a:r>
              <a:rPr b="0" sz="1300">
                <a:solidFill>
                  <a:srgbClr val="F2F2F2"/>
                </a:solidFill>
                <a:latin typeface="Arial"/>
              </a:rPr>
              <a:t>Un KPI de volum poate arăta grozav în timp ce unul de eficiență se prăbușește</a:t>
            </a:r>
          </a:p>
          <a:p>
            <a:pPr>
              <a:lnSpc>
                <a:spcPct val="110000"/>
              </a:lnSpc>
              <a:spcAft>
                <a:spcPts val="700"/>
              </a:spcAft>
            </a:pPr>
            <a:r>
              <a:rPr sz="1300">
                <a:solidFill>
                  <a:srgbClr val="FF7900"/>
                </a:solidFill>
                <a:latin typeface="Consolas"/>
              </a:rPr>
              <a:t>— </a:t>
            </a:r>
            <a:r>
              <a:rPr b="0" sz="1300">
                <a:solidFill>
                  <a:srgbClr val="F2F2F2"/>
                </a:solidFill>
                <a:latin typeface="Arial"/>
              </a:rPr>
              <a:t>La orice «cel mai mult», întreabă </a:t>
            </a:r>
            <a:r>
              <a:rPr b="1" sz="1300">
                <a:solidFill>
                  <a:srgbClr val="F2F2F2"/>
                </a:solidFill>
                <a:latin typeface="Arial"/>
              </a:rPr>
              <a:t>«raportat la ce?»</a:t>
            </a:r>
          </a:p>
        </p:txBody>
      </p:sp>
      <p:sp>
        <p:nvSpPr>
          <p:cNvPr id="7" name="Rounded Rectangle 6"/>
          <p:cNvSpPr/>
          <p:nvPr/>
        </p:nvSpPr>
        <p:spPr>
          <a:xfrm>
            <a:off x="658368" y="4678680"/>
            <a:ext cx="10874959" cy="1450848"/>
          </a:xfrm>
          <a:prstGeom prst="roundRect">
            <a:avLst/>
          </a:prstGeom>
          <a:solidFill>
            <a:srgbClr val="1B1B1F"/>
          </a:solidFill>
          <a:ln w="12700">
            <a:solidFill>
              <a:srgbClr val="FF79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91440" bIns="91440"/>
          <a:lstStyle/>
          <a:p>
            <a:pPr algn="ctr">
              <a:lnSpc>
                <a:spcPct val="112000"/>
              </a:lnSpc>
            </a:pPr>
            <a:r>
              <a:rPr b="0" sz="1400">
                <a:solidFill>
                  <a:srgbClr val="F2F2F2"/>
                </a:solidFill>
                <a:latin typeface="Arial"/>
              </a:rPr>
              <a:t>Punte: </a:t>
            </a:r>
            <a:r>
              <a:rPr b="1" sz="1400">
                <a:solidFill>
                  <a:srgbClr val="F2F2F2"/>
                </a:solidFill>
                <a:latin typeface="Arial"/>
              </a:rPr>
              <a:t>L5</a:t>
            </a:r>
            <a:r>
              <a:rPr b="0" sz="1400">
                <a:solidFill>
                  <a:srgbClr val="F2F2F2"/>
                </a:solidFill>
                <a:latin typeface="Arial"/>
              </a:rPr>
              <a:t> închide Modulul 1 — observație vs insight vs recomandare — și </a:t>
            </a:r>
            <a:r>
              <a:rPr b="1" sz="1400">
                <a:solidFill>
                  <a:srgbClr val="F2F2F2"/>
                </a:solidFill>
                <a:latin typeface="Arial"/>
              </a:rPr>
              <a:t>primești prima ta cerere reală</a:t>
            </a:r>
            <a:r>
              <a:rPr b="0" sz="1400">
                <a:solidFill>
                  <a:srgbClr val="F2F2F2"/>
                </a:solidFill>
                <a:latin typeface="Arial"/>
              </a:rPr>
              <a:t> de business.</a:t>
            </a:r>
          </a:p>
        </p:txBody>
      </p:sp>
      <p:sp>
        <p:nvSpPr>
          <p:cNvPr id="8" name="TextBox 7"/>
          <p:cNvSpPr txBox="1"/>
          <p:nvPr/>
        </p:nvSpPr>
        <p:spPr>
          <a:xfrm>
            <a:off x="658368" y="6382512"/>
            <a:ext cx="10874959" cy="292608"/>
          </a:xfrm>
          <a:prstGeom prst="rect">
            <a:avLst/>
          </a:prstGeom>
          <a:noFill/>
        </p:spPr>
        <p:txBody>
          <a:bodyPr wrap="none">
            <a:spAutoFit/>
          </a:bodyPr>
          <a:lstStyle/>
          <a:p>
            <a:r>
              <a:rPr sz="850">
                <a:solidFill>
                  <a:srgbClr val="FF7900"/>
                </a:solidFill>
                <a:latin typeface="Consolas"/>
              </a:rPr>
              <a:t>● </a:t>
            </a:r>
            <a:r>
              <a:rPr sz="850">
                <a:solidFill>
                  <a:srgbClr val="77777C"/>
                </a:solidFill>
                <a:latin typeface="Consolas"/>
              </a:rPr>
              <a:t>Orange Systems  ·  Data Analysis</a:t>
            </a:r>
          </a:p>
        </p:txBody>
      </p:sp>
      <p:sp>
        <p:nvSpPr>
          <p:cNvPr id="9" name="TextBox 8"/>
          <p:cNvSpPr txBox="1"/>
          <p:nvPr/>
        </p:nvSpPr>
        <p:spPr>
          <a:xfrm>
            <a:off x="9247327" y="6382512"/>
            <a:ext cx="2286000" cy="292608"/>
          </a:xfrm>
          <a:prstGeom prst="rect">
            <a:avLst/>
          </a:prstGeom>
          <a:noFill/>
        </p:spPr>
        <p:txBody>
          <a:bodyPr wrap="none">
            <a:spAutoFit/>
          </a:bodyPr>
          <a:lstStyle/>
          <a:p>
            <a:pPr algn="r"/>
            <a:r>
              <a:rPr sz="850">
                <a:solidFill>
                  <a:srgbClr val="77777C"/>
                </a:solidFill>
                <a:latin typeface="Consolas"/>
              </a:rPr>
              <a:t>L4 · KPI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51517"/>
        </a:solidFill>
        <a:effectLst/>
      </p:bgPr>
    </p:bg>
    <p:spTree>
      <p:nvGrpSpPr>
        <p:cNvPr id="1" name=""/>
        <p:cNvGrpSpPr/>
        <p:nvPr/>
      </p:nvGrpSpPr>
      <p:grpSpPr/>
      <p:pic>
        <p:nvPicPr>
          <p:cNvPr id="2" name="Picture 1" descr="orange_systems_logo_dark.png"/>
          <p:cNvPicPr>
            <a:picLocks noChangeAspect="1"/>
          </p:cNvPicPr>
          <p:nvPr/>
        </p:nvPicPr>
        <p:blipFill>
          <a:blip r:embed="rId2"/>
          <a:stretch>
            <a:fillRect/>
          </a:stretch>
        </p:blipFill>
        <p:spPr>
          <a:xfrm>
            <a:off x="10116007" y="310896"/>
            <a:ext cx="1417320" cy="513973"/>
          </a:xfrm>
          <a:prstGeom prst="rect">
            <a:avLst/>
          </a:prstGeom>
        </p:spPr>
      </p:pic>
      <p:sp>
        <p:nvSpPr>
          <p:cNvPr id="3" name="TextBox 2"/>
          <p:cNvSpPr txBox="1"/>
          <p:nvPr/>
        </p:nvSpPr>
        <p:spPr>
          <a:xfrm>
            <a:off x="658368" y="2468880"/>
            <a:ext cx="10874959" cy="1828800"/>
          </a:xfrm>
          <a:prstGeom prst="rect">
            <a:avLst/>
          </a:prstGeom>
          <a:noFill/>
        </p:spPr>
        <p:txBody>
          <a:bodyPr wrap="none">
            <a:spAutoFit/>
          </a:bodyPr>
          <a:lstStyle/>
          <a:p>
            <a:pPr algn="ctr"/>
            <a:r>
              <a:rPr sz="7200" b="1">
                <a:solidFill>
                  <a:srgbClr val="F2F2F2"/>
                </a:solidFill>
                <a:latin typeface="Arial"/>
              </a:rPr>
              <a:t>Q&amp;A</a:t>
            </a:r>
          </a:p>
          <a:p>
            <a:pPr algn="ctr"/>
            <a:r>
              <a:rPr sz="1500">
                <a:solidFill>
                  <a:srgbClr val="FFA24E"/>
                </a:solidFill>
                <a:latin typeface="Consolas"/>
              </a:rPr>
              <a:t>Întrebări · discuție</a:t>
            </a:r>
          </a:p>
        </p:txBody>
      </p:sp>
      <p:sp>
        <p:nvSpPr>
          <p:cNvPr id="4" name="TextBox 3"/>
          <p:cNvSpPr txBox="1"/>
          <p:nvPr/>
        </p:nvSpPr>
        <p:spPr>
          <a:xfrm>
            <a:off x="658368" y="6382512"/>
            <a:ext cx="10874959" cy="292608"/>
          </a:xfrm>
          <a:prstGeom prst="rect">
            <a:avLst/>
          </a:prstGeom>
          <a:noFill/>
        </p:spPr>
        <p:txBody>
          <a:bodyPr wrap="none">
            <a:spAutoFit/>
          </a:bodyPr>
          <a:lstStyle/>
          <a:p>
            <a:r>
              <a:rPr sz="850">
                <a:solidFill>
                  <a:srgbClr val="FF7900"/>
                </a:solidFill>
                <a:latin typeface="Consolas"/>
              </a:rPr>
              <a:t>● </a:t>
            </a:r>
            <a:r>
              <a:rPr sz="850">
                <a:solidFill>
                  <a:srgbClr val="77777C"/>
                </a:solidFill>
                <a:latin typeface="Consolas"/>
              </a:rPr>
              <a:t>Orange Systems  ·  Data Analysis</a:t>
            </a:r>
          </a:p>
        </p:txBody>
      </p:sp>
      <p:sp>
        <p:nvSpPr>
          <p:cNvPr id="5" name="TextBox 4"/>
          <p:cNvSpPr txBox="1"/>
          <p:nvPr/>
        </p:nvSpPr>
        <p:spPr>
          <a:xfrm>
            <a:off x="9247327" y="6382512"/>
            <a:ext cx="2286000" cy="292608"/>
          </a:xfrm>
          <a:prstGeom prst="rect">
            <a:avLst/>
          </a:prstGeom>
          <a:noFill/>
        </p:spPr>
        <p:txBody>
          <a:bodyPr wrap="none">
            <a:spAutoFit/>
          </a:bodyPr>
          <a:lstStyle/>
          <a:p>
            <a:pPr algn="r"/>
            <a:r>
              <a:rPr sz="850">
                <a:solidFill>
                  <a:srgbClr val="77777C"/>
                </a:solidFill>
                <a:latin typeface="Consolas"/>
              </a:rPr>
              <a:t>L4 · KPI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