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Cea mai importantă întrebare despre orice tabel: ce reprezintă un rând? Ioana numără order_items și dă o cifră de 2,6x prea mare.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Reluăm L6: rând/coloană/celulă, grila consistentă, tipul coloanei. Azi: ce reprezintă exact un rând.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Obiectivele din §1. Granularitate, orders vs order_items, dimensiuni vs măsuri, întrebarea-cheie.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§2. Ioana numără order_items și raportează 39.173 comenzi. Dar orders are ~14.968. Andrei explică: sunt linii de comandă.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§3. Ioana a numărat perfect, dar pe tabelul greșit. Capcana e invizibilă: nimic nu dă eroare. Apărarea: granularitatea.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§4 — reflecție. Reflexul central: «ce reprezintă un rând aici — chiar o comandă, sau altceva?».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§5. Tabelul granularităților. order_items e mai fin decât orders; de-aia 39.173 &gt; 14.968 (~2,6 produse/comandă).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 bullets. Nu există tabel «mai bun» — există cel potrivit întrebării. Ca să-l alegi, știi ce e un rând în fiecare.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1. Analogia hărții: fină (fiecare stradă) vs grosieră (orașele mari). Alegi nivelul potrivit întrebării.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2. Dimensiuni = după ce grupezi (etichete). Măsuri = ce aduni/numeri (numere). O măsură pe o dimensiune.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— worked example. Andrei alege orders pentru «câte comenzi». Regula la orice tabel nou: ce reprezintă un rând aici?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§8 practică ghidată — worked example. Pentru fiecare: tabel (grain) + operație. AOV = Revenue ÷ Orders, ambele din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§11. Numără fără să știe ce e un rând; presupun același grain; confundă rânduri cu lucruri distincte; amestecă dimensiuni cu măsuri.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§12. Cele cinci idei. Punte spre L8 — cum legi tabelele (categoria e în products, nu în order_items).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§14. Adnotezi planul cu granularitatea fiecărei frunze. Acum planul zice și la ce nivel trăiește răspunsul.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2 · LECȚIA 7 · GRANULARITATE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Granularitatea: ce reprezintă un rând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grain · dimensiuni vs. măsuri — greșești rândul, greșești orice cifră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2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rămas: forma datelor (L6)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Rând</a:t>
            </a:r>
            <a:r>
              <a:rPr b="0" sz="1400">
                <a:solidFill>
                  <a:srgbClr val="F2F2F2"/>
                </a:solidFill>
                <a:latin typeface="Arial"/>
              </a:rPr>
              <a:t> = un eveniment real · </a:t>
            </a:r>
            <a:r>
              <a:rPr b="1" sz="1400">
                <a:solidFill>
                  <a:srgbClr val="F2F2F2"/>
                </a:solidFill>
                <a:latin typeface="Arial"/>
              </a:rPr>
              <a:t>coloană</a:t>
            </a:r>
            <a:r>
              <a:rPr b="0" sz="1400">
                <a:solidFill>
                  <a:srgbClr val="F2F2F2"/>
                </a:solidFill>
                <a:latin typeface="Arial"/>
              </a:rPr>
              <a:t> = ce înregistrezi despre toate · </a:t>
            </a:r>
            <a:r>
              <a:rPr b="1" sz="1400">
                <a:solidFill>
                  <a:srgbClr val="F2F2F2"/>
                </a:solidFill>
                <a:latin typeface="Arial"/>
              </a:rPr>
              <a:t>celulă</a:t>
            </a:r>
            <a:r>
              <a:rPr b="0" sz="1400">
                <a:solidFill>
                  <a:srgbClr val="F2F2F2"/>
                </a:solidFill>
                <a:latin typeface="Arial"/>
              </a:rPr>
              <a:t> = o informație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tabel e util pentru că e </a:t>
            </a:r>
            <a:r>
              <a:rPr b="1" sz="1400">
                <a:solidFill>
                  <a:srgbClr val="F2F2F2"/>
                </a:solidFill>
                <a:latin typeface="Arial"/>
              </a:rPr>
              <a:t>consistent</a:t>
            </a:r>
            <a:r>
              <a:rPr b="0" sz="1400">
                <a:solidFill>
                  <a:srgbClr val="F2F2F2"/>
                </a:solidFill>
                <a:latin typeface="Arial"/>
              </a:rPr>
              <a:t>; fiecare coloană are un </a:t>
            </a:r>
            <a:r>
              <a:rPr b="1" sz="1400">
                <a:solidFill>
                  <a:srgbClr val="F2F2F2"/>
                </a:solidFill>
                <a:latin typeface="Arial"/>
              </a:rPr>
              <a:t>tip</a:t>
            </a:r>
            <a:r>
              <a:rPr b="0" sz="1400">
                <a:solidFill>
                  <a:srgbClr val="F2F2F2"/>
                </a:solidFill>
                <a:latin typeface="Arial"/>
              </a:rPr>
              <a:t> (număr / text / dată)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Ai văzut deja: un rând din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e o comandă, dar unul din </a:t>
            </a:r>
            <a:r>
              <a:rPr sz="1400">
                <a:solidFill>
                  <a:srgbClr val="FFA24E"/>
                </a:solidFill>
                <a:latin typeface="Consolas"/>
              </a:rPr>
              <a:t>inventory</a:t>
            </a:r>
            <a:r>
              <a:rPr b="0" sz="1400">
                <a:solidFill>
                  <a:srgbClr val="F2F2F2"/>
                </a:solidFill>
                <a:latin typeface="Arial"/>
              </a:rPr>
              <a:t> e o stare de stoc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mergem la fond: </a:t>
            </a:r>
            <a:r>
              <a:rPr b="1" sz="1400">
                <a:solidFill>
                  <a:srgbClr val="F2F2F2"/>
                </a:solidFill>
                <a:latin typeface="Arial"/>
              </a:rPr>
              <a:t>ce reprezintă exact un rând?</a:t>
            </a:r>
            <a:r>
              <a:rPr b="0" sz="1400">
                <a:solidFill>
                  <a:srgbClr val="F2F2F2"/>
                </a:solidFill>
                <a:latin typeface="Arial"/>
              </a:rPr>
              <a:t> Dacă o greșești, orice cifră îți iese greșită — fără să dea eroare.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identifici </a:t>
            </a:r>
            <a:r>
              <a:rPr b="1" sz="1400">
                <a:solidFill>
                  <a:srgbClr val="F2F2F2"/>
                </a:solidFill>
                <a:latin typeface="Arial"/>
              </a:rPr>
              <a:t>granularitatea</a:t>
            </a:r>
            <a:r>
              <a:rPr b="0" sz="1400">
                <a:solidFill>
                  <a:srgbClr val="F2F2F2"/>
                </a:solidFill>
                <a:latin typeface="Arial"/>
              </a:rPr>
              <a:t> unui tabel: ce reprezintă exact un rând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vezi de ce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(14.968) și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 (39.173) descriu lucruri diferite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distingi </a:t>
            </a:r>
            <a:r>
              <a:rPr b="1" sz="1400">
                <a:solidFill>
                  <a:srgbClr val="F2F2F2"/>
                </a:solidFill>
                <a:latin typeface="Arial"/>
              </a:rPr>
              <a:t>dimensiuni</a:t>
            </a:r>
            <a:r>
              <a:rPr b="0" sz="1400">
                <a:solidFill>
                  <a:srgbClr val="F2F2F2"/>
                </a:solidFill>
                <a:latin typeface="Arial"/>
              </a:rPr>
              <a:t> (după ce împarți) de </a:t>
            </a:r>
            <a:r>
              <a:rPr b="1" sz="1400">
                <a:solidFill>
                  <a:srgbClr val="F2F2F2"/>
                </a:solidFill>
                <a:latin typeface="Arial"/>
              </a:rPr>
              <a:t>măsuri</a:t>
            </a:r>
            <a:r>
              <a:rPr b="0" sz="1400">
                <a:solidFill>
                  <a:srgbClr val="F2F2F2"/>
                </a:solidFill>
                <a:latin typeface="Arial"/>
              </a:rPr>
              <a:t> (ce aduni / numeri)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pui, în fața oricărui tabel, întrebarea-cheie: «ce reprezintă un rând </a:t>
            </a:r>
            <a:r>
              <a:rPr b="1" sz="1400">
                <a:solidFill>
                  <a:srgbClr val="F2F2F2"/>
                </a:solidFill>
                <a:latin typeface="Arial"/>
              </a:rPr>
              <a:t>aici</a:t>
            </a:r>
            <a:r>
              <a:rPr b="0" sz="1400">
                <a:solidFill>
                  <a:srgbClr val="F2F2F2"/>
                </a:solidFill>
                <a:latin typeface="Arial"/>
              </a:rPr>
              <a:t>?»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Ce reiei:</a:t>
            </a:r>
            <a:r>
              <a:rPr b="0" sz="1400">
                <a:solidFill>
                  <a:srgbClr val="F2F2F2"/>
                </a:solidFill>
                <a:latin typeface="Arial"/>
              </a:rPr>
              <a:t> din L6 — rând/coloană/celulă și că un rând diferă de la tabel la tabel; din L4 — Revenue = suma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Ioana raportează «39.173 de comenzi»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Ioana dă buzna: «Am numărat — </a:t>
            </a:r>
            <a:r>
              <a:rPr b="1" sz="1400">
                <a:solidFill>
                  <a:srgbClr val="F2F2F2"/>
                </a:solidFill>
                <a:latin typeface="Arial"/>
              </a:rPr>
              <a:t>39.173 de comenzi</a:t>
            </a:r>
            <a:r>
              <a:rPr b="0" sz="1400">
                <a:solidFill>
                  <a:srgbClr val="F2F2F2"/>
                </a:solidFill>
                <a:latin typeface="Arial"/>
              </a:rPr>
              <a:t> în total. I-am trimis deja Elenei cifra.»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71088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Ceva nu se leagă. În L6 ai văzut că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are ~14.968 de rânduri. De unde 39.173?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19123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«Alea nu sunt comenzi. Sunt </a:t>
            </a:r>
            <a:r>
              <a:rPr b="1" sz="1400">
                <a:solidFill>
                  <a:srgbClr val="F2F2F2"/>
                </a:solidFill>
                <a:latin typeface="Arial"/>
              </a:rPr>
              <a:t>linii de comandă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produse dintr-o comandă. O comandă cu 3 produse face 3 rânduri în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, dar tot o singură comandă.»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Operație corectă, tabel greșit = cifră greșită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a făcut totul «corect»: a deschis un tabel, a numărat rândurile. Operația e bună. Rezultatul e greșit — </a:t>
            </a:r>
            <a:r>
              <a:rPr sz="15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500">
                <a:solidFill>
                  <a:srgbClr val="F2F2F2"/>
                </a:solidFill>
                <a:latin typeface="Arial"/>
              </a:rPr>
              <a:t> nu răspunde la «câte comenzi», ci la «câte linii de produs».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Capcană brutală, pentru că e invizibilă: </a:t>
            </a:r>
            <a:r>
              <a:rPr b="1" sz="1400">
                <a:solidFill>
                  <a:srgbClr val="F2F2F2"/>
                </a:solidFill>
                <a:latin typeface="Arial"/>
              </a:rPr>
              <a:t>o operație corectă pe tabelul greșit dă o cifră care pare bună, dar minte.</a:t>
            </a:r>
            <a:r>
              <a:rPr b="0" sz="1400">
                <a:solidFill>
                  <a:srgbClr val="F2F2F2"/>
                </a:solidFill>
                <a:latin typeface="Arial"/>
              </a:rPr>
              <a:t> Nimic nu dă eroare.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718772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Singura apărare: să știi, </a:t>
            </a:r>
            <a:r>
              <a:rPr b="1" sz="15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500">
                <a:solidFill>
                  <a:srgbClr val="F2F2F2"/>
                </a:solidFill>
                <a:latin typeface="Arial"/>
              </a:rPr>
              <a:t> de orice numărat, ce reprezintă un rând. Asta se numește </a:t>
            </a:r>
            <a:r>
              <a:rPr b="1" sz="1500">
                <a:solidFill>
                  <a:srgbClr val="F2F2F2"/>
                </a:solidFill>
                <a:latin typeface="Arial"/>
              </a:rPr>
              <a:t>granularitatea</a:t>
            </a:r>
            <a:r>
              <a:rPr b="0" sz="1500">
                <a:solidFill>
                  <a:srgbClr val="F2F2F2"/>
                </a:solidFill>
                <a:latin typeface="Arial"/>
              </a:rPr>
              <a:t> tabelului.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ai fi întrebat, înainte să numeri?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Oprește-te. Elena a întrebat «câte comenzi?». Ai deschis un tabel. Ce ai verifica </a:t>
            </a:r>
            <a:r>
              <a:rPr b="1" sz="15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500">
                <a:solidFill>
                  <a:srgbClr val="F2F2F2"/>
                </a:solidFill>
                <a:latin typeface="Arial"/>
              </a:rPr>
              <a:t> să numeri rândurile?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Aproape sigur: «ce reprezintă un rând în tabelul ăsta — chiar o comandă, sau altceva?». E reflexul central al lecției.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718772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: un rând = o comandă → numeri corect comenzile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: un rând = un produs într-o comandă → numeri linii, nu comenzi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DATA · GRANULARITATE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Nivelul la care «trăiește» un rând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8739"/>
                <a:gridCol w="2718739"/>
                <a:gridCol w="2718739"/>
                <a:gridCol w="2718742"/>
              </a:tblGrid>
              <a:tr h="36941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Tabel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Un rând =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Granularitate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Rânduri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 comandă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per comandă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~14.968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order_items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produs într-o comandă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per produs-în-comandă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~39.173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customers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un client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per client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~2.000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inventory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stoc produs × magazin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per produs-magazin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~2.400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 e </a:t>
            </a:r>
            <a:r>
              <a:rPr b="1" sz="1400">
                <a:solidFill>
                  <a:srgbClr val="F2F2F2"/>
                </a:solidFill>
                <a:latin typeface="Arial"/>
              </a:rPr>
              <a:t>mai fin</a:t>
            </a:r>
            <a:r>
              <a:rPr b="0" sz="1400">
                <a:solidFill>
                  <a:srgbClr val="F2F2F2"/>
                </a:solidFill>
                <a:latin typeface="Arial"/>
              </a:rPr>
              <a:t>: o comandă cu 3 produse ocupă 1 rând în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și 3 în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 (în medie ~2,6 produse/comandă).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REGULA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Întrebarea determină granularitatea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Regula: </a:t>
            </a:r>
            <a:r>
              <a:rPr b="1" sz="1500">
                <a:solidFill>
                  <a:srgbClr val="F2F2F2"/>
                </a:solidFill>
                <a:latin typeface="Arial"/>
              </a:rPr>
              <a:t>întrebarea determină granularitatea de care ai nevoie.</a:t>
            </a:r>
            <a:r>
              <a:rPr b="0" sz="1500">
                <a:solidFill>
                  <a:srgbClr val="F2F2F2"/>
                </a:solidFill>
                <a:latin typeface="Arial"/>
              </a:rPr>
              <a:t> Nu există un tabel «mai bun» — există cel potrivit întrebării.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«Câte </a:t>
            </a:r>
            <a:r>
              <a:rPr b="1" sz="1400">
                <a:solidFill>
                  <a:srgbClr val="F2F2F2"/>
                </a:solidFill>
                <a:latin typeface="Arial"/>
              </a:rPr>
              <a:t>comenzi</a:t>
            </a:r>
            <a:r>
              <a:rPr b="0" sz="1400">
                <a:solidFill>
                  <a:srgbClr val="F2F2F2"/>
                </a:solidFill>
                <a:latin typeface="Arial"/>
              </a:rPr>
              <a:t>?» →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(per comandă). Numeri rânduri.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«Câte </a:t>
            </a:r>
            <a:r>
              <a:rPr b="1" sz="1400">
                <a:solidFill>
                  <a:srgbClr val="F2F2F2"/>
                </a:solidFill>
                <a:latin typeface="Arial"/>
              </a:rPr>
              <a:t>bucăți</a:t>
            </a:r>
            <a:r>
              <a:rPr b="0" sz="1400">
                <a:solidFill>
                  <a:srgbClr val="F2F2F2"/>
                </a:solidFill>
                <a:latin typeface="Arial"/>
              </a:rPr>
              <a:t> vândute?» →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. Aduni coloana </a:t>
            </a:r>
            <a:r>
              <a:rPr sz="1400">
                <a:solidFill>
                  <a:srgbClr val="FFA24E"/>
                </a:solidFill>
                <a:latin typeface="Consolas"/>
              </a:rPr>
              <a:t>Quantity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«Care </a:t>
            </a:r>
            <a:r>
              <a:rPr b="1" sz="1400">
                <a:solidFill>
                  <a:srgbClr val="F2F2F2"/>
                </a:solidFill>
                <a:latin typeface="Arial"/>
              </a:rPr>
              <a:t>produs</a:t>
            </a:r>
            <a:r>
              <a:rPr b="0" sz="1400">
                <a:solidFill>
                  <a:srgbClr val="F2F2F2"/>
                </a:solidFill>
                <a:latin typeface="Arial"/>
              </a:rPr>
              <a:t> se vinde cel mai mult?» →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 (acolo apare produsul)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105868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Ca să alegi tabelul, trebuie să știi ce reprezintă un rând în fiecare.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Grain-ul — intuiția (harta)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Gândește-te la o hartă. Poți avea o hartă a țării (fină: fiecare stradă) sau a Europei (grosieră: doar orașele mari). Niciuna nu e «greșită».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Dar dacă vrei o adresă, harta Europei e inutilă; dacă vrei rute între țări, harta cu fiecare stradă te îneacă. </a:t>
            </a:r>
            <a:r>
              <a:rPr b="1" sz="1400">
                <a:solidFill>
                  <a:srgbClr val="F2F2F2"/>
                </a:solidFill>
                <a:latin typeface="Arial"/>
              </a:rPr>
              <a:t>Alegi nivelul potrivit întrebării.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718772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Granularitatea unui tabel e exact asta: nivelul de detaliu al unui rând.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Dimensiuni vs. măsuri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Dimensiuni</a:t>
            </a:r>
            <a:r>
              <a:rPr b="0" sz="1400">
                <a:solidFill>
                  <a:srgbClr val="F2F2F2"/>
                </a:solidFill>
                <a:latin typeface="Arial"/>
              </a:rPr>
              <a:t> = coloanele după care </a:t>
            </a:r>
            <a:r>
              <a:rPr b="1" sz="1400">
                <a:solidFill>
                  <a:srgbClr val="F2F2F2"/>
                </a:solidFill>
                <a:latin typeface="Arial"/>
              </a:rPr>
              <a:t>împarți / grupezi</a:t>
            </a:r>
            <a:r>
              <a:rPr b="0" sz="1400">
                <a:solidFill>
                  <a:srgbClr val="F2F2F2"/>
                </a:solidFill>
                <a:latin typeface="Arial"/>
              </a:rPr>
              <a:t> (etichete): 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CategoryID</a:t>
            </a:r>
            <a:r>
              <a:rPr b="0" sz="1400">
                <a:solidFill>
                  <a:srgbClr val="F2F2F2"/>
                </a:solidFill>
                <a:latin typeface="Arial"/>
              </a:rPr>
              <a:t>, luna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Măsuri</a:t>
            </a:r>
            <a:r>
              <a:rPr b="0" sz="1400">
                <a:solidFill>
                  <a:srgbClr val="F2F2F2"/>
                </a:solidFill>
                <a:latin typeface="Arial"/>
              </a:rPr>
              <a:t> = coloanele pe care le </a:t>
            </a:r>
            <a:r>
              <a:rPr b="1" sz="1400">
                <a:solidFill>
                  <a:srgbClr val="F2F2F2"/>
                </a:solidFill>
                <a:latin typeface="Arial"/>
              </a:rPr>
              <a:t>aduni / numeri</a:t>
            </a:r>
            <a:r>
              <a:rPr b="0" sz="1400">
                <a:solidFill>
                  <a:srgbClr val="F2F2F2"/>
                </a:solidFill>
                <a:latin typeface="Arial"/>
              </a:rPr>
              <a:t>: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 (Revenue), </a:t>
            </a:r>
            <a:r>
              <a:rPr sz="1400">
                <a:solidFill>
                  <a:srgbClr val="FFA24E"/>
                </a:solidFill>
                <a:latin typeface="Consolas"/>
              </a:rPr>
              <a:t>Quantity</a:t>
            </a:r>
            <a:r>
              <a:rPr b="0" sz="1400">
                <a:solidFill>
                  <a:srgbClr val="F2F2F2"/>
                </a:solidFill>
                <a:latin typeface="Arial"/>
              </a:rPr>
              <a:t>, nr. rânduri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2173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 analiză sună aproape mereu: </a:t>
            </a:r>
            <a:r>
              <a:rPr b="1" sz="1400">
                <a:solidFill>
                  <a:srgbClr val="F2F2F2"/>
                </a:solidFill>
                <a:latin typeface="Arial"/>
              </a:rPr>
              <a:t>o măsură, defalcată pe o dimensiune</a:t>
            </a:r>
            <a:r>
              <a:rPr b="0" sz="1400">
                <a:solidFill>
                  <a:srgbClr val="F2F2F2"/>
                </a:solidFill>
                <a:latin typeface="Arial"/>
              </a:rPr>
              <a:t> — «Revenue (măsură) pe magazin (dimensiune)».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809744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Dar măsura corectă trăiește la o anumită granularitate: Revenue în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, bucățile în </a:t>
            </a:r>
            <a:r>
              <a:rPr sz="15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gândește Andrei grain-ul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«Întrebarea e despre </a:t>
            </a:r>
            <a:r>
              <a:rPr b="1" sz="1400">
                <a:solidFill>
                  <a:srgbClr val="F2F2F2"/>
                </a:solidFill>
                <a:latin typeface="Arial"/>
              </a:rPr>
              <a:t>comenzi</a:t>
            </a:r>
            <a:r>
              <a:rPr b="0" sz="1400">
                <a:solidFill>
                  <a:srgbClr val="F2F2F2"/>
                </a:solidFill>
                <a:latin typeface="Arial"/>
              </a:rPr>
              <a:t>. Deci am nevoie de tabelul unde un rând = o comandă. Ăla e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, ~14.968.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 are 39.173, dar alea sunt produse-în-comenzi — altă întrebare.»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044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Apoi generalizează: «Regula la orice tabel nou, înainte de orice: </a:t>
            </a:r>
            <a:r>
              <a:rPr i="1" sz="1500">
                <a:solidFill>
                  <a:srgbClr val="F2F2F2"/>
                </a:solidFill>
                <a:latin typeface="Arial"/>
              </a:rPr>
              <a:t>ce reprezintă un rând aici?</a:t>
            </a:r>
            <a:r>
              <a:rPr b="0" sz="1500">
                <a:solidFill>
                  <a:srgbClr val="F2F2F2"/>
                </a:solidFill>
                <a:latin typeface="Arial"/>
              </a:rPr>
              <a:t> Trei secunde care salvează o cifră greșită trimisă în sus.»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Rândul tău — trei întrebări de la Elena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Trei întrebări de la Elena. Pentru fiecare: ce tabel (grain) și ce faci?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37687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Câte comenzi în septembrie?</a:t>
            </a:r>
            <a:r>
              <a:rPr b="0" sz="1400">
                <a:solidFill>
                  <a:srgbClr val="F2F2F2"/>
                </a:solidFill>
                <a:latin typeface="Arial"/>
              </a:rPr>
              <a:t> →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, numeri rândurile (NU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Câte bucăți vândute?</a:t>
            </a:r>
            <a:r>
              <a:rPr b="0" sz="1400">
                <a:solidFill>
                  <a:srgbClr val="F2F2F2"/>
                </a:solidFill>
                <a:latin typeface="Arial"/>
              </a:rPr>
              <a:t> →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, aduni </a:t>
            </a:r>
            <a:r>
              <a:rPr sz="1400">
                <a:solidFill>
                  <a:srgbClr val="FFA24E"/>
                </a:solidFill>
                <a:latin typeface="Consolas"/>
              </a:rPr>
              <a:t>Quantity</a:t>
            </a:r>
            <a:r>
              <a:rPr b="0" sz="1400">
                <a:solidFill>
                  <a:srgbClr val="F2F2F2"/>
                </a:solidFill>
                <a:latin typeface="Arial"/>
              </a:rPr>
              <a:t> pe septembrie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AOV (valoarea medie)?</a:t>
            </a:r>
            <a:r>
              <a:rPr b="0" sz="1400">
                <a:solidFill>
                  <a:srgbClr val="F2F2F2"/>
                </a:solidFill>
                <a:latin typeface="Arial"/>
              </a:rPr>
              <a:t> → Revenue ÷ Orders, ambele din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812791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Dacă ai zis «numeri rânduri din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» la (1), ai căzut în capcana Ioanei.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Numără rânduri fără să știe ce e un rând</a:t>
            </a:r>
            <a:r>
              <a:rPr b="0" sz="1300">
                <a:solidFill>
                  <a:srgbClr val="F2F2F2"/>
                </a:solidFill>
                <a:latin typeface="Arial"/>
              </a:rPr>
              <a:t> — «atâtea rânduri = atâtea comenzi»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Presupun că toate tabelele au același grain</a:t>
            </a:r>
            <a:r>
              <a:rPr b="0" sz="1300">
                <a:solidFill>
                  <a:srgbClr val="F2F2F2"/>
                </a:solidFill>
                <a:latin typeface="Arial"/>
              </a:rPr>
              <a:t> — cred că </a:t>
            </a:r>
            <a:r>
              <a:rPr sz="13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300">
                <a:solidFill>
                  <a:srgbClr val="F2F2F2"/>
                </a:solidFill>
                <a:latin typeface="Arial"/>
              </a:rPr>
              <a:t> e tot «comenzi»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Confundă «câte rânduri» cu «câte lucruri distincte»</a:t>
            </a:r>
            <a:r>
              <a:rPr b="0" sz="1300">
                <a:solidFill>
                  <a:srgbClr val="F2F2F2"/>
                </a:solidFill>
                <a:latin typeface="Arial"/>
              </a:rPr>
              <a:t> — un produs apare pe multe rânduri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Amestecă dimensiuni cu măsuri</a:t>
            </a:r>
            <a:r>
              <a:rPr b="0" sz="1300">
                <a:solidFill>
                  <a:srgbClr val="F2F2F2"/>
                </a:solidFill>
                <a:latin typeface="Arial"/>
              </a:rPr>
              <a:t> — încearcă să «adune» magazinul sau să «grupeze pe Revenue»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7271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Reflexul de aur: la orice tabel nou, întâi «ce reprezintă un rând aici?», abia apoi numeri.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5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Granularitatea</a:t>
            </a:r>
            <a:r>
              <a:rPr b="0" sz="1300">
                <a:solidFill>
                  <a:srgbClr val="F2F2F2"/>
                </a:solidFill>
                <a:latin typeface="Arial"/>
              </a:rPr>
              <a:t> = ce reprezintă un rând. E </a:t>
            </a:r>
            <a:r>
              <a:rPr b="1" sz="1300">
                <a:solidFill>
                  <a:srgbClr val="F2F2F2"/>
                </a:solidFill>
                <a:latin typeface="Arial"/>
              </a:rPr>
              <a:t>prima</a:t>
            </a:r>
            <a:r>
              <a:rPr b="0" sz="1300">
                <a:solidFill>
                  <a:srgbClr val="F2F2F2"/>
                </a:solidFill>
                <a:latin typeface="Arial"/>
              </a:rPr>
              <a:t> întrebare despre orice tabel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sz="13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300">
                <a:solidFill>
                  <a:srgbClr val="F2F2F2"/>
                </a:solidFill>
                <a:latin typeface="Arial"/>
              </a:rPr>
              <a:t> (per comandă) ≠ </a:t>
            </a:r>
            <a:r>
              <a:rPr sz="13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300">
                <a:solidFill>
                  <a:srgbClr val="F2F2F2"/>
                </a:solidFill>
                <a:latin typeface="Arial"/>
              </a:rPr>
              <a:t> (per produs-în-comandă) — 14.968 vs 39.173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Operație corectă + grain greșit = </a:t>
            </a:r>
            <a:r>
              <a:rPr b="1" sz="1300">
                <a:solidFill>
                  <a:srgbClr val="F2F2F2"/>
                </a:solidFill>
                <a:latin typeface="Arial"/>
              </a:rPr>
              <a:t>cifră plauzibilă, dar falsă</a:t>
            </a:r>
            <a:r>
              <a:rPr b="0" sz="1300">
                <a:solidFill>
                  <a:srgbClr val="F2F2F2"/>
                </a:solidFill>
                <a:latin typeface="Arial"/>
              </a:rPr>
              <a:t> (nimic nu dă eroare)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Dimensiuni</a:t>
            </a:r>
            <a:r>
              <a:rPr b="0" sz="1300">
                <a:solidFill>
                  <a:srgbClr val="F2F2F2"/>
                </a:solidFill>
                <a:latin typeface="Arial"/>
              </a:rPr>
              <a:t> = după ce grupezi (etichete) · </a:t>
            </a:r>
            <a:r>
              <a:rPr b="1" sz="1300">
                <a:solidFill>
                  <a:srgbClr val="F2F2F2"/>
                </a:solidFill>
                <a:latin typeface="Arial"/>
              </a:rPr>
              <a:t>Măsuri</a:t>
            </a:r>
            <a:r>
              <a:rPr b="0" sz="1300">
                <a:solidFill>
                  <a:srgbClr val="F2F2F2"/>
                </a:solidFill>
                <a:latin typeface="Arial"/>
              </a:rPr>
              <a:t> = ce aduni/numeri (numere)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Întrebarea determină granularitatea — alegi tabelul, nu invers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 L8: cum </a:t>
            </a:r>
            <a:r>
              <a:rPr b="1" sz="1400">
                <a:solidFill>
                  <a:srgbClr val="F2F2F2"/>
                </a:solidFill>
                <a:latin typeface="Arial"/>
              </a:rPr>
              <a:t>legi</a:t>
            </a:r>
            <a:r>
              <a:rPr b="0" sz="1400">
                <a:solidFill>
                  <a:srgbClr val="F2F2F2"/>
                </a:solidFill>
                <a:latin typeface="Arial"/>
              </a:rPr>
              <a:t> două tabele — «categoria» nu e în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, e în </a:t>
            </a:r>
            <a:r>
              <a:rPr sz="14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 · PROIECT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Proiectul tău RetailHub (increment L7)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Pasul de azi: adnotează planul tău (Decision Tree, L3) cu granularitatea fiecărei frunze.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3226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«Revenue pe magazin» →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, grain comandă, dimensiune 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, măsură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«Ce categorie a scăzut» → </a:t>
            </a:r>
            <a:r>
              <a:rPr sz="14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400">
                <a:solidFill>
                  <a:srgbClr val="F2F2F2"/>
                </a:solidFill>
                <a:latin typeface="Arial"/>
              </a:rPr>
              <a:t>, grain produs (+ legătura la categorie, L8)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04188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Planul tău nu mai zice doar </a:t>
            </a:r>
            <a:r>
              <a:rPr i="1" sz="1400">
                <a:solidFill>
                  <a:srgbClr val="F2F2F2"/>
                </a:solidFill>
                <a:latin typeface="Arial"/>
              </a:rPr>
              <a:t>unde</a:t>
            </a:r>
            <a:r>
              <a:rPr b="0" sz="1400">
                <a:solidFill>
                  <a:srgbClr val="F2F2F2"/>
                </a:solidFill>
                <a:latin typeface="Arial"/>
              </a:rPr>
              <a:t> sunt datele (L2), ci și </a:t>
            </a:r>
            <a:r>
              <a:rPr i="1" sz="1400">
                <a:solidFill>
                  <a:srgbClr val="F2F2F2"/>
                </a:solidFill>
                <a:latin typeface="Arial"/>
              </a:rPr>
              <a:t>la ce nivel</a:t>
            </a:r>
            <a:r>
              <a:rPr b="0" sz="1400">
                <a:solidFill>
                  <a:srgbClr val="F2F2F2"/>
                </a:solidFill>
                <a:latin typeface="Arial"/>
              </a:rPr>
              <a:t> — un pas mai aproape de execuție.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L7 · Granularitate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