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Deschidere. Prima lecție a Modulului 6 — de-acum lucrezi SINGUR, cap-coadă. Primești o problemă vagă de la conducere și decizi tot. Prima piesă e cea pe care juniorii o sar: framing-ul — din întrebare vagă, un plan, ÎNAINTE să atingi datele. Cinci mișcări. Măsura nouă a modulului: profit (revenue − cost), nu revenue. Azi NU rezolvi cazul — îl faci analizabil.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L30: ai livrat investigația din septembrie board-ului — BLUF, executive summary, povestea pe dashboard, obiecțiile reîncadrate. Cu asta Modulul 5 e complet. Puntea: din Modulul 6 lucrezi singur, iar prima piesă e framing-ul.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 4 obiective din §1. Din Modulul 6 nu mai construiești piese — le pui împreună singur.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Andrei aduce tema de la conducere, dar de data asta se oprește altfel: de-acum lucrezi singur, primești problema, decizi tu ce întrebi/ce date/ce tool. Primul pas: nu deschide nimic. Întâi framing.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Ioana a deschis imediat SQL-ul, a tras GROUP BY pe categorie cu SUM(revenue), a scos un grafic și a raportat «Laptops e vedeta, 5.631.962,64». Andrei: te-am întrebat de PROFIT, nu de vânzări — cu ce marjă? Ai calculat costul? N-avea răspuns. A răspuns la întrebarea greșită — frumos, dar greșit.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Contrastul din §4: întrebarea vagă a conducerii vs planul de după framing. Prima nu se poate «rula»; a doua e un plan — știi ce măsori, pe ce date, cu ce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Tabelul celor 5 mișcări din §5: ascute → sparge → alege măsura → alege datele → alege tool-ul + pași.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 două noțiuni-cheie din §5: revenue ≠ profit (profit brut = revenue − COGS; marja % = profit / revenue) și a ascuți o întrebare = a o face măsurabilă. COGS = Cost of Goods Sold.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Stratul 1 — intuiția. Un arhitect nu toarnă betonul și «vede pe parcurs» — face întâi planul. Framing-ul e planul. Ioana a turnat beton direct (a tras grafice) și a construit casa greșită (revenue, când se cerea profit).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 să vezi metoda curat, o aplic pe o întrebare mică, diferită de cazul tău: «Care metodă de plată aduce cel mai mult revenue?». Mișcările 1-3: ascute, sparge, alege măsura.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Mișcările 4-5 pe exemplul de încălzire: alege datele (orders, PaymentMethod + TotalAmount, grain per metodă, fără JOIN) și tool + pași (SQL, un GROUP BY). Planul se poate rula mâine, fără alte decizii — fără să fi tras încă o cifră.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Stratul 2/3 — aplicarea. Tabelul din §6.2: cele 5 mișcări pe cazul de profitabilitate. Azi îl FRAMEZI, nu îl rezolvi (asta e L32). Ai nevoie de Cost din products → un JOIN.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 4 greșeli din §11: sari peste framing (Ioana), alegi măsura greșită (revenue în loc de profit), lași întrebarea vagă, uiți granularitatea și datele.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Cele 4 idei din §12 + milestone (cazul framed) + puntea spre L32 (Execution) și L33 (Recommendation), tot singur, spre capstone.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7" y="502920"/>
            <a:ext cx="1920240" cy="696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48840"/>
            <a:ext cx="10874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7900"/>
                </a:solidFill>
                <a:latin typeface="Consolas"/>
              </a:rPr>
              <a:t>● </a:t>
            </a:r>
            <a:r>
              <a:rPr sz="1300" b="1">
                <a:solidFill>
                  <a:srgbClr val="FFA24E"/>
                </a:solidFill>
                <a:latin typeface="Consolas"/>
              </a:rPr>
              <a:t>MODULUL 6 · LECȚIA 31 · DESCHIDE MODULUL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97480"/>
            <a:ext cx="10874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4400">
                <a:solidFill>
                  <a:srgbClr val="F2F2F2"/>
                </a:solidFill>
                <a:latin typeface="Arial"/>
              </a:rPr>
              <a:t>Cazul end-to-end — Framing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297680"/>
            <a:ext cx="1280160" cy="508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526280"/>
            <a:ext cx="108749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700">
                <a:solidFill>
                  <a:srgbClr val="B0B0B4"/>
                </a:solidFill>
                <a:latin typeface="Arial"/>
              </a:rPr>
              <a:t>Business Question (vagă) → Framing → Data → Analysis → Decision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440680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7777C"/>
                </a:solidFill>
                <a:latin typeface="Consolas"/>
              </a:rPr>
              <a:t>Vineri, 13 noiembrie 2026  ·  Offline, Orange Systems</a:t>
            </a:r>
          </a:p>
          <a:p>
            <a:r>
              <a:rPr sz="1300" b="1">
                <a:solidFill>
                  <a:srgbClr val="F2F2F2"/>
                </a:solidFill>
                <a:latin typeface="Arial"/>
              </a:rPr>
              <a:t>Liliana Spatari — Lead Data Analyst, Orange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L31 · Framing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 · L30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Unde ai rămas — ai prezentat board-ului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L30:</a:t>
            </a:r>
            <a:r>
              <a:rPr b="0" sz="1500">
                <a:solidFill>
                  <a:srgbClr val="F2F2F2"/>
                </a:solidFill>
                <a:latin typeface="Arial"/>
              </a:rPr>
              <a:t> ți-ai </a:t>
            </a:r>
            <a:r>
              <a:rPr b="1" sz="1500">
                <a:solidFill>
                  <a:srgbClr val="F2F2F2"/>
                </a:solidFill>
                <a:latin typeface="Arial"/>
              </a:rPr>
              <a:t>prezentat</a:t>
            </a:r>
            <a:r>
              <a:rPr b="0" sz="1500">
                <a:solidFill>
                  <a:srgbClr val="F2F2F2"/>
                </a:solidFill>
                <a:latin typeface="Arial"/>
              </a:rPr>
              <a:t> răspunsul board-ului — </a:t>
            </a:r>
            <a:r>
              <a:rPr b="1" sz="1500">
                <a:solidFill>
                  <a:srgbClr val="F2F2F2"/>
                </a:solidFill>
                <a:latin typeface="Arial"/>
              </a:rPr>
              <a:t>BLUF</a:t>
            </a:r>
            <a:r>
              <a:rPr b="0" sz="1500">
                <a:solidFill>
                  <a:srgbClr val="F2F2F2"/>
                </a:solidFill>
                <a:latin typeface="Arial"/>
              </a:rPr>
              <a:t> (concluzia întâi), apoi dovada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Ai spus povestea pe dashboard și ai </a:t>
            </a:r>
            <a:r>
              <a:rPr b="1" sz="1500">
                <a:solidFill>
                  <a:srgbClr val="F2F2F2"/>
                </a:solidFill>
                <a:latin typeface="Arial"/>
              </a:rPr>
              <a:t>reîncadrat</a:t>
            </a:r>
            <a:r>
              <a:rPr b="0" sz="1500">
                <a:solidFill>
                  <a:srgbClr val="F2F2F2"/>
                </a:solidFill>
                <a:latin typeface="Arial"/>
              </a:rPr>
              <a:t> obiecția „n-avem date”, nu ai cedat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Cu asta </a:t>
            </a:r>
            <a:r>
              <a:rPr b="1" sz="1500">
                <a:solidFill>
                  <a:srgbClr val="F2F2F2"/>
                </a:solidFill>
                <a:latin typeface="Arial"/>
              </a:rPr>
              <a:t>Modulul 5 e complet</a:t>
            </a:r>
            <a:r>
              <a:rPr b="0" sz="1500">
                <a:solidFill>
                  <a:srgbClr val="F2F2F2"/>
                </a:solidFill>
                <a:latin typeface="Arial"/>
              </a:rPr>
              <a:t> — știi să găsești răspunsul ȘI să faci sala să acționeze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849624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Din </a:t>
            </a:r>
            <a:r>
              <a:rPr b="1" sz="1400">
                <a:solidFill>
                  <a:srgbClr val="F2F2F2"/>
                </a:solidFill>
                <a:latin typeface="Arial"/>
              </a:rPr>
              <a:t>Modulul 6</a:t>
            </a:r>
            <a:r>
              <a:rPr b="0" sz="1400">
                <a:solidFill>
                  <a:srgbClr val="F2F2F2"/>
                </a:solidFill>
                <a:latin typeface="Arial"/>
              </a:rPr>
              <a:t> e altfel: primești o problemă </a:t>
            </a:r>
            <a:r>
              <a:rPr b="1" sz="1400">
                <a:solidFill>
                  <a:srgbClr val="F2F2F2"/>
                </a:solidFill>
                <a:latin typeface="Arial"/>
              </a:rPr>
              <a:t>vagă</a:t>
            </a:r>
            <a:r>
              <a:rPr b="0" sz="1400">
                <a:solidFill>
                  <a:srgbClr val="F2F2F2"/>
                </a:solidFill>
                <a:latin typeface="Arial"/>
              </a:rPr>
              <a:t>, de la conducere, și </a:t>
            </a:r>
            <a:r>
              <a:rPr b="1" sz="1400">
                <a:solidFill>
                  <a:srgbClr val="F2F2F2"/>
                </a:solidFill>
                <a:latin typeface="Arial"/>
              </a:rPr>
              <a:t>decizi tu tot</a:t>
            </a:r>
            <a:r>
              <a:rPr b="0" sz="1400">
                <a:solidFill>
                  <a:srgbClr val="F2F2F2"/>
                </a:solidFill>
                <a:latin typeface="Arial"/>
              </a:rPr>
              <a:t>. Prima piesă, pe care juniorii o sar: </a:t>
            </a:r>
            <a:r>
              <a:rPr b="1" sz="1400">
                <a:solidFill>
                  <a:srgbClr val="F2F2F2"/>
                </a:solidFill>
                <a:latin typeface="Arial"/>
              </a:rPr>
              <a:t>framing-ul</a:t>
            </a:r>
            <a:r>
              <a:rPr b="0" sz="1400">
                <a:solidFill>
                  <a:srgbClr val="F2F2F2"/>
                </a:solidFill>
                <a:latin typeface="Arial"/>
              </a:rPr>
              <a:t> — din întrebare vagă, un plan, </a:t>
            </a:r>
            <a:r>
              <a:rPr b="1" sz="1400">
                <a:solidFill>
                  <a:srgbClr val="F2F2F2"/>
                </a:solidFill>
                <a:latin typeface="Arial"/>
              </a:rPr>
              <a:t>înainte</a:t>
            </a:r>
            <a:r>
              <a:rPr b="0" sz="1400">
                <a:solidFill>
                  <a:srgbClr val="F2F2F2"/>
                </a:solidFill>
                <a:latin typeface="Arial"/>
              </a:rPr>
              <a:t> de date.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L31 · Framing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vei putea face după lecția asta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</a:t>
            </a:r>
            <a:r>
              <a:rPr b="1" sz="1400">
                <a:solidFill>
                  <a:srgbClr val="F2F2F2"/>
                </a:solidFill>
                <a:latin typeface="Arial"/>
              </a:rPr>
              <a:t>ascuți</a:t>
            </a:r>
            <a:r>
              <a:rPr b="0" sz="1400">
                <a:solidFill>
                  <a:srgbClr val="F2F2F2"/>
                </a:solidFill>
                <a:latin typeface="Arial"/>
              </a:rPr>
              <a:t> o întrebare vagă („suntem profitabili?”) până devine </a:t>
            </a:r>
            <a:r>
              <a:rPr b="1" sz="1400">
                <a:solidFill>
                  <a:srgbClr val="F2F2F2"/>
                </a:solidFill>
                <a:latin typeface="Arial"/>
              </a:rPr>
              <a:t>măsurabilă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o </a:t>
            </a:r>
            <a:r>
              <a:rPr b="1" sz="1400">
                <a:solidFill>
                  <a:srgbClr val="F2F2F2"/>
                </a:solidFill>
                <a:latin typeface="Arial"/>
              </a:rPr>
              <a:t>spargi</a:t>
            </a:r>
            <a:r>
              <a:rPr b="0" sz="1400">
                <a:solidFill>
                  <a:srgbClr val="F2F2F2"/>
                </a:solidFill>
                <a:latin typeface="Arial"/>
              </a:rPr>
              <a:t> în 2–4 sub-întrebări la care se poate răspunde cu date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alegi </a:t>
            </a:r>
            <a:r>
              <a:rPr b="1" sz="1400">
                <a:solidFill>
                  <a:srgbClr val="F2F2F2"/>
                </a:solidFill>
                <a:latin typeface="Arial"/>
              </a:rPr>
              <a:t>MĂSURA</a:t>
            </a:r>
            <a:r>
              <a:rPr b="0" sz="1400">
                <a:solidFill>
                  <a:srgbClr val="F2F2F2"/>
                </a:solidFill>
                <a:latin typeface="Arial"/>
              </a:rPr>
              <a:t> potrivită — și să vezi de ce </a:t>
            </a:r>
            <a:r>
              <a:rPr i="1" sz="1400">
                <a:solidFill>
                  <a:srgbClr val="F2F2F2"/>
                </a:solidFill>
                <a:latin typeface="Arial"/>
              </a:rPr>
              <a:t>revenue ≠ profit</a:t>
            </a:r>
            <a:r>
              <a:rPr b="0" sz="1400">
                <a:solidFill>
                  <a:srgbClr val="F2F2F2"/>
                </a:solidFill>
                <a:latin typeface="Arial"/>
              </a:rPr>
              <a:t> (profit = revenue − cost)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Să alegi </a:t>
            </a:r>
            <a:r>
              <a:rPr b="1" sz="1400">
                <a:solidFill>
                  <a:srgbClr val="F2F2F2"/>
                </a:solidFill>
                <a:latin typeface="Arial"/>
              </a:rPr>
              <a:t>datele</a:t>
            </a:r>
            <a:r>
              <a:rPr b="0" sz="1400">
                <a:solidFill>
                  <a:srgbClr val="F2F2F2"/>
                </a:solidFill>
                <a:latin typeface="Arial"/>
              </a:rPr>
              <a:t> (tabele, câmpuri, granularitate) și </a:t>
            </a:r>
            <a:r>
              <a:rPr b="1" sz="1400">
                <a:solidFill>
                  <a:srgbClr val="F2F2F2"/>
                </a:solidFill>
                <a:latin typeface="Arial"/>
              </a:rPr>
              <a:t>tool-ul</a:t>
            </a:r>
            <a:r>
              <a:rPr b="0" sz="1400">
                <a:solidFill>
                  <a:srgbClr val="F2F2F2"/>
                </a:solidFill>
                <a:latin typeface="Arial"/>
              </a:rPr>
              <a:t>, și să scrii </a:t>
            </a:r>
            <a:r>
              <a:rPr b="1" sz="1400">
                <a:solidFill>
                  <a:srgbClr val="F2F2F2"/>
                </a:solidFill>
                <a:latin typeface="Arial"/>
              </a:rPr>
              <a:t>pașii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Din Modulul 6 lucrezi </a:t>
            </a:r>
            <a:r>
              <a:rPr b="1" sz="1400">
                <a:solidFill>
                  <a:srgbClr val="F2F2F2"/>
                </a:solidFill>
                <a:latin typeface="Arial"/>
              </a:rPr>
              <a:t>singur</a:t>
            </a:r>
            <a:r>
              <a:rPr b="0" sz="1400">
                <a:solidFill>
                  <a:srgbClr val="F2F2F2"/>
                </a:solidFill>
                <a:latin typeface="Arial"/>
              </a:rPr>
              <a:t>: nu mai construiești piese, le </a:t>
            </a:r>
            <a:r>
              <a:rPr b="1" sz="1400">
                <a:solidFill>
                  <a:srgbClr val="F2F2F2"/>
                </a:solidFill>
                <a:latin typeface="Arial"/>
              </a:rPr>
              <a:t>pui împreună</a:t>
            </a:r>
            <a:r>
              <a:rPr b="0" sz="1400">
                <a:solidFill>
                  <a:srgbClr val="F2F2F2"/>
                </a:solidFill>
                <a:latin typeface="Arial"/>
              </a:rPr>
              <a:t>. E puntea spre capstone.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L31 · Framing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MOMENTUL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«De-acum decizi tu» (Andrei) — și o întrebare nouă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30510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Andrei: „Conducerea a pus o întrebare care mă macină și pe mine: «Revenue-ul crește an de an — dar creștem și </a:t>
            </a:r>
            <a:r>
              <a:rPr b="1" sz="1400">
                <a:solidFill>
                  <a:srgbClr val="F2F2F2"/>
                </a:solidFill>
                <a:latin typeface="Arial"/>
              </a:rPr>
              <a:t>PROFITUL</a:t>
            </a:r>
            <a:r>
              <a:rPr b="0" sz="1400">
                <a:solidFill>
                  <a:srgbClr val="F2F2F2"/>
                </a:solidFill>
                <a:latin typeface="Arial"/>
              </a:rPr>
              <a:t>? Ne bazăm pe categoriile potrivite?» Tot ce-am făcut până acum a fost despre </a:t>
            </a:r>
            <a:r>
              <a:rPr b="1" sz="1400">
                <a:solidFill>
                  <a:srgbClr val="F2F2F2"/>
                </a:solidFill>
                <a:latin typeface="Arial"/>
              </a:rPr>
              <a:t>vânzări</a:t>
            </a:r>
            <a:r>
              <a:rPr b="0" sz="1400">
                <a:solidFill>
                  <a:srgbClr val="F2F2F2"/>
                </a:solidFill>
                <a:latin typeface="Arial"/>
              </a:rPr>
              <a:t>. Asta e altă lentilă. Și — atenție — </a:t>
            </a:r>
            <a:r>
              <a:rPr b="1" sz="1400">
                <a:solidFill>
                  <a:srgbClr val="F2F2F2"/>
                </a:solidFill>
                <a:latin typeface="Arial"/>
              </a:rPr>
              <a:t>de-acum lucrezi singur</a:t>
            </a:r>
            <a:r>
              <a:rPr b="0" sz="1400">
                <a:solidFill>
                  <a:srgbClr val="F2F2F2"/>
                </a:solidFill>
                <a:latin typeface="Arial"/>
              </a:rPr>
              <a:t>. Îți dau problema; tu decizi ce întrebi, ce date, ce tool. Primul pas: </a:t>
            </a:r>
            <a:r>
              <a:rPr b="1" sz="1400">
                <a:solidFill>
                  <a:srgbClr val="F2F2F2"/>
                </a:solidFill>
                <a:latin typeface="Arial"/>
              </a:rPr>
              <a:t>nu deschide încă nimic.</a:t>
            </a:r>
            <a:r>
              <a:rPr b="0" sz="1400">
                <a:solidFill>
                  <a:srgbClr val="F2F2F2"/>
                </a:solidFill>
                <a:latin typeface="Arial"/>
              </a:rPr>
              <a:t> Întâi </a:t>
            </a:r>
            <a:r>
              <a:rPr b="1" sz="1400">
                <a:solidFill>
                  <a:srgbClr val="F2F2F2"/>
                </a:solidFill>
                <a:latin typeface="Arial"/>
              </a:rPr>
              <a:t>framing</a:t>
            </a:r>
            <a:r>
              <a:rPr b="0" sz="1400">
                <a:solidFill>
                  <a:srgbClr val="F2F2F2"/>
                </a:solidFill>
                <a:latin typeface="Arial"/>
              </a:rPr>
              <a:t>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971288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Nu mai primești o întrebare ascuțită. Primești una </a:t>
            </a:r>
            <a:r>
              <a:rPr b="1" sz="1500">
                <a:solidFill>
                  <a:srgbClr val="F2F2F2"/>
                </a:solidFill>
                <a:latin typeface="Arial"/>
              </a:rPr>
              <a:t>vagă</a:t>
            </a:r>
            <a:r>
              <a:rPr b="0" sz="1500">
                <a:solidFill>
                  <a:srgbClr val="F2F2F2"/>
                </a:solidFill>
                <a:latin typeface="Arial"/>
              </a:rPr>
              <a:t> — și prima ta muncă e s-o faci </a:t>
            </a:r>
            <a:r>
              <a:rPr b="1" sz="1500">
                <a:solidFill>
                  <a:srgbClr val="F2F2F2"/>
                </a:solidFill>
                <a:latin typeface="Arial"/>
              </a:rPr>
              <a:t>analizabilă</a:t>
            </a:r>
            <a:r>
              <a:rPr b="0" sz="15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L31 · Framing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ATENȚIE · ANTI-EXEMPLU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a pățit Ioana: a sărit peste framing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820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Ioana a deschis imediat SQL-ul: „hai să văd repede”. A tras un </a:t>
            </a:r>
            <a:r>
              <a:rPr sz="1500">
                <a:solidFill>
                  <a:srgbClr val="FFA24E"/>
                </a:solidFill>
                <a:latin typeface="Consolas"/>
              </a:rPr>
              <a:t>GROUP BY</a:t>
            </a:r>
            <a:r>
              <a:rPr b="0" sz="1500">
                <a:solidFill>
                  <a:srgbClr val="F2F2F2"/>
                </a:solidFill>
                <a:latin typeface="Arial"/>
              </a:rPr>
              <a:t> pe categorie cu </a:t>
            </a:r>
            <a:r>
              <a:rPr sz="1500">
                <a:solidFill>
                  <a:srgbClr val="FFA24E"/>
                </a:solidFill>
                <a:latin typeface="Consolas"/>
              </a:rPr>
              <a:t>SUM(revenue)</a:t>
            </a:r>
            <a:r>
              <a:rPr b="0" sz="1500">
                <a:solidFill>
                  <a:srgbClr val="F2F2F2"/>
                </a:solidFill>
                <a:latin typeface="Arial"/>
              </a:rPr>
              <a:t>, a scos un grafic frumos și i-a dus lui Andrei concluzia: „</a:t>
            </a:r>
            <a:r>
              <a:rPr b="1" sz="1500">
                <a:solidFill>
                  <a:srgbClr val="F2F2F2"/>
                </a:solidFill>
                <a:latin typeface="Arial"/>
              </a:rPr>
              <a:t>Laptops e vedeta noastră</a:t>
            </a:r>
            <a:r>
              <a:rPr b="0" sz="1500">
                <a:solidFill>
                  <a:srgbClr val="F2F2F2"/>
                </a:solidFill>
                <a:latin typeface="Arial"/>
              </a:rPr>
              <a:t> — aduce cel mai mult, </a:t>
            </a:r>
            <a:r>
              <a:rPr sz="1500">
                <a:solidFill>
                  <a:srgbClr val="FFA24E"/>
                </a:solidFill>
                <a:latin typeface="Consolas"/>
              </a:rPr>
              <a:t>5.631.962,64</a:t>
            </a:r>
            <a:r>
              <a:rPr b="0" sz="1500">
                <a:solidFill>
                  <a:srgbClr val="F2F2F2"/>
                </a:solidFill>
                <a:latin typeface="Arial"/>
              </a:rPr>
              <a:t>. Ne bazăm pe categoria potrivită.” Andrei: „Te-am întrebat de </a:t>
            </a:r>
            <a:r>
              <a:rPr b="1" sz="1500">
                <a:solidFill>
                  <a:srgbClr val="F2F2F2"/>
                </a:solidFill>
                <a:latin typeface="Arial"/>
              </a:rPr>
              <a:t>profit</a:t>
            </a:r>
            <a:r>
              <a:rPr b="0" sz="1500">
                <a:solidFill>
                  <a:srgbClr val="F2F2F2"/>
                </a:solidFill>
                <a:latin typeface="Arial"/>
              </a:rPr>
              <a:t>, nu de vânzări. Laptops aduce mult — dar cu ce </a:t>
            </a:r>
            <a:r>
              <a:rPr b="1" sz="1500">
                <a:solidFill>
                  <a:srgbClr val="F2F2F2"/>
                </a:solidFill>
                <a:latin typeface="Arial"/>
              </a:rPr>
              <a:t>marjă</a:t>
            </a:r>
            <a:r>
              <a:rPr b="0" sz="1500">
                <a:solidFill>
                  <a:srgbClr val="F2F2F2"/>
                </a:solidFill>
                <a:latin typeface="Arial"/>
              </a:rPr>
              <a:t>? Ai calculat costul?” Ioana n-avea răspuns.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713380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O singură greșeală, dar scumpă: a </a:t>
            </a:r>
            <a:r>
              <a:rPr b="1" sz="1400">
                <a:solidFill>
                  <a:srgbClr val="F2F2F2"/>
                </a:solidFill>
                <a:latin typeface="Arial"/>
              </a:rPr>
              <a:t>sărit peste framing</a:t>
            </a:r>
            <a:r>
              <a:rPr b="0" sz="1400">
                <a:solidFill>
                  <a:srgbClr val="F2F2F2"/>
                </a:solidFill>
                <a:latin typeface="Arial"/>
              </a:rPr>
              <a:t>. A pornit de la </a:t>
            </a:r>
            <a:r>
              <a:rPr i="1" sz="1400">
                <a:solidFill>
                  <a:srgbClr val="F2F2F2"/>
                </a:solidFill>
                <a:latin typeface="Arial"/>
              </a:rPr>
              <a:t>ce știa să facă</a:t>
            </a:r>
            <a:r>
              <a:rPr b="0" sz="1400">
                <a:solidFill>
                  <a:srgbClr val="F2F2F2"/>
                </a:solidFill>
                <a:latin typeface="Arial"/>
              </a:rPr>
              <a:t> (revenue), nu de la </a:t>
            </a:r>
            <a:r>
              <a:rPr i="1" sz="1400">
                <a:solidFill>
                  <a:srgbClr val="F2F2F2"/>
                </a:solidFill>
                <a:latin typeface="Arial"/>
              </a:rPr>
              <a:t>ce se ceruse</a:t>
            </a:r>
            <a:r>
              <a:rPr b="0" sz="1400">
                <a:solidFill>
                  <a:srgbClr val="F2F2F2"/>
                </a:solidFill>
                <a:latin typeface="Arial"/>
              </a:rPr>
              <a:t> (profit). </a:t>
            </a:r>
            <a:r>
              <a:rPr b="1" sz="1400">
                <a:solidFill>
                  <a:srgbClr val="F2F2F2"/>
                </a:solidFill>
                <a:latin typeface="Arial"/>
              </a:rPr>
              <a:t>A răspuns la întrebarea greșită — frumos, dar greșit.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L31 · Framing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Din întrebare vagă → planul de analiză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7498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37479"/>
                <a:gridCol w="5437480"/>
              </a:tblGrid>
              <a:tr h="374904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De la conducere (vagă)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După framing (azi)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„Creștem vânzările — dar creștem și profitul? Ne bazăm pe categoriile potrivite?”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„Care categorii aduc revenue, dar </a:t>
                      </a:r>
                      <a:r>
                        <a:rPr b="1" sz="1100">
                          <a:solidFill>
                            <a:srgbClr val="F2F2F2"/>
                          </a:solidFill>
                          <a:latin typeface="Arial"/>
                        </a:rPr>
                        <a:t>puțin profit</a:t>
                      </a:r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 — și unde e de fapt profitul nostru?” Măsura = profit brut + marja %, per categorie. Date = </a:t>
                      </a:r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order_items ⋈ products ⋈ categories</a:t>
                      </a:r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. Tool = SQL + Data Studio.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2670048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Prima nu se poate „rula”. A doua e un </a:t>
            </a:r>
            <a:r>
              <a:rPr b="1" sz="1400">
                <a:solidFill>
                  <a:srgbClr val="F2F2F2"/>
                </a:solidFill>
                <a:latin typeface="Arial"/>
              </a:rPr>
              <a:t>plan</a:t>
            </a:r>
            <a:r>
              <a:rPr b="0" sz="1400">
                <a:solidFill>
                  <a:srgbClr val="F2F2F2"/>
                </a:solidFill>
                <a:latin typeface="Arial"/>
              </a:rPr>
              <a:t>: știi exact ce măsori, pe ce date, cu ce tool. Asta face framing-ul — și îl faci în </a:t>
            </a:r>
            <a:r>
              <a:rPr b="1" sz="1400">
                <a:solidFill>
                  <a:srgbClr val="F2F2F2"/>
                </a:solidFill>
                <a:latin typeface="Arial"/>
              </a:rPr>
              <a:t>cinci mișcări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L31 · Framing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ORIENTARE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Cele cinci mișcări ale framing-ului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2212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37479"/>
                <a:gridCol w="5437480"/>
              </a:tblGrid>
              <a:tr h="368808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Vrei…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Faci… (mișcarea)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O întrebare la care se poate răspunde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1. Ascute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— din vagă în măsurabilă (ce măsori, pe ce, în ce interval)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Un drum, nu un salt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2. Sparge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— 2–4 sub-întrebări care, împreună, o rezolvă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Cifra potrivită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3. Alege MĂSURA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— metrica exactă și </a:t>
                      </a:r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cum se calculează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Să știi de unde tragi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4. Alege datele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— ce tabele, câmpuri, </a:t>
                      </a:r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granularitate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Un plan executabil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2F2F2"/>
                          </a:solidFill>
                          <a:latin typeface="Arial"/>
                        </a:rPr>
                        <a:t>5. Tool + pași</a:t>
                      </a:r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 — SQL / Excel / Data Studio, și lista de pași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L31 · Framing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NOȚIUNEA NOUĂ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Revenue ≠ profit (măsura nouă a modulului)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Revenue</a:t>
            </a:r>
            <a:r>
              <a:rPr b="0" sz="1300">
                <a:solidFill>
                  <a:srgbClr val="F2F2F2"/>
                </a:solidFill>
                <a:latin typeface="Arial"/>
              </a:rPr>
              <a:t> = cât ai </a:t>
            </a:r>
            <a:r>
              <a:rPr b="1" sz="1300">
                <a:solidFill>
                  <a:srgbClr val="F2F2F2"/>
                </a:solidFill>
                <a:latin typeface="Arial"/>
              </a:rPr>
              <a:t>vândut</a:t>
            </a:r>
            <a:r>
              <a:rPr b="0" sz="1300">
                <a:solidFill>
                  <a:srgbClr val="F2F2F2"/>
                </a:solidFill>
                <a:latin typeface="Arial"/>
              </a:rPr>
              <a:t>. </a:t>
            </a:r>
            <a:r>
              <a:rPr b="1" sz="1300">
                <a:solidFill>
                  <a:srgbClr val="F2F2F2"/>
                </a:solidFill>
                <a:latin typeface="Arial"/>
              </a:rPr>
              <a:t>Profit</a:t>
            </a:r>
            <a:r>
              <a:rPr b="0" sz="1300">
                <a:solidFill>
                  <a:srgbClr val="F2F2F2"/>
                </a:solidFill>
                <a:latin typeface="Arial"/>
              </a:rPr>
              <a:t> = cât ai </a:t>
            </a:r>
            <a:r>
              <a:rPr b="1" sz="1300">
                <a:solidFill>
                  <a:srgbClr val="F2F2F2"/>
                </a:solidFill>
                <a:latin typeface="Arial"/>
              </a:rPr>
              <a:t>câștigat</a:t>
            </a:r>
            <a:r>
              <a:rPr b="0" sz="1300">
                <a:solidFill>
                  <a:srgbClr val="F2F2F2"/>
                </a:solidFill>
                <a:latin typeface="Arial"/>
              </a:rPr>
              <a:t>, după ce scazi </a:t>
            </a:r>
            <a:r>
              <a:rPr b="1" sz="1300">
                <a:solidFill>
                  <a:srgbClr val="F2F2F2"/>
                </a:solidFill>
                <a:latin typeface="Arial"/>
              </a:rPr>
              <a:t>costul mărfii</a:t>
            </a:r>
            <a:r>
              <a:rPr b="0" sz="1300">
                <a:solidFill>
                  <a:srgbClr val="F2F2F2"/>
                </a:solidFill>
                <a:latin typeface="Arial"/>
              </a:rPr>
              <a:t> (COGS — Cost of Goods Sold)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0" sz="1300">
                <a:solidFill>
                  <a:srgbClr val="F2F2F2"/>
                </a:solidFill>
                <a:latin typeface="Arial"/>
              </a:rPr>
              <a:t>O categorie poate </a:t>
            </a:r>
            <a:r>
              <a:rPr b="1" sz="1300">
                <a:solidFill>
                  <a:srgbClr val="F2F2F2"/>
                </a:solidFill>
                <a:latin typeface="Arial"/>
              </a:rPr>
              <a:t>vinde enorm</a:t>
            </a:r>
            <a:r>
              <a:rPr b="0" sz="1300">
                <a:solidFill>
                  <a:srgbClr val="F2F2F2"/>
                </a:solidFill>
                <a:latin typeface="Arial"/>
              </a:rPr>
              <a:t> și </a:t>
            </a:r>
            <a:r>
              <a:rPr b="1" sz="1300">
                <a:solidFill>
                  <a:srgbClr val="F2F2F2"/>
                </a:solidFill>
                <a:latin typeface="Arial"/>
              </a:rPr>
              <a:t>câștiga puțin</a:t>
            </a:r>
            <a:r>
              <a:rPr b="0" sz="1300">
                <a:solidFill>
                  <a:srgbClr val="F2F2F2"/>
                </a:solidFill>
                <a:latin typeface="Arial"/>
              </a:rPr>
              <a:t>, dacă e cumpărată scump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Profit brut = Revenue − COGS</a:t>
            </a:r>
            <a:r>
              <a:rPr b="0" sz="1300">
                <a:solidFill>
                  <a:srgbClr val="F2F2F2"/>
                </a:solidFill>
                <a:latin typeface="Arial"/>
              </a:rPr>
              <a:t> · </a:t>
            </a:r>
            <a:r>
              <a:rPr b="1" sz="1300">
                <a:solidFill>
                  <a:srgbClr val="F2F2F2"/>
                </a:solidFill>
                <a:latin typeface="Arial"/>
              </a:rPr>
              <a:t>Marja % = Profit brut / Revenue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66744"/>
            <a:ext cx="10874959" cy="18699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1" sz="1300">
                <a:solidFill>
                  <a:srgbClr val="F2F2F2"/>
                </a:solidFill>
                <a:latin typeface="Arial"/>
              </a:rPr>
              <a:t>A ascuți</a:t>
            </a:r>
            <a:r>
              <a:rPr b="0" sz="1300">
                <a:solidFill>
                  <a:srgbClr val="F2F2F2"/>
                </a:solidFill>
                <a:latin typeface="Arial"/>
              </a:rPr>
              <a:t> = a face întrebarea măsurabilă. Testul: pot spune </a:t>
            </a:r>
            <a:r>
              <a:rPr b="1" sz="1300">
                <a:solidFill>
                  <a:srgbClr val="F2F2F2"/>
                </a:solidFill>
                <a:latin typeface="Arial"/>
              </a:rPr>
              <a:t>ce cifră</a:t>
            </a:r>
            <a:r>
              <a:rPr b="0" sz="1300">
                <a:solidFill>
                  <a:srgbClr val="F2F2F2"/>
                </a:solidFill>
                <a:latin typeface="Arial"/>
              </a:rPr>
              <a:t> răspunde și </a:t>
            </a:r>
            <a:r>
              <a:rPr b="1" sz="1300">
                <a:solidFill>
                  <a:srgbClr val="F2F2F2"/>
                </a:solidFill>
                <a:latin typeface="Arial"/>
              </a:rPr>
              <a:t>de unde</a:t>
            </a:r>
            <a:r>
              <a:rPr b="0" sz="1300">
                <a:solidFill>
                  <a:srgbClr val="F2F2F2"/>
                </a:solidFill>
                <a:latin typeface="Arial"/>
              </a:rPr>
              <a:t> o iau? „Suntem profitabili?” nu se poate rula; „care categorii au marjă sub media firmei?” — se poate.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L31 · Framing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IDEEA CENTRALĂ · STRATUL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Framezi ÎNAINTE să atingi datele (arhitectul)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Un arhitect nu începe să toarne betonul și „vede pe parcurs”. Face întâi </a:t>
            </a:r>
            <a:r>
              <a:rPr b="1" sz="1500">
                <a:solidFill>
                  <a:srgbClr val="F2F2F2"/>
                </a:solidFill>
                <a:latin typeface="Arial"/>
              </a:rPr>
              <a:t>planul</a:t>
            </a:r>
            <a:r>
              <a:rPr b="0" sz="1500">
                <a:solidFill>
                  <a:srgbClr val="F2F2F2"/>
                </a:solidFill>
                <a:latin typeface="Arial"/>
              </a:rPr>
              <a:t>: câte camere, unde, din ce. Betonul prost turnat se dărâmă; planul prost, la fel.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30764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Analiza e la fel: </a:t>
            </a:r>
            <a:r>
              <a:rPr b="1" sz="1400">
                <a:solidFill>
                  <a:srgbClr val="F2F2F2"/>
                </a:solidFill>
                <a:latin typeface="Arial"/>
              </a:rPr>
              <a:t>framing-ul e planul.</a:t>
            </a:r>
            <a:r>
              <a:rPr b="0" sz="1400">
                <a:solidFill>
                  <a:srgbClr val="F2F2F2"/>
                </a:solidFill>
                <a:latin typeface="Arial"/>
              </a:rPr>
              <a:t> Ioana a „turnat beton” direct — a tras grafice — și a construit casa greșită: revenue, când se cerea profit. </a:t>
            </a:r>
            <a:r>
              <a:rPr b="1" sz="1400">
                <a:solidFill>
                  <a:srgbClr val="F2F2F2"/>
                </a:solidFill>
                <a:latin typeface="Arial"/>
              </a:rPr>
              <a:t>Cinci minute de framing i-ar fi salvat o zi de muncă irosită.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L31 · Framing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DEMONSTRAȚIE · ÎNCĂLZIRE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Metoda pe un exemplu mic (mișcările 1–3)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📎 Exemplu de încălzire (nu cazul tău — ca să nu-ți stric descoperirea): </a:t>
            </a:r>
            <a:r>
              <a:rPr b="1" sz="1300">
                <a:solidFill>
                  <a:srgbClr val="F2F2F2"/>
                </a:solidFill>
                <a:latin typeface="Arial"/>
              </a:rPr>
              <a:t>„Care metodă de plată aduce cel mai mult revenue?”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294887"/>
            <a:ext cx="10874959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1. Ascute:</a:t>
            </a:r>
            <a:r>
              <a:rPr b="0" sz="1300">
                <a:solidFill>
                  <a:srgbClr val="F2F2F2"/>
                </a:solidFill>
                <a:latin typeface="Arial"/>
              </a:rPr>
              <a:t> „Revenue total (</a:t>
            </a:r>
            <a:r>
              <a:rPr sz="1300">
                <a:solidFill>
                  <a:srgbClr val="FFA24E"/>
                </a:solidFill>
                <a:latin typeface="Consolas"/>
              </a:rPr>
              <a:t>SUM(TotalAmount)</a:t>
            </a:r>
            <a:r>
              <a:rPr b="0" sz="1300">
                <a:solidFill>
                  <a:srgbClr val="F2F2F2"/>
                </a:solidFill>
                <a:latin typeface="Arial"/>
              </a:rPr>
              <a:t>) </a:t>
            </a:r>
            <a:r>
              <a:rPr b="1" sz="1300">
                <a:solidFill>
                  <a:srgbClr val="F2F2F2"/>
                </a:solidFill>
                <a:latin typeface="Arial"/>
              </a:rPr>
              <a:t>per metodă de plată</a:t>
            </a:r>
            <a:r>
              <a:rPr b="0" sz="1300">
                <a:solidFill>
                  <a:srgbClr val="F2F2F2"/>
                </a:solidFill>
                <a:latin typeface="Arial"/>
              </a:rPr>
              <a:t>, pe tot istoricul.”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2. Sparge:</a:t>
            </a:r>
            <a:r>
              <a:rPr b="0" sz="1300">
                <a:solidFill>
                  <a:srgbClr val="F2F2F2"/>
                </a:solidFill>
                <a:latin typeface="Arial"/>
              </a:rPr>
              <a:t> (a) care e revenue-ul per metodă? (b) care e cea mai mare/mică? (c) una domină sau sunt apropiate?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3. Măsura:</a:t>
            </a:r>
            <a:r>
              <a:rPr b="0" sz="1300">
                <a:solidFill>
                  <a:srgbClr val="F2F2F2"/>
                </a:solidFill>
                <a:latin typeface="Arial"/>
              </a:rPr>
              <a:t> Revenue = </a:t>
            </a:r>
            <a:r>
              <a:rPr sz="1300">
                <a:solidFill>
                  <a:srgbClr val="FFA24E"/>
                </a:solidFill>
                <a:latin typeface="Consolas"/>
              </a:rPr>
              <a:t>SUM(TotalAmount)</a:t>
            </a:r>
            <a:r>
              <a:rPr b="0" sz="1300">
                <a:solidFill>
                  <a:srgbClr val="F2F2F2"/>
                </a:solidFill>
                <a:latin typeface="Arial"/>
              </a:rPr>
              <a:t> — o singură măsură, simplu; știu </a:t>
            </a:r>
            <a:r>
              <a:rPr b="1" sz="1300">
                <a:solidFill>
                  <a:srgbClr val="F2F2F2"/>
                </a:solidFill>
                <a:latin typeface="Arial"/>
              </a:rPr>
              <a:t>cum se calculează</a:t>
            </a:r>
            <a:r>
              <a:rPr b="0" sz="1300">
                <a:solidFill>
                  <a:srgbClr val="F2F2F2"/>
                </a:solidFill>
                <a:latin typeface="Arial"/>
              </a:rPr>
              <a:t>, nu doar cum se numește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L31 · Framing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DEMONSTRAȚIE · ÎNCĂLZIRE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Datele și pașii (mișcările 4–5)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3776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4. Datele:</a:t>
            </a:r>
            <a:r>
              <a:rPr b="0" sz="1300">
                <a:solidFill>
                  <a:srgbClr val="F2F2F2"/>
                </a:solidFill>
                <a:latin typeface="Arial"/>
              </a:rPr>
              <a:t> tabelul </a:t>
            </a:r>
            <a:r>
              <a:rPr sz="1300">
                <a:solidFill>
                  <a:srgbClr val="FFA24E"/>
                </a:solidFill>
                <a:latin typeface="Consolas"/>
              </a:rPr>
              <a:t>orders</a:t>
            </a:r>
            <a:r>
              <a:rPr b="0" sz="1300">
                <a:solidFill>
                  <a:srgbClr val="F2F2F2"/>
                </a:solidFill>
                <a:latin typeface="Arial"/>
              </a:rPr>
              <a:t>, câmpurile </a:t>
            </a:r>
            <a:r>
              <a:rPr sz="1300">
                <a:solidFill>
                  <a:srgbClr val="FFA24E"/>
                </a:solidFill>
                <a:latin typeface="Consolas"/>
              </a:rPr>
              <a:t>PaymentMethod</a:t>
            </a:r>
            <a:r>
              <a:rPr b="0" sz="1300">
                <a:solidFill>
                  <a:srgbClr val="F2F2F2"/>
                </a:solidFill>
                <a:latin typeface="Arial"/>
              </a:rPr>
              <a:t> și </a:t>
            </a:r>
            <a:r>
              <a:rPr sz="1300">
                <a:solidFill>
                  <a:srgbClr val="FFA24E"/>
                </a:solidFill>
                <a:latin typeface="Consolas"/>
              </a:rPr>
              <a:t>TotalAmount</a:t>
            </a:r>
            <a:r>
              <a:rPr b="0" sz="1300">
                <a:solidFill>
                  <a:srgbClr val="F2F2F2"/>
                </a:solidFill>
                <a:latin typeface="Arial"/>
              </a:rPr>
              <a:t>; grain = per metodă (un rând / metodă) — tot într-un singur tabel, </a:t>
            </a:r>
            <a:r>
              <a:rPr b="1" sz="1300">
                <a:solidFill>
                  <a:srgbClr val="F2F2F2"/>
                </a:solidFill>
                <a:latin typeface="Arial"/>
              </a:rPr>
              <a:t>fără JOIN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5. Tool + pași:</a:t>
            </a:r>
            <a:r>
              <a:rPr b="0" sz="1300">
                <a:solidFill>
                  <a:srgbClr val="F2F2F2"/>
                </a:solidFill>
                <a:latin typeface="Arial"/>
              </a:rPr>
              <a:t> SQL → </a:t>
            </a:r>
            <a:r>
              <a:rPr sz="1300">
                <a:solidFill>
                  <a:srgbClr val="FFA24E"/>
                </a:solidFill>
                <a:latin typeface="Consolas"/>
              </a:rPr>
              <a:t>SELECT PaymentMethod, SUM(TotalAmount) FROM orders GROUP BY PaymentMethod ORDER BY 2 DESC;</a:t>
            </a:r>
            <a:r>
              <a:rPr b="0" sz="1300">
                <a:solidFill>
                  <a:srgbClr val="F2F2F2"/>
                </a:solidFill>
                <a:latin typeface="Arial"/>
              </a:rPr>
              <a:t> → citesc → (opțional) grafic în Data Studio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160776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În 5 mișcări, dintr-o întrebare am scos un plan care se </a:t>
            </a:r>
            <a:r>
              <a:rPr b="1" sz="1400">
                <a:solidFill>
                  <a:srgbClr val="F2F2F2"/>
                </a:solidFill>
                <a:latin typeface="Arial"/>
              </a:rPr>
              <a:t>rulează</a:t>
            </a:r>
            <a:r>
              <a:rPr b="0" sz="1400">
                <a:solidFill>
                  <a:srgbClr val="F2F2F2"/>
                </a:solidFill>
                <a:latin typeface="Arial"/>
              </a:rPr>
              <a:t> — fără să fi tras încă o singură cifră. Asta e framing-ul: </a:t>
            </a:r>
            <a:r>
              <a:rPr b="1" sz="1400">
                <a:solidFill>
                  <a:srgbClr val="F2F2F2"/>
                </a:solidFill>
                <a:latin typeface="Arial"/>
              </a:rPr>
              <a:t>nu răspunde</a:t>
            </a:r>
            <a:r>
              <a:rPr b="0" sz="1400">
                <a:solidFill>
                  <a:srgbClr val="F2F2F2"/>
                </a:solidFill>
                <a:latin typeface="Arial"/>
              </a:rPr>
              <a:t> la întrebare, îți dă </a:t>
            </a:r>
            <a:r>
              <a:rPr b="1" sz="1400">
                <a:solidFill>
                  <a:srgbClr val="F2F2F2"/>
                </a:solidFill>
                <a:latin typeface="Arial"/>
              </a:rPr>
              <a:t>planul</a:t>
            </a:r>
            <a:r>
              <a:rPr b="0" sz="1400">
                <a:solidFill>
                  <a:srgbClr val="F2F2F2"/>
                </a:solidFill>
                <a:latin typeface="Arial"/>
              </a:rPr>
              <a:t> ca s-o poți răspunde corect.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L31 · Framing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APLICARE · STRATUL 2+3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Cazul tău de profit, framed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2212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37479"/>
                <a:gridCol w="5437480"/>
              </a:tblGrid>
              <a:tr h="36880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Mișcarea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La cazul nostru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2F2F2"/>
                          </a:solidFill>
                          <a:latin typeface="Arial"/>
                        </a:rPr>
                        <a:t>1. Ascute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„care categorii aduc revenue dar puțin profit?”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2F2F2"/>
                          </a:solidFill>
                          <a:latin typeface="Arial"/>
                        </a:rPr>
                        <a:t>2. Sparge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care e profitul total? per categorie? cine-s liderii de revenue vs de profit?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2F2F2"/>
                          </a:solidFill>
                          <a:latin typeface="Arial"/>
                        </a:rPr>
                        <a:t>3. Măsura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Profit brut = Σ(Cantitate × (Preț − Cost)); Marja % = Profit / Revenue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2F2F2"/>
                          </a:solidFill>
                          <a:latin typeface="Arial"/>
                        </a:rPr>
                        <a:t>4. Datele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order_items</a:t>
                      </a:r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(Qty, UnitPrice) ⋈ </a:t>
                      </a:r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products</a:t>
                      </a:r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(Cost) ⋈ </a:t>
                      </a:r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categories</a:t>
                      </a:r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(nume); grain = per categorie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2F2F2"/>
                          </a:solidFill>
                          <a:latin typeface="Arial"/>
                        </a:rPr>
                        <a:t>5. Tool + pași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SQL: </a:t>
                      </a:r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GROUP BY CategoryName</a:t>
                      </a:r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; apoi dashboard în Data Studio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L31 · Framing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GREȘELI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Greșeli pe care le fac aproape toți juniorii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389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Sari peste framing și tragi grafice direct</a:t>
            </a:r>
            <a:r>
              <a:rPr b="0" sz="1300">
                <a:solidFill>
                  <a:srgbClr val="F2F2F2"/>
                </a:solidFill>
                <a:latin typeface="Arial"/>
              </a:rPr>
              <a:t> (Ioana) → 5 minute de framing întâi; planul înainte de date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Alegi măsura greșită</a:t>
            </a:r>
            <a:r>
              <a:rPr b="0" sz="1300">
                <a:solidFill>
                  <a:srgbClr val="F2F2F2"/>
                </a:solidFill>
                <a:latin typeface="Arial"/>
              </a:rPr>
              <a:t> — ți se cere profit, dai revenue → „ce cifră răspunde </a:t>
            </a:r>
            <a:r>
              <a:rPr b="1" sz="1300">
                <a:solidFill>
                  <a:srgbClr val="F2F2F2"/>
                </a:solidFill>
                <a:latin typeface="Arial"/>
              </a:rPr>
              <a:t>exact</a:t>
            </a:r>
            <a:r>
              <a:rPr b="0" sz="1300">
                <a:solidFill>
                  <a:srgbClr val="F2F2F2"/>
                </a:solidFill>
                <a:latin typeface="Arial"/>
              </a:rPr>
              <a:t> la ce s-a cerut?”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Lași întrebarea vagă</a:t>
            </a:r>
            <a:r>
              <a:rPr b="0" sz="1300">
                <a:solidFill>
                  <a:srgbClr val="F2F2F2"/>
                </a:solidFill>
                <a:latin typeface="Arial"/>
              </a:rPr>
              <a:t> — „mergem bine?” nu se poate rula → testul: </a:t>
            </a:r>
            <a:r>
              <a:rPr b="1" sz="1300">
                <a:solidFill>
                  <a:srgbClr val="F2F2F2"/>
                </a:solidFill>
                <a:latin typeface="Arial"/>
              </a:rPr>
              <a:t>ce cifră</a:t>
            </a:r>
            <a:r>
              <a:rPr b="0" sz="1300">
                <a:solidFill>
                  <a:srgbClr val="F2F2F2"/>
                </a:solidFill>
                <a:latin typeface="Arial"/>
              </a:rPr>
              <a:t> și </a:t>
            </a:r>
            <a:r>
              <a:rPr b="1" sz="1300">
                <a:solidFill>
                  <a:srgbClr val="F2F2F2"/>
                </a:solidFill>
                <a:latin typeface="Arial"/>
              </a:rPr>
              <a:t>pe ce dimensiune</a:t>
            </a:r>
            <a:r>
              <a:rPr b="0" sz="1300">
                <a:solidFill>
                  <a:srgbClr val="F2F2F2"/>
                </a:solidFill>
                <a:latin typeface="Arial"/>
              </a:rPr>
              <a:t>?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300">
                <a:solidFill>
                  <a:srgbClr val="FF7900"/>
                </a:solidFill>
                <a:latin typeface="Consolas"/>
              </a:rPr>
              <a:t>— </a:t>
            </a:r>
            <a:r>
              <a:rPr b="1" sz="1300">
                <a:solidFill>
                  <a:srgbClr val="F2F2F2"/>
                </a:solidFill>
                <a:latin typeface="Arial"/>
              </a:rPr>
              <a:t>Uiți granularitatea și datele</a:t>
            </a:r>
            <a:r>
              <a:rPr b="0" sz="1300">
                <a:solidFill>
                  <a:srgbClr val="F2F2F2"/>
                </a:solidFill>
                <a:latin typeface="Arial"/>
              </a:rPr>
              <a:t> — descoperi la jumătate că-ți lipsește </a:t>
            </a:r>
            <a:r>
              <a:rPr sz="1300">
                <a:solidFill>
                  <a:srgbClr val="FFA24E"/>
                </a:solidFill>
                <a:latin typeface="Consolas"/>
              </a:rPr>
              <a:t>Cost</a:t>
            </a:r>
            <a:r>
              <a:rPr b="0" sz="1300">
                <a:solidFill>
                  <a:srgbClr val="F2F2F2"/>
                </a:solidFill>
                <a:latin typeface="Arial"/>
              </a:rPr>
              <a:t> → scrie tabele + câmpuri + grain </a:t>
            </a:r>
            <a:r>
              <a:rPr b="1" sz="1300">
                <a:solidFill>
                  <a:srgbClr val="F2F2F2"/>
                </a:solidFill>
                <a:latin typeface="Arial"/>
              </a:rPr>
              <a:t>înainte</a:t>
            </a:r>
            <a:r>
              <a:rPr b="0" sz="1300">
                <a:solidFill>
                  <a:srgbClr val="F2F2F2"/>
                </a:solidFill>
                <a:latin typeface="Arial"/>
              </a:rPr>
              <a:t> de query (aici: </a:t>
            </a:r>
            <a:r>
              <a:rPr sz="1300">
                <a:solidFill>
                  <a:srgbClr val="FFA24E"/>
                </a:solidFill>
                <a:latin typeface="Consolas"/>
              </a:rPr>
              <a:t>Cost</a:t>
            </a:r>
            <a:r>
              <a:rPr b="0" sz="1300">
                <a:solidFill>
                  <a:srgbClr val="F2F2F2"/>
                </a:solidFill>
                <a:latin typeface="Arial"/>
              </a:rPr>
              <a:t> e în </a:t>
            </a:r>
            <a:r>
              <a:rPr sz="1300">
                <a:solidFill>
                  <a:srgbClr val="FFA24E"/>
                </a:solidFill>
                <a:latin typeface="Consolas"/>
              </a:rPr>
              <a:t>products</a:t>
            </a:r>
            <a:r>
              <a:rPr b="0" sz="1300">
                <a:solidFill>
                  <a:srgbClr val="F2F2F2"/>
                </a:solidFill>
                <a:latin typeface="Arial"/>
              </a:rPr>
              <a:t> → un JOIN)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L31 · Framing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reții — în 4 idei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Framing = din întrebare vagă, un plan</a:t>
            </a:r>
            <a:r>
              <a:rPr b="0" sz="1400">
                <a:solidFill>
                  <a:srgbClr val="F2F2F2"/>
                </a:solidFill>
                <a:latin typeface="Arial"/>
              </a:rPr>
              <a:t> (5 mișcări), înainte de a atinge datele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Ascuți</a:t>
            </a:r>
            <a:r>
              <a:rPr b="0" sz="1400">
                <a:solidFill>
                  <a:srgbClr val="F2F2F2"/>
                </a:solidFill>
                <a:latin typeface="Arial"/>
              </a:rPr>
              <a:t> întrebarea până devine măsurabilă: ce cifră, pe ce dimensiune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Revenue ≠ profit</a:t>
            </a:r>
            <a:r>
              <a:rPr b="0" sz="1400">
                <a:solidFill>
                  <a:srgbClr val="F2F2F2"/>
                </a:solidFill>
                <a:latin typeface="Arial"/>
              </a:rPr>
              <a:t> — profit brut = Revenue − COGS; marja % = Profit / Revenue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Decide </a:t>
            </a:r>
            <a:r>
              <a:rPr b="1" sz="1400">
                <a:solidFill>
                  <a:srgbClr val="F2F2F2"/>
                </a:solidFill>
                <a:latin typeface="Arial"/>
              </a:rPr>
              <a:t>datele și grain-ul</a:t>
            </a:r>
            <a:r>
              <a:rPr b="0" sz="1400">
                <a:solidFill>
                  <a:srgbClr val="F2F2F2"/>
                </a:solidFill>
                <a:latin typeface="Arial"/>
              </a:rPr>
              <a:t> înainte de query (ai nevoie de </a:t>
            </a:r>
            <a:r>
              <a:rPr sz="1400">
                <a:solidFill>
                  <a:srgbClr val="FFA24E"/>
                </a:solidFill>
                <a:latin typeface="Consolas"/>
              </a:rPr>
              <a:t>Cost</a:t>
            </a:r>
            <a:r>
              <a:rPr b="0" sz="1400">
                <a:solidFill>
                  <a:srgbClr val="F2F2F2"/>
                </a:solidFill>
                <a:latin typeface="Arial"/>
              </a:rPr>
              <a:t> → un JOIN)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19842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MILESTONE: cazul nou de profitabilitate, </a:t>
            </a:r>
            <a:r>
              <a:rPr b="1" sz="1400">
                <a:solidFill>
                  <a:srgbClr val="F2F2F2"/>
                </a:solidFill>
                <a:latin typeface="Arial"/>
              </a:rPr>
              <a:t>framed</a:t>
            </a:r>
            <a:r>
              <a:rPr b="0" sz="1400">
                <a:solidFill>
                  <a:srgbClr val="F2F2F2"/>
                </a:solidFill>
                <a:latin typeface="Arial"/>
              </a:rPr>
              <a:t> — primul increment al cazului tău </a:t>
            </a:r>
            <a:r>
              <a:rPr b="1" sz="1400">
                <a:solidFill>
                  <a:srgbClr val="F2F2F2"/>
                </a:solidFill>
                <a:latin typeface="Arial"/>
              </a:rPr>
              <a:t>solo</a:t>
            </a:r>
            <a:r>
              <a:rPr b="0" sz="1400">
                <a:solidFill>
                  <a:srgbClr val="F2F2F2"/>
                </a:solidFill>
                <a:latin typeface="Arial"/>
              </a:rPr>
              <a:t>. Punte: </a:t>
            </a:r>
            <a:r>
              <a:rPr b="1" sz="1400">
                <a:solidFill>
                  <a:srgbClr val="F2F2F2"/>
                </a:solidFill>
                <a:latin typeface="Arial"/>
              </a:rPr>
              <a:t>L32 (Execution)</a:t>
            </a:r>
            <a:r>
              <a:rPr b="0" sz="1400">
                <a:solidFill>
                  <a:srgbClr val="F2F2F2"/>
                </a:solidFill>
                <a:latin typeface="Arial"/>
              </a:rPr>
              <a:t> — execuți planul în SQL, reconciliezi, citești reveal-ul, faci dashboard-ul. Tot singur, spre capstone.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L31 · Framing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468880"/>
            <a:ext cx="1087495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2F2F2"/>
                </a:solidFill>
                <a:latin typeface="Arial"/>
              </a:rPr>
              <a:t>Q&amp;A</a:t>
            </a:r>
          </a:p>
          <a:p>
            <a:pPr algn="ctr"/>
            <a:r>
              <a:rPr sz="1500">
                <a:solidFill>
                  <a:srgbClr val="FFA24E"/>
                </a:solidFill>
                <a:latin typeface="Consolas"/>
              </a:rPr>
              <a:t>Întrebări · discuție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L31 · Framing  ·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