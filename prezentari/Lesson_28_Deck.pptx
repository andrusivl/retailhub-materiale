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Deschidere. La L19 ai construit un dashboard în Excel; la L27 ai dus investigația cap-coadă în SQL. Amândouă erau statice — o poză, învechită când se schimbă datele. Azi înveți Data Studio (fost Looker Studio): un tool gratuit de dashboard-uri care se conectează la date și se actualizează singur. Refaci dashboard-ul din septembrie, dar viu: un link pe care Andrei îl deschide oricând. Ideea centrală: un dashboard Data Studio e o fereastră VIE spre date. Conectezi o dată, totul se calculează singur.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L27: investigația cap-coadă în SQL, de la −14,9% la decizie. Puntea: totul era static (Excel L19, SQL L27) — o poză, învechită când se schimbă datele. Azi o facem vie.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4 obiective din §1. Azi înveți Data Studio — conectezi, pui scorecard-uri și grafice care se calculează singure, publici un link viu. Ideea centrală: viu + partajabil bate poză.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Tabelul celor 4 mișcări din §5 + sursa. Măsură vs dimensiune: măsura e un agregat (Sum(Revenue)); dimensiunea e „pe ce” îl spargi (Luna, Oras). Scorecard = măsură + filtru; grafic = măsură pe dimensiune.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Contextul din §2. Andrei a văzut dashboard-ul din Excel (L19) și investigația SQL (L27). Îi plac, dar are o frustrare: a trebuit să-l facă captură de ecran, iar a doua zi era vechi. Vrea un link viu, partajabil.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Anti-exemplul din §3. Ioana a pus casete de text și a scris în ele numerele din Excel. Când datele s-au schimbat, „dashboard-ul” arăta cifrele vechi — erau tastate, nu calculate. E o poză cu pași în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§6 stratul 1 + 2. Un dashboard Excel e o fotografie — frumoasă, dar înghețată. Un dashboard Data Studio e o fereastră: te uiți prin ea la datele reale, iar când datele se schimbă, priveliștea se schimbă.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§5, cele două noțiuni-cheie. Măsură = număr de agregat (Sum(Revenue)); dimensiune = „pe ce” îl spargi (Luna, Oras). Scorecard = o măsură (+ filtru); grafic = o măsură pe o dimensiune. Fiecare cifră vine din sursă — de-aia se actualizează singură.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§7 Pașii 1–2. Pas 1: Create → Report → conector Google Sheets → orders_flat → Add. Pas 2: Add a chart → Scorecard, Metric = Revenue (Sum), Default date range 1–30 sept. 2025. Iese 1.126.418,50, calculat din cele 454 de comenzi.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§7 Pasul 3. Pe scorecard: Comparison date range → Fixed, 1–31 aug. 2025 → −14,9%. Al doilea scorecard, comparație fixă 1–30 sept. 2024 → −31,0%. Atenție: nu presetul „Previous period” (dă −12,7%). Strip de context sub scorecard-uri.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§7 Pasul 4. Add a chart → Time series (sau Column). Dimension = Luna; Metric = Revenue (Sum); filtru An = 2025; sort pe Luna. 12 coloane, septembrie în vale. Axa Y de la 0 (onestitate, ecou L18).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§7 Pasul 5. Add a chart → Bar chart. Dimension = Oras; Metric = Revenue (Sum); sortare descrescătoare. 8 bare — București prima, Cluj-Napoca ultima (ecou L16/L24, acum viu).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§7 Pasul 6. Adaugi o casetă evidențiată cu decizia (ecou L27). Apoi Share → Anyone with the link → Viewer → copiezi linkul. Deschide-l incognito. Schimbi o cifră în Sheet + Refresh → se actualizează singur. Ăsta e „viu”.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§11, cele 4 greșeli: tastezi cifrele; uiți filtrul pe scorecard; confunzi măsura cu dimensiunea; un dashboard care nu se poate partaja.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§12/§14. Cele 4 idei + milestone (dashboard-ul viu) + puntea spre L29 (îl faci să comunice: Findings → Insights → Recommendations, cu a doua sursă).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5 · LECȚIA 28 · PRIMA LECȚIE DATA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Primul dashboard în Data Studio — viu și de partajat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Business Question → Date → Data Studio (dashboard viu) → Decizie partajabilă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Miercuri, 11 noiembrie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L28 · Data Studio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 · L27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ai rămas — investigația în 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L27:</a:t>
            </a:r>
            <a:r>
              <a:rPr b="0" sz="1500">
                <a:solidFill>
                  <a:srgbClr val="F2F2F2"/>
                </a:solidFill>
                <a:latin typeface="Arial"/>
              </a:rPr>
              <a:t> investigația cap-coadă — Reper → Unde → De ce → Decizie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septembrie </a:t>
            </a:r>
            <a:r>
              <a:rPr b="1" sz="1500">
                <a:solidFill>
                  <a:srgbClr val="F2F2F2"/>
                </a:solidFill>
                <a:latin typeface="Arial"/>
              </a:rPr>
              <a:t>−14,9%</a:t>
            </a:r>
            <a:r>
              <a:rPr b="0" sz="1500">
                <a:solidFill>
                  <a:srgbClr val="F2F2F2"/>
                </a:solidFill>
                <a:latin typeface="Arial"/>
              </a:rPr>
              <a:t> · </a:t>
            </a:r>
            <a:r>
              <a:rPr b="1" sz="1500">
                <a:solidFill>
                  <a:srgbClr val="F2F2F2"/>
                </a:solidFill>
                <a:latin typeface="Arial"/>
              </a:rPr>
              <a:t>nu un magazin</a:t>
            </a:r>
            <a:r>
              <a:rPr b="0" sz="1500">
                <a:solidFill>
                  <a:srgbClr val="F2F2F2"/>
                </a:solidFill>
                <a:latin typeface="Arial"/>
              </a:rPr>
              <a:t> (Cluj +6,4%), ci </a:t>
            </a:r>
            <a:r>
              <a:rPr b="1" sz="1500">
                <a:solidFill>
                  <a:srgbClr val="F2F2F2"/>
                </a:solidFill>
                <a:latin typeface="Arial"/>
              </a:rPr>
              <a:t>Accessories −55,9%</a:t>
            </a:r>
            <a:r>
              <a:rPr b="0" sz="1500">
                <a:solidFill>
                  <a:srgbClr val="F2F2F2"/>
                </a:solidFill>
                <a:latin typeface="Arial"/>
              </a:rPr>
              <a:t> · stoc + zero campanie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decizia: </a:t>
            </a:r>
            <a:r>
              <a:rPr b="1" sz="1500">
                <a:solidFill>
                  <a:srgbClr val="F2F2F2"/>
                </a:solidFill>
                <a:latin typeface="Arial"/>
              </a:rPr>
              <a:t>reaprovizionare Accessories premium + campanie pe SMS/Google/Facebook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84962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Dar L19 (Excel) și L27 (SQL) erau </a:t>
            </a:r>
            <a:r>
              <a:rPr b="1" sz="1400">
                <a:solidFill>
                  <a:srgbClr val="F2F2F2"/>
                </a:solidFill>
                <a:latin typeface="Arial"/>
              </a:rPr>
              <a:t>statice</a:t>
            </a:r>
            <a:r>
              <a:rPr b="0" sz="1400">
                <a:solidFill>
                  <a:srgbClr val="F2F2F2"/>
                </a:solidFill>
                <a:latin typeface="Arial"/>
              </a:rPr>
              <a:t> — o pagină trimisă ca poză, învechită în clipa în care se schimbă datele. Azi o facem </a:t>
            </a:r>
            <a:r>
              <a:rPr b="1" sz="1400">
                <a:solidFill>
                  <a:srgbClr val="F2F2F2"/>
                </a:solidFill>
                <a:latin typeface="Arial"/>
              </a:rPr>
              <a:t>vie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L28 · Data Studio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vei putea face după lecția 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Să </a:t>
            </a:r>
            <a:r>
              <a:rPr b="1" sz="1500">
                <a:solidFill>
                  <a:srgbClr val="F2F2F2"/>
                </a:solidFill>
                <a:latin typeface="Arial"/>
              </a:rPr>
              <a:t>conectezi</a:t>
            </a:r>
            <a:r>
              <a:rPr b="0" sz="1500">
                <a:solidFill>
                  <a:srgbClr val="F2F2F2"/>
                </a:solidFill>
                <a:latin typeface="Arial"/>
              </a:rPr>
              <a:t> o sursă de date (un Google Sheet) la Data Studio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Să adaugi un </a:t>
            </a:r>
            <a:r>
              <a:rPr b="1" sz="1500">
                <a:solidFill>
                  <a:srgbClr val="F2F2F2"/>
                </a:solidFill>
                <a:latin typeface="Arial"/>
              </a:rPr>
              <a:t>scorecard</a:t>
            </a:r>
            <a:r>
              <a:rPr b="0" sz="1500">
                <a:solidFill>
                  <a:srgbClr val="F2F2F2"/>
                </a:solidFill>
                <a:latin typeface="Arial"/>
              </a:rPr>
              <a:t> (KPI) — un număr care se </a:t>
            </a:r>
            <a:r>
              <a:rPr b="1" sz="1500">
                <a:solidFill>
                  <a:srgbClr val="F2F2F2"/>
                </a:solidFill>
                <a:latin typeface="Arial"/>
              </a:rPr>
              <a:t>calculează</a:t>
            </a:r>
            <a:r>
              <a:rPr b="0" sz="1500">
                <a:solidFill>
                  <a:srgbClr val="F2F2F2"/>
                </a:solidFill>
                <a:latin typeface="Arial"/>
              </a:rPr>
              <a:t> din date, nu unul tastat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Să adaugi </a:t>
            </a:r>
            <a:r>
              <a:rPr b="1" sz="1500">
                <a:solidFill>
                  <a:srgbClr val="F2F2F2"/>
                </a:solidFill>
                <a:latin typeface="Arial"/>
              </a:rPr>
              <a:t>grafice</a:t>
            </a:r>
            <a:r>
              <a:rPr b="0" sz="1500">
                <a:solidFill>
                  <a:srgbClr val="F2F2F2"/>
                </a:solidFill>
                <a:latin typeface="Arial"/>
              </a:rPr>
              <a:t> (linie, bare) cu o măsură și o dimensiune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Să </a:t>
            </a:r>
            <a:r>
              <a:rPr b="1" sz="1500">
                <a:solidFill>
                  <a:srgbClr val="F2F2F2"/>
                </a:solidFill>
                <a:latin typeface="Arial"/>
              </a:rPr>
              <a:t>publici și partajezi</a:t>
            </a:r>
            <a:r>
              <a:rPr b="0" sz="1500">
                <a:solidFill>
                  <a:srgbClr val="F2F2F2"/>
                </a:solidFill>
                <a:latin typeface="Arial"/>
              </a:rPr>
              <a:t> dashboard-ul ca link viu — și să înțelegi de ce „viu + partajabil” bate „poză”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41655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Ideea centrală: un dashboard Data Studio e o </a:t>
            </a:r>
            <a:r>
              <a:rPr b="1" sz="1400">
                <a:solidFill>
                  <a:srgbClr val="F2F2F2"/>
                </a:solidFill>
                <a:latin typeface="Arial"/>
              </a:rPr>
              <a:t>fereastră vie</a:t>
            </a:r>
            <a:r>
              <a:rPr b="0" sz="1400">
                <a:solidFill>
                  <a:srgbClr val="F2F2F2"/>
                </a:solidFill>
                <a:latin typeface="Arial"/>
              </a:rPr>
              <a:t> spre date — conectezi o dată, iar totul se calculează singur din ele.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L28 · Data Studio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ORIENTARE · DATA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Cele patru mișcări (+ sursa)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847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37479"/>
                <a:gridCol w="5437480"/>
              </a:tblGrid>
              <a:tr h="369417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Vrei…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În Data Studio faci…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Să aduci datele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Conectezi o sursă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(Google Sheets → </a:t>
                      </a:r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orders_flat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Un KPI (un număr)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Un </a:t>
                      </a:r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Scorecard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— o </a:t>
                      </a:r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măsură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(</a:t>
                      </a:r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Revenue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, Sum) + un filtru (luna)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O comparație / o formă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Un </a:t>
                      </a:r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grafic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— o </a:t>
                      </a:r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măsură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pe o </a:t>
                      </a:r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dimensiune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(</a:t>
                      </a:r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Revenue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pe </a:t>
                      </a:r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Luna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/ </a:t>
                      </a:r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Oras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20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Să-l dai board-ului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Publici → Share → link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(viu, se actualizează singur)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767328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📎 Sursa: Google Sheet </a:t>
            </a:r>
            <a:r>
              <a:rPr sz="1300">
                <a:solidFill>
                  <a:srgbClr val="FFA24E"/>
                </a:solidFill>
                <a:latin typeface="Consolas"/>
              </a:rPr>
              <a:t>RetailHub — orders_flat</a:t>
            </a:r>
            <a:r>
              <a:rPr b="0" sz="1300">
                <a:solidFill>
                  <a:srgbClr val="F2F2F2"/>
                </a:solidFill>
                <a:latin typeface="Arial"/>
              </a:rPr>
              <a:t> (</a:t>
            </a:r>
            <a:r>
              <a:rPr b="1" sz="1300">
                <a:solidFill>
                  <a:srgbClr val="F2F2F2"/>
                </a:solidFill>
                <a:latin typeface="Arial"/>
              </a:rPr>
              <a:t>14.968</a:t>
            </a:r>
            <a:r>
              <a:rPr b="0" sz="1300">
                <a:solidFill>
                  <a:srgbClr val="F2F2F2"/>
                </a:solidFill>
                <a:latin typeface="Arial"/>
              </a:rPr>
              <a:t> comenzi; coloane </a:t>
            </a:r>
            <a:r>
              <a:rPr sz="1300">
                <a:solidFill>
                  <a:srgbClr val="FFA24E"/>
                </a:solidFill>
                <a:latin typeface="Consolas"/>
              </a:rPr>
              <a:t>OrderDate</a:t>
            </a:r>
            <a:r>
              <a:rPr b="0" sz="1300">
                <a:solidFill>
                  <a:srgbClr val="F2F2F2"/>
                </a:solidFill>
                <a:latin typeface="Arial"/>
              </a:rPr>
              <a:t>, </a:t>
            </a:r>
            <a:r>
              <a:rPr sz="1300">
                <a:solidFill>
                  <a:srgbClr val="FFA24E"/>
                </a:solidFill>
                <a:latin typeface="Consolas"/>
              </a:rPr>
              <a:t>Luna</a:t>
            </a:r>
            <a:r>
              <a:rPr b="0" sz="1300">
                <a:solidFill>
                  <a:srgbClr val="F2F2F2"/>
                </a:solidFill>
                <a:latin typeface="Arial"/>
              </a:rPr>
              <a:t>, </a:t>
            </a:r>
            <a:r>
              <a:rPr sz="1300">
                <a:solidFill>
                  <a:srgbClr val="FFA24E"/>
                </a:solidFill>
                <a:latin typeface="Consolas"/>
              </a:rPr>
              <a:t>Oras</a:t>
            </a:r>
            <a:r>
              <a:rPr b="0" sz="1300">
                <a:solidFill>
                  <a:srgbClr val="F2F2F2"/>
                </a:solidFill>
                <a:latin typeface="Arial"/>
              </a:rPr>
              <a:t>, </a:t>
            </a:r>
            <a:r>
              <a:rPr sz="1300">
                <a:solidFill>
                  <a:srgbClr val="FFA24E"/>
                </a:solidFill>
                <a:latin typeface="Consolas"/>
              </a:rPr>
              <a:t>MetodaPlata</a:t>
            </a:r>
            <a:r>
              <a:rPr b="0" sz="1300">
                <a:solidFill>
                  <a:srgbClr val="F2F2F2"/>
                </a:solidFill>
                <a:latin typeface="Arial"/>
              </a:rPr>
              <a:t>, </a:t>
            </a:r>
            <a:r>
              <a:rPr sz="1300">
                <a:solidFill>
                  <a:srgbClr val="FFA24E"/>
                </a:solidFill>
                <a:latin typeface="Consolas"/>
              </a:rPr>
              <a:t>Loialitate</a:t>
            </a:r>
            <a:r>
              <a:rPr b="0" sz="1300">
                <a:solidFill>
                  <a:srgbClr val="F2F2F2"/>
                </a:solidFill>
                <a:latin typeface="Arial"/>
              </a:rPr>
              <a:t>, </a:t>
            </a:r>
            <a:r>
              <a:rPr sz="1300">
                <a:solidFill>
                  <a:srgbClr val="FFA24E"/>
                </a:solidFill>
                <a:latin typeface="Consolas"/>
              </a:rPr>
              <a:t>Canal</a:t>
            </a:r>
            <a:r>
              <a:rPr b="0" sz="1300">
                <a:solidFill>
                  <a:srgbClr val="F2F2F2"/>
                </a:solidFill>
                <a:latin typeface="Arial"/>
              </a:rPr>
              <a:t>, </a:t>
            </a:r>
            <a:r>
              <a:rPr sz="1300">
                <a:solidFill>
                  <a:srgbClr val="FFA24E"/>
                </a:solidFill>
                <a:latin typeface="Consolas"/>
              </a:rPr>
              <a:t>Revenue</a:t>
            </a:r>
            <a:r>
              <a:rPr b="0" sz="1300">
                <a:solidFill>
                  <a:srgbClr val="F2F2F2"/>
                </a:solidFill>
                <a:latin typeface="Arial"/>
              </a:rPr>
              <a:t>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L28 · Data Studio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«Dă-mi un dashboard viu, nu o poză» (Andrei)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26700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„Dashboard-ul din Excel era bun, dar a trebuit să-l fac captură de ecran ca să-l pun în mail — și a doua zi era deja vechi. Vreau un dashboard </a:t>
            </a:r>
            <a:r>
              <a:rPr b="1" sz="1500">
                <a:solidFill>
                  <a:srgbClr val="F2F2F2"/>
                </a:solidFill>
                <a:latin typeface="Arial"/>
              </a:rPr>
              <a:t>viu</a:t>
            </a:r>
            <a:r>
              <a:rPr b="0" sz="1500">
                <a:solidFill>
                  <a:srgbClr val="F2F2F2"/>
                </a:solidFill>
                <a:latin typeface="Arial"/>
              </a:rPr>
              <a:t>: un </a:t>
            </a:r>
            <a:r>
              <a:rPr b="1" sz="1500">
                <a:solidFill>
                  <a:srgbClr val="F2F2F2"/>
                </a:solidFill>
                <a:latin typeface="Arial"/>
              </a:rPr>
              <a:t>link</a:t>
            </a:r>
            <a:r>
              <a:rPr b="0" sz="1500">
                <a:solidFill>
                  <a:srgbClr val="F2F2F2"/>
                </a:solidFill>
                <a:latin typeface="Arial"/>
              </a:rPr>
              <a:t> pe care-l deschid oricând, mereu la zi, și pe care-l pot </a:t>
            </a:r>
            <a:r>
              <a:rPr b="1" sz="1500">
                <a:solidFill>
                  <a:srgbClr val="F2F2F2"/>
                </a:solidFill>
                <a:latin typeface="Arial"/>
              </a:rPr>
              <a:t>partaja</a:t>
            </a:r>
            <a:r>
              <a:rPr b="0" sz="1500">
                <a:solidFill>
                  <a:srgbClr val="F2F2F2"/>
                </a:solidFill>
                <a:latin typeface="Arial"/>
              </a:rPr>
              <a:t> cu board-ul. Aceleași cifre din septembrie — dar vii.”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590288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Deschizi </a:t>
            </a:r>
            <a:r>
              <a:rPr b="1" sz="1500">
                <a:solidFill>
                  <a:srgbClr val="F2F2F2"/>
                </a:solidFill>
                <a:latin typeface="Arial"/>
              </a:rPr>
              <a:t>Data Studio</a:t>
            </a:r>
            <a:r>
              <a:rPr b="0" sz="1500">
                <a:solidFill>
                  <a:srgbClr val="F2F2F2"/>
                </a:solidFill>
                <a:latin typeface="Arial"/>
              </a:rPr>
              <a:t> (📎 gratuit, cu contul tău Google). Aici nu desenezi o poză — </a:t>
            </a:r>
            <a:r>
              <a:rPr b="1" sz="1500">
                <a:solidFill>
                  <a:srgbClr val="F2F2F2"/>
                </a:solidFill>
                <a:latin typeface="Arial"/>
              </a:rPr>
              <a:t>conectezi</a:t>
            </a:r>
            <a:r>
              <a:rPr b="0" sz="1500">
                <a:solidFill>
                  <a:srgbClr val="F2F2F2"/>
                </a:solidFill>
                <a:latin typeface="Arial"/>
              </a:rPr>
              <a:t> datele o dată, iar dashboard-ul se calculează singur din ele.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L28 · Data Studio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ATENȚIE · ANTI-EXEMPLU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a pățit Ioana (a tastat cifrele)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Ioana a vrut un dashboard „rapid”: a pus o casetă de text mare și a </a:t>
            </a:r>
            <a:r>
              <a:rPr b="1" sz="1500">
                <a:solidFill>
                  <a:srgbClr val="F2F2F2"/>
                </a:solidFill>
                <a:latin typeface="Arial"/>
              </a:rPr>
              <a:t>scris în ea</a:t>
            </a:r>
            <a:r>
              <a:rPr b="0" sz="1500">
                <a:solidFill>
                  <a:srgbClr val="F2F2F2"/>
                </a:solidFill>
                <a:latin typeface="Arial"/>
              </a:rPr>
              <a:t> „Revenue septembrie: 1.126.418,50”, apoi încă câteva casete cu numerele din Excel. „Gata, am dashboard!”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30764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Greșit. Luna următoare, „dashboard-ul” arăta tot cifrele vechi — erau </a:t>
            </a:r>
            <a:r>
              <a:rPr b="1" sz="1400">
                <a:solidFill>
                  <a:srgbClr val="F2F2F2"/>
                </a:solidFill>
                <a:latin typeface="Arial"/>
              </a:rPr>
              <a:t>tastate</a:t>
            </a:r>
            <a:r>
              <a:rPr b="0" sz="1400">
                <a:solidFill>
                  <a:srgbClr val="F2F2F2"/>
                </a:solidFill>
                <a:latin typeface="Arial"/>
              </a:rPr>
              <a:t>, nu </a:t>
            </a:r>
            <a:r>
              <a:rPr b="1" sz="1400">
                <a:solidFill>
                  <a:srgbClr val="F2F2F2"/>
                </a:solidFill>
                <a:latin typeface="Arial"/>
              </a:rPr>
              <a:t>calculate</a:t>
            </a:r>
            <a:r>
              <a:rPr b="0" sz="1400">
                <a:solidFill>
                  <a:srgbClr val="F2F2F2"/>
                </a:solidFill>
                <a:latin typeface="Arial"/>
              </a:rPr>
              <a:t>. E o poză cu pași în plus. Un dashboard adevărat are </a:t>
            </a:r>
            <a:r>
              <a:rPr b="1" sz="1400">
                <a:solidFill>
                  <a:srgbClr val="F2F2F2"/>
                </a:solidFill>
                <a:latin typeface="Arial"/>
              </a:rPr>
              <a:t>scorecard-uri conectate la sursă</a:t>
            </a:r>
            <a:r>
              <a:rPr b="0" sz="1400">
                <a:solidFill>
                  <a:srgbClr val="F2F2F2"/>
                </a:solidFill>
                <a:latin typeface="Arial"/>
              </a:rPr>
              <a:t>, care recalculează singure.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L28 · Data Studio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 dashboard e o FEREASTRĂ vie spre 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Un dashboard din Excel (L19) e ca o </a:t>
            </a:r>
            <a:r>
              <a:rPr b="1" sz="1500">
                <a:solidFill>
                  <a:srgbClr val="F2F2F2"/>
                </a:solidFill>
                <a:latin typeface="Arial"/>
              </a:rPr>
              <a:t>fotografie</a:t>
            </a:r>
            <a:r>
              <a:rPr b="0" sz="1500">
                <a:solidFill>
                  <a:srgbClr val="F2F2F2"/>
                </a:solidFill>
                <a:latin typeface="Arial"/>
              </a:rPr>
              <a:t> a datelor la un moment dat — frumoasă, dar înghețată. Un dashboard Data Studio e ca o </a:t>
            </a:r>
            <a:r>
              <a:rPr b="1" sz="1500">
                <a:solidFill>
                  <a:srgbClr val="F2F2F2"/>
                </a:solidFill>
                <a:latin typeface="Arial"/>
              </a:rPr>
              <a:t>fereastră</a:t>
            </a:r>
            <a:r>
              <a:rPr b="0" sz="1500">
                <a:solidFill>
                  <a:srgbClr val="F2F2F2"/>
                </a:solidFill>
                <a:latin typeface="Arial"/>
              </a:rPr>
              <a:t>: te uiți prin ea la datele reale, iar când datele se schimbă, priveliștea se schimbă. Nu desenezi priveliștea — o </a:t>
            </a:r>
            <a:r>
              <a:rPr b="1" sz="1500">
                <a:solidFill>
                  <a:srgbClr val="F2F2F2"/>
                </a:solidFill>
                <a:latin typeface="Arial"/>
              </a:rPr>
              <a:t>arăți</a:t>
            </a:r>
            <a:r>
              <a:rPr b="0" sz="15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3658303"/>
          <a:ext cx="10874959" cy="1847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69417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Piesă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Ce 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Exemplu la noi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Sursă de date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de unde se uită fereastra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Google Sheet </a:t>
                      </a:r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orders_flat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Scorecard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un KPI, măsură + filtru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Revenue septembrie </a:t>
                      </a:r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1.126.418,50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Grafic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măsură pe dimensiune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Revenue pe </a:t>
                      </a:r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Luna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(valea)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20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Share (link)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livrarea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un link viu pentru board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L28 · Data Studio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DOUĂ NOȚIUNI-CHEIE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Măsură vs dimensiune · conectat, nu tastat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Măsură vs dimensiune.</a:t>
            </a:r>
            <a:r>
              <a:rPr b="0" sz="1500">
                <a:solidFill>
                  <a:srgbClr val="F2F2F2"/>
                </a:solidFill>
                <a:latin typeface="Arial"/>
              </a:rPr>
              <a:t> O </a:t>
            </a:r>
            <a:r>
              <a:rPr b="1" sz="1500">
                <a:solidFill>
                  <a:srgbClr val="F2F2F2"/>
                </a:solidFill>
                <a:latin typeface="Arial"/>
              </a:rPr>
              <a:t>măsură</a:t>
            </a:r>
            <a:r>
              <a:rPr b="0" sz="1500">
                <a:solidFill>
                  <a:srgbClr val="F2F2F2"/>
                </a:solidFill>
                <a:latin typeface="Arial"/>
              </a:rPr>
              <a:t> e un număr de agregat (</a:t>
            </a:r>
            <a:r>
              <a:rPr sz="1500">
                <a:solidFill>
                  <a:srgbClr val="FFA24E"/>
                </a:solidFill>
                <a:latin typeface="Consolas"/>
              </a:rPr>
              <a:t>Sum(Revenue)</a:t>
            </a:r>
            <a:r>
              <a:rPr b="0" sz="1500">
                <a:solidFill>
                  <a:srgbClr val="F2F2F2"/>
                </a:solidFill>
                <a:latin typeface="Arial"/>
              </a:rPr>
              <a:t>); o </a:t>
            </a:r>
            <a:r>
              <a:rPr b="1" sz="1500">
                <a:solidFill>
                  <a:srgbClr val="F2F2F2"/>
                </a:solidFill>
                <a:latin typeface="Arial"/>
              </a:rPr>
              <a:t>dimensiune</a:t>
            </a:r>
            <a:r>
              <a:rPr b="0" sz="1500">
                <a:solidFill>
                  <a:srgbClr val="F2F2F2"/>
                </a:solidFill>
                <a:latin typeface="Arial"/>
              </a:rPr>
              <a:t> e „pe ce” îl spargi (</a:t>
            </a:r>
            <a:r>
              <a:rPr sz="1500">
                <a:solidFill>
                  <a:srgbClr val="FFA24E"/>
                </a:solidFill>
                <a:latin typeface="Consolas"/>
              </a:rPr>
              <a:t>Luna</a:t>
            </a:r>
            <a:r>
              <a:rPr b="0" sz="1500">
                <a:solidFill>
                  <a:srgbClr val="F2F2F2"/>
                </a:solidFill>
                <a:latin typeface="Arial"/>
              </a:rPr>
              <a:t>, </a:t>
            </a:r>
            <a:r>
              <a:rPr sz="1500">
                <a:solidFill>
                  <a:srgbClr val="FFA24E"/>
                </a:solidFill>
                <a:latin typeface="Consolas"/>
              </a:rPr>
              <a:t>Oras</a:t>
            </a:r>
            <a:r>
              <a:rPr b="0" sz="1500">
                <a:solidFill>
                  <a:srgbClr val="F2F2F2"/>
                </a:solidFill>
                <a:latin typeface="Arial"/>
              </a:rPr>
              <a:t>). Scorecard = o măsură (+ filtru); grafic = o măsură </a:t>
            </a:r>
            <a:r>
              <a:rPr b="1" sz="1500">
                <a:solidFill>
                  <a:srgbClr val="F2F2F2"/>
                </a:solidFill>
                <a:latin typeface="Arial"/>
              </a:rPr>
              <a:t>pe</a:t>
            </a:r>
            <a:r>
              <a:rPr b="0" sz="1500">
                <a:solidFill>
                  <a:srgbClr val="F2F2F2"/>
                </a:solidFill>
                <a:latin typeface="Arial"/>
              </a:rPr>
              <a:t> o dimensiune — exact pivotul din L16/L24.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Conectat, nu tastat.</a:t>
            </a:r>
            <a:r>
              <a:rPr b="0" sz="1500">
                <a:solidFill>
                  <a:srgbClr val="F2F2F2"/>
                </a:solidFill>
                <a:latin typeface="Arial"/>
              </a:rPr>
              <a:t> Fiecare cifră vine din sursă. De-aia se actualizează singură — și de-aia nu tastezi numere (greșeala Ioanei).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L28 · Data Studio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DEMONSTRAȚIE · PAȘII 1–2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Conectezi datele + primul 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1" sz="1500">
                <a:solidFill>
                  <a:srgbClr val="F2F2F2"/>
                </a:solidFill>
                <a:latin typeface="Arial"/>
              </a:rPr>
              <a:t>Pas 1 — Conectezi:</a:t>
            </a:r>
            <a:r>
              <a:rPr b="0" sz="1500">
                <a:solidFill>
                  <a:srgbClr val="F2F2F2"/>
                </a:solidFill>
                <a:latin typeface="Arial"/>
              </a:rPr>
              <a:t> </a:t>
            </a:r>
            <a:r>
              <a:rPr sz="1500">
                <a:solidFill>
                  <a:srgbClr val="FFA24E"/>
                </a:solidFill>
                <a:latin typeface="Consolas"/>
              </a:rPr>
              <a:t>Create → Report</a:t>
            </a:r>
            <a:r>
              <a:rPr b="0" sz="1500">
                <a:solidFill>
                  <a:srgbClr val="F2F2F2"/>
                </a:solidFill>
                <a:latin typeface="Arial"/>
              </a:rPr>
              <a:t> → conectorul </a:t>
            </a:r>
            <a:r>
              <a:rPr b="1" sz="1500">
                <a:solidFill>
                  <a:srgbClr val="F2F2F2"/>
                </a:solidFill>
                <a:latin typeface="Arial"/>
              </a:rPr>
              <a:t>Google Sheets</a:t>
            </a:r>
            <a:r>
              <a:rPr b="0" sz="1500">
                <a:solidFill>
                  <a:srgbClr val="F2F2F2"/>
                </a:solidFill>
                <a:latin typeface="Arial"/>
              </a:rPr>
              <a:t> → </a:t>
            </a:r>
            <a:r>
              <a:rPr sz="1500">
                <a:solidFill>
                  <a:srgbClr val="FFA24E"/>
                </a:solidFill>
                <a:latin typeface="Consolas"/>
              </a:rPr>
              <a:t>RetailHub — orders_flat</a:t>
            </a:r>
            <a:r>
              <a:rPr b="0" sz="1500">
                <a:solidFill>
                  <a:srgbClr val="F2F2F2"/>
                </a:solidFill>
                <a:latin typeface="Arial"/>
              </a:rPr>
              <a:t> → </a:t>
            </a:r>
            <a:r>
              <a:rPr sz="1500">
                <a:solidFill>
                  <a:srgbClr val="FFA24E"/>
                </a:solidFill>
                <a:latin typeface="Consolas"/>
              </a:rPr>
              <a:t>Add</a:t>
            </a:r>
            <a:r>
              <a:rPr b="0" sz="1500">
                <a:solidFill>
                  <a:srgbClr val="F2F2F2"/>
                </a:solidFill>
                <a:latin typeface="Arial"/>
              </a:rPr>
              <a:t>. </a:t>
            </a:r>
            <a:r>
              <a:rPr b="1" sz="1500">
                <a:solidFill>
                  <a:srgbClr val="F2F2F2"/>
                </a:solidFill>
                <a:latin typeface="Arial"/>
              </a:rPr>
              <a:t>Pas 2 — Primul scorecard:</a:t>
            </a:r>
            <a:r>
              <a:rPr b="0" sz="1500">
                <a:solidFill>
                  <a:srgbClr val="F2F2F2"/>
                </a:solidFill>
                <a:latin typeface="Arial"/>
              </a:rPr>
              <a:t> </a:t>
            </a:r>
            <a:r>
              <a:rPr sz="1500">
                <a:solidFill>
                  <a:srgbClr val="FFA24E"/>
                </a:solidFill>
                <a:latin typeface="Consolas"/>
              </a:rPr>
              <a:t>Add a chart → Scorecard</a:t>
            </a:r>
            <a:r>
              <a:rPr b="0" sz="1500">
                <a:solidFill>
                  <a:srgbClr val="F2F2F2"/>
                </a:solidFill>
                <a:latin typeface="Arial"/>
              </a:rPr>
              <a:t>, Metric = </a:t>
            </a:r>
            <a:r>
              <a:rPr b="1" sz="1500">
                <a:solidFill>
                  <a:srgbClr val="F2F2F2"/>
                </a:solidFill>
                <a:latin typeface="Arial"/>
              </a:rPr>
              <a:t>`Revenue`</a:t>
            </a:r>
            <a:r>
              <a:rPr b="0" sz="1500">
                <a:solidFill>
                  <a:srgbClr val="F2F2F2"/>
                </a:solidFill>
                <a:latin typeface="Arial"/>
              </a:rPr>
              <a:t> (Sum); Default date range = </a:t>
            </a:r>
            <a:r>
              <a:rPr b="1" sz="1500">
                <a:solidFill>
                  <a:srgbClr val="F2F2F2"/>
                </a:solidFill>
                <a:latin typeface="Arial"/>
              </a:rPr>
              <a:t>1–30 sept. 2025</a:t>
            </a:r>
            <a:r>
              <a:rPr b="0" sz="15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🖥️ Un dreptunghi cu un singur număr mare: </a:t>
            </a:r>
            <a:r>
              <a:rPr b="1" sz="1400">
                <a:solidFill>
                  <a:srgbClr val="F2F2F2"/>
                </a:solidFill>
                <a:latin typeface="Arial"/>
              </a:rPr>
              <a:t>`1.126.418,50`</a:t>
            </a:r>
            <a:r>
              <a:rPr b="0" sz="1400">
                <a:solidFill>
                  <a:srgbClr val="F2F2F2"/>
                </a:solidFill>
                <a:latin typeface="Arial"/>
              </a:rPr>
              <a:t> — Revenue-ul din septembrie. Nu l-ai tastat — s-a </a:t>
            </a:r>
            <a:r>
              <a:rPr b="1" sz="1400">
                <a:solidFill>
                  <a:srgbClr val="F2F2F2"/>
                </a:solidFill>
                <a:latin typeface="Arial"/>
              </a:rPr>
              <a:t>calculat</a:t>
            </a:r>
            <a:r>
              <a:rPr b="0" sz="1400">
                <a:solidFill>
                  <a:srgbClr val="F2F2F2"/>
                </a:solidFill>
                <a:latin typeface="Arial"/>
              </a:rPr>
              <a:t> din cele </a:t>
            </a:r>
            <a:r>
              <a:rPr b="1" sz="1400">
                <a:solidFill>
                  <a:srgbClr val="F2F2F2"/>
                </a:solidFill>
                <a:latin typeface="Arial"/>
              </a:rPr>
              <a:t>454</a:t>
            </a:r>
            <a:r>
              <a:rPr b="0" sz="1400">
                <a:solidFill>
                  <a:srgbClr val="F2F2F2"/>
                </a:solidFill>
                <a:latin typeface="Arial"/>
              </a:rPr>
              <a:t> de comenzi. (Antidotul la greșeala Ioanei: un număr conectat, nu tastat.)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L28 · Data Studio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DEMONSTRAȚIE · PASUL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Comparațiile −14,9% și −31,0%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1" sz="1500">
                <a:solidFill>
                  <a:srgbClr val="F2F2F2"/>
                </a:solidFill>
                <a:latin typeface="Arial"/>
              </a:rPr>
              <a:t>Pas 3 — Comparațiile.</a:t>
            </a:r>
            <a:r>
              <a:rPr b="0" sz="1500">
                <a:solidFill>
                  <a:srgbClr val="F2F2F2"/>
                </a:solidFill>
                <a:latin typeface="Arial"/>
              </a:rPr>
              <a:t> Pe scorecard activezi </a:t>
            </a:r>
            <a:r>
              <a:rPr b="1" sz="1500">
                <a:solidFill>
                  <a:srgbClr val="F2F2F2"/>
                </a:solidFill>
                <a:latin typeface="Arial"/>
              </a:rPr>
              <a:t>Comparison date range → Fixed</a:t>
            </a:r>
            <a:r>
              <a:rPr b="0" sz="1500">
                <a:solidFill>
                  <a:srgbClr val="F2F2F2"/>
                </a:solidFill>
                <a:latin typeface="Arial"/>
              </a:rPr>
              <a:t>, setat pe </a:t>
            </a:r>
            <a:r>
              <a:rPr b="1" sz="1500">
                <a:solidFill>
                  <a:srgbClr val="F2F2F2"/>
                </a:solidFill>
                <a:latin typeface="Arial"/>
              </a:rPr>
              <a:t>1–31 aug. 2025</a:t>
            </a:r>
            <a:r>
              <a:rPr b="0" sz="1500">
                <a:solidFill>
                  <a:srgbClr val="F2F2F2"/>
                </a:solidFill>
                <a:latin typeface="Arial"/>
              </a:rPr>
              <a:t> → apare </a:t>
            </a:r>
            <a:r>
              <a:rPr b="1" sz="1500">
                <a:solidFill>
                  <a:srgbClr val="F2F2F2"/>
                </a:solidFill>
                <a:latin typeface="Arial"/>
              </a:rPr>
              <a:t>−14,9%</a:t>
            </a:r>
            <a:r>
              <a:rPr b="0" sz="1500">
                <a:solidFill>
                  <a:srgbClr val="F2F2F2"/>
                </a:solidFill>
                <a:latin typeface="Arial"/>
              </a:rPr>
              <a:t> (roșu). Un al doilea scorecard identic, comparație fixă </a:t>
            </a:r>
            <a:r>
              <a:rPr b="1" sz="1500">
                <a:solidFill>
                  <a:srgbClr val="F2F2F2"/>
                </a:solidFill>
                <a:latin typeface="Arial"/>
              </a:rPr>
              <a:t>1–30 sept. 2024</a:t>
            </a:r>
            <a:r>
              <a:rPr b="0" sz="1500">
                <a:solidFill>
                  <a:srgbClr val="F2F2F2"/>
                </a:solidFill>
                <a:latin typeface="Arial"/>
              </a:rPr>
              <a:t> → </a:t>
            </a:r>
            <a:r>
              <a:rPr b="1" sz="1500">
                <a:solidFill>
                  <a:srgbClr val="F2F2F2"/>
                </a:solidFill>
                <a:latin typeface="Arial"/>
              </a:rPr>
              <a:t>−31,0%</a:t>
            </a:r>
            <a:r>
              <a:rPr b="0" sz="15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8699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⚠️ NU folosi presetul „Previous period” — compară cu ultimele 30 de zile (2–31 aug.) și dă </a:t>
            </a:r>
            <a:r>
              <a:rPr b="1" sz="1300">
                <a:solidFill>
                  <a:srgbClr val="F2F2F2"/>
                </a:solidFill>
                <a:latin typeface="Arial"/>
              </a:rPr>
              <a:t>−12,7%</a:t>
            </a:r>
            <a:r>
              <a:rPr b="0" sz="1300">
                <a:solidFill>
                  <a:srgbClr val="F2F2F2"/>
                </a:solidFill>
                <a:latin typeface="Arial"/>
              </a:rPr>
              <a:t>, nu −14,9%. Pentru finding #1 (vs </a:t>
            </a:r>
            <a:r>
              <a:rPr b="1" sz="1300">
                <a:solidFill>
                  <a:srgbClr val="F2F2F2"/>
                </a:solidFill>
                <a:latin typeface="Arial"/>
              </a:rPr>
              <a:t>august întreg</a:t>
            </a:r>
            <a:r>
              <a:rPr b="0" sz="1300">
                <a:solidFill>
                  <a:srgbClr val="F2F2F2"/>
                </a:solidFill>
                <a:latin typeface="Arial"/>
              </a:rPr>
              <a:t>) alegi intervalul </a:t>
            </a:r>
            <a:r>
              <a:rPr b="1" sz="1300">
                <a:solidFill>
                  <a:srgbClr val="F2F2F2"/>
                </a:solidFill>
                <a:latin typeface="Arial"/>
              </a:rPr>
              <a:t>fix 1–31 august</a:t>
            </a:r>
            <a:r>
              <a:rPr b="0" sz="13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665411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Sub scorecard-uri, o casetă de context: </a:t>
            </a:r>
            <a:r>
              <a:rPr b="1" sz="1500">
                <a:solidFill>
                  <a:srgbClr val="F2F2F2"/>
                </a:solidFill>
                <a:latin typeface="Arial"/>
              </a:rPr>
              <a:t>Pe tot anul: Revenue `37.878.974,89` · `14.968` comenzi · AOV `2.530,66`.</a:t>
            </a:r>
            <a:r>
              <a:rPr b="0" sz="1500">
                <a:solidFill>
                  <a:srgbClr val="F2F2F2"/>
                </a:solidFill>
                <a:latin typeface="Arial"/>
              </a:rPr>
              <a:t> ✅ −14,9% și −31,0% apar automat; nu le tastezi.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L28 · Data Studio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DEMONSTRAȚIE · PASUL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Graficul lunar (valea din septembrie)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1" sz="1500">
                <a:solidFill>
                  <a:srgbClr val="F2F2F2"/>
                </a:solidFill>
                <a:latin typeface="Arial"/>
              </a:rPr>
              <a:t>Pas 4 — Graficul lunar.</a:t>
            </a:r>
            <a:r>
              <a:rPr b="0" sz="1500">
                <a:solidFill>
                  <a:srgbClr val="F2F2F2"/>
                </a:solidFill>
                <a:latin typeface="Arial"/>
              </a:rPr>
              <a:t> </a:t>
            </a:r>
            <a:r>
              <a:rPr sz="1500">
                <a:solidFill>
                  <a:srgbClr val="FFA24E"/>
                </a:solidFill>
                <a:latin typeface="Consolas"/>
              </a:rPr>
              <a:t>Add a chart → Time series</a:t>
            </a:r>
            <a:r>
              <a:rPr b="0" sz="1500">
                <a:solidFill>
                  <a:srgbClr val="F2F2F2"/>
                </a:solidFill>
                <a:latin typeface="Arial"/>
              </a:rPr>
              <a:t> (sau </a:t>
            </a:r>
            <a:r>
              <a:rPr b="1" sz="1500">
                <a:solidFill>
                  <a:srgbClr val="F2F2F2"/>
                </a:solidFill>
                <a:latin typeface="Arial"/>
              </a:rPr>
              <a:t>Column</a:t>
            </a:r>
            <a:r>
              <a:rPr b="0" sz="1500">
                <a:solidFill>
                  <a:srgbClr val="F2F2F2"/>
                </a:solidFill>
                <a:latin typeface="Arial"/>
              </a:rPr>
              <a:t>). Dimension = </a:t>
            </a:r>
            <a:r>
              <a:rPr sz="1500">
                <a:solidFill>
                  <a:srgbClr val="FFA24E"/>
                </a:solidFill>
                <a:latin typeface="Consolas"/>
              </a:rPr>
              <a:t>Luna</a:t>
            </a:r>
            <a:r>
              <a:rPr b="0" sz="1500">
                <a:solidFill>
                  <a:srgbClr val="F2F2F2"/>
                </a:solidFill>
                <a:latin typeface="Arial"/>
              </a:rPr>
              <a:t>; Metric = </a:t>
            </a:r>
            <a:r>
              <a:rPr b="1" sz="1500">
                <a:solidFill>
                  <a:srgbClr val="F2F2F2"/>
                </a:solidFill>
                <a:latin typeface="Arial"/>
              </a:rPr>
              <a:t>`Revenue`</a:t>
            </a:r>
            <a:r>
              <a:rPr b="0" sz="1500">
                <a:solidFill>
                  <a:srgbClr val="F2F2F2"/>
                </a:solidFill>
                <a:latin typeface="Arial"/>
              </a:rPr>
              <a:t> (Sum); </a:t>
            </a:r>
            <a:r>
              <a:rPr sz="1500">
                <a:solidFill>
                  <a:srgbClr val="FFA24E"/>
                </a:solidFill>
                <a:latin typeface="Consolas"/>
              </a:rPr>
              <a:t>Add filter → An = 2025</a:t>
            </a:r>
            <a:r>
              <a:rPr b="0" sz="1500">
                <a:solidFill>
                  <a:srgbClr val="F2F2F2"/>
                </a:solidFill>
                <a:latin typeface="Arial"/>
              </a:rPr>
              <a:t>; sortează după </a:t>
            </a:r>
            <a:r>
              <a:rPr sz="1500">
                <a:solidFill>
                  <a:srgbClr val="FFA24E"/>
                </a:solidFill>
                <a:latin typeface="Consolas"/>
              </a:rPr>
              <a:t>Luna</a:t>
            </a:r>
            <a:r>
              <a:rPr b="0" sz="15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30764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🖥️ 12 coloane (lunile lui 2025), cu </a:t>
            </a:r>
            <a:r>
              <a:rPr b="1" sz="1400">
                <a:solidFill>
                  <a:srgbClr val="F2F2F2"/>
                </a:solidFill>
                <a:latin typeface="Arial"/>
              </a:rPr>
              <a:t>septembrie în vale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1.126.418,50</a:t>
            </a:r>
            <a:r>
              <a:rPr b="0" sz="1400">
                <a:solidFill>
                  <a:srgbClr val="F2F2F2"/>
                </a:solidFill>
                <a:latin typeface="Arial"/>
              </a:rPr>
              <a:t>), lângă august (</a:t>
            </a:r>
            <a:r>
              <a:rPr sz="1400">
                <a:solidFill>
                  <a:srgbClr val="FFA24E"/>
                </a:solidFill>
                <a:latin typeface="Consolas"/>
              </a:rPr>
              <a:t>1.324.375,59</a:t>
            </a:r>
            <a:r>
              <a:rPr b="0" sz="1400">
                <a:solidFill>
                  <a:srgbClr val="F2F2F2"/>
                </a:solidFill>
                <a:latin typeface="Arial"/>
              </a:rPr>
              <a:t>) și octombrie care revine (</a:t>
            </a:r>
            <a:r>
              <a:rPr sz="1400">
                <a:solidFill>
                  <a:srgbClr val="FFA24E"/>
                </a:solidFill>
                <a:latin typeface="Consolas"/>
              </a:rPr>
              <a:t>1.504.317,69</a:t>
            </a:r>
            <a:r>
              <a:rPr b="0" sz="1400">
                <a:solidFill>
                  <a:srgbClr val="F2F2F2"/>
                </a:solidFill>
                <a:latin typeface="Arial"/>
              </a:rPr>
              <a:t>). ✅ </a:t>
            </a:r>
            <a:r>
              <a:rPr b="1" sz="1400">
                <a:solidFill>
                  <a:srgbClr val="F2F2F2"/>
                </a:solidFill>
                <a:latin typeface="Arial"/>
              </a:rPr>
              <a:t>Axa Y de la 0</a:t>
            </a:r>
            <a:r>
              <a:rPr b="0" sz="1400">
                <a:solidFill>
                  <a:srgbClr val="F2F2F2"/>
                </a:solidFill>
                <a:latin typeface="Arial"/>
              </a:rPr>
              <a:t> — regulă de onestitate, ecou L18. Titlu: „Revenue pe lună (2025) — valea din septembrie”.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L28 · Data Studio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DEMONSTRAȚIE · PASUL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Graficul pe oraș (Cluj ultimul)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1" sz="1500">
                <a:solidFill>
                  <a:srgbClr val="F2F2F2"/>
                </a:solidFill>
                <a:latin typeface="Arial"/>
              </a:rPr>
              <a:t>Pas 5 — Graficul pe oraș.</a:t>
            </a:r>
            <a:r>
              <a:rPr b="0" sz="1500">
                <a:solidFill>
                  <a:srgbClr val="F2F2F2"/>
                </a:solidFill>
                <a:latin typeface="Arial"/>
              </a:rPr>
              <a:t> </a:t>
            </a:r>
            <a:r>
              <a:rPr sz="1500">
                <a:solidFill>
                  <a:srgbClr val="FFA24E"/>
                </a:solidFill>
                <a:latin typeface="Consolas"/>
              </a:rPr>
              <a:t>Add a chart → Bar chart</a:t>
            </a:r>
            <a:r>
              <a:rPr b="0" sz="1500">
                <a:solidFill>
                  <a:srgbClr val="F2F2F2"/>
                </a:solidFill>
                <a:latin typeface="Arial"/>
              </a:rPr>
              <a:t>. Dimension = </a:t>
            </a:r>
            <a:r>
              <a:rPr sz="1500">
                <a:solidFill>
                  <a:srgbClr val="FFA24E"/>
                </a:solidFill>
                <a:latin typeface="Consolas"/>
              </a:rPr>
              <a:t>Oras</a:t>
            </a:r>
            <a:r>
              <a:rPr b="0" sz="1500">
                <a:solidFill>
                  <a:srgbClr val="F2F2F2"/>
                </a:solidFill>
                <a:latin typeface="Arial"/>
              </a:rPr>
              <a:t>; Metric = </a:t>
            </a:r>
            <a:r>
              <a:rPr b="1" sz="1500">
                <a:solidFill>
                  <a:srgbClr val="F2F2F2"/>
                </a:solidFill>
                <a:latin typeface="Arial"/>
              </a:rPr>
              <a:t>`Revenue`</a:t>
            </a:r>
            <a:r>
              <a:rPr b="0" sz="1500">
                <a:solidFill>
                  <a:srgbClr val="F2F2F2"/>
                </a:solidFill>
                <a:latin typeface="Arial"/>
              </a:rPr>
              <a:t> (Sum); sortare descrescătoare.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3076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🖥️ 8 bare — </a:t>
            </a:r>
            <a:r>
              <a:rPr b="1" sz="1400">
                <a:solidFill>
                  <a:srgbClr val="F2F2F2"/>
                </a:solidFill>
                <a:latin typeface="Arial"/>
              </a:rPr>
              <a:t>București `7.535.215,95`</a:t>
            </a:r>
            <a:r>
              <a:rPr b="0" sz="1400">
                <a:solidFill>
                  <a:srgbClr val="F2F2F2"/>
                </a:solidFill>
                <a:latin typeface="Arial"/>
              </a:rPr>
              <a:t> prima, </a:t>
            </a:r>
            <a:r>
              <a:rPr b="1" sz="1400">
                <a:solidFill>
                  <a:srgbClr val="F2F2F2"/>
                </a:solidFill>
                <a:latin typeface="Arial"/>
              </a:rPr>
              <a:t>Cluj-Napoca `1.987.932,42`</a:t>
            </a:r>
            <a:r>
              <a:rPr b="0" sz="1400">
                <a:solidFill>
                  <a:srgbClr val="F2F2F2"/>
                </a:solidFill>
                <a:latin typeface="Arial"/>
              </a:rPr>
              <a:t> ultima (ecou L16/L24, acum viu). Titlu: „Revenue pe oraș”.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L28 · Data Studio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DEMONSTRAȚIE · PASUL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Decizia + publicare (linkul viu)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1" sz="1500">
                <a:solidFill>
                  <a:srgbClr val="F2F2F2"/>
                </a:solidFill>
                <a:latin typeface="Arial"/>
              </a:rPr>
              <a:t>Pas 6 — Decizia + publicare.</a:t>
            </a:r>
            <a:r>
              <a:rPr b="0" sz="1500">
                <a:solidFill>
                  <a:srgbClr val="F2F2F2"/>
                </a:solidFill>
                <a:latin typeface="Arial"/>
              </a:rPr>
              <a:t> Adaugi o casetă evidențiată: </a:t>
            </a:r>
            <a:r>
              <a:rPr b="1" sz="1500">
                <a:solidFill>
                  <a:srgbClr val="F2F2F2"/>
                </a:solidFill>
                <a:latin typeface="Arial"/>
              </a:rPr>
              <a:t>„Decizie: reaprovizionare Accessories premium + campanie pe SMS/Google/Facebook”</a:t>
            </a:r>
            <a:r>
              <a:rPr b="0" sz="1500">
                <a:solidFill>
                  <a:srgbClr val="F2F2F2"/>
                </a:solidFill>
                <a:latin typeface="Arial"/>
              </a:rPr>
              <a:t> (ecou L27). Apoi </a:t>
            </a:r>
            <a:r>
              <a:rPr sz="1500">
                <a:solidFill>
                  <a:srgbClr val="FFA24E"/>
                </a:solidFill>
                <a:latin typeface="Consolas"/>
              </a:rPr>
              <a:t>Share → Anyone with the link → Viewer</a:t>
            </a:r>
            <a:r>
              <a:rPr b="0" sz="1500">
                <a:solidFill>
                  <a:srgbClr val="F2F2F2"/>
                </a:solidFill>
                <a:latin typeface="Arial"/>
              </a:rPr>
              <a:t> → copiezi linkul.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🖥️ Un link </a:t>
            </a:r>
            <a:r>
              <a:rPr b="1" sz="1400">
                <a:solidFill>
                  <a:srgbClr val="F2F2F2"/>
                </a:solidFill>
                <a:latin typeface="Arial"/>
              </a:rPr>
              <a:t>partajabil</a:t>
            </a:r>
            <a:r>
              <a:rPr b="0" sz="1400">
                <a:solidFill>
                  <a:srgbClr val="F2F2F2"/>
                </a:solidFill>
                <a:latin typeface="Arial"/>
              </a:rPr>
              <a:t>. ✅ Deschide-l incognito — se vede dashboard-ul, la zi. Schimbi o cifră în Google Sheet + </a:t>
            </a:r>
            <a:r>
              <a:rPr sz="1400">
                <a:solidFill>
                  <a:srgbClr val="FFA24E"/>
                </a:solidFill>
                <a:latin typeface="Consolas"/>
              </a:rPr>
              <a:t>Refresh</a:t>
            </a:r>
            <a:r>
              <a:rPr b="0" sz="1400">
                <a:solidFill>
                  <a:srgbClr val="F2F2F2"/>
                </a:solidFill>
                <a:latin typeface="Arial"/>
              </a:rPr>
              <a:t> → scorecard-ul se actualizează </a:t>
            </a:r>
            <a:r>
              <a:rPr b="1" sz="1400">
                <a:solidFill>
                  <a:srgbClr val="F2F2F2"/>
                </a:solidFill>
                <a:latin typeface="Arial"/>
              </a:rPr>
              <a:t>singur</a:t>
            </a:r>
            <a:r>
              <a:rPr b="0" sz="1400">
                <a:solidFill>
                  <a:srgbClr val="F2F2F2"/>
                </a:solidFill>
                <a:latin typeface="Arial"/>
              </a:rPr>
              <a:t>. </a:t>
            </a:r>
            <a:r>
              <a:rPr b="1" sz="1400">
                <a:solidFill>
                  <a:srgbClr val="F2F2F2"/>
                </a:solidFill>
                <a:latin typeface="Arial"/>
              </a:rPr>
              <a:t>Ăsta e „viu”.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L28 · Data Studio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 CE CONTEAZĂ · GREȘELI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Greșelile de junior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Tastezi cifrele</a:t>
            </a:r>
            <a:r>
              <a:rPr b="0" sz="1400">
                <a:solidFill>
                  <a:srgbClr val="F2F2F2"/>
                </a:solidFill>
                <a:latin typeface="Arial"/>
              </a:rPr>
              <a:t> în loc să le conectezi (greșeala Ioanei) → fiecare cifră = un scorecard/grafic </a:t>
            </a:r>
            <a:r>
              <a:rPr b="1" sz="1400">
                <a:solidFill>
                  <a:srgbClr val="F2F2F2"/>
                </a:solidFill>
                <a:latin typeface="Arial"/>
              </a:rPr>
              <a:t>conectat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Uiți filtrul</a:t>
            </a:r>
            <a:r>
              <a:rPr b="0" sz="1400">
                <a:solidFill>
                  <a:srgbClr val="F2F2F2"/>
                </a:solidFill>
                <a:latin typeface="Arial"/>
              </a:rPr>
              <a:t> pe scorecard → arată Revenue-ul </a:t>
            </a:r>
            <a:r>
              <a:rPr b="1" sz="1400">
                <a:solidFill>
                  <a:srgbClr val="F2F2F2"/>
                </a:solidFill>
                <a:latin typeface="Arial"/>
              </a:rPr>
              <a:t>total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37.878.974,89</a:t>
            </a:r>
            <a:r>
              <a:rPr b="0" sz="1400">
                <a:solidFill>
                  <a:srgbClr val="F2F2F2"/>
                </a:solidFill>
                <a:latin typeface="Arial"/>
              </a:rPr>
              <a:t>), nu septembrie. KPI = măsură </a:t>
            </a:r>
            <a:r>
              <a:rPr b="1" sz="1400">
                <a:solidFill>
                  <a:srgbClr val="F2F2F2"/>
                </a:solidFill>
                <a:latin typeface="Arial"/>
              </a:rPr>
              <a:t>+ filtru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Confunzi măsura cu dimensiunea</a:t>
            </a:r>
            <a:r>
              <a:rPr b="0" sz="1400">
                <a:solidFill>
                  <a:srgbClr val="F2F2F2"/>
                </a:solidFill>
                <a:latin typeface="Arial"/>
              </a:rPr>
              <a:t> → dimensiune = „pe ce” (</a:t>
            </a:r>
            <a:r>
              <a:rPr sz="1400">
                <a:solidFill>
                  <a:srgbClr val="FFA24E"/>
                </a:solidFill>
                <a:latin typeface="Consolas"/>
              </a:rPr>
              <a:t>Oras</a:t>
            </a:r>
            <a:r>
              <a:rPr b="0" sz="1400">
                <a:solidFill>
                  <a:srgbClr val="F2F2F2"/>
                </a:solidFill>
                <a:latin typeface="Arial"/>
              </a:rPr>
              <a:t>, </a:t>
            </a:r>
            <a:r>
              <a:rPr sz="1400">
                <a:solidFill>
                  <a:srgbClr val="FFA24E"/>
                </a:solidFill>
                <a:latin typeface="Consolas"/>
              </a:rPr>
              <a:t>Luna</a:t>
            </a:r>
            <a:r>
              <a:rPr b="0" sz="1400">
                <a:solidFill>
                  <a:srgbClr val="F2F2F2"/>
                </a:solidFill>
                <a:latin typeface="Arial"/>
              </a:rPr>
              <a:t>); măsură = numărul (</a:t>
            </a:r>
            <a:r>
              <a:rPr sz="1400">
                <a:solidFill>
                  <a:srgbClr val="FFA24E"/>
                </a:solidFill>
                <a:latin typeface="Consolas"/>
              </a:rPr>
              <a:t>Revenue</a:t>
            </a:r>
            <a:r>
              <a:rPr b="0" sz="1400">
                <a:solidFill>
                  <a:srgbClr val="F2F2F2"/>
                </a:solidFill>
                <a:latin typeface="Arial"/>
              </a:rPr>
              <a:t>, Sum).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Un dashboard care nu se poate partaja</a:t>
            </a:r>
            <a:r>
              <a:rPr b="0" sz="1400">
                <a:solidFill>
                  <a:srgbClr val="F2F2F2"/>
                </a:solidFill>
                <a:latin typeface="Arial"/>
              </a:rPr>
              <a:t> → </a:t>
            </a:r>
            <a:r>
              <a:rPr sz="1400">
                <a:solidFill>
                  <a:srgbClr val="FFA24E"/>
                </a:solidFill>
                <a:latin typeface="Consolas"/>
              </a:rPr>
              <a:t>Share → Anyone with the link</a:t>
            </a:r>
            <a:r>
              <a:rPr b="0" sz="1400">
                <a:solidFill>
                  <a:srgbClr val="F2F2F2"/>
                </a:solidFill>
                <a:latin typeface="Arial"/>
              </a:rPr>
              <a:t> — asta e toată valoarea: un link viu.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L28 · Data Studio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Milestone: dashboard-ul din septembrie, viu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Un dashboard Data Studio e o </a:t>
            </a:r>
            <a:r>
              <a:rPr b="1" sz="1400">
                <a:solidFill>
                  <a:srgbClr val="F2F2F2"/>
                </a:solidFill>
                <a:latin typeface="Arial"/>
              </a:rPr>
              <a:t>fereastră vie</a:t>
            </a:r>
            <a:r>
              <a:rPr b="0" sz="1400">
                <a:solidFill>
                  <a:srgbClr val="F2F2F2"/>
                </a:solidFill>
                <a:latin typeface="Arial"/>
              </a:rPr>
              <a:t> spre o sursă conectată — se calculează singur, nu se tastează.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Un </a:t>
            </a:r>
            <a:r>
              <a:rPr b="1" sz="1400">
                <a:solidFill>
                  <a:srgbClr val="F2F2F2"/>
                </a:solidFill>
                <a:latin typeface="Arial"/>
              </a:rPr>
              <a:t>scorecard</a:t>
            </a:r>
            <a:r>
              <a:rPr b="0" sz="1400">
                <a:solidFill>
                  <a:srgbClr val="F2F2F2"/>
                </a:solidFill>
                <a:latin typeface="Arial"/>
              </a:rPr>
              <a:t> = o măsură (+ filtru); un </a:t>
            </a:r>
            <a:r>
              <a:rPr b="1" sz="1400">
                <a:solidFill>
                  <a:srgbClr val="F2F2F2"/>
                </a:solidFill>
                <a:latin typeface="Arial"/>
              </a:rPr>
              <a:t>grafic</a:t>
            </a:r>
            <a:r>
              <a:rPr b="0" sz="1400">
                <a:solidFill>
                  <a:srgbClr val="F2F2F2"/>
                </a:solidFill>
                <a:latin typeface="Arial"/>
              </a:rPr>
              <a:t> = o măsură </a:t>
            </a:r>
            <a:r>
              <a:rPr b="1" sz="1400">
                <a:solidFill>
                  <a:srgbClr val="F2F2F2"/>
                </a:solidFill>
                <a:latin typeface="Arial"/>
              </a:rPr>
              <a:t>pe</a:t>
            </a:r>
            <a:r>
              <a:rPr b="0" sz="1400">
                <a:solidFill>
                  <a:srgbClr val="F2F2F2"/>
                </a:solidFill>
                <a:latin typeface="Arial"/>
              </a:rPr>
              <a:t> o dimensiune (dimensiune + măsură, ca pivotul).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Conectat, nu tastat</a:t>
            </a:r>
            <a:r>
              <a:rPr b="0" sz="1400">
                <a:solidFill>
                  <a:srgbClr val="F2F2F2"/>
                </a:solidFill>
                <a:latin typeface="Arial"/>
              </a:rPr>
              <a:t> — de-aia se actualizează singur (antidotul la greșeala Ioanei).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Valoarea Data Studio = </a:t>
            </a:r>
            <a:r>
              <a:rPr b="1" sz="1400">
                <a:solidFill>
                  <a:srgbClr val="F2F2F2"/>
                </a:solidFill>
                <a:latin typeface="Arial"/>
              </a:rPr>
              <a:t>viu + partajabil</a:t>
            </a:r>
            <a:r>
              <a:rPr b="0" sz="1400">
                <a:solidFill>
                  <a:srgbClr val="F2F2F2"/>
                </a:solidFill>
                <a:latin typeface="Arial"/>
              </a:rPr>
              <a:t>: un link mereu la zi, nu o captură învechită.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8699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MILESTONE: dashboard-ul din septembrie, viu în Data Studio (Revenue </a:t>
            </a:r>
            <a:r>
              <a:rPr sz="1300">
                <a:solidFill>
                  <a:srgbClr val="FFA24E"/>
                </a:solidFill>
                <a:latin typeface="Consolas"/>
              </a:rPr>
              <a:t>1.126.418,50</a:t>
            </a:r>
            <a:r>
              <a:rPr b="0" sz="1300">
                <a:solidFill>
                  <a:srgbClr val="F2F2F2"/>
                </a:solidFill>
                <a:latin typeface="Arial"/>
              </a:rPr>
              <a:t>, −14,9%, −31,0%, valea, Cluj ultimul, decizia). Punte → </a:t>
            </a:r>
            <a:r>
              <a:rPr b="1" sz="1300">
                <a:solidFill>
                  <a:srgbClr val="F2F2F2"/>
                </a:solidFill>
                <a:latin typeface="Arial"/>
              </a:rPr>
              <a:t>L29:</a:t>
            </a:r>
            <a:r>
              <a:rPr b="0" sz="1300">
                <a:solidFill>
                  <a:srgbClr val="F2F2F2"/>
                </a:solidFill>
                <a:latin typeface="Arial"/>
              </a:rPr>
              <a:t> îl faci să </a:t>
            </a:r>
            <a:r>
              <a:rPr b="1" sz="1300">
                <a:solidFill>
                  <a:srgbClr val="F2F2F2"/>
                </a:solidFill>
                <a:latin typeface="Arial"/>
              </a:rPr>
              <a:t>comunice</a:t>
            </a:r>
            <a:r>
              <a:rPr b="0" sz="1300">
                <a:solidFill>
                  <a:srgbClr val="F2F2F2"/>
                </a:solidFill>
                <a:latin typeface="Arial"/>
              </a:rPr>
              <a:t> — Findings → Insights → Recommendations.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L28 · Data Studio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L28 · Data Studio  ·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