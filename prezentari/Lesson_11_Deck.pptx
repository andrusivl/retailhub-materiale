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Prima lecție cu Excel din tot cursul. Până acum au gândit ca analiști fără să atingă tool-ul: au pus întrebarea (Modulul 1) și au validat datele (Modulul 2). Azi deschid, pentru prima oară, datele reale în Excel — și învață prima mișcare profesionistă: transformă un range brut într-un Excel Table (Ctrl+T). Fișierul L11_orders_starter.xlsx e deja pregătit.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Legăm de Modulul 2. Au pus întrebarea și, mai ales, au validat datele: corecte ȘI suficiente. Pentru investigația Elenei (scăderea de Revenue din septembrie 2025), datele sunt în orders. Dar până acum totul a trăit pe hârtie — n-au atins încă tool-ul. Azi se schimbă: prima oară deschid datele reale în Excel.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 din §1. Nu calculăm încă nimic de analiză — formulele vin în L13, pivoturile în L16. Azi pregătim terenul și înțelegem de ce contează. Plantează ideea centrală de la final: prima mișcare e Ctrl+T.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de setup — patru cuvinte ca să vorbim aceeași limbă tot modulul (§5). Deschidem L11_orders_starter.xlsx. Fila orders E grila din Modulul 2: rânduri = comenzi, coloane = ce înregistrăm, celula = o informație. Excel nu schimbă ce SUNT datele — doar îți dă unelte peste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 narativ (§2). E luni dimineață. Andrei trimite fișierul: orders, 14.968 de comenzi, exportate curat. Tentația e uriașă să te apuci imediat de sortat. Rezistă — mai întâi, o poveste de o zi mai devreme (Ioana).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 lecției (§3). Ioana a dat click pe litera coloanei TotalAmount (deci a selectat DOAR acea coloană), a apăsat Sort Descending, iar la întrebarea „Continue with the current selection?” a apăsat Enter fără să citească. A sortat doar acea coloană. Acum fiecare rând e o minciună — valori amestecate între comenzi diferite. A pierdut o oră. Aici e curiozitatea: există o formă a datelor în care greșeala asta NU se poate întâmpla.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centrală (§6). Un bucătar profesionist își pune ingredientele în boluri etichetate — mise en place — ÎNAINTE să înceapă. Un Excel Table e mise en place-ul datelor. Un range brut și un Table arată aproape la fel pe ecran; diferența e ce poți face cu ele fără să te tai.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Aprofundează ideea de referință structurată (§6 stratul 2). Un Table are un nume (tblOrders) și nume de coloane ([TotalAmount]). Când vei scrie o formulă (L13), scrii SUM(tblOrders[TotalAmount]) — se citește ca o propoziție, nu ca un cod de coordonate. Și, spre deosebire de D2:D14969, referința structurată urmărește coloana: dacă mâine sunt 15.500 de comenzi, se extinde singură.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Demonstrația, Pașii 1–3 (§7). Pasul 1: click pe fila orders, vezi un range brut (antet pe rândul 1, 14.968 de rânduri). Pasul 2: selectezi O SINGURĂ celulă din date (A2), nu toată coloana — Excel prinde singur tot blocul. Pasul 3: Ctrl+T; se deschide „Create Table”, Excel a ghicit intervalul și a bifat „My table has headers”. OK. Fă-le și tu în paralel.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Pașii 4–5 (§7). Pasul 4: cu tabelul selectat, tab-ul Table Design (pe Mac: Table), câmpul Table Name — scrie tblOrders, Enter. Un nume clar, fără spații, pe care îl vei folosi în formule. Pasul 5: tot în Table Design, bifează Total Row — apare un rând nou, jos de tot, sub ultima comandă.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6 (§7) — momentul de plată. În rândul de total, sub OrderID, click → alege Count (câte rânduri/comenzi). Sub TotalAmount, click → alege Sum (Revenue total). În două click-uri și zero formule: 14.968 de comenzi și Revenue total 37.878.974,89, adică ≈ 37,88 milioane lei pe toată perioada (2024–2025). Astea sunt reperele de orientare — orice cifră de analiză de mai încolo trebuie să „încapă” sub 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Pasul 7 (§7) — observația care contează. Coloana StoreID are valorile 1, 2, 3 … 8. NU scrie „Cluj-Napoca”. În datele reale, magazinul e un cod, nu un nume — exact ce ziceam în Modulul 6: StoreID e o etichetă, nu o cantitate, n-o aduni. Numele orașului stă în alt tabel, stores: acolo StoreID 2 = Cluj-Napoca, magazinul slab din povestea Elenei. Cum legi automat codul de oraș înveți în L15, la lookups.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patru greșeli (§11) — elicitează, mai ales prima. Fă-ți din Ctrl+T un reflex: e prima apăsare în orice fișier nou. Denumește tabelul imediat. Nu trata StoreID ca pe un număr — e o etichetă, pe ea grupezi. Și nu confunda un reper cu un răspuns: 37,88 mil. e totalul pe doi ani, nu septembrie.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 (§12/§14). Prima mișcare de analist e să faci datele un Table și să-l denumești. Un Table = sortare sigură, nume în loc de coordonate, se extinde singur, Total Row dintr-un click. Reperele (14.968, 37,88 mil.) sunt context, nu răspunsul Elenei. Și în datele reale StoreID e un cod — orașul stă în stores. Din L12 începi să cureți: exportul real nu e mereu curat ca ăsta.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3 · LECȚIA 11 · PRIMA LECȚIE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Excel pentru analiști — dai structură datelor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Excel → Answer. Azi: așezi masa (Excel Tables).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9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(Modulul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pus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întrebarea de business</a:t>
            </a:r>
            <a:r>
              <a:rPr b="0" sz="1500">
                <a:solidFill>
                  <a:srgbClr val="F2F2F2"/>
                </a:solidFill>
                <a:latin typeface="Arial"/>
              </a:rPr>
              <a:t> (Modulul 1) și ai construit Decision Tree-ul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înțeles și ai </a:t>
            </a:r>
            <a:r>
              <a:rPr b="1" sz="1500">
                <a:solidFill>
                  <a:srgbClr val="F2F2F2"/>
                </a:solidFill>
                <a:latin typeface="Arial"/>
              </a:rPr>
              <a:t>validat</a:t>
            </a:r>
            <a:r>
              <a:rPr b="0" sz="1500">
                <a:solidFill>
                  <a:srgbClr val="F2F2F2"/>
                </a:solidFill>
                <a:latin typeface="Arial"/>
              </a:rPr>
              <a:t> datele: </a:t>
            </a:r>
            <a:r>
              <a:rPr b="1" sz="1500">
                <a:solidFill>
                  <a:srgbClr val="F2F2F2"/>
                </a:solidFill>
                <a:latin typeface="Arial"/>
              </a:rPr>
              <a:t>corecte ȘI suficiente</a:t>
            </a:r>
            <a:r>
              <a:rPr b="0" sz="1500">
                <a:solidFill>
                  <a:srgbClr val="F2F2F2"/>
                </a:solidFill>
                <a:latin typeface="Arial"/>
              </a:rPr>
              <a:t> (L10)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Datele investigației sunt în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— verificate, gata de folosit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Dar totul a trăit </a:t>
            </a:r>
            <a:r>
              <a:rPr b="1" sz="1500">
                <a:solidFill>
                  <a:srgbClr val="F2F2F2"/>
                </a:solidFill>
                <a:latin typeface="Arial"/>
              </a:rPr>
              <a:t>pe hârtie</a:t>
            </a:r>
            <a:r>
              <a:rPr b="0" sz="1500">
                <a:solidFill>
                  <a:srgbClr val="F2F2F2"/>
                </a:solidFill>
                <a:latin typeface="Arial"/>
              </a:rPr>
              <a:t> — n-ai atins încă tool-ul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deschizi, pentru </a:t>
            </a:r>
            <a:r>
              <a:rPr b="1" sz="1400">
                <a:solidFill>
                  <a:srgbClr val="F2F2F2"/>
                </a:solidFill>
                <a:latin typeface="Arial"/>
              </a:rPr>
              <a:t>prima oară</a:t>
            </a:r>
            <a:r>
              <a:rPr b="0" sz="1400">
                <a:solidFill>
                  <a:srgbClr val="F2F2F2"/>
                </a:solidFill>
                <a:latin typeface="Arial"/>
              </a:rPr>
              <a:t>, datele reale în Excel — și înveți prima mișcare pe care un junior o sare și un senior n-o sare niciodată.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te orientezi în fereastra Excel: </a:t>
            </a:r>
            <a:r>
              <a:rPr b="1" sz="1500">
                <a:solidFill>
                  <a:srgbClr val="F2F2F2"/>
                </a:solidFill>
                <a:latin typeface="Arial"/>
              </a:rPr>
              <a:t>workbook, filă, celulă, Name Box, ribbon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transformi un range brut într-un </a:t>
            </a:r>
            <a:r>
              <a:rPr b="1" sz="1500">
                <a:solidFill>
                  <a:srgbClr val="F2F2F2"/>
                </a:solidFill>
                <a:latin typeface="Arial"/>
              </a:rPr>
              <a:t>Excel Table</a:t>
            </a:r>
            <a:r>
              <a:rPr b="0" sz="1500">
                <a:solidFill>
                  <a:srgbClr val="F2F2F2"/>
                </a:solidFill>
                <a:latin typeface="Arial"/>
              </a:rPr>
              <a:t> (</a:t>
            </a:r>
            <a:r>
              <a:rPr sz="1500">
                <a:solidFill>
                  <a:srgbClr val="FFA24E"/>
                </a:solidFill>
                <a:latin typeface="Consolas"/>
              </a:rPr>
              <a:t>Ctrl+T</a:t>
            </a:r>
            <a:r>
              <a:rPr b="0" sz="1500">
                <a:solidFill>
                  <a:srgbClr val="F2F2F2"/>
                </a:solidFill>
                <a:latin typeface="Arial"/>
              </a:rPr>
              <a:t>) și să-l denumești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explici </a:t>
            </a:r>
            <a:r>
              <a:rPr b="1" sz="1500">
                <a:solidFill>
                  <a:srgbClr val="F2F2F2"/>
                </a:solidFill>
                <a:latin typeface="Arial"/>
              </a:rPr>
              <a:t>de ce</a:t>
            </a:r>
            <a:r>
              <a:rPr b="0" sz="1500">
                <a:solidFill>
                  <a:srgbClr val="F2F2F2"/>
                </a:solidFill>
                <a:latin typeface="Arial"/>
              </a:rPr>
              <a:t> un Table e mai sigur decât un range simplu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Să citești primele două fapte — </a:t>
            </a:r>
            <a:r>
              <a:rPr b="1" sz="1500">
                <a:solidFill>
                  <a:srgbClr val="F2F2F2"/>
                </a:solidFill>
                <a:latin typeface="Arial"/>
              </a:rPr>
              <a:t>câte</a:t>
            </a:r>
            <a:r>
              <a:rPr b="0" sz="1500">
                <a:solidFill>
                  <a:srgbClr val="F2F2F2"/>
                </a:solidFill>
                <a:latin typeface="Arial"/>
              </a:rPr>
              <a:t> rânduri și un </a:t>
            </a:r>
            <a:r>
              <a:rPr b="1" sz="1500">
                <a:solidFill>
                  <a:srgbClr val="F2F2F2"/>
                </a:solidFill>
                <a:latin typeface="Arial"/>
              </a:rPr>
              <a:t>total</a:t>
            </a:r>
            <a:r>
              <a:rPr b="0" sz="1500">
                <a:solidFill>
                  <a:srgbClr val="F2F2F2"/>
                </a:solidFill>
                <a:latin typeface="Arial"/>
              </a:rPr>
              <a:t> — cu </a:t>
            </a:r>
            <a:r>
              <a:rPr sz="1500">
                <a:solidFill>
                  <a:srgbClr val="FFA24E"/>
                </a:solidFill>
                <a:latin typeface="Consolas"/>
              </a:rPr>
              <a:t>Total Row</a:t>
            </a:r>
            <a:r>
              <a:rPr b="0" sz="1500">
                <a:solidFill>
                  <a:srgbClr val="F2F2F2"/>
                </a:solidFill>
                <a:latin typeface="Arial"/>
              </a:rPr>
              <a:t>, fără formule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Azi nu calculezi nimic „de analiză” — </a:t>
            </a:r>
            <a:r>
              <a:rPr b="1" sz="1400">
                <a:solidFill>
                  <a:srgbClr val="F2F2F2"/>
                </a:solidFill>
                <a:latin typeface="Arial"/>
              </a:rPr>
              <a:t>pregătești terenul</a:t>
            </a:r>
            <a:r>
              <a:rPr b="0" sz="1400">
                <a:solidFill>
                  <a:srgbClr val="F2F2F2"/>
                </a:solidFill>
                <a:latin typeface="Arial"/>
              </a:rPr>
              <a:t> (și înțelegi de ce pregătirea asta contează).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FEREASTRA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e ce în fereastra Excel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Termen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Unde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Workbook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fișierul întreg (.xlsx)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 ai deschis acum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Sheet / filă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 pagină din workbook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jos: orders, stores, solution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Celulă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 intersecție rând × coloană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ex. D2 = coloana D, rândul 2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Name Box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căsuța care arată celula selectată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stânga barei de formule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Ribbon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banda de tab-uri cu comenzi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sus: Home, Insert, Data…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Fila </a:t>
            </a:r>
            <a:r>
              <a:rPr sz="13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300">
                <a:solidFill>
                  <a:srgbClr val="F2F2F2"/>
                </a:solidFill>
                <a:latin typeface="Arial"/>
              </a:rPr>
              <a:t> </a:t>
            </a:r>
            <a:r>
              <a:rPr b="1" sz="1300">
                <a:solidFill>
                  <a:srgbClr val="F2F2F2"/>
                </a:solidFill>
                <a:latin typeface="Arial"/>
              </a:rPr>
              <a:t>e</a:t>
            </a:r>
            <a:r>
              <a:rPr b="0" sz="1300">
                <a:solidFill>
                  <a:srgbClr val="F2F2F2"/>
                </a:solidFill>
                <a:latin typeface="Arial"/>
              </a:rPr>
              <a:t> grila din Modulul 2: rânduri = comenzi, coloane = ce înregistrăm, celula = o informație. Excel nu schimbă </a:t>
            </a:r>
            <a:r>
              <a:rPr i="1" sz="1300">
                <a:solidFill>
                  <a:srgbClr val="F2F2F2"/>
                </a:solidFill>
                <a:latin typeface="Arial"/>
              </a:rPr>
              <a:t>ce sunt</a:t>
            </a:r>
            <a:r>
              <a:rPr b="0" sz="1300">
                <a:solidFill>
                  <a:srgbClr val="F2F2F2"/>
                </a:solidFill>
                <a:latin typeface="Arial"/>
              </a:rPr>
              <a:t> datele.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„Fă-o ca un analist”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„Ai validat datele, bravo. Ți-am pus </a:t>
            </a:r>
            <a:r>
              <a:rPr sz="15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500">
                <a:solidFill>
                  <a:srgbClr val="F2F2F2"/>
                </a:solidFill>
                <a:latin typeface="Arial"/>
              </a:rPr>
              <a:t> într-un Excel — </a:t>
            </a:r>
            <a:r>
              <a:rPr b="1" sz="1500">
                <a:solidFill>
                  <a:srgbClr val="F2F2F2"/>
                </a:solidFill>
                <a:latin typeface="Arial"/>
              </a:rPr>
              <a:t>14.968 de comenzi</a:t>
            </a:r>
            <a:r>
              <a:rPr b="0" sz="1500">
                <a:solidFill>
                  <a:srgbClr val="F2F2F2"/>
                </a:solidFill>
                <a:latin typeface="Arial"/>
              </a:rPr>
              <a:t>, exportate curat. Începe să te uiți. Dar fă-o </a:t>
            </a:r>
            <a:r>
              <a:rPr b="1" sz="1500">
                <a:solidFill>
                  <a:srgbClr val="F2F2F2"/>
                </a:solidFill>
                <a:latin typeface="Arial"/>
              </a:rPr>
              <a:t>ca un analist</a:t>
            </a:r>
            <a:r>
              <a:rPr b="0" sz="1500">
                <a:solidFill>
                  <a:srgbClr val="F2F2F2"/>
                </a:solidFill>
                <a:latin typeface="Arial"/>
              </a:rPr>
              <a:t>, nu ca cineva care deschide un fișier și dă drumul la sortat.”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📎 </a:t>
            </a:r>
            <a:r>
              <a:rPr sz="1500">
                <a:solidFill>
                  <a:srgbClr val="FFA24E"/>
                </a:solidFill>
                <a:latin typeface="Consolas"/>
              </a:rPr>
              <a:t>L11_orders_starter.xlsx</a:t>
            </a:r>
            <a:r>
              <a:rPr b="0" sz="1500">
                <a:solidFill>
                  <a:srgbClr val="F2F2F2"/>
                </a:solidFill>
                <a:latin typeface="Arial"/>
              </a:rPr>
              <a:t>. E prima oară în curs când vezi datele reale într-o foaie de calcul. Grila e acum </a:t>
            </a:r>
            <a:r>
              <a:rPr b="1" sz="1500">
                <a:solidFill>
                  <a:srgbClr val="F2F2F2"/>
                </a:solidFill>
                <a:latin typeface="Arial"/>
              </a:rPr>
              <a:t>vie</a:t>
            </a:r>
            <a:r>
              <a:rPr b="0" sz="1500">
                <a:solidFill>
                  <a:srgbClr val="F2F2F2"/>
                </a:solidFill>
                <a:latin typeface="Arial"/>
              </a:rPr>
              <a:t>: poți sorta, filtra, calcula. Tentația de a te apuca imediat de „care magazin a scăzut” e uriașă. Rezistă.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sortat o singură coloană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dat click pe </a:t>
            </a:r>
            <a:r>
              <a:rPr b="1" sz="1500">
                <a:solidFill>
                  <a:srgbClr val="F2F2F2"/>
                </a:solidFill>
                <a:latin typeface="Arial"/>
              </a:rPr>
              <a:t>litera</a:t>
            </a:r>
            <a:r>
              <a:rPr b="0" sz="1500">
                <a:solidFill>
                  <a:srgbClr val="F2F2F2"/>
                </a:solidFill>
                <a:latin typeface="Arial"/>
              </a:rPr>
              <a:t> coloanei </a:t>
            </a:r>
            <a:r>
              <a:rPr sz="15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500">
                <a:solidFill>
                  <a:srgbClr val="F2F2F2"/>
                </a:solidFill>
                <a:latin typeface="Arial"/>
              </a:rPr>
              <a:t> (deci a selectat </a:t>
            </a:r>
            <a:r>
              <a:rPr i="1" sz="1500">
                <a:solidFill>
                  <a:srgbClr val="F2F2F2"/>
                </a:solidFill>
                <a:latin typeface="Arial"/>
              </a:rPr>
              <a:t>doar</a:t>
            </a:r>
            <a:r>
              <a:rPr b="0" sz="1500">
                <a:solidFill>
                  <a:srgbClr val="F2F2F2"/>
                </a:solidFill>
                <a:latin typeface="Arial"/>
              </a:rPr>
              <a:t> acea coloană), a apăsat </a:t>
            </a:r>
            <a:r>
              <a:rPr sz="1500">
                <a:solidFill>
                  <a:srgbClr val="FFA24E"/>
                </a:solidFill>
                <a:latin typeface="Consolas"/>
              </a:rPr>
              <a:t>Sort Descending</a:t>
            </a:r>
            <a:r>
              <a:rPr b="0" sz="1500">
                <a:solidFill>
                  <a:srgbClr val="F2F2F2"/>
                </a:solidFill>
                <a:latin typeface="Arial"/>
              </a:rPr>
              <a:t>, iar la întrebarea „Continue with the current selection?” a apăsat Enter fără să citească.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 sortat </a:t>
            </a:r>
            <a:r>
              <a:rPr b="1" sz="1400">
                <a:solidFill>
                  <a:srgbClr val="F2F2F2"/>
                </a:solidFill>
                <a:latin typeface="Arial"/>
              </a:rPr>
              <a:t>doar</a:t>
            </a:r>
            <a:r>
              <a:rPr b="0" sz="1400">
                <a:solidFill>
                  <a:srgbClr val="F2F2F2"/>
                </a:solidFill>
                <a:latin typeface="Arial"/>
              </a:rPr>
              <a:t> coloana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, lăsând </a:t>
            </a:r>
            <a:r>
              <a:rPr sz="14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sz="1400">
                <a:solidFill>
                  <a:srgbClr val="FFA24E"/>
                </a:solidFill>
                <a:latin typeface="Consolas"/>
              </a:rPr>
              <a:t>OrderDate</a:t>
            </a:r>
            <a:r>
              <a:rPr b="0" sz="1400">
                <a:solidFill>
                  <a:srgbClr val="F2F2F2"/>
                </a:solidFill>
                <a:latin typeface="Arial"/>
              </a:rPr>
              <a:t> pe loc. Acum </a:t>
            </a:r>
            <a:r>
              <a:rPr b="1" sz="1400">
                <a:solidFill>
                  <a:srgbClr val="F2F2F2"/>
                </a:solidFill>
                <a:latin typeface="Arial"/>
              </a:rPr>
              <a:t>fiecare rând e o minciună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valori amestecate între comenzi diferite. A pierdut o oră.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Nu lucrezi pe un range brut. Îi dai întâi structură.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Range brut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Excel Table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Sortare / filtrare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periculoasă (vezi Ioana)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sigură — mereu rândul întreg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Referire la date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coordonate: D2:D14969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nume: tblOrders[TotalAmount]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Date noi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întinzi manual formulele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se extinde singur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scrii o formulă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Total Row — un click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Mise en place: pui datele în ordine, cu nume, </a:t>
            </a:r>
            <a:r>
              <a:rPr b="1" sz="1300">
                <a:solidFill>
                  <a:srgbClr val="F2F2F2"/>
                </a:solidFill>
                <a:latin typeface="Arial"/>
              </a:rPr>
              <a:t>o singură dată</a:t>
            </a:r>
            <a:r>
              <a:rPr b="0" sz="1300">
                <a:solidFill>
                  <a:srgbClr val="F2F2F2"/>
                </a:solidFill>
                <a:latin typeface="Arial"/>
              </a:rPr>
              <a:t>, la început — și pe urmă orice mișcare e sigură.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REFERINȚĂ STRUCTURATĂ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Nume în loc de coordonate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SUM(tblOrders[TotalAmount])   ✓ se citește ca o propoziție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SUM(D2:D14969)               ✗ coordonate; se rup la rânduri noi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642616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400">
                <a:solidFill>
                  <a:srgbClr val="F2F2F2"/>
                </a:solidFill>
                <a:latin typeface="Arial"/>
              </a:rPr>
              <a:t>Referința structurată</a:t>
            </a:r>
            <a:r>
              <a:rPr b="0" sz="1400">
                <a:solidFill>
                  <a:srgbClr val="F2F2F2"/>
                </a:solidFill>
                <a:latin typeface="Arial"/>
              </a:rPr>
              <a:t> urmărește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coloana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 interval fix — dacă mâine sunt 15.500 de comenzi, se extinde singură. Restul modulului se sprijină pe pasul ăsta.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STRUCTURĂ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Uită-te, selectează, </a:t>
            </a:r>
            <a:r>
              <a:rPr sz="3000">
                <a:solidFill>
                  <a:srgbClr val="FFA24E"/>
                </a:solidFill>
                <a:latin typeface="Consolas"/>
              </a:rPr>
              <a:t>Ctrl+T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Pasul 1</a:t>
            </a:r>
            <a:r>
              <a:rPr b="0" sz="1400">
                <a:solidFill>
                  <a:srgbClr val="F2F2F2"/>
                </a:solidFill>
                <a:latin typeface="Arial"/>
              </a:rPr>
              <a:t> — click pe fila </a:t>
            </a:r>
            <a:r>
              <a:rPr sz="14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400">
                <a:solidFill>
                  <a:srgbClr val="F2F2F2"/>
                </a:solidFill>
                <a:latin typeface="Arial"/>
              </a:rPr>
              <a:t>: un range brut, antet pe rândul 1, 14.968 de rânduri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Pasul 2</a:t>
            </a:r>
            <a:r>
              <a:rPr b="0" sz="1400">
                <a:solidFill>
                  <a:srgbClr val="F2F2F2"/>
                </a:solidFill>
                <a:latin typeface="Arial"/>
              </a:rPr>
              <a:t> — selectează </a:t>
            </a:r>
            <a:r>
              <a:rPr b="1" sz="1400">
                <a:solidFill>
                  <a:srgbClr val="F2F2F2"/>
                </a:solidFill>
                <a:latin typeface="Arial"/>
              </a:rPr>
              <a:t>o singură celulă</a:t>
            </a:r>
            <a:r>
              <a:rPr b="0" sz="1400">
                <a:solidFill>
                  <a:srgbClr val="F2F2F2"/>
                </a:solidFill>
                <a:latin typeface="Arial"/>
              </a:rPr>
              <a:t> din date (</a:t>
            </a:r>
            <a:r>
              <a:rPr sz="1400">
                <a:solidFill>
                  <a:srgbClr val="FFA24E"/>
                </a:solidFill>
                <a:latin typeface="Consolas"/>
              </a:rPr>
              <a:t>A2</a:t>
            </a:r>
            <a:r>
              <a:rPr b="0" sz="1400">
                <a:solidFill>
                  <a:srgbClr val="F2F2F2"/>
                </a:solidFill>
                <a:latin typeface="Arial"/>
              </a:rPr>
              <a:t>), nu toată coloana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Pasul 3</a:t>
            </a:r>
            <a:r>
              <a:rPr b="0" sz="1400">
                <a:solidFill>
                  <a:srgbClr val="F2F2F2"/>
                </a:solidFill>
                <a:latin typeface="Arial"/>
              </a:rPr>
              <a:t> — apasă </a:t>
            </a:r>
            <a:r>
              <a:rPr sz="1400">
                <a:solidFill>
                  <a:srgbClr val="FFA24E"/>
                </a:solidFill>
                <a:latin typeface="Consolas"/>
              </a:rPr>
              <a:t>Ctrl+T</a:t>
            </a:r>
            <a:r>
              <a:rPr b="0" sz="1400">
                <a:solidFill>
                  <a:srgbClr val="F2F2F2"/>
                </a:solidFill>
                <a:latin typeface="Arial"/>
              </a:rPr>
              <a:t> → fereastra „Create Table”, </a:t>
            </a:r>
            <a:r>
              <a:rPr sz="1400">
                <a:solidFill>
                  <a:srgbClr val="FFA24E"/>
                </a:solidFill>
                <a:latin typeface="Consolas"/>
              </a:rPr>
              <a:t>My table has headers</a:t>
            </a:r>
            <a:r>
              <a:rPr b="0" sz="1400">
                <a:solidFill>
                  <a:srgbClr val="F2F2F2"/>
                </a:solidFill>
                <a:latin typeface="Arial"/>
              </a:rPr>
              <a:t> bifat → </a:t>
            </a:r>
            <a:r>
              <a:rPr sz="1400">
                <a:solidFill>
                  <a:srgbClr val="FFA24E"/>
                </a:solidFill>
                <a:latin typeface="Consolas"/>
              </a:rPr>
              <a:t>OK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400">
                <a:solidFill>
                  <a:srgbClr val="F2F2F2"/>
                </a:solidFill>
                <a:latin typeface="Arial"/>
              </a:rPr>
              <a:t>Ce vezi:</a:t>
            </a:r>
            <a:r>
              <a:rPr b="0" sz="1400">
                <a:solidFill>
                  <a:srgbClr val="F2F2F2"/>
                </a:solidFill>
                <a:latin typeface="Arial"/>
              </a:rPr>
              <a:t> rândurile au dungi alternante, iar pe fiecare antet a apărut o </a:t>
            </a:r>
            <a:r>
              <a:rPr b="1" sz="1400">
                <a:solidFill>
                  <a:srgbClr val="F2F2F2"/>
                </a:solidFill>
                <a:latin typeface="Arial"/>
              </a:rPr>
              <a:t>săgeată de filtrare</a:t>
            </a:r>
            <a:r>
              <a:rPr b="0" sz="1400">
                <a:solidFill>
                  <a:srgbClr val="F2F2F2"/>
                </a:solidFill>
                <a:latin typeface="Arial"/>
              </a:rPr>
              <a:t>. Ăsta e un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NUME + TOTAL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3000">
                <a:solidFill>
                  <a:srgbClr val="FFA24E"/>
                </a:solidFill>
                <a:latin typeface="Consolas"/>
              </a:rPr>
              <a:t>tblOrders</a:t>
            </a:r>
            <a:r>
              <a:rPr b="1" sz="3000">
                <a:solidFill>
                  <a:srgbClr val="F2F2F2"/>
                </a:solidFill>
                <a:latin typeface="Arial"/>
              </a:rPr>
              <a:t> și rândul de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Table Design → Table Name:  tblOrders   (Enter)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Table Design → ✓ Total 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Pasul 4</a:t>
            </a:r>
            <a:r>
              <a:rPr b="0" sz="1400">
                <a:solidFill>
                  <a:srgbClr val="F2F2F2"/>
                </a:solidFill>
                <a:latin typeface="Arial"/>
              </a:rPr>
              <a:t> — denumește-l </a:t>
            </a:r>
            <a:r>
              <a:rPr sz="1400">
                <a:solidFill>
                  <a:srgbClr val="FFA24E"/>
                </a:solidFill>
                <a:latin typeface="Consolas"/>
              </a:rPr>
              <a:t>tblOrders</a:t>
            </a:r>
            <a:r>
              <a:rPr b="0" sz="1400">
                <a:solidFill>
                  <a:srgbClr val="F2F2F2"/>
                </a:solidFill>
                <a:latin typeface="Arial"/>
              </a:rPr>
              <a:t>: un nume clar, fără spații, pe care îl vei folosi în formule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Pasul 5</a:t>
            </a:r>
            <a:r>
              <a:rPr b="0" sz="1400">
                <a:solidFill>
                  <a:srgbClr val="F2F2F2"/>
                </a:solidFill>
                <a:latin typeface="Arial"/>
              </a:rPr>
              <a:t> — bifează </a:t>
            </a:r>
            <a:r>
              <a:rPr sz="1400">
                <a:solidFill>
                  <a:srgbClr val="FFA24E"/>
                </a:solidFill>
                <a:latin typeface="Consolas"/>
              </a:rPr>
              <a:t>Total Row</a:t>
            </a:r>
            <a:r>
              <a:rPr b="0" sz="1400">
                <a:solidFill>
                  <a:srgbClr val="F2F2F2"/>
                </a:solidFill>
                <a:latin typeface="Arial"/>
              </a:rPr>
              <a:t> → apare un rând nou, jos de tot, sub ultima comandă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3 · CELE DOUĂ REPERE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sz="3000">
                <a:solidFill>
                  <a:srgbClr val="FFA24E"/>
                </a:solidFill>
                <a:latin typeface="Consolas"/>
              </a:rPr>
              <a:t>Count</a:t>
            </a:r>
            <a:r>
              <a:rPr b="1" sz="3000">
                <a:solidFill>
                  <a:srgbClr val="F2F2F2"/>
                </a:solidFill>
                <a:latin typeface="Arial"/>
              </a:rPr>
              <a:t> și </a:t>
            </a:r>
            <a:r>
              <a:rPr sz="3000">
                <a:solidFill>
                  <a:srgbClr val="FFA24E"/>
                </a:solidFill>
                <a:latin typeface="Consolas"/>
              </a:rPr>
              <a:t>Sum</a:t>
            </a:r>
            <a:r>
              <a:rPr b="1" sz="3000">
                <a:solidFill>
                  <a:srgbClr val="F2F2F2"/>
                </a:solidFill>
                <a:latin typeface="Arial"/>
              </a:rPr>
              <a:t>, fără o formulă scrisă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438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Sub </a:t>
            </a:r>
            <a:r>
              <a:rPr sz="1400">
                <a:solidFill>
                  <a:srgbClr val="FFA24E"/>
                </a:solidFill>
                <a:latin typeface="Consolas"/>
              </a:rPr>
              <a:t>OrderID</a:t>
            </a:r>
            <a:r>
              <a:rPr b="0" sz="1400">
                <a:solidFill>
                  <a:srgbClr val="F2F2F2"/>
                </a:solidFill>
                <a:latin typeface="Arial"/>
              </a:rPr>
              <a:t>, în rândul de total → alege </a:t>
            </a:r>
            <a:r>
              <a:rPr b="1" sz="1400">
                <a:solidFill>
                  <a:srgbClr val="F2F2F2"/>
                </a:solidFill>
                <a:latin typeface="Arial"/>
              </a:rPr>
              <a:t>`Count`</a:t>
            </a:r>
            <a:r>
              <a:rPr b="0" sz="1400">
                <a:solidFill>
                  <a:srgbClr val="F2F2F2"/>
                </a:solidFill>
                <a:latin typeface="Arial"/>
              </a:rPr>
              <a:t>: câte comenzi sunt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Sub </a:t>
            </a:r>
            <a:r>
              <a:rPr sz="14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400">
                <a:solidFill>
                  <a:srgbClr val="F2F2F2"/>
                </a:solidFill>
                <a:latin typeface="Arial"/>
              </a:rPr>
              <a:t> → alege </a:t>
            </a:r>
            <a:r>
              <a:rPr b="1" sz="1400">
                <a:solidFill>
                  <a:srgbClr val="F2F2F2"/>
                </a:solidFill>
                <a:latin typeface="Arial"/>
              </a:rPr>
              <a:t>`Sum`</a:t>
            </a:r>
            <a:r>
              <a:rPr b="0" sz="1400">
                <a:solidFill>
                  <a:srgbClr val="F2F2F2"/>
                </a:solidFill>
                <a:latin typeface="Arial"/>
              </a:rPr>
              <a:t>: Revenue-ul total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221736"/>
          <a:ext cx="10874959" cy="749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7490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OrderID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TotalAmount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14.968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37.878.974,89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58368" y="4108704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300">
                <a:solidFill>
                  <a:srgbClr val="F2F2F2"/>
                </a:solidFill>
                <a:latin typeface="Arial"/>
              </a:rPr>
              <a:t>14.968 de comenzi</a:t>
            </a:r>
            <a:r>
              <a:rPr b="0" sz="1300">
                <a:solidFill>
                  <a:srgbClr val="F2F2F2"/>
                </a:solidFill>
                <a:latin typeface="Arial"/>
              </a:rPr>
              <a:t>, Revenue total </a:t>
            </a:r>
            <a:r>
              <a:rPr b="1" sz="1300">
                <a:solidFill>
                  <a:srgbClr val="F2F2F2"/>
                </a:solidFill>
                <a:latin typeface="Arial"/>
              </a:rPr>
              <a:t>≈ 37,88 mil. lei</a:t>
            </a:r>
            <a:r>
              <a:rPr b="0" sz="1300">
                <a:solidFill>
                  <a:srgbClr val="F2F2F2"/>
                </a:solidFill>
                <a:latin typeface="Arial"/>
              </a:rPr>
              <a:t> (2024–2025). Repere de orientare — </a:t>
            </a:r>
            <a:r>
              <a:rPr b="1" sz="1300">
                <a:solidFill>
                  <a:srgbClr val="F2F2F2"/>
                </a:solidFill>
                <a:latin typeface="Arial"/>
              </a:rPr>
              <a:t>context, nu răspunsul</a:t>
            </a:r>
            <a:r>
              <a:rPr b="0" sz="1300">
                <a:solidFill>
                  <a:srgbClr val="F2F2F2"/>
                </a:solidFill>
                <a:latin typeface="Arial"/>
              </a:rPr>
              <a:t> Elenei.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4 · `STOREID` E UN COD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„2” nu înseamnă „Cluj-Napoca”... direct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975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Coloana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are valorile </a:t>
            </a:r>
            <a:r>
              <a:rPr sz="1400">
                <a:solidFill>
                  <a:srgbClr val="FFA24E"/>
                </a:solidFill>
                <a:latin typeface="Consolas"/>
              </a:rPr>
              <a:t>1, 2, 3 … 8</a:t>
            </a:r>
            <a:r>
              <a:rPr b="0" sz="1400">
                <a:solidFill>
                  <a:srgbClr val="F2F2F2"/>
                </a:solidFill>
                <a:latin typeface="Arial"/>
              </a:rPr>
              <a:t> — </a:t>
            </a:r>
            <a:r>
              <a:rPr b="1" sz="1400">
                <a:solidFill>
                  <a:srgbClr val="F2F2F2"/>
                </a:solidFill>
                <a:latin typeface="Arial"/>
              </a:rPr>
              <a:t>nu</a:t>
            </a:r>
            <a:r>
              <a:rPr b="0" sz="1400">
                <a:solidFill>
                  <a:srgbClr val="F2F2F2"/>
                </a:solidFill>
                <a:latin typeface="Arial"/>
              </a:rPr>
              <a:t> scrie „Cluj-Napoca”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În datele reale magazinul e un </a:t>
            </a:r>
            <a:r>
              <a:rPr b="1" sz="1400">
                <a:solidFill>
                  <a:srgbClr val="F2F2F2"/>
                </a:solidFill>
                <a:latin typeface="Arial"/>
              </a:rPr>
              <a:t>cod</a:t>
            </a:r>
            <a:r>
              <a:rPr b="0" sz="1400">
                <a:solidFill>
                  <a:srgbClr val="F2F2F2"/>
                </a:solidFill>
                <a:latin typeface="Arial"/>
              </a:rPr>
              <a:t>, nu un nume — o etichetă, n-o aduni (ecou L6)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Numele orașului stă în alt tabel, </a:t>
            </a:r>
            <a:r>
              <a:rPr sz="1400">
                <a:solidFill>
                  <a:srgbClr val="FFA24E"/>
                </a:solidFill>
                <a:latin typeface="Consolas"/>
              </a:rPr>
              <a:t>stores</a:t>
            </a:r>
            <a:r>
              <a:rPr b="0" sz="1400">
                <a:solidFill>
                  <a:srgbClr val="F2F2F2"/>
                </a:solidFill>
                <a:latin typeface="Arial"/>
              </a:rPr>
              <a:t>: acolo </a:t>
            </a:r>
            <a:r>
              <a:rPr b="1" sz="1400">
                <a:solidFill>
                  <a:srgbClr val="F2F2F2"/>
                </a:solidFill>
                <a:latin typeface="Arial"/>
              </a:rPr>
              <a:t>`StoreID 2` = Cluj-Napoca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58183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Verifică-te pe fila </a:t>
            </a:r>
            <a:r>
              <a:rPr sz="1400">
                <a:solidFill>
                  <a:srgbClr val="FFA24E"/>
                </a:solidFill>
                <a:latin typeface="Consolas"/>
              </a:rPr>
              <a:t>solution</a:t>
            </a:r>
            <a:r>
              <a:rPr b="0" sz="1400">
                <a:solidFill>
                  <a:srgbClr val="F2F2F2"/>
                </a:solidFill>
                <a:latin typeface="Arial"/>
              </a:rPr>
              <a:t>: exact </a:t>
            </a:r>
            <a:r>
              <a:rPr sz="1400">
                <a:solidFill>
                  <a:srgbClr val="FFA24E"/>
                </a:solidFill>
                <a:latin typeface="Consolas"/>
              </a:rPr>
              <a:t>14.968</a:t>
            </a:r>
            <a:r>
              <a:rPr b="0" sz="1400">
                <a:solidFill>
                  <a:srgbClr val="F2F2F2"/>
                </a:solidFill>
                <a:latin typeface="Arial"/>
              </a:rPr>
              <a:t> și </a:t>
            </a:r>
            <a:r>
              <a:rPr sz="1400">
                <a:solidFill>
                  <a:srgbClr val="FFA24E"/>
                </a:solidFill>
                <a:latin typeface="Consolas"/>
              </a:rPr>
              <a:t>37.878.974,89</a:t>
            </a:r>
            <a:r>
              <a:rPr b="0" sz="1400">
                <a:solidFill>
                  <a:srgbClr val="F2F2F2"/>
                </a:solidFill>
                <a:latin typeface="Arial"/>
              </a:rPr>
              <a:t>. Cum legi automat codul de oraș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L15 (lookups)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Lucrezi pe range-ul brut</a:t>
            </a:r>
            <a:r>
              <a:rPr b="0" sz="1400">
                <a:solidFill>
                  <a:srgbClr val="F2F2F2"/>
                </a:solidFill>
                <a:latin typeface="Arial"/>
              </a:rPr>
              <a:t> → fă-ți reflex: </a:t>
            </a:r>
            <a:r>
              <a:rPr sz="1400">
                <a:solidFill>
                  <a:srgbClr val="FFA24E"/>
                </a:solidFill>
                <a:latin typeface="Consolas"/>
              </a:rPr>
              <a:t>Ctrl+T</a:t>
            </a:r>
            <a:r>
              <a:rPr b="0" sz="1400">
                <a:solidFill>
                  <a:srgbClr val="F2F2F2"/>
                </a:solidFill>
                <a:latin typeface="Arial"/>
              </a:rPr>
              <a:t> e </a:t>
            </a:r>
            <a:r>
              <a:rPr b="1" sz="1400">
                <a:solidFill>
                  <a:srgbClr val="F2F2F2"/>
                </a:solidFill>
                <a:latin typeface="Arial"/>
              </a:rPr>
              <a:t>prima</a:t>
            </a:r>
            <a:r>
              <a:rPr b="0" sz="1400">
                <a:solidFill>
                  <a:srgbClr val="F2F2F2"/>
                </a:solidFill>
                <a:latin typeface="Arial"/>
              </a:rPr>
              <a:t> apăsare în orice fișier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Nu denumești tabelul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Table1</a:t>
            </a:r>
            <a:r>
              <a:rPr b="0" sz="1400">
                <a:solidFill>
                  <a:srgbClr val="F2F2F2"/>
                </a:solidFill>
                <a:latin typeface="Arial"/>
              </a:rPr>
              <a:t>) → denumește-l imediat (</a:t>
            </a:r>
            <a:r>
              <a:rPr sz="1400">
                <a:solidFill>
                  <a:srgbClr val="FFA24E"/>
                </a:solidFill>
                <a:latin typeface="Consolas"/>
              </a:rPr>
              <a:t>tblOrders</a:t>
            </a:r>
            <a:r>
              <a:rPr b="0" sz="1400">
                <a:solidFill>
                  <a:srgbClr val="F2F2F2"/>
                </a:solidFill>
                <a:latin typeface="Arial"/>
              </a:rPr>
              <a:t>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Tratezi `StoreID` ca număr</a:t>
            </a:r>
            <a:r>
              <a:rPr b="0" sz="1400">
                <a:solidFill>
                  <a:srgbClr val="F2F2F2"/>
                </a:solidFill>
                <a:latin typeface="Arial"/>
              </a:rPr>
              <a:t> → e o etichetă; pe ea </a:t>
            </a:r>
            <a:r>
              <a:rPr b="1" sz="1400">
                <a:solidFill>
                  <a:srgbClr val="F2F2F2"/>
                </a:solidFill>
                <a:latin typeface="Arial"/>
              </a:rPr>
              <a:t>grupezi</a:t>
            </a:r>
            <a:r>
              <a:rPr b="0" sz="1400">
                <a:solidFill>
                  <a:srgbClr val="F2F2F2"/>
                </a:solidFill>
                <a:latin typeface="Arial"/>
              </a:rPr>
              <a:t>, n-o aduni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Confunzi „reper” cu „răspuns”</a:t>
            </a:r>
            <a:r>
              <a:rPr b="0" sz="1400">
                <a:solidFill>
                  <a:srgbClr val="F2F2F2"/>
                </a:solidFill>
                <a:latin typeface="Arial"/>
              </a:rPr>
              <a:t> → 37,88 mil. e totalul pe </a:t>
            </a:r>
            <a:r>
              <a:rPr b="1" sz="1400">
                <a:solidFill>
                  <a:srgbClr val="F2F2F2"/>
                </a:solidFill>
                <a:latin typeface="Arial"/>
              </a:rPr>
              <a:t>doi ani</a:t>
            </a:r>
            <a:r>
              <a:rPr b="0" sz="1400">
                <a:solidFill>
                  <a:srgbClr val="F2F2F2"/>
                </a:solidFill>
                <a:latin typeface="Arial"/>
              </a:rPr>
              <a:t>, nu septembrie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ți-ai pregătit spațiul de lucru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Prima mișcare: fă datele un </a:t>
            </a:r>
            <a:r>
              <a:rPr b="1" sz="1400">
                <a:solidFill>
                  <a:srgbClr val="F2F2F2"/>
                </a:solidFill>
                <a:latin typeface="Arial"/>
              </a:rPr>
              <a:t>Table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Ctrl+T</a:t>
            </a:r>
            <a:r>
              <a:rPr b="0" sz="1400">
                <a:solidFill>
                  <a:srgbClr val="F2F2F2"/>
                </a:solidFill>
                <a:latin typeface="Arial"/>
              </a:rPr>
              <a:t>) și </a:t>
            </a:r>
            <a:r>
              <a:rPr b="1" sz="1400">
                <a:solidFill>
                  <a:srgbClr val="F2F2F2"/>
                </a:solidFill>
                <a:latin typeface="Arial"/>
              </a:rPr>
              <a:t>denumește-l</a:t>
            </a:r>
            <a:r>
              <a:rPr b="0" sz="1400">
                <a:solidFill>
                  <a:srgbClr val="F2F2F2"/>
                </a:solidFill>
                <a:latin typeface="Arial"/>
              </a:rPr>
              <a:t> — nu lucrezi pe brut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Un Table = sortare sigură · </a:t>
            </a:r>
            <a:r>
              <a:rPr b="1" sz="1400">
                <a:solidFill>
                  <a:srgbClr val="F2F2F2"/>
                </a:solidFill>
                <a:latin typeface="Arial"/>
              </a:rPr>
              <a:t>nume</a:t>
            </a:r>
            <a:r>
              <a:rPr b="0" sz="1400">
                <a:solidFill>
                  <a:srgbClr val="F2F2F2"/>
                </a:solidFill>
                <a:latin typeface="Arial"/>
              </a:rPr>
              <a:t> în loc de coordonate · se extinde singur · </a:t>
            </a:r>
            <a:r>
              <a:rPr sz="1400">
                <a:solidFill>
                  <a:srgbClr val="FFA24E"/>
                </a:solidFill>
                <a:latin typeface="Consolas"/>
              </a:rPr>
              <a:t>Total Row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Repere fără formule: </a:t>
            </a:r>
            <a:r>
              <a:rPr b="1" sz="1400">
                <a:solidFill>
                  <a:srgbClr val="F2F2F2"/>
                </a:solidFill>
                <a:latin typeface="Arial"/>
              </a:rPr>
              <a:t>14.968</a:t>
            </a:r>
            <a:r>
              <a:rPr b="0" sz="1400">
                <a:solidFill>
                  <a:srgbClr val="F2F2F2"/>
                </a:solidFill>
                <a:latin typeface="Arial"/>
              </a:rPr>
              <a:t> comenzi, </a:t>
            </a:r>
            <a:r>
              <a:rPr b="1" sz="1400">
                <a:solidFill>
                  <a:srgbClr val="F2F2F2"/>
                </a:solidFill>
                <a:latin typeface="Arial"/>
              </a:rPr>
              <a:t>37,88 mil. lei</a:t>
            </a:r>
            <a:r>
              <a:rPr b="0" sz="1400">
                <a:solidFill>
                  <a:srgbClr val="F2F2F2"/>
                </a:solidFill>
                <a:latin typeface="Arial"/>
              </a:rPr>
              <a:t> — context, nu răspunsul Elenei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sz="14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400">
                <a:solidFill>
                  <a:srgbClr val="F2F2F2"/>
                </a:solidFill>
                <a:latin typeface="Arial"/>
              </a:rPr>
              <a:t> e un </a:t>
            </a:r>
            <a:r>
              <a:rPr b="1" sz="1400">
                <a:solidFill>
                  <a:srgbClr val="F2F2F2"/>
                </a:solidFill>
                <a:latin typeface="Arial"/>
              </a:rPr>
              <a:t>cod</a:t>
            </a:r>
            <a:r>
              <a:rPr b="0" sz="1400">
                <a:solidFill>
                  <a:srgbClr val="F2F2F2"/>
                </a:solidFill>
                <a:latin typeface="Arial"/>
              </a:rPr>
              <a:t> (2 = Cluj); orașul stă în </a:t>
            </a:r>
            <a:r>
              <a:rPr sz="1400">
                <a:solidFill>
                  <a:srgbClr val="FFA24E"/>
                </a:solidFill>
                <a:latin typeface="Consolas"/>
              </a:rPr>
              <a:t>stores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 de proiect: </a:t>
            </a:r>
            <a:r>
              <a:rPr b="1" sz="1400">
                <a:solidFill>
                  <a:srgbClr val="F2F2F2"/>
                </a:solidFill>
                <a:latin typeface="Arial"/>
              </a:rPr>
              <a:t>ai un workbook</a:t>
            </a:r>
            <a:r>
              <a:rPr b="0" sz="1400">
                <a:solidFill>
                  <a:srgbClr val="F2F2F2"/>
                </a:solidFill>
                <a:latin typeface="Arial"/>
              </a:rPr>
              <a:t> — datele validate, încărcate ca Table structurat. Punte → </a:t>
            </a:r>
            <a:r>
              <a:rPr b="1" sz="1400">
                <a:solidFill>
                  <a:srgbClr val="F2F2F2"/>
                </a:solidFill>
                <a:latin typeface="Arial"/>
              </a:rPr>
              <a:t>L12: curățarea</a:t>
            </a:r>
            <a:r>
              <a:rPr b="0" sz="1400">
                <a:solidFill>
                  <a:srgbClr val="F2F2F2"/>
                </a:solidFill>
                <a:latin typeface="Arial"/>
              </a:rPr>
              <a:t>, fiindcă exportul real nu vine mereu curat.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L11 · Excel Tables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