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Deschidere. Ai date curate (L12), calculate (L13–L14) și îmbogățite cu nume (L15). Acum le sumarizezi: Revenue pe magazin, pe categorie, pe lună — nu cu câte un SUMIF pentru fiecare felie, ci cu un PivotTable, care face toate feliile dintr-o mișcare. Fișierul L16_pivots.xlsx are orders (cu City deja adus) și sales (liniile de comandă, cu LineValue și CategoryName).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Legăm de L15. Ai transformat codurile în nume cu XLOOKUP: orders + City (StoreID 2 = Cluj-Napoca), products + Categorie. Finding-ul e citibil. Acum, în loc să scrii un SUMIF pentru fiecare felie, le sumarizezi pe toate deodată cu un pivot.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Obiectivele din §1. Să inserezi un PivotTable și să tragi o dimensiune în Rows și o măsură în Values (Sum); să obții Revenue pe magazin (Cluj cel mai slab) și pe categorie; să sortezi și să reîmprospătezi (Refresh); să înțelegi de ce magazinul se pivotează din orders, iar categoria din sales — grain-ul întrebării alege tabelul.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(§2, §5, §6). Deschizi L16_pivots.xlsx: orders (cu City deja adus din L15) și sales (liniile de comandă, cu LineValue și CategoryName). Un pivot ia un tabel și îl rezumă: grupează rândurile după o dimensiune și agregă o măsură. E ca și cum ai goli un coș pe masă și ai face grămezi — apoi cântărești fiecare grămadă.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Citatul Elenei (§2). Ai finding-ul #1 (septembrie −14,9%, Cluj slab). Elena vrea contextul mare înainte de a săpa: cât vinde fiecare magazin și cât face fiecare categorie, ca să știe cât de neobișnuit e Cluj. Ai putea scrie 8 SUMIF-uri pentru magazine și 30 pentru categorii... sau un pivot.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Cârligul (§3). Ioana a vrut Revenue pe categorie. A început să scrie: SUMIF pentru Laptops, SUMIF pentru Accessories... La categoria a șaptea a realizat că sunt 30 și că, dacă apare una nouă, trebuie să adauge încă un rând de mână. O oră de muncă pentru ceva ce un pivot face în 10 secunde — și fără nicio formulă scrisă greșit.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Orientare (§5). Rows = dimensiunea pe care grupezi (City, CategoryName); fiecare valoare unică devine un rând. Values = ce agregă și cum (Sum of TotalAmount = Revenue; poate fi Count, Average). Refresh — pivotul e o poză a datelor; dacă se schimbă, apeși Refresh. Grain (L7): în orders un rând = o comandă (grupezi pe magazin, lună); în sales un rând = o linie (grupezi pe categorie). Întrebarea alege tabelul.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Ideea centrală (§6). Trei mișcări: grupezi pe o dimensiune (tragi câmpul în Rows); aduni o măsură (tragi câmpul în Values, Sum); ordonezi rezultatul (sortezi coloana de valori descrescător). Regula de tip (L6): în Values pui o cantitate (bani, bucăți) cu Sum; nu pui un cod. În Rows pui o dimensiune (nume, categorie, lună).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Pașii 1–2 (§7). Click oriunde în tblOrders (fila orders) → Insert &gt; PivotTable → New Worksheet → OK. În panoul PivotTable Fields: trage City în Rows, apoi TotalAmount în Values (apare Sum of TotalAmount). Sortează descrescător (click dreapta pe o valoare → Sort &gt; Largest to Smallest). Cluj-Napoca e ultimul, de departe — jumătate din penultimul. Total = 37.878.974,89, exact Revenue-ul net din 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3 (§7). Click în tblSales (fila sales) → Insert &gt; PivotTable → OK. Trage CategoryName în Rows, LineValue în Values (Sum). Sortează descrescător. 30 de categorii; în frunte Laptops (5.631.962,64), apoi Accessories (5.345.068,64), Fitness Equipment, Tablets... Ai, dintr-o mișcare, structura vânzărilor pe categorie.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4 (§7). Totalul pivotului pe categorie e 39.810.596,57 (gross), nu 37.878.974,89 (net). Diferența — 1.931.621,68 — sunt discounturile, care se aplică la nivel de comandă (orders.Discount), nu de linie. Deci: Revenue pe magazin din orders (net, grain de comandă); Revenue pe categorie din sales (gross, grain de linie — acolo trăiește categoria). Ecou din L7: grain-ul întrebării alege tabelul.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patru greșeli (§11). Scrii o formulă per felie — un pivot face toate feliile deodată, sortate, refreshable. Cod în Rows — pune dimensiunea cu nume (adusă în L15). Cod în Values — pui o cantitate cu Sum, niciodată un cod. Confunzi gross cu net — linie = gross, comandă = net; diferența = discounturi; spui mereu care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Închide cu milestone-ul (§12/§14). Un PivotTable grupează un tabel pe o dimensiune (Rows) și adună o măsură (Values, Sum) — toate feliile deodată. Dimensiunea cu nume în Rows, cantitatea în Values; niciodată un cod în Values. Grain-ul alege tabelul: magazin din orders (net), categorie din sales (gross); diferența = discounturile. Cluj-Napoca e ultimul, de departe. Din L17 combini dimensiuni, adaugi timpul și % din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3 · LECȚIA 16 · A ȘASEA LECȚIE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Pivot Tables I — sumarizezi datele pe dimensiuni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Business Question → Data → Excel (sumarizează) → Answer. Azi vezi datele pe dimensiuni, dintr-o mișcare.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Vineri, 16 octombrie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L16 · Pivot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am rămas (L15)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Codurile au devenit </a:t>
            </a:r>
            <a:r>
              <a:rPr b="1" sz="1500">
                <a:solidFill>
                  <a:srgbClr val="F2F2F2"/>
                </a:solidFill>
                <a:latin typeface="Arial"/>
              </a:rPr>
              <a:t>nume</a:t>
            </a:r>
            <a:r>
              <a:rPr b="0" sz="1500">
                <a:solidFill>
                  <a:srgbClr val="F2F2F2"/>
                </a:solidFill>
                <a:latin typeface="Arial"/>
              </a:rPr>
              <a:t> cu </a:t>
            </a:r>
            <a:r>
              <a:rPr sz="1500">
                <a:solidFill>
                  <a:srgbClr val="FFA24E"/>
                </a:solidFill>
                <a:latin typeface="Consolas"/>
              </a:rPr>
              <a:t>XLOOKUP</a:t>
            </a:r>
            <a:r>
              <a:rPr b="0" sz="1500">
                <a:solidFill>
                  <a:srgbClr val="F2F2F2"/>
                </a:solidFill>
                <a:latin typeface="Arial"/>
              </a:rPr>
              <a:t>: </a:t>
            </a:r>
            <a:r>
              <a:rPr sz="15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500">
                <a:solidFill>
                  <a:srgbClr val="F2F2F2"/>
                </a:solidFill>
                <a:latin typeface="Arial"/>
              </a:rPr>
              <a:t> + </a:t>
            </a:r>
            <a:r>
              <a:rPr sz="1500">
                <a:solidFill>
                  <a:srgbClr val="FFA24E"/>
                </a:solidFill>
                <a:latin typeface="Consolas"/>
              </a:rPr>
              <a:t>City</a:t>
            </a:r>
            <a:r>
              <a:rPr b="0" sz="1500">
                <a:solidFill>
                  <a:srgbClr val="F2F2F2"/>
                </a:solidFill>
                <a:latin typeface="Arial"/>
              </a:rPr>
              <a:t> (</a:t>
            </a:r>
            <a:r>
              <a:rPr sz="1500">
                <a:solidFill>
                  <a:srgbClr val="FFA24E"/>
                </a:solidFill>
                <a:latin typeface="Consolas"/>
              </a:rPr>
              <a:t>StoreID 2</a:t>
            </a:r>
            <a:r>
              <a:rPr b="0" sz="1500">
                <a:solidFill>
                  <a:srgbClr val="F2F2F2"/>
                </a:solidFill>
                <a:latin typeface="Arial"/>
              </a:rPr>
              <a:t> = </a:t>
            </a:r>
            <a:r>
              <a:rPr b="1" sz="1500">
                <a:solidFill>
                  <a:srgbClr val="F2F2F2"/>
                </a:solidFill>
                <a:latin typeface="Arial"/>
              </a:rPr>
              <a:t>Cluj-Napoca</a:t>
            </a:r>
            <a:r>
              <a:rPr b="0" sz="15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sz="1500">
                <a:solidFill>
                  <a:srgbClr val="FFA24E"/>
                </a:solidFill>
                <a:latin typeface="Consolas"/>
              </a:rPr>
              <a:t>products</a:t>
            </a:r>
            <a:r>
              <a:rPr b="0" sz="1500">
                <a:solidFill>
                  <a:srgbClr val="F2F2F2"/>
                </a:solidFill>
                <a:latin typeface="Arial"/>
              </a:rPr>
              <a:t> are acum </a:t>
            </a:r>
            <a:r>
              <a:rPr b="1" sz="1500">
                <a:solidFill>
                  <a:srgbClr val="F2F2F2"/>
                </a:solidFill>
                <a:latin typeface="Arial"/>
              </a:rPr>
              <a:t>Categorie</a:t>
            </a:r>
            <a:r>
              <a:rPr b="0" sz="1500">
                <a:solidFill>
                  <a:srgbClr val="F2F2F2"/>
                </a:solidFill>
                <a:latin typeface="Arial"/>
              </a:rPr>
              <a:t> — dimensiunea de care ai nevoie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Dar ca să vezi </a:t>
            </a:r>
            <a:r>
              <a:rPr i="1" sz="1500">
                <a:solidFill>
                  <a:srgbClr val="F2F2F2"/>
                </a:solidFill>
                <a:latin typeface="Arial"/>
              </a:rPr>
              <a:t>toate</a:t>
            </a:r>
            <a:r>
              <a:rPr b="0" sz="1500">
                <a:solidFill>
                  <a:srgbClr val="F2F2F2"/>
                </a:solidFill>
                <a:latin typeface="Arial"/>
              </a:rPr>
              <a:t> magazinele/categoriile ai scrie zeci de </a:t>
            </a:r>
            <a:r>
              <a:rPr sz="1500">
                <a:solidFill>
                  <a:srgbClr val="FFA24E"/>
                </a:solidFill>
                <a:latin typeface="Consolas"/>
              </a:rPr>
              <a:t>SUMIF</a:t>
            </a:r>
            <a:r>
              <a:rPr b="0" sz="1500">
                <a:solidFill>
                  <a:srgbClr val="F2F2F2"/>
                </a:solidFill>
                <a:latin typeface="Arial"/>
              </a:rPr>
              <a:t>-uri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4962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Azi le </a:t>
            </a:r>
            <a:r>
              <a:rPr b="1" sz="1400">
                <a:solidFill>
                  <a:srgbClr val="F2F2F2"/>
                </a:solidFill>
                <a:latin typeface="Arial"/>
              </a:rPr>
              <a:t>sumarizezi</a:t>
            </a:r>
            <a:r>
              <a:rPr b="0" sz="1400">
                <a:solidFill>
                  <a:srgbClr val="F2F2F2"/>
                </a:solidFill>
                <a:latin typeface="Arial"/>
              </a:rPr>
              <a:t> dintr-o mișcare cu un </a:t>
            </a:r>
            <a:r>
              <a:rPr b="1" sz="1400">
                <a:solidFill>
                  <a:srgbClr val="F2F2F2"/>
                </a:solidFill>
                <a:latin typeface="Arial"/>
              </a:rPr>
              <a:t>PivotTable</a:t>
            </a:r>
            <a:r>
              <a:rPr b="0" sz="1400">
                <a:solidFill>
                  <a:srgbClr val="F2F2F2"/>
                </a:solidFill>
                <a:latin typeface="Arial"/>
              </a:rPr>
              <a:t> — toate feliile odată, fără o formulă per felie.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L16 · Pivot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inserezi un </a:t>
            </a:r>
            <a:r>
              <a:rPr b="1" sz="1400">
                <a:solidFill>
                  <a:srgbClr val="F2F2F2"/>
                </a:solidFill>
                <a:latin typeface="Arial"/>
              </a:rPr>
              <a:t>PivotTable</a:t>
            </a:r>
            <a:r>
              <a:rPr b="0" sz="1400">
                <a:solidFill>
                  <a:srgbClr val="F2F2F2"/>
                </a:solidFill>
                <a:latin typeface="Arial"/>
              </a:rPr>
              <a:t> și să tragi o dimensiune în </a:t>
            </a:r>
            <a:r>
              <a:rPr b="1" sz="1400">
                <a:solidFill>
                  <a:srgbClr val="F2F2F2"/>
                </a:solidFill>
                <a:latin typeface="Arial"/>
              </a:rPr>
              <a:t>Rows</a:t>
            </a:r>
            <a:r>
              <a:rPr b="0" sz="1400">
                <a:solidFill>
                  <a:srgbClr val="F2F2F2"/>
                </a:solidFill>
                <a:latin typeface="Arial"/>
              </a:rPr>
              <a:t> și o măsură în </a:t>
            </a:r>
            <a:r>
              <a:rPr b="1" sz="1400">
                <a:solidFill>
                  <a:srgbClr val="F2F2F2"/>
                </a:solidFill>
                <a:latin typeface="Arial"/>
              </a:rPr>
              <a:t>Values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Sum</a:t>
            </a:r>
            <a:r>
              <a:rPr b="0" sz="14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obții </a:t>
            </a:r>
            <a:r>
              <a:rPr b="1" sz="1400">
                <a:solidFill>
                  <a:srgbClr val="F2F2F2"/>
                </a:solidFill>
                <a:latin typeface="Arial"/>
              </a:rPr>
              <a:t>Revenue pe magazin</a:t>
            </a:r>
            <a:r>
              <a:rPr b="0" sz="1400">
                <a:solidFill>
                  <a:srgbClr val="F2F2F2"/>
                </a:solidFill>
                <a:latin typeface="Arial"/>
              </a:rPr>
              <a:t> (Cluj cel mai slab) și </a:t>
            </a:r>
            <a:r>
              <a:rPr b="1" sz="1400">
                <a:solidFill>
                  <a:srgbClr val="F2F2F2"/>
                </a:solidFill>
                <a:latin typeface="Arial"/>
              </a:rPr>
              <a:t>Revenue pe categorie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</a:t>
            </a:r>
            <a:r>
              <a:rPr b="1" sz="1400">
                <a:solidFill>
                  <a:srgbClr val="F2F2F2"/>
                </a:solidFill>
                <a:latin typeface="Arial"/>
              </a:rPr>
              <a:t>sortezi</a:t>
            </a:r>
            <a:r>
              <a:rPr b="0" sz="1400">
                <a:solidFill>
                  <a:srgbClr val="F2F2F2"/>
                </a:solidFill>
                <a:latin typeface="Arial"/>
              </a:rPr>
              <a:t> un pivot și să-l </a:t>
            </a:r>
            <a:r>
              <a:rPr b="1" sz="1400">
                <a:solidFill>
                  <a:srgbClr val="F2F2F2"/>
                </a:solidFill>
                <a:latin typeface="Arial"/>
              </a:rPr>
              <a:t>reîmprospătezi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Refresh</a:t>
            </a:r>
            <a:r>
              <a:rPr b="0" sz="14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înțelegi de ce magazinul vine din </a:t>
            </a:r>
            <a:r>
              <a:rPr sz="14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400">
                <a:solidFill>
                  <a:srgbClr val="F2F2F2"/>
                </a:solidFill>
                <a:latin typeface="Arial"/>
              </a:rPr>
              <a:t>, iar categoria din </a:t>
            </a:r>
            <a:r>
              <a:rPr sz="1400">
                <a:solidFill>
                  <a:srgbClr val="FFA24E"/>
                </a:solidFill>
                <a:latin typeface="Consolas"/>
              </a:rPr>
              <a:t>sales</a:t>
            </a:r>
            <a:r>
              <a:rPr b="0" sz="1400">
                <a:solidFill>
                  <a:srgbClr val="F2F2F2"/>
                </a:solidFill>
                <a:latin typeface="Arial"/>
              </a:rPr>
              <a:t> — </a:t>
            </a:r>
            <a:r>
              <a:rPr b="1" sz="1400">
                <a:solidFill>
                  <a:srgbClr val="F2F2F2"/>
                </a:solidFill>
                <a:latin typeface="Arial"/>
              </a:rPr>
              <a:t>grain-ul</a:t>
            </a:r>
            <a:r>
              <a:rPr b="0" sz="1400">
                <a:solidFill>
                  <a:srgbClr val="F2F2F2"/>
                </a:solidFill>
                <a:latin typeface="Arial"/>
              </a:rPr>
              <a:t> alege tabelul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L16 · Pivot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SETUP · CE E UN PIVOTTABLE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Fișierul și ideea de „grămezi”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Deschizi 📎 </a:t>
            </a:r>
            <a:r>
              <a:rPr sz="1500">
                <a:solidFill>
                  <a:srgbClr val="FFA24E"/>
                </a:solidFill>
                <a:latin typeface="Consolas"/>
              </a:rPr>
              <a:t>L16_pivots.xlsx</a:t>
            </a:r>
            <a:r>
              <a:rPr b="0" sz="1500">
                <a:solidFill>
                  <a:srgbClr val="F2F2F2"/>
                </a:solidFill>
                <a:latin typeface="Arial"/>
              </a:rPr>
              <a:t>: </a:t>
            </a:r>
            <a:r>
              <a:rPr sz="15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500">
                <a:solidFill>
                  <a:srgbClr val="F2F2F2"/>
                </a:solidFill>
                <a:latin typeface="Arial"/>
              </a:rPr>
              <a:t> (cu </a:t>
            </a:r>
            <a:r>
              <a:rPr sz="1500">
                <a:solidFill>
                  <a:srgbClr val="FFA24E"/>
                </a:solidFill>
                <a:latin typeface="Consolas"/>
              </a:rPr>
              <a:t>City</a:t>
            </a:r>
            <a:r>
              <a:rPr b="0" sz="1500">
                <a:solidFill>
                  <a:srgbClr val="F2F2F2"/>
                </a:solidFill>
                <a:latin typeface="Arial"/>
              </a:rPr>
              <a:t> adus din L15) și </a:t>
            </a:r>
            <a:r>
              <a:rPr sz="1500">
                <a:solidFill>
                  <a:srgbClr val="FFA24E"/>
                </a:solidFill>
                <a:latin typeface="Consolas"/>
              </a:rPr>
              <a:t>sales</a:t>
            </a:r>
            <a:r>
              <a:rPr b="0" sz="1500">
                <a:solidFill>
                  <a:srgbClr val="F2F2F2"/>
                </a:solidFill>
                <a:latin typeface="Arial"/>
              </a:rPr>
              <a:t> (liniile de comandă, cu </a:t>
            </a:r>
            <a:r>
              <a:rPr sz="1500">
                <a:solidFill>
                  <a:srgbClr val="FFA24E"/>
                </a:solidFill>
                <a:latin typeface="Consolas"/>
              </a:rPr>
              <a:t>LineValue</a:t>
            </a:r>
            <a:r>
              <a:rPr b="0" sz="1500">
                <a:solidFill>
                  <a:srgbClr val="F2F2F2"/>
                </a:solidFill>
                <a:latin typeface="Arial"/>
              </a:rPr>
              <a:t> și </a:t>
            </a:r>
            <a:r>
              <a:rPr sz="1500">
                <a:solidFill>
                  <a:srgbClr val="FFA24E"/>
                </a:solidFill>
                <a:latin typeface="Consolas"/>
              </a:rPr>
              <a:t>CategoryName</a:t>
            </a:r>
            <a:r>
              <a:rPr b="0" sz="1500">
                <a:solidFill>
                  <a:srgbClr val="F2F2F2"/>
                </a:solidFill>
                <a:latin typeface="Arial"/>
              </a:rPr>
              <a:t>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30764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Un pivot ia un tabel și îl </a:t>
            </a:r>
            <a:r>
              <a:rPr b="1" sz="1400">
                <a:solidFill>
                  <a:srgbClr val="F2F2F2"/>
                </a:solidFill>
                <a:latin typeface="Arial"/>
              </a:rPr>
              <a:t>rezumă</a:t>
            </a:r>
            <a:r>
              <a:rPr b="0" sz="1400">
                <a:solidFill>
                  <a:srgbClr val="F2F2F2"/>
                </a:solidFill>
                <a:latin typeface="Arial"/>
              </a:rPr>
              <a:t>: grupează rândurile după o dimensiune și </a:t>
            </a:r>
            <a:r>
              <a:rPr b="1" sz="1400">
                <a:solidFill>
                  <a:srgbClr val="F2F2F2"/>
                </a:solidFill>
                <a:latin typeface="Arial"/>
              </a:rPr>
              <a:t>agregă</a:t>
            </a:r>
            <a:r>
              <a:rPr b="0" sz="1400">
                <a:solidFill>
                  <a:srgbClr val="F2F2F2"/>
                </a:solidFill>
                <a:latin typeface="Arial"/>
              </a:rPr>
              <a:t> o măsură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E ca și cum golești un coș pe masă și faci </a:t>
            </a:r>
            <a:r>
              <a:rPr b="1" sz="1400">
                <a:solidFill>
                  <a:srgbClr val="F2F2F2"/>
                </a:solidFill>
                <a:latin typeface="Arial"/>
              </a:rPr>
              <a:t>grămezi</a:t>
            </a:r>
            <a:r>
              <a:rPr b="0" sz="1400">
                <a:solidFill>
                  <a:srgbClr val="F2F2F2"/>
                </a:solidFill>
                <a:latin typeface="Arial"/>
              </a:rPr>
              <a:t> (toate laptopurile la un loc)…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…apoi </a:t>
            </a:r>
            <a:r>
              <a:rPr b="1" sz="1400">
                <a:solidFill>
                  <a:srgbClr val="F2F2F2"/>
                </a:solidFill>
                <a:latin typeface="Arial"/>
              </a:rPr>
              <a:t>cântărești</a:t>
            </a:r>
            <a:r>
              <a:rPr b="0" sz="1400">
                <a:solidFill>
                  <a:srgbClr val="F2F2F2"/>
                </a:solidFill>
                <a:latin typeface="Arial"/>
              </a:rPr>
              <a:t> (aduni) fiecare grămadă. Tu spui </a:t>
            </a:r>
            <a:r>
              <a:rPr i="1" sz="1400">
                <a:solidFill>
                  <a:srgbClr val="F2F2F2"/>
                </a:solidFill>
                <a:latin typeface="Arial"/>
              </a:rPr>
              <a:t>după ce</a:t>
            </a:r>
            <a:r>
              <a:rPr b="0" sz="1400">
                <a:solidFill>
                  <a:srgbClr val="F2F2F2"/>
                </a:solidFill>
                <a:latin typeface="Arial"/>
              </a:rPr>
              <a:t> grupezi și </a:t>
            </a:r>
            <a:r>
              <a:rPr i="1" sz="1400">
                <a:solidFill>
                  <a:srgbClr val="F2F2F2"/>
                </a:solidFill>
                <a:latin typeface="Arial"/>
              </a:rPr>
              <a:t>ce</a:t>
            </a:r>
            <a:r>
              <a:rPr b="0" sz="1400">
                <a:solidFill>
                  <a:srgbClr val="F2F2F2"/>
                </a:solidFill>
                <a:latin typeface="Arial"/>
              </a:rPr>
              <a:t> cântărești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L16 · Pivot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„Dă-mi imaginea de ansamblu” (Elena)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0985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„Înainte să intrăm în septembrie, dă-mi imaginea de ansamblu: cât vinde </a:t>
            </a:r>
            <a:r>
              <a:rPr b="1" sz="1500">
                <a:solidFill>
                  <a:srgbClr val="F2F2F2"/>
                </a:solidFill>
                <a:latin typeface="Arial"/>
              </a:rPr>
              <a:t>fiecare magazin</a:t>
            </a:r>
            <a:r>
              <a:rPr b="0" sz="1500">
                <a:solidFill>
                  <a:srgbClr val="F2F2F2"/>
                </a:solidFill>
                <a:latin typeface="Arial"/>
              </a:rPr>
              <a:t> și cât face </a:t>
            </a:r>
            <a:r>
              <a:rPr b="1" sz="1500">
                <a:solidFill>
                  <a:srgbClr val="F2F2F2"/>
                </a:solidFill>
                <a:latin typeface="Arial"/>
              </a:rPr>
              <a:t>fiecare categorie</a:t>
            </a:r>
            <a:r>
              <a:rPr b="0" sz="1500">
                <a:solidFill>
                  <a:srgbClr val="F2F2F2"/>
                </a:solidFill>
                <a:latin typeface="Arial"/>
              </a:rPr>
              <a:t>. Vreau să știu unde stăm, per total, ca să știu cât de neobișnuit e Cluj.”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187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Ai putea scrie 8 </a:t>
            </a:r>
            <a:r>
              <a:rPr sz="1500">
                <a:solidFill>
                  <a:srgbClr val="FFA24E"/>
                </a:solidFill>
                <a:latin typeface="Consolas"/>
              </a:rPr>
              <a:t>SUMIF</a:t>
            </a:r>
            <a:r>
              <a:rPr b="0" sz="1500">
                <a:solidFill>
                  <a:srgbClr val="F2F2F2"/>
                </a:solidFill>
                <a:latin typeface="Arial"/>
              </a:rPr>
              <a:t>-uri pentru magazine și 30 pentru categorii... sau un pivot, care le face pe toate deodată.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L16 · Pivot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ANTI-EXEMPLU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pățit Ioana: 30 de SUMIF-uri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A scris </a:t>
            </a:r>
            <a:r>
              <a:rPr sz="1400">
                <a:solidFill>
                  <a:srgbClr val="FFA24E"/>
                </a:solidFill>
                <a:latin typeface="Consolas"/>
              </a:rPr>
              <a:t>SUMIF</a:t>
            </a:r>
            <a:r>
              <a:rPr b="0" sz="1400">
                <a:solidFill>
                  <a:srgbClr val="F2F2F2"/>
                </a:solidFill>
                <a:latin typeface="Arial"/>
              </a:rPr>
              <a:t> pentru „Laptops”, </a:t>
            </a:r>
            <a:r>
              <a:rPr sz="1400">
                <a:solidFill>
                  <a:srgbClr val="FFA24E"/>
                </a:solidFill>
                <a:latin typeface="Consolas"/>
              </a:rPr>
              <a:t>SUMIF</a:t>
            </a:r>
            <a:r>
              <a:rPr b="0" sz="1400">
                <a:solidFill>
                  <a:srgbClr val="F2F2F2"/>
                </a:solidFill>
                <a:latin typeface="Arial"/>
              </a:rPr>
              <a:t> pentru „Accessories”... la a </a:t>
            </a:r>
            <a:r>
              <a:rPr b="1" sz="1400">
                <a:solidFill>
                  <a:srgbClr val="F2F2F2"/>
                </a:solidFill>
                <a:latin typeface="Arial"/>
              </a:rPr>
              <a:t>șaptea</a:t>
            </a:r>
            <a:r>
              <a:rPr b="0" sz="1400">
                <a:solidFill>
                  <a:srgbClr val="F2F2F2"/>
                </a:solidFill>
                <a:latin typeface="Arial"/>
              </a:rPr>
              <a:t> a realizat că sunt </a:t>
            </a:r>
            <a:r>
              <a:rPr b="1" sz="1400">
                <a:solidFill>
                  <a:srgbClr val="F2F2F2"/>
                </a:solidFill>
                <a:latin typeface="Arial"/>
              </a:rPr>
              <a:t>30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Dacă apare o categorie nouă, trebuie să adauge încă un rând </a:t>
            </a:r>
            <a:r>
              <a:rPr b="1" sz="1400">
                <a:solidFill>
                  <a:srgbClr val="F2F2F2"/>
                </a:solidFill>
                <a:latin typeface="Arial"/>
              </a:rPr>
              <a:t>de mână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O oră de muncă pentru ceva ce un pivot face în </a:t>
            </a:r>
            <a:r>
              <a:rPr b="1" sz="1400">
                <a:solidFill>
                  <a:srgbClr val="F2F2F2"/>
                </a:solidFill>
                <a:latin typeface="Arial"/>
              </a:rPr>
              <a:t>10 secunde</a:t>
            </a:r>
            <a:r>
              <a:rPr b="0" sz="1400">
                <a:solidFill>
                  <a:srgbClr val="F2F2F2"/>
                </a:solidFill>
                <a:latin typeface="Arial"/>
              </a:rPr>
              <a:t> — și fără formule greșite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5818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Curiozitatea de azi: cum obții </a:t>
            </a:r>
            <a:r>
              <a:rPr b="1" sz="1400">
                <a:solidFill>
                  <a:srgbClr val="F2F2F2"/>
                </a:solidFill>
                <a:latin typeface="Arial"/>
              </a:rPr>
              <a:t>toate</a:t>
            </a:r>
            <a:r>
              <a:rPr b="0" sz="1400">
                <a:solidFill>
                  <a:srgbClr val="F2F2F2"/>
                </a:solidFill>
                <a:latin typeface="Arial"/>
              </a:rPr>
              <a:t> feliile odată (toate magazinele, toate categoriile), sortate, fără o formulă per felie?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L16 · Pivot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ORIENTARE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Rows, Values, Refresh — și grain-ul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Rows</a:t>
            </a:r>
            <a:r>
              <a:rPr b="0" sz="1400">
                <a:solidFill>
                  <a:srgbClr val="F2F2F2"/>
                </a:solidFill>
                <a:latin typeface="Arial"/>
              </a:rPr>
              <a:t> — dimensiunea pe care grupezi (</a:t>
            </a:r>
            <a:r>
              <a:rPr sz="1400">
                <a:solidFill>
                  <a:srgbClr val="FFA24E"/>
                </a:solidFill>
                <a:latin typeface="Consolas"/>
              </a:rPr>
              <a:t>City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CategoryName</a:t>
            </a:r>
            <a:r>
              <a:rPr b="0" sz="1400">
                <a:solidFill>
                  <a:srgbClr val="F2F2F2"/>
                </a:solidFill>
                <a:latin typeface="Arial"/>
              </a:rPr>
              <a:t>); fiecare valoare unică = un rând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Values</a:t>
            </a:r>
            <a:r>
              <a:rPr b="0" sz="1400">
                <a:solidFill>
                  <a:srgbClr val="F2F2F2"/>
                </a:solidFill>
                <a:latin typeface="Arial"/>
              </a:rPr>
              <a:t> — ce agregă și cum (</a:t>
            </a:r>
            <a:r>
              <a:rPr sz="1400">
                <a:solidFill>
                  <a:srgbClr val="FFA24E"/>
                </a:solidFill>
                <a:latin typeface="Consolas"/>
              </a:rPr>
              <a:t>Sum of TotalAmount</a:t>
            </a:r>
            <a:r>
              <a:rPr b="0" sz="1400">
                <a:solidFill>
                  <a:srgbClr val="F2F2F2"/>
                </a:solidFill>
                <a:latin typeface="Arial"/>
              </a:rPr>
              <a:t> = Revenue; poate fi </a:t>
            </a:r>
            <a:r>
              <a:rPr sz="1400">
                <a:solidFill>
                  <a:srgbClr val="FFA24E"/>
                </a:solidFill>
                <a:latin typeface="Consolas"/>
              </a:rPr>
              <a:t>Count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Average</a:t>
            </a:r>
            <a:r>
              <a:rPr b="0" sz="14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Refresh</a:t>
            </a:r>
            <a:r>
              <a:rPr b="0" sz="1400">
                <a:solidFill>
                  <a:srgbClr val="F2F2F2"/>
                </a:solidFill>
                <a:latin typeface="Arial"/>
              </a:rPr>
              <a:t> — pivotul e o „poză” a datelor; se schimbă → </a:t>
            </a:r>
            <a:r>
              <a:rPr sz="1400">
                <a:solidFill>
                  <a:srgbClr val="FFA24E"/>
                </a:solidFill>
                <a:latin typeface="Consolas"/>
              </a:rPr>
              <a:t>PivotTable Analyze &gt; Refresh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Grain</a:t>
            </a:r>
            <a:r>
              <a:rPr b="0" sz="1400">
                <a:solidFill>
                  <a:srgbClr val="F2F2F2"/>
                </a:solidFill>
                <a:latin typeface="Arial"/>
              </a:rPr>
              <a:t> (L7): magazin/lună din </a:t>
            </a:r>
            <a:r>
              <a:rPr sz="14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400">
                <a:solidFill>
                  <a:srgbClr val="F2F2F2"/>
                </a:solidFill>
                <a:latin typeface="Arial"/>
              </a:rPr>
              <a:t>; categorie din </a:t>
            </a:r>
            <a:r>
              <a:rPr sz="1400">
                <a:solidFill>
                  <a:srgbClr val="FFA24E"/>
                </a:solidFill>
                <a:latin typeface="Consolas"/>
              </a:rPr>
              <a:t>sales</a:t>
            </a:r>
            <a:r>
              <a:rPr b="0" sz="1400">
                <a:solidFill>
                  <a:srgbClr val="F2F2F2"/>
                </a:solidFill>
                <a:latin typeface="Arial"/>
              </a:rPr>
              <a:t> — întrebarea </a:t>
            </a:r>
            <a:r>
              <a:rPr b="1" sz="1400">
                <a:solidFill>
                  <a:srgbClr val="F2F2F2"/>
                </a:solidFill>
                <a:latin typeface="Arial"/>
              </a:rPr>
              <a:t>alege tabelul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L16 · Pivot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 pivot grupează și adună, singur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7033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Vrei…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În pivot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Exemplu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Grupezi pe o dimensiune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tragi câmpul în Rows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City sau CategoryName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Aduni o măsură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tragi câmpul în Values (Sum)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Sum of TotalAmount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Ordonezi rezultatul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sortezi coloana de valori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descrescător (topul)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40156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Regula de tip (L6): în </a:t>
            </a:r>
            <a:r>
              <a:rPr b="1" sz="1300">
                <a:solidFill>
                  <a:srgbClr val="F2F2F2"/>
                </a:solidFill>
                <a:latin typeface="Arial"/>
              </a:rPr>
              <a:t>Values</a:t>
            </a:r>
            <a:r>
              <a:rPr b="0" sz="1300">
                <a:solidFill>
                  <a:srgbClr val="F2F2F2"/>
                </a:solidFill>
                <a:latin typeface="Arial"/>
              </a:rPr>
              <a:t> pui o </a:t>
            </a:r>
            <a:r>
              <a:rPr b="1" sz="1300">
                <a:solidFill>
                  <a:srgbClr val="F2F2F2"/>
                </a:solidFill>
                <a:latin typeface="Arial"/>
              </a:rPr>
              <a:t>cantitate</a:t>
            </a:r>
            <a:r>
              <a:rPr b="0" sz="1300">
                <a:solidFill>
                  <a:srgbClr val="F2F2F2"/>
                </a:solidFill>
                <a:latin typeface="Arial"/>
              </a:rPr>
              <a:t> (</a:t>
            </a:r>
            <a:r>
              <a:rPr sz="13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300">
                <a:solidFill>
                  <a:srgbClr val="F2F2F2"/>
                </a:solidFill>
                <a:latin typeface="Arial"/>
              </a:rPr>
              <a:t>, </a:t>
            </a:r>
            <a:r>
              <a:rPr sz="1300">
                <a:solidFill>
                  <a:srgbClr val="FFA24E"/>
                </a:solidFill>
                <a:latin typeface="Consolas"/>
              </a:rPr>
              <a:t>LineValue</a:t>
            </a:r>
            <a:r>
              <a:rPr b="0" sz="1300">
                <a:solidFill>
                  <a:srgbClr val="F2F2F2"/>
                </a:solidFill>
                <a:latin typeface="Arial"/>
              </a:rPr>
              <a:t>) cu </a:t>
            </a:r>
            <a:r>
              <a:rPr sz="1300">
                <a:solidFill>
                  <a:srgbClr val="FFA24E"/>
                </a:solidFill>
                <a:latin typeface="Consolas"/>
              </a:rPr>
              <a:t>Sum</a:t>
            </a:r>
            <a:r>
              <a:rPr b="0" sz="1300">
                <a:solidFill>
                  <a:srgbClr val="F2F2F2"/>
                </a:solidFill>
                <a:latin typeface="Arial"/>
              </a:rPr>
              <a:t>; </a:t>
            </a:r>
            <a:r>
              <a:rPr b="1" sz="1300">
                <a:solidFill>
                  <a:srgbClr val="F2F2F2"/>
                </a:solidFill>
                <a:latin typeface="Arial"/>
              </a:rPr>
              <a:t>niciodată un cod</a:t>
            </a:r>
            <a:r>
              <a:rPr b="0" sz="1300">
                <a:solidFill>
                  <a:srgbClr val="F2F2F2"/>
                </a:solidFill>
                <a:latin typeface="Arial"/>
              </a:rPr>
              <a:t>. În </a:t>
            </a:r>
            <a:r>
              <a:rPr b="1" sz="1300">
                <a:solidFill>
                  <a:srgbClr val="F2F2F2"/>
                </a:solidFill>
                <a:latin typeface="Arial"/>
              </a:rPr>
              <a:t>Rows</a:t>
            </a:r>
            <a:r>
              <a:rPr b="0" sz="1300">
                <a:solidFill>
                  <a:srgbClr val="F2F2F2"/>
                </a:solidFill>
                <a:latin typeface="Arial"/>
              </a:rPr>
              <a:t>, o dimensiune </a:t>
            </a:r>
            <a:r>
              <a:rPr b="1" sz="1300">
                <a:solidFill>
                  <a:srgbClr val="F2F2F2"/>
                </a:solidFill>
                <a:latin typeface="Arial"/>
              </a:rPr>
              <a:t>cu nume</a:t>
            </a:r>
            <a:r>
              <a:rPr b="0" sz="13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L16 · Pivot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1 · REVENUE PE MAGAZIN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Pivot din </a:t>
            </a:r>
            <a:r>
              <a:rPr sz="3000">
                <a:solidFill>
                  <a:srgbClr val="FFA24E"/>
                </a:solidFill>
                <a:latin typeface="Consolas"/>
              </a:rPr>
              <a:t>orders</a:t>
            </a:r>
            <a:r>
              <a:rPr b="1" sz="3000">
                <a:solidFill>
                  <a:srgbClr val="F2F2F2"/>
                </a:solidFill>
                <a:latin typeface="Arial"/>
              </a:rPr>
              <a:t> (net)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955547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Insert &gt; PivotTable (din tblOrders)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Rows:   City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Values: Sum of TotalAmount   → sortează descrescător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2875788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7033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City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Sum of TotalAmount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București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7.535.215,95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…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…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Cluj-Napoca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1.987.932,42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4494276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300">
                <a:solidFill>
                  <a:srgbClr val="F2F2F2"/>
                </a:solidFill>
                <a:latin typeface="Arial"/>
              </a:rPr>
              <a:t>Cluj-Napoca e ultimul, de departe.</a:t>
            </a:r>
            <a:r>
              <a:rPr b="0" sz="1300">
                <a:solidFill>
                  <a:srgbClr val="F2F2F2"/>
                </a:solidFill>
                <a:latin typeface="Arial"/>
              </a:rPr>
              <a:t> Total = </a:t>
            </a:r>
            <a:r>
              <a:rPr sz="1300">
                <a:solidFill>
                  <a:srgbClr val="FFA24E"/>
                </a:solidFill>
                <a:latin typeface="Consolas"/>
              </a:rPr>
              <a:t>37.878.974,89</a:t>
            </a:r>
            <a:r>
              <a:rPr b="0" sz="1300">
                <a:solidFill>
                  <a:srgbClr val="F2F2F2"/>
                </a:solidFill>
                <a:latin typeface="Arial"/>
              </a:rPr>
              <a:t> (net, exact ca-n L13). Finding-ul se confirmă vizual, pe toate magazinele deodată.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L16 · Pivot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2 · REVENUE PE CATEGORIE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Pivot din </a:t>
            </a:r>
            <a:r>
              <a:rPr sz="3000">
                <a:solidFill>
                  <a:srgbClr val="FFA24E"/>
                </a:solidFill>
                <a:latin typeface="Consolas"/>
              </a:rPr>
              <a:t>sales</a:t>
            </a:r>
            <a:r>
              <a:rPr b="1" sz="3000">
                <a:solidFill>
                  <a:srgbClr val="F2F2F2"/>
                </a:solidFill>
                <a:latin typeface="Arial"/>
              </a:rPr>
              <a:t> (gross)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955547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Insert &gt; PivotTable (din tblSales)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Rows:   CategoryName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Values: Sum of LineValue   → sortează descrescător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2875788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69417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Categorie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Vânzări (gross)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Laptops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5.631.962,64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Accessories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5.345.068,64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Fitness Equipment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3.572.469,73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Tablets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3.406.003,98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L16 · Pivot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3 · GROSS VS 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De ce diferă totalurile (discounturile)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7033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Total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Sursă / grain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Valoare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Net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orders (comandă)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37.878.974,89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Gross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sales (linie)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39.810.596,57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Diferența = discounturi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orders.Discount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1.931.621,68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401568"/>
            <a:ext cx="10874959" cy="18699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Revenue </a:t>
            </a:r>
            <a:r>
              <a:rPr b="1" sz="1300">
                <a:solidFill>
                  <a:srgbClr val="F2F2F2"/>
                </a:solidFill>
                <a:latin typeface="Arial"/>
              </a:rPr>
              <a:t>pe magazin</a:t>
            </a:r>
            <a:r>
              <a:rPr b="0" sz="1300">
                <a:solidFill>
                  <a:srgbClr val="F2F2F2"/>
                </a:solidFill>
                <a:latin typeface="Arial"/>
              </a:rPr>
              <a:t> din </a:t>
            </a:r>
            <a:r>
              <a:rPr sz="13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300">
                <a:solidFill>
                  <a:srgbClr val="F2F2F2"/>
                </a:solidFill>
                <a:latin typeface="Arial"/>
              </a:rPr>
              <a:t> (</a:t>
            </a:r>
            <a:r>
              <a:rPr b="1" sz="1300">
                <a:solidFill>
                  <a:srgbClr val="F2F2F2"/>
                </a:solidFill>
                <a:latin typeface="Arial"/>
              </a:rPr>
              <a:t>net</a:t>
            </a:r>
            <a:r>
              <a:rPr b="0" sz="1300">
                <a:solidFill>
                  <a:srgbClr val="F2F2F2"/>
                </a:solidFill>
                <a:latin typeface="Arial"/>
              </a:rPr>
              <a:t>); Revenue </a:t>
            </a:r>
            <a:r>
              <a:rPr b="1" sz="1300">
                <a:solidFill>
                  <a:srgbClr val="F2F2F2"/>
                </a:solidFill>
                <a:latin typeface="Arial"/>
              </a:rPr>
              <a:t>pe categorie</a:t>
            </a:r>
            <a:r>
              <a:rPr b="0" sz="1300">
                <a:solidFill>
                  <a:srgbClr val="F2F2F2"/>
                </a:solidFill>
                <a:latin typeface="Arial"/>
              </a:rPr>
              <a:t> din </a:t>
            </a:r>
            <a:r>
              <a:rPr sz="1300">
                <a:solidFill>
                  <a:srgbClr val="FFA24E"/>
                </a:solidFill>
                <a:latin typeface="Consolas"/>
              </a:rPr>
              <a:t>sales</a:t>
            </a:r>
            <a:r>
              <a:rPr b="0" sz="1300">
                <a:solidFill>
                  <a:srgbClr val="F2F2F2"/>
                </a:solidFill>
                <a:latin typeface="Arial"/>
              </a:rPr>
              <a:t> (</a:t>
            </a:r>
            <a:r>
              <a:rPr b="1" sz="1300">
                <a:solidFill>
                  <a:srgbClr val="F2F2F2"/>
                </a:solidFill>
                <a:latin typeface="Arial"/>
              </a:rPr>
              <a:t>gross</a:t>
            </a:r>
            <a:r>
              <a:rPr b="0" sz="1300">
                <a:solidFill>
                  <a:srgbClr val="F2F2F2"/>
                </a:solidFill>
                <a:latin typeface="Arial"/>
              </a:rPr>
              <a:t>). Diferența = discounturile, aplicate la nivel de comandă. </a:t>
            </a:r>
            <a:r>
              <a:rPr b="1" sz="1300">
                <a:solidFill>
                  <a:srgbClr val="F2F2F2"/>
                </a:solidFill>
                <a:latin typeface="Arial"/>
              </a:rPr>
              <a:t>Grain-ul alege tabelul</a:t>
            </a:r>
            <a:r>
              <a:rPr b="0" sz="1300">
                <a:solidFill>
                  <a:srgbClr val="F2F2F2"/>
                </a:solidFill>
                <a:latin typeface="Arial"/>
              </a:rPr>
              <a:t> (L7).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L16 · Pivot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 CE CONTEAZĂ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Greșelile pe care le fac aproape toți juniorii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Scrii o formulă per felie</a:t>
            </a:r>
            <a:r>
              <a:rPr b="0" sz="1400">
                <a:solidFill>
                  <a:srgbClr val="F2F2F2"/>
                </a:solidFill>
                <a:latin typeface="Arial"/>
              </a:rPr>
              <a:t> → un pivot face toate feliile deodată, sortate, refreshable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Cod în Rows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400">
                <a:solidFill>
                  <a:srgbClr val="F2F2F2"/>
                </a:solidFill>
                <a:latin typeface="Arial"/>
              </a:rPr>
              <a:t>) → pune dimensiunea </a:t>
            </a:r>
            <a:r>
              <a:rPr b="1" sz="1400">
                <a:solidFill>
                  <a:srgbClr val="F2F2F2"/>
                </a:solidFill>
                <a:latin typeface="Arial"/>
              </a:rPr>
              <a:t>cu nume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City</a:t>
            </a:r>
            <a:r>
              <a:rPr b="0" sz="1400">
                <a:solidFill>
                  <a:srgbClr val="F2F2F2"/>
                </a:solidFill>
                <a:latin typeface="Arial"/>
              </a:rPr>
              <a:t>, adusă în L15)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Cod în Values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400">
                <a:solidFill>
                  <a:srgbClr val="F2F2F2"/>
                </a:solidFill>
                <a:latin typeface="Arial"/>
              </a:rPr>
              <a:t>/</a:t>
            </a:r>
            <a:r>
              <a:rPr sz="1400">
                <a:solidFill>
                  <a:srgbClr val="FFA24E"/>
                </a:solidFill>
                <a:latin typeface="Consolas"/>
              </a:rPr>
              <a:t>OrderID</a:t>
            </a:r>
            <a:r>
              <a:rPr b="0" sz="1400">
                <a:solidFill>
                  <a:srgbClr val="F2F2F2"/>
                </a:solidFill>
                <a:latin typeface="Arial"/>
              </a:rPr>
              <a:t>) → pui o </a:t>
            </a:r>
            <a:r>
              <a:rPr b="1" sz="1400">
                <a:solidFill>
                  <a:srgbClr val="F2F2F2"/>
                </a:solidFill>
                <a:latin typeface="Arial"/>
              </a:rPr>
              <a:t>cantitate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400">
                <a:solidFill>
                  <a:srgbClr val="F2F2F2"/>
                </a:solidFill>
                <a:latin typeface="Arial"/>
              </a:rPr>
              <a:t>) cu </a:t>
            </a:r>
            <a:r>
              <a:rPr sz="1400">
                <a:solidFill>
                  <a:srgbClr val="FFA24E"/>
                </a:solidFill>
                <a:latin typeface="Consolas"/>
              </a:rPr>
              <a:t>Sum</a:t>
            </a:r>
            <a:r>
              <a:rPr b="0" sz="1400">
                <a:solidFill>
                  <a:srgbClr val="F2F2F2"/>
                </a:solidFill>
                <a:latin typeface="Arial"/>
              </a:rPr>
              <a:t>, nu un cod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Confunzi gross cu net</a:t>
            </a:r>
            <a:r>
              <a:rPr b="0" sz="1400">
                <a:solidFill>
                  <a:srgbClr val="F2F2F2"/>
                </a:solidFill>
                <a:latin typeface="Arial"/>
              </a:rPr>
              <a:t> → linie = gross, comandă = net; spui mereu </a:t>
            </a:r>
            <a:r>
              <a:rPr i="1" sz="1400">
                <a:solidFill>
                  <a:srgbClr val="F2F2F2"/>
                </a:solidFill>
                <a:latin typeface="Arial"/>
              </a:rPr>
              <a:t>care</a:t>
            </a:r>
            <a:r>
              <a:rPr b="0" sz="1400">
                <a:solidFill>
                  <a:srgbClr val="F2F2F2"/>
                </a:solidFill>
                <a:latin typeface="Arial"/>
              </a:rPr>
              <a:t>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L16 · Pivot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Milestone: imaginea de ansamblu, sumarizată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Un </a:t>
            </a:r>
            <a:r>
              <a:rPr b="1" sz="1400">
                <a:solidFill>
                  <a:srgbClr val="F2F2F2"/>
                </a:solidFill>
                <a:latin typeface="Arial"/>
              </a:rPr>
              <a:t>PivotTable</a:t>
            </a:r>
            <a:r>
              <a:rPr b="0" sz="1400">
                <a:solidFill>
                  <a:srgbClr val="F2F2F2"/>
                </a:solidFill>
                <a:latin typeface="Arial"/>
              </a:rPr>
              <a:t> grupează pe o dimensiune (</a:t>
            </a:r>
            <a:r>
              <a:rPr b="1" sz="1400">
                <a:solidFill>
                  <a:srgbClr val="F2F2F2"/>
                </a:solidFill>
                <a:latin typeface="Arial"/>
              </a:rPr>
              <a:t>Rows</a:t>
            </a:r>
            <a:r>
              <a:rPr b="0" sz="1400">
                <a:solidFill>
                  <a:srgbClr val="F2F2F2"/>
                </a:solidFill>
                <a:latin typeface="Arial"/>
              </a:rPr>
              <a:t>) și adună o măsură (</a:t>
            </a:r>
            <a:r>
              <a:rPr b="1" sz="1400">
                <a:solidFill>
                  <a:srgbClr val="F2F2F2"/>
                </a:solidFill>
                <a:latin typeface="Arial"/>
              </a:rPr>
              <a:t>Values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Sum</a:t>
            </a:r>
            <a:r>
              <a:rPr b="0" sz="1400">
                <a:solidFill>
                  <a:srgbClr val="F2F2F2"/>
                </a:solidFill>
                <a:latin typeface="Arial"/>
              </a:rPr>
              <a:t>) — toate feliile odată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Dimensiune cu nume</a:t>
            </a:r>
            <a:r>
              <a:rPr b="0" sz="1400">
                <a:solidFill>
                  <a:srgbClr val="F2F2F2"/>
                </a:solidFill>
                <a:latin typeface="Arial"/>
              </a:rPr>
              <a:t> în Rows, </a:t>
            </a:r>
            <a:r>
              <a:rPr b="1" sz="1400">
                <a:solidFill>
                  <a:srgbClr val="F2F2F2"/>
                </a:solidFill>
                <a:latin typeface="Arial"/>
              </a:rPr>
              <a:t>cantitate</a:t>
            </a:r>
            <a:r>
              <a:rPr b="0" sz="1400">
                <a:solidFill>
                  <a:srgbClr val="F2F2F2"/>
                </a:solidFill>
                <a:latin typeface="Arial"/>
              </a:rPr>
              <a:t> în Values; niciodată un cod în Values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Grain-ul alege tabelul</a:t>
            </a:r>
            <a:r>
              <a:rPr b="0" sz="1400">
                <a:solidFill>
                  <a:srgbClr val="F2F2F2"/>
                </a:solidFill>
                <a:latin typeface="Arial"/>
              </a:rPr>
              <a:t>: magazin din </a:t>
            </a:r>
            <a:r>
              <a:rPr sz="14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400">
                <a:solidFill>
                  <a:srgbClr val="F2F2F2"/>
                </a:solidFill>
                <a:latin typeface="Arial"/>
              </a:rPr>
              <a:t> (net), categorie din </a:t>
            </a:r>
            <a:r>
              <a:rPr sz="1400">
                <a:solidFill>
                  <a:srgbClr val="FFA24E"/>
                </a:solidFill>
                <a:latin typeface="Consolas"/>
              </a:rPr>
              <a:t>sales</a:t>
            </a:r>
            <a:r>
              <a:rPr b="0" sz="1400">
                <a:solidFill>
                  <a:srgbClr val="F2F2F2"/>
                </a:solidFill>
                <a:latin typeface="Arial"/>
              </a:rPr>
              <a:t> (gross)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Cluj-Napoca e ultimul</a:t>
            </a:r>
            <a:r>
              <a:rPr b="0" sz="1400">
                <a:solidFill>
                  <a:srgbClr val="F2F2F2"/>
                </a:solidFill>
                <a:latin typeface="Arial"/>
              </a:rPr>
              <a:t>, de departe (</a:t>
            </a:r>
            <a:r>
              <a:rPr sz="1400">
                <a:solidFill>
                  <a:srgbClr val="FFA24E"/>
                </a:solidFill>
                <a:latin typeface="Consolas"/>
              </a:rPr>
              <a:t>1.987.932,42</a:t>
            </a:r>
            <a:r>
              <a:rPr b="0" sz="1400">
                <a:solidFill>
                  <a:srgbClr val="F2F2F2"/>
                </a:solidFill>
                <a:latin typeface="Arial"/>
              </a:rPr>
              <a:t>) — un outlier negativ, nu doar „mai slab”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MILESTONE de proiect: </a:t>
            </a:r>
            <a:r>
              <a:rPr b="1" sz="1400">
                <a:solidFill>
                  <a:srgbClr val="F2F2F2"/>
                </a:solidFill>
                <a:latin typeface="Arial"/>
              </a:rPr>
              <a:t>imaginea de ansamblu, sumarizată.</a:t>
            </a:r>
            <a:r>
              <a:rPr b="0" sz="1400">
                <a:solidFill>
                  <a:srgbClr val="F2F2F2"/>
                </a:solidFill>
                <a:latin typeface="Arial"/>
              </a:rPr>
              <a:t> Punte → </a:t>
            </a:r>
            <a:r>
              <a:rPr b="1" sz="1400">
                <a:solidFill>
                  <a:srgbClr val="F2F2F2"/>
                </a:solidFill>
                <a:latin typeface="Arial"/>
              </a:rPr>
              <a:t>L17: Pivot Tables II</a:t>
            </a:r>
            <a:r>
              <a:rPr b="0" sz="1400">
                <a:solidFill>
                  <a:srgbClr val="F2F2F2"/>
                </a:solidFill>
                <a:latin typeface="Arial"/>
              </a:rPr>
              <a:t> — combini dimensiuni (categorie × magazin × lună), adaugi </a:t>
            </a:r>
            <a:r>
              <a:rPr sz="1400">
                <a:solidFill>
                  <a:srgbClr val="FFA24E"/>
                </a:solidFill>
                <a:latin typeface="Consolas"/>
              </a:rPr>
              <a:t>% din total</a:t>
            </a:r>
            <a:r>
              <a:rPr b="0" sz="1400">
                <a:solidFill>
                  <a:srgbClr val="F2F2F2"/>
                </a:solidFill>
                <a:latin typeface="Arial"/>
              </a:rPr>
              <a:t> și slicere.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L16 · Pivot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L16 · Pivot  ·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