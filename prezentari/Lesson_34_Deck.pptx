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de capstone — kickoff (~30 min) + lucru independent între sesiuni; livrare la L35. Nimic nou de învățat: studentul are toate piesele. Mesajul: proba că poți face totul singur, fără schelă. Cazul: loialitate / valoarea clientului.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L33: recomandarea, rebalansezi nu amputezi, cazul dus solo. Azi începe capstone-ul, fără schelă.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§1: capstone = proba independenței. Nimic nou de învățat; ai toate piesele.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§2: Andrei transmite cererea conducerii. Întrebarea e vagă — prima muncă e s-o framezi. Un caz nou, nu o reluare.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§3: cele 7 piese. 1-6 sunt proiectul (între sesiuni), piesa 7 e apărarea (L35).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§4: Data Thinking Framework, pe care l-ai făcut singur în M6. Un framing bun face restul aproape mecanic.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§5: cele 3 surse. Tu decizi ce folosești și cum.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§4 callout: reflexele pe care le folosești din instinct la capstone. Nu ți le spune nimeni.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§6: rubrica pe 5 competențe, fiecare la Level 3+. Deasupra a tot: nu livrăm rapoarte, livrăm răspunsuri.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§7: checklist-ul de livrare. Prezentarea de 3 min e pentru L35.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§8: sfaturile lui Andrei. Framează întâi, reconciliază, mai multe unghiuri, nu supra-reacționa. E analiza 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§9: la L35 prezinți și aperi. Ultimul pas al cursului: de la «am învățat piesele» la «pot livra și apăra».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7 · LECȚIA 34 ·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Capstone: un caz nou, cap-coadă, singur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Cine sunt cei mai valoroși clienți — și cum le creștem valoarea?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20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ai închis Modulul 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În L33 ai transformat un reveal într-o </a:t>
            </a:r>
            <a:r>
              <a:rPr b="1" sz="1500">
                <a:solidFill>
                  <a:srgbClr val="F2F2F2"/>
                </a:solidFill>
                <a:latin typeface="Arial"/>
              </a:rPr>
              <a:t>recomandare</a:t>
            </a:r>
            <a:r>
              <a:rPr b="0" sz="1500">
                <a:solidFill>
                  <a:srgbClr val="F2F2F2"/>
                </a:solidFill>
                <a:latin typeface="Arial"/>
              </a:rPr>
              <a:t>: constatare → decizie → impact → compromis onest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Rebalansezi, nu amputezi</a:t>
            </a:r>
            <a:r>
              <a:rPr b="0" sz="1500">
                <a:solidFill>
                  <a:srgbClr val="F2F2F2"/>
                </a:solidFill>
                <a:latin typeface="Arial"/>
              </a:rPr>
              <a:t> — profit absolut = marjă × volum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dus un caz nou cap-coadă, </a:t>
            </a:r>
            <a:r>
              <a:rPr b="1" sz="1500">
                <a:solidFill>
                  <a:srgbClr val="F2F2F2"/>
                </a:solidFill>
                <a:latin typeface="Arial"/>
              </a:rPr>
              <a:t>singur</a:t>
            </a:r>
            <a:r>
              <a:rPr b="0" sz="1500">
                <a:solidFill>
                  <a:srgbClr val="F2F2F2"/>
                </a:solidFill>
                <a:latin typeface="Arial"/>
              </a:rPr>
              <a:t>: framing (L31) + execuție (L32) + recomandare (L33)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Ai exersat fiecare pas cu o schelă. Azi începe </a:t>
            </a:r>
            <a:r>
              <a:rPr b="1" sz="1400">
                <a:solidFill>
                  <a:srgbClr val="F2F2F2"/>
                </a:solidFill>
                <a:latin typeface="Arial"/>
              </a:rPr>
              <a:t>capstone-ul</a:t>
            </a:r>
            <a:r>
              <a:rPr b="0" sz="1400">
                <a:solidFill>
                  <a:srgbClr val="F2F2F2"/>
                </a:solidFill>
                <a:latin typeface="Arial"/>
              </a:rPr>
              <a:t>: le pui pe toate cap la cap — </a:t>
            </a:r>
            <a:r>
              <a:rPr b="1" sz="1400">
                <a:solidFill>
                  <a:srgbClr val="F2F2F2"/>
                </a:solidFill>
                <a:latin typeface="Arial"/>
              </a:rPr>
              <a:t>fără nicio schelă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 · CE E CAPSTONE-UL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Capstone: proba că poți face totul singur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Până acum ai avut mereu o schelă — o lecție care demonstra, un facilitator care ghida, o cifră de control dată. Aici </a:t>
            </a:r>
            <a:r>
              <a:rPr b="1" sz="1500">
                <a:solidFill>
                  <a:srgbClr val="F2F2F2"/>
                </a:solidFill>
                <a:latin typeface="Arial"/>
              </a:rPr>
              <a:t>nu</a:t>
            </a:r>
            <a:r>
              <a:rPr b="0" sz="1500">
                <a:solidFill>
                  <a:srgbClr val="F2F2F2"/>
                </a:solidFill>
                <a:latin typeface="Arial"/>
              </a:rPr>
              <a:t>. Primești o problemă de business </a:t>
            </a:r>
            <a:r>
              <a:rPr b="1" sz="1500">
                <a:solidFill>
                  <a:srgbClr val="F2F2F2"/>
                </a:solidFill>
                <a:latin typeface="Arial"/>
              </a:rPr>
              <a:t>nouă</a:t>
            </a:r>
            <a:r>
              <a:rPr b="0" sz="1500">
                <a:solidFill>
                  <a:srgbClr val="F2F2F2"/>
                </a:solidFill>
                <a:latin typeface="Arial"/>
              </a:rPr>
              <a:t> și o duci cap-coadă, singur.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58303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</a:t>
            </a:r>
            <a:r>
              <a:rPr b="1" sz="1400">
                <a:solidFill>
                  <a:srgbClr val="F2F2F2"/>
                </a:solidFill>
                <a:latin typeface="Arial"/>
              </a:rPr>
              <a:t>framezi</a:t>
            </a:r>
            <a:r>
              <a:rPr b="0" sz="1400">
                <a:solidFill>
                  <a:srgbClr val="F2F2F2"/>
                </a:solidFill>
                <a:latin typeface="Arial"/>
              </a:rPr>
              <a:t>, o </a:t>
            </a:r>
            <a:r>
              <a:rPr b="1" sz="1400">
                <a:solidFill>
                  <a:srgbClr val="F2F2F2"/>
                </a:solidFill>
                <a:latin typeface="Arial"/>
              </a:rPr>
              <a:t>analizezi</a:t>
            </a:r>
            <a:r>
              <a:rPr b="0" sz="1400">
                <a:solidFill>
                  <a:srgbClr val="F2F2F2"/>
                </a:solidFill>
                <a:latin typeface="Arial"/>
              </a:rPr>
              <a:t>, o pui pe un </a:t>
            </a:r>
            <a:r>
              <a:rPr b="1" sz="1400">
                <a:solidFill>
                  <a:srgbClr val="F2F2F2"/>
                </a:solidFill>
                <a:latin typeface="Arial"/>
              </a:rPr>
              <a:t>dashboard</a:t>
            </a:r>
            <a:r>
              <a:rPr b="0" sz="1400">
                <a:solidFill>
                  <a:srgbClr val="F2F2F2"/>
                </a:solidFill>
                <a:latin typeface="Arial"/>
              </a:rPr>
              <a:t>, formulezi o </a:t>
            </a:r>
            <a:r>
              <a:rPr b="1" sz="1400">
                <a:solidFill>
                  <a:srgbClr val="F2F2F2"/>
                </a:solidFill>
                <a:latin typeface="Arial"/>
              </a:rPr>
              <a:t>recomandare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La </a:t>
            </a:r>
            <a:r>
              <a:rPr b="1" sz="1400">
                <a:solidFill>
                  <a:srgbClr val="F2F2F2"/>
                </a:solidFill>
                <a:latin typeface="Arial"/>
              </a:rPr>
              <a:t>L35</a:t>
            </a:r>
            <a:r>
              <a:rPr b="0" sz="1400">
                <a:solidFill>
                  <a:srgbClr val="F2F2F2"/>
                </a:solidFill>
                <a:latin typeface="Arial"/>
              </a:rPr>
              <a:t> o </a:t>
            </a:r>
            <a:r>
              <a:rPr b="1" sz="1400">
                <a:solidFill>
                  <a:srgbClr val="F2F2F2"/>
                </a:solidFill>
                <a:latin typeface="Arial"/>
              </a:rPr>
              <a:t>aperi</a:t>
            </a:r>
            <a:r>
              <a:rPr b="0" sz="1400">
                <a:solidFill>
                  <a:srgbClr val="F2F2F2"/>
                </a:solidFill>
                <a:latin typeface="Arial"/>
              </a:rPr>
              <a:t> în fața unui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096959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Nimic nou de învățat.</a:t>
            </a:r>
            <a:r>
              <a:rPr b="0" sz="1400">
                <a:solidFill>
                  <a:srgbClr val="F2F2F2"/>
                </a:solidFill>
                <a:latin typeface="Arial"/>
              </a:rPr>
              <a:t> Ai toate piesele — framing (L31), execuție (L32), dashboard (M5), recomandare (L33), prezentare (L30).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 · CAZUL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Cazul de business (de la conducere, via 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„Conducerea vrea să înțeleagă </a:t>
            </a:r>
            <a:r>
              <a:rPr b="1" sz="1400">
                <a:solidFill>
                  <a:srgbClr val="F2F2F2"/>
                </a:solidFill>
                <a:latin typeface="Arial"/>
              </a:rPr>
              <a:t>clienții</a:t>
            </a:r>
            <a:r>
              <a:rPr b="0" sz="1400">
                <a:solidFill>
                  <a:srgbClr val="F2F2F2"/>
                </a:solidFill>
                <a:latin typeface="Arial"/>
              </a:rPr>
              <a:t>, nu doar vânzările: «Cine sunt cei mai valoroși clienți ai noștri — și cum le creștem valoarea? Merită programul de loialitate?» Fă tu analiza, cap-coadă. Vineri o </a:t>
            </a:r>
            <a:r>
              <a:rPr b="1" sz="1400">
                <a:solidFill>
                  <a:srgbClr val="F2F2F2"/>
                </a:solidFill>
                <a:latin typeface="Arial"/>
              </a:rPr>
              <a:t>aperi</a:t>
            </a:r>
            <a:r>
              <a:rPr b="0" sz="1400">
                <a:solidFill>
                  <a:srgbClr val="F2F2F2"/>
                </a:solidFill>
                <a:latin typeface="Arial"/>
              </a:rPr>
              <a:t>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904488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⚠️ </a:t>
            </a:r>
            <a:r>
              <a:rPr b="1" sz="1400">
                <a:solidFill>
                  <a:srgbClr val="F2F2F2"/>
                </a:solidFill>
                <a:latin typeface="Arial"/>
              </a:rPr>
              <a:t>Un caz nou, nu o reluare.</a:t>
            </a:r>
            <a:r>
              <a:rPr b="0" sz="1400">
                <a:solidFill>
                  <a:srgbClr val="F2F2F2"/>
                </a:solidFill>
                <a:latin typeface="Arial"/>
              </a:rPr>
              <a:t> E despre </a:t>
            </a:r>
            <a:r>
              <a:rPr b="1" sz="1400">
                <a:solidFill>
                  <a:srgbClr val="F2F2F2"/>
                </a:solidFill>
                <a:latin typeface="Arial"/>
              </a:rPr>
              <a:t>loialitate/clienți</a:t>
            </a:r>
            <a:r>
              <a:rPr b="0" sz="1400">
                <a:solidFill>
                  <a:srgbClr val="F2F2F2"/>
                </a:solidFill>
                <a:latin typeface="Arial"/>
              </a:rPr>
              <a:t> — diferit de investigația din septembrie și de profitabilitate. Prima ta muncă: s-o </a:t>
            </a:r>
            <a:r>
              <a:rPr b="1" sz="1400">
                <a:solidFill>
                  <a:srgbClr val="F2F2F2"/>
                </a:solidFill>
                <a:latin typeface="Arial"/>
              </a:rPr>
              <a:t>framezi</a:t>
            </a:r>
            <a:r>
              <a:rPr b="0" sz="1400">
                <a:solidFill>
                  <a:srgbClr val="F2F2F2"/>
                </a:solidFill>
                <a:latin typeface="Arial"/>
              </a:rPr>
              <a:t> (ca la L31) — ce înseamnă „valoros”?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CE LIVREZI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Cerințele unui capstone valid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04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Piesă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înseamnă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Problema + întrebările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framing: întrebare ascuțită + 2–4 sub-întrebări + măsura(le)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Datele + KPI-urile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 tabele/câmpuri, la ce grain; ce metrici (definiție + formulă)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Analiza reconciliată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interogările/calculul, un total cunoscut se potrivește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Concluziile interpretate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reveal-ul, în propoziții, nu tabele brute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Dashboard-ul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comunică (Findings → Insights → Recommendations)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Recomandările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decizie ancorată + impact + compromis onest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Prezentarea apărată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(L35) 3 min: BLUF + poveste + obiecții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864608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Piesele 1–6 sunt proiectul (între sesiuni); piesa 7 e apărarea (L35).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PROCESUL · HARTA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Procesul — ai mai mers pe 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1 </a:t>
            </a:r>
            <a:r>
              <a:rPr b="1" sz="1300">
                <a:solidFill>
                  <a:srgbClr val="F2F2F2"/>
                </a:solidFill>
                <a:latin typeface="Arial"/>
              </a:rPr>
              <a:t>Framează</a:t>
            </a:r>
            <a:r>
              <a:rPr b="0" sz="1300">
                <a:solidFill>
                  <a:srgbClr val="F2F2F2"/>
                </a:solidFill>
                <a:latin typeface="Arial"/>
              </a:rPr>
              <a:t> (L31): ascute întrebarea → sub-întrebări → alege </a:t>
            </a:r>
            <a:r>
              <a:rPr b="1" sz="1300">
                <a:solidFill>
                  <a:srgbClr val="F2F2F2"/>
                </a:solidFill>
                <a:latin typeface="Arial"/>
              </a:rPr>
              <a:t>MĂSURA</a:t>
            </a:r>
            <a:r>
              <a:rPr b="0" sz="1300">
                <a:solidFill>
                  <a:srgbClr val="F2F2F2"/>
                </a:solidFill>
                <a:latin typeface="Arial"/>
              </a:rPr>
              <a:t> (ce înseamnă „valoros”?) → date + grain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2 </a:t>
            </a:r>
            <a:r>
              <a:rPr b="1" sz="1300">
                <a:solidFill>
                  <a:srgbClr val="F2F2F2"/>
                </a:solidFill>
                <a:latin typeface="Arial"/>
              </a:rPr>
              <a:t>Execută + reconciliază</a:t>
            </a:r>
            <a:r>
              <a:rPr b="0" sz="1300">
                <a:solidFill>
                  <a:srgbClr val="F2F2F2"/>
                </a:solidFill>
                <a:latin typeface="Arial"/>
              </a:rPr>
              <a:t> (L32): trage cifrele și </a:t>
            </a:r>
            <a:r>
              <a:rPr b="1" sz="1300">
                <a:solidFill>
                  <a:srgbClr val="F2F2F2"/>
                </a:solidFill>
                <a:latin typeface="Arial"/>
              </a:rPr>
              <a:t>verifică un total cunoscut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3 </a:t>
            </a:r>
            <a:r>
              <a:rPr b="1" sz="1300">
                <a:solidFill>
                  <a:srgbClr val="F2F2F2"/>
                </a:solidFill>
                <a:latin typeface="Arial"/>
              </a:rPr>
              <a:t>Vizualizează</a:t>
            </a:r>
            <a:r>
              <a:rPr b="0" sz="1300">
                <a:solidFill>
                  <a:srgbClr val="F2F2F2"/>
                </a:solidFill>
                <a:latin typeface="Arial"/>
              </a:rPr>
              <a:t> (M5): un dashboard care </a:t>
            </a:r>
            <a:r>
              <a:rPr b="1" sz="1300">
                <a:solidFill>
                  <a:srgbClr val="F2F2F2"/>
                </a:solidFill>
                <a:latin typeface="Arial"/>
              </a:rPr>
              <a:t>comunică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4 </a:t>
            </a:r>
            <a:r>
              <a:rPr b="1" sz="1300">
                <a:solidFill>
                  <a:srgbClr val="F2F2F2"/>
                </a:solidFill>
                <a:latin typeface="Arial"/>
              </a:rPr>
              <a:t>Recomandă</a:t>
            </a:r>
            <a:r>
              <a:rPr b="0" sz="1300">
                <a:solidFill>
                  <a:srgbClr val="F2F2F2"/>
                </a:solidFill>
                <a:latin typeface="Arial"/>
              </a:rPr>
              <a:t> (L33): din reveal, o decizie ancorată; </a:t>
            </a:r>
            <a:r>
              <a:rPr b="1" sz="1300">
                <a:solidFill>
                  <a:srgbClr val="F2F2F2"/>
                </a:solidFill>
                <a:latin typeface="Arial"/>
              </a:rPr>
              <a:t>rebalansezi, nu amputezi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5 </a:t>
            </a:r>
            <a:r>
              <a:rPr b="1" sz="1300">
                <a:solidFill>
                  <a:srgbClr val="F2F2F2"/>
                </a:solidFill>
                <a:latin typeface="Arial"/>
              </a:rPr>
              <a:t>Prezintă &amp; apără</a:t>
            </a:r>
            <a:r>
              <a:rPr b="0" sz="1300">
                <a:solidFill>
                  <a:srgbClr val="F2F2F2"/>
                </a:solidFill>
                <a:latin typeface="Arial"/>
              </a:rPr>
              <a:t> (L30 → L35): BLUF, povestea, obiecțiile reîncadrate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framing bun face restul aproape mecanic.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DATELE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Datele pe care le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`orders_loyalty_flat.csv`</a:t>
            </a:r>
            <a:r>
              <a:rPr b="0" sz="1300">
                <a:solidFill>
                  <a:srgbClr val="F2F2F2"/>
                </a:solidFill>
                <a:latin typeface="Arial"/>
              </a:rPr>
              <a:t> — 14.968 comenzi, denormalizate: </a:t>
            </a:r>
            <a:r>
              <a:rPr sz="1300">
                <a:solidFill>
                  <a:srgbClr val="FFA24E"/>
                </a:solidFill>
                <a:latin typeface="Consolas"/>
              </a:rPr>
              <a:t>OrderID, OrderDate, Luna, CustomerID, Loialitate, Oras, Regiune, Revenue</a:t>
            </a:r>
            <a:r>
              <a:rPr b="0" sz="1300">
                <a:solidFill>
                  <a:srgbClr val="F2F2F2"/>
                </a:solidFill>
                <a:latin typeface="Arial"/>
              </a:rPr>
              <a:t> (dashboard + analiză pe loialitate)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`customers.csv`</a:t>
            </a:r>
            <a:r>
              <a:rPr b="0" sz="1300">
                <a:solidFill>
                  <a:srgbClr val="F2F2F2"/>
                </a:solidFill>
                <a:latin typeface="Arial"/>
              </a:rPr>
              <a:t> — cei 2.000 de clienți: </a:t>
            </a:r>
            <a:r>
              <a:rPr sz="1300">
                <a:solidFill>
                  <a:srgbClr val="FFA24E"/>
                </a:solidFill>
                <a:latin typeface="Consolas"/>
              </a:rPr>
              <a:t>CustomerID … City, RegistrationDate, LoyaltyLevel</a:t>
            </a:r>
            <a:r>
              <a:rPr b="0" sz="1300">
                <a:solidFill>
                  <a:srgbClr val="F2F2F2"/>
                </a:solidFill>
                <a:latin typeface="Arial"/>
              </a:rPr>
              <a:t> (clienți care nu au comandat; analiză per client)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`RetailHub.sql`</a:t>
            </a:r>
            <a:r>
              <a:rPr b="0" sz="1300">
                <a:solidFill>
                  <a:srgbClr val="F2F2F2"/>
                </a:solidFill>
                <a:latin typeface="Arial"/>
              </a:rPr>
              <a:t> — baza completă din M4; </a:t>
            </a:r>
            <a:r>
              <a:rPr sz="1300">
                <a:solidFill>
                  <a:srgbClr val="FFA24E"/>
                </a:solidFill>
                <a:latin typeface="Consolas"/>
              </a:rPr>
              <a:t>orders ⋈ customers</a:t>
            </a:r>
            <a:r>
              <a:rPr b="0" sz="1300">
                <a:solidFill>
                  <a:srgbClr val="F2F2F2"/>
                </a:solidFill>
                <a:latin typeface="Arial"/>
              </a:rPr>
              <a:t> îți dă tot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66744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⚠️ </a:t>
            </a:r>
            <a:r>
              <a:rPr b="1" sz="1400">
                <a:solidFill>
                  <a:srgbClr val="F2F2F2"/>
                </a:solidFill>
                <a:latin typeface="Arial"/>
              </a:rPr>
              <a:t>Tu decizi</a:t>
            </a:r>
            <a:r>
              <a:rPr b="0" sz="1400">
                <a:solidFill>
                  <a:srgbClr val="F2F2F2"/>
                </a:solidFill>
                <a:latin typeface="Arial"/>
              </a:rPr>
              <a:t> ce folosești și cum. Nimeni nu-ți spune ce interogare să scrii.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REFLEXE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Reflexele care te-au ajutat tot cursul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Reconciliază</a:t>
            </a:r>
            <a:r>
              <a:rPr b="0" sz="1400">
                <a:solidFill>
                  <a:srgbClr val="F2F2F2"/>
                </a:solidFill>
                <a:latin typeface="Arial"/>
              </a:rPr>
              <a:t> înainte să te încrezi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</a:t>
            </a:r>
            <a:r>
              <a:rPr b="1" sz="1400">
                <a:solidFill>
                  <a:srgbClr val="F2F2F2"/>
                </a:solidFill>
                <a:latin typeface="Arial"/>
              </a:rPr>
              <a:t>metrică singură</a:t>
            </a:r>
            <a:r>
              <a:rPr b="0" sz="1400">
                <a:solidFill>
                  <a:srgbClr val="F2F2F2"/>
                </a:solidFill>
                <a:latin typeface="Arial"/>
              </a:rPr>
              <a:t> poate păcăli — uită-te la mai multe unghiuri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Profit/valoare = mai mulți factori</a:t>
            </a:r>
            <a:r>
              <a:rPr b="0" sz="1400">
                <a:solidFill>
                  <a:srgbClr val="F2F2F2"/>
                </a:solidFill>
                <a:latin typeface="Arial"/>
              </a:rPr>
              <a:t> înmulțiți, nu unul singur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</a:t>
            </a:r>
            <a:r>
              <a:rPr b="1" sz="1400">
                <a:solidFill>
                  <a:srgbClr val="F2F2F2"/>
                </a:solidFill>
                <a:latin typeface="Arial"/>
              </a:rPr>
              <a:t>constatare nu e o recomandare</a:t>
            </a:r>
            <a:r>
              <a:rPr b="0" sz="1400">
                <a:solidFill>
                  <a:srgbClr val="F2F2F2"/>
                </a:solidFill>
                <a:latin typeface="Arial"/>
              </a:rPr>
              <a:t>; fii onest cu ce NU faci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Nu ți le spune nimeni la capstone — le folosești din reflex, exact cum le-ai exersat tot cursul.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EVALUARE · RUBRICA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5 dimensiuni (ținta: Level 3+)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Dimensiune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Level 3 (trecere) înseamnă...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Analytical Reasoning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ai framat o întrebare vagă într-un plan clar; analiza răspunde la ce ai întrebat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Data Interpretation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cifre corecte și </a:t>
                      </a:r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reconciliate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; citești ce spun (reveal-ul)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Business Understanding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legi analiza de grija reală (valoarea clientului)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Decision Quality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recomandare ancorată + </a:t>
                      </a:r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compromis onest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; nu supra-reacționezi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Communication Clarity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dashboard-ul comunică într-o privire; prezentarea deschide cu BLUF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13308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Deasupra a tot: </a:t>
            </a:r>
            <a:r>
              <a:rPr i="1" sz="1400">
                <a:solidFill>
                  <a:srgbClr val="F2F2F2"/>
                </a:solidFill>
                <a:latin typeface="Arial"/>
              </a:rPr>
              <a:t>nu livrăm rapoarte, livrăm răspunsuri.</a:t>
            </a:r>
            <a:r>
              <a:rPr b="0" sz="1400">
                <a:solidFill>
                  <a:srgbClr val="F2F2F2"/>
                </a:solidFill>
                <a:latin typeface="Arial"/>
              </a:rPr>
              <a:t> Fiecare piesă răspunde la „ce decizie sprijină asta?”.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Ești gata de livrat când...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Framing scris</a:t>
            </a:r>
            <a:r>
              <a:rPr b="0" sz="1300">
                <a:solidFill>
                  <a:srgbClr val="F2F2F2"/>
                </a:solidFill>
                <a:latin typeface="Arial"/>
              </a:rPr>
              <a:t> — întrebare ascuțită + sub-întrebări + măsura(le) definite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Analiză reconciliată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un total cunoscut se potrivește (Revenue </a:t>
            </a:r>
            <a:r>
              <a:rPr sz="1300">
                <a:solidFill>
                  <a:srgbClr val="FFA24E"/>
                </a:solidFill>
                <a:latin typeface="Consolas"/>
              </a:rPr>
              <a:t>37.878.974,89</a:t>
            </a:r>
            <a:r>
              <a:rPr b="0" sz="1300">
                <a:solidFill>
                  <a:srgbClr val="F2F2F2"/>
                </a:solidFill>
                <a:latin typeface="Arial"/>
              </a:rPr>
              <a:t> sau </a:t>
            </a:r>
            <a:r>
              <a:rPr sz="1300">
                <a:solidFill>
                  <a:srgbClr val="FFA24E"/>
                </a:solidFill>
                <a:latin typeface="Consolas"/>
              </a:rPr>
              <a:t>14.968</a:t>
            </a:r>
            <a:r>
              <a:rPr b="0" sz="1300">
                <a:solidFill>
                  <a:srgbClr val="F2F2F2"/>
                </a:solidFill>
                <a:latin typeface="Arial"/>
              </a:rPr>
              <a:t> comenzi)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Concluzii interpretate</a:t>
            </a:r>
            <a:r>
              <a:rPr b="0" sz="1300">
                <a:solidFill>
                  <a:srgbClr val="F2F2F2"/>
                </a:solidFill>
                <a:latin typeface="Arial"/>
              </a:rPr>
              <a:t> — reveal-ul în 2–3 propoziții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Dashboard</a:t>
            </a:r>
            <a:r>
              <a:rPr b="0" sz="1300">
                <a:solidFill>
                  <a:srgbClr val="F2F2F2"/>
                </a:solidFill>
                <a:latin typeface="Arial"/>
              </a:rPr>
              <a:t> — comunică (Findings → Insights → Recommendations)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Recomandare</a:t>
            </a:r>
            <a:r>
              <a:rPr b="0" sz="1300">
                <a:solidFill>
                  <a:srgbClr val="F2F2F2"/>
                </a:solidFill>
                <a:latin typeface="Arial"/>
              </a:rPr>
              <a:t> — decizie ancorată + impact + </a:t>
            </a:r>
            <a:r>
              <a:rPr b="1" sz="1300">
                <a:solidFill>
                  <a:srgbClr val="F2F2F2"/>
                </a:solidFill>
                <a:latin typeface="Arial"/>
              </a:rPr>
              <a:t>compromis onest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Caz nou, nu o reluare</a:t>
            </a:r>
            <a:r>
              <a:rPr b="0" sz="1400">
                <a:solidFill>
                  <a:srgbClr val="F2F2F2"/>
                </a:solidFill>
                <a:latin typeface="Arial"/>
              </a:rPr>
              <a:t> (clienți/loialitate). Auto-evaluează-te: cel puțin </a:t>
            </a:r>
            <a:r>
              <a:rPr b="1" sz="1400">
                <a:solidFill>
                  <a:srgbClr val="F2F2F2"/>
                </a:solidFill>
                <a:latin typeface="Arial"/>
              </a:rPr>
              <a:t>Level 3</a:t>
            </a:r>
            <a:r>
              <a:rPr b="0" sz="1400">
                <a:solidFill>
                  <a:srgbClr val="F2F2F2"/>
                </a:solidFill>
                <a:latin typeface="Arial"/>
              </a:rPr>
              <a:t> pe fiecare din cele 5 dimensiuni. Prezentarea (3 min) e pentru L35.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SFATURI · ANDREI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Sfaturi de la Andrei (fără spoilere)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Framează întâi.</a:t>
            </a:r>
            <a:r>
              <a:rPr b="0" sz="1300">
                <a:solidFill>
                  <a:srgbClr val="F2F2F2"/>
                </a:solidFill>
                <a:latin typeface="Arial"/>
              </a:rPr>
              <a:t> „Valoros” poate însemna mai multe — decide </a:t>
            </a:r>
            <a:r>
              <a:rPr b="1" sz="1300">
                <a:solidFill>
                  <a:srgbClr val="F2F2F2"/>
                </a:solidFill>
                <a:latin typeface="Arial"/>
              </a:rPr>
              <a:t>tu</a:t>
            </a:r>
            <a:r>
              <a:rPr b="0" sz="1300">
                <a:solidFill>
                  <a:srgbClr val="F2F2F2"/>
                </a:solidFill>
                <a:latin typeface="Arial"/>
              </a:rPr>
              <a:t> care și măsoară-l (mult per comandă? des? rămâne?)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Reconciliază.</a:t>
            </a:r>
            <a:r>
              <a:rPr b="0" sz="1300">
                <a:solidFill>
                  <a:srgbClr val="F2F2F2"/>
                </a:solidFill>
                <a:latin typeface="Arial"/>
              </a:rPr>
              <a:t> Prima cifră, verific-o cu un total pe care îl știi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Uită-te la mai multe unghiuri.</a:t>
            </a:r>
            <a:r>
              <a:rPr b="0" sz="1300">
                <a:solidFill>
                  <a:srgbClr val="F2F2F2"/>
                </a:solidFill>
                <a:latin typeface="Arial"/>
              </a:rPr>
              <a:t> O singură metrică minte ușor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Nu supra-reacționa.</a:t>
            </a:r>
            <a:r>
              <a:rPr b="0" sz="1300">
                <a:solidFill>
                  <a:srgbClr val="F2F2F2"/>
                </a:solidFill>
                <a:latin typeface="Arial"/>
              </a:rPr>
              <a:t> Gândește-te ce </a:t>
            </a:r>
            <a:r>
              <a:rPr b="1" sz="1300">
                <a:solidFill>
                  <a:srgbClr val="F2F2F2"/>
                </a:solidFill>
                <a:latin typeface="Arial"/>
              </a:rPr>
              <a:t>pierzi</a:t>
            </a:r>
            <a:r>
              <a:rPr b="0" sz="1300">
                <a:solidFill>
                  <a:srgbClr val="F2F2F2"/>
                </a:solidFill>
                <a:latin typeface="Arial"/>
              </a:rPr>
              <a:t> dacă acționezi — și spune-o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7271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„E </a:t>
            </a:r>
            <a:r>
              <a:rPr b="1" sz="1400">
                <a:solidFill>
                  <a:srgbClr val="F2F2F2"/>
                </a:solidFill>
                <a:latin typeface="Arial"/>
              </a:rPr>
              <a:t>analiza ta</a:t>
            </a:r>
            <a:r>
              <a:rPr b="0" sz="1400">
                <a:solidFill>
                  <a:srgbClr val="F2F2F2"/>
                </a:solidFill>
                <a:latin typeface="Arial"/>
              </a:rPr>
              <a:t>. Deciziile îți aparțin. Vineri le aperi. Nu căuta «răspunsul corect»; construiește unul pe care îl poți susține cu date.”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CE URMEAZĂ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L35 — apărarea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La </a:t>
            </a:r>
            <a:r>
              <a:rPr b="1" sz="1500">
                <a:solidFill>
                  <a:srgbClr val="F2F2F2"/>
                </a:solidFill>
                <a:latin typeface="Arial"/>
              </a:rPr>
              <a:t>L35</a:t>
            </a:r>
            <a:r>
              <a:rPr b="0" sz="1500">
                <a:solidFill>
                  <a:srgbClr val="F2F2F2"/>
                </a:solidFill>
                <a:latin typeface="Arial"/>
              </a:rPr>
              <a:t> prezinți analiza în fața unui panel simulat (Andrei + stakeholderi) și îți </a:t>
            </a:r>
            <a:r>
              <a:rPr b="1" sz="1500">
                <a:solidFill>
                  <a:srgbClr val="F2F2F2"/>
                </a:solidFill>
                <a:latin typeface="Arial"/>
              </a:rPr>
              <a:t>aperi</a:t>
            </a:r>
            <a:r>
              <a:rPr b="0" sz="1500">
                <a:solidFill>
                  <a:srgbClr val="F2F2F2"/>
                </a:solidFill>
                <a:latin typeface="Arial"/>
              </a:rPr>
              <a:t> deciziile — 3 minute (BLUF + povestea pe dashboard) + întrebări. Nu e destul să ai răspunsul; trebuie să convingi sala </a:t>
            </a:r>
            <a:r>
              <a:rPr b="1" sz="1500">
                <a:solidFill>
                  <a:srgbClr val="F2F2F2"/>
                </a:solidFill>
                <a:latin typeface="Arial"/>
              </a:rPr>
              <a:t>și</a:t>
            </a:r>
            <a:r>
              <a:rPr b="0" sz="1500">
                <a:solidFill>
                  <a:srgbClr val="F2F2F2"/>
                </a:solidFill>
                <a:latin typeface="Arial"/>
              </a:rPr>
              <a:t> să reziști la obiecții.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Ultimul pas al cursului: de la „am învățat piesele” la „pot livra și </a:t>
            </a:r>
            <a:r>
              <a:rPr b="1" sz="1400">
                <a:solidFill>
                  <a:srgbClr val="F2F2F2"/>
                </a:solidFill>
                <a:latin typeface="Arial"/>
              </a:rPr>
              <a:t>apăra</a:t>
            </a:r>
            <a:r>
              <a:rPr b="0" sz="1400">
                <a:solidFill>
                  <a:srgbClr val="F2F2F2"/>
                </a:solidFill>
                <a:latin typeface="Arial"/>
              </a:rPr>
              <a:t> o analiză completă, singur”. Când închizi capstone-ul, </a:t>
            </a:r>
            <a:r>
              <a:rPr b="1" sz="1400">
                <a:solidFill>
                  <a:srgbClr val="F2F2F2"/>
                </a:solidFill>
                <a:latin typeface="Arial"/>
              </a:rPr>
              <a:t>ești analist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L34 · Capstone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