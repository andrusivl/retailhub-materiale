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 cincea zi de SQL. La L23 ai calculat un KPI pe tot (sau pe o felie cu WHERE) — un număr. Dar de multe ori vrei câte un număr pentru fiecare grup: Revenue pe magazin, pe metodă, pe lună. Azi înveți GROUP BY — PivotTable-ul din SQL — și refaci pivoturile din L16–L17 direct în bază. Baza RetailHub e deja încărcată.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Construiești peste L23. Acolo ai strâns totul într-un număr. Dar Andrei nu vrea un total — vrea defalcarea, pe fiecare magazin, pe fiecare lună. Pune degetul pe saltul: de la un număr, la un număr per grup.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obiectivele. Ideea mare: GROUP BY e PivotTable-ul din SQL. Un rând de agregat per grup. Repeți asta toată 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Foaie de referință: dimensiunile pe care grupăm azi — metodă, magazin, lună. Măsura e un agregat (SUM, COUNT). Reține: StoreID e cod; numele orașului vine abia cu JOIN, la L25.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Contextul. Andrei vrea defalcarea: pe magazin, pe lună, plus care luni au fost slabe. Un agregat singur dă un total; pentru «pe fiecare» îi spui bazei pe ce să grupeze.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Cârligul. Ioana a pus agregatul, dar n-a spus pe ce grupează. Fără GROUP BY, SUM strânge tot; StoreID de lângă n-are grup. Curiozitatea de azi: cum obții un rând per grup?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unică: GROUP BY e PivotTable-ul, dar scris. Dimensiunea (Rows) devine GROUP BY; măsura (Values Sum) devine SUM în SELECT; sortarea devine ORDER BY pe agregat.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Miezul de referință. GROUP BY grupează; ORDER BY sortează grupurile; DATE_FORMAT grupează pe lună; HAVING filtrează grupurile. Ordinea clauzelor e fixă: WHERE → GROUP BY → HAVING → ORDER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demonstrație: Revenue pe metodă de plată. 4 grupuri, aproape egale. GROUP BY pe o coloană text: o grămadă per valoare distinctă.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Vârful lecției — pivotul din L16, refăcut în SQL. StoreID 1 primul, StoreID 2 (Cluj) ultimul cu 1.987.932,42 — aceeași cifră ca-n Excel. StoreID e cod; numele vine cu JOIN la L25.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treilea pivot: pe lună. DATE_FORMAT taie data la AAAA-LL; GROUP BY face un grup per lună. Septembrie iese vale, 1.126.418,50 — finding-ul #1, vizibil lângă august.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HAVING filtrează grupurile. HAVING Revenue &lt; 1,2M scoate cele două luni slabe: ianuarie (sezon) și septembrie (anomalia). Diferența de WHERE: WHERE e pe rânduri, HAVING pe agregatul grupului.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Elicitează, mai ales prima. Patru greșeli: uiți GROUP BY; pui agregatul în WHERE (folosește HAVING); lași o coloană ne-agregată în afara GROUP BY; și citești codul ca nume. Ultima e puntea spre L25.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milestone-ul: ai refăcut pivoturile din Excel în SQL — Revenue pe magazin (Cluj ultimul), pe lună (valea din septembrie), și ai găsit lunile slabe cu HAVING. Regulile: coloana ne-agregată în GROUP BY; WHERE pe rânduri, HAVING pe grupuri. Salvează scriptul. Urmează L25: JOIN — codul devine nume.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4 · LECȚIA 24 · A CINCEA LECȚIE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GROUP BY — un KPI pentru fiecare grup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SQL (grupează și adună) →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4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(SQL, L23)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500">
                <a:solidFill>
                  <a:srgbClr val="F2F2F2"/>
                </a:solidFill>
                <a:latin typeface="Arial"/>
              </a:rPr>
              <a:t>/</a:t>
            </a:r>
            <a:r>
              <a:rPr sz="1500">
                <a:solidFill>
                  <a:srgbClr val="FFA24E"/>
                </a:solidFill>
                <a:latin typeface="Consolas"/>
              </a:rPr>
              <a:t>SUM</a:t>
            </a:r>
            <a:r>
              <a:rPr b="0" sz="1500">
                <a:solidFill>
                  <a:srgbClr val="F2F2F2"/>
                </a:solidFill>
                <a:latin typeface="Arial"/>
              </a:rPr>
              <a:t>/</a:t>
            </a:r>
            <a:r>
              <a:rPr sz="1500">
                <a:solidFill>
                  <a:srgbClr val="FFA24E"/>
                </a:solidFill>
                <a:latin typeface="Consolas"/>
              </a:rPr>
              <a:t>AVG</a:t>
            </a:r>
            <a:r>
              <a:rPr b="0" sz="1500">
                <a:solidFill>
                  <a:srgbClr val="F2F2F2"/>
                </a:solidFill>
                <a:latin typeface="Arial"/>
              </a:rPr>
              <a:t> strâng o coloană într-un număr (L23)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regăsit KPI-urile din Excel: Revenue </a:t>
            </a:r>
            <a:r>
              <a:rPr sz="1500">
                <a:solidFill>
                  <a:srgbClr val="FFA24E"/>
                </a:solidFill>
                <a:latin typeface="Consolas"/>
              </a:rPr>
              <a:t>37.878.974,89</a:t>
            </a:r>
            <a:r>
              <a:rPr b="0" sz="1500">
                <a:solidFill>
                  <a:srgbClr val="F2F2F2"/>
                </a:solidFill>
                <a:latin typeface="Arial"/>
              </a:rPr>
              <a:t>, comenzi </a:t>
            </a:r>
            <a:r>
              <a:rPr sz="1500">
                <a:solidFill>
                  <a:srgbClr val="FFA24E"/>
                </a:solidFill>
                <a:latin typeface="Consolas"/>
              </a:rPr>
              <a:t>14968</a:t>
            </a:r>
            <a:r>
              <a:rPr b="0" sz="1500">
                <a:solidFill>
                  <a:srgbClr val="F2F2F2"/>
                </a:solidFill>
                <a:latin typeface="Arial"/>
              </a:rPr>
              <a:t>, AOV </a:t>
            </a:r>
            <a:r>
              <a:rPr sz="1500">
                <a:solidFill>
                  <a:srgbClr val="FFA24E"/>
                </a:solidFill>
                <a:latin typeface="Consolas"/>
              </a:rPr>
              <a:t>2.530,66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un agregat +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= un KPI pe o </a:t>
            </a:r>
            <a:r>
              <a:rPr b="1" sz="1500">
                <a:solidFill>
                  <a:srgbClr val="F2F2F2"/>
                </a:solidFill>
                <a:latin typeface="Arial"/>
              </a:rPr>
              <a:t>felie</a:t>
            </a:r>
            <a:r>
              <a:rPr b="0" sz="1500">
                <a:solidFill>
                  <a:srgbClr val="F2F2F2"/>
                </a:solidFill>
                <a:latin typeface="Arial"/>
              </a:rPr>
              <a:t> (septembrie </a:t>
            </a:r>
            <a:r>
              <a:rPr sz="15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5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dar</a:t>
            </a:r>
            <a:r>
              <a:rPr b="0" sz="1500">
                <a:solidFill>
                  <a:srgbClr val="F2F2F2"/>
                </a:solidFill>
                <a:latin typeface="Arial"/>
              </a:rPr>
              <a:t> ai avut mereu </a:t>
            </a:r>
            <a:r>
              <a:rPr b="1" sz="1500">
                <a:solidFill>
                  <a:srgbClr val="F2F2F2"/>
                </a:solidFill>
                <a:latin typeface="Arial"/>
              </a:rPr>
              <a:t>un</a:t>
            </a:r>
            <a:r>
              <a:rPr b="0" sz="1500">
                <a:solidFill>
                  <a:srgbClr val="F2F2F2"/>
                </a:solidFill>
                <a:latin typeface="Arial"/>
              </a:rPr>
              <a:t> număr — pe tot, sau pe o felie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De multe ori vrei </a:t>
            </a:r>
            <a:r>
              <a:rPr b="1" sz="1400">
                <a:solidFill>
                  <a:srgbClr val="F2F2F2"/>
                </a:solidFill>
                <a:latin typeface="Arial"/>
              </a:rPr>
              <a:t>câte un număr pentru fiecare grup</a:t>
            </a:r>
            <a:r>
              <a:rPr b="0" sz="1400">
                <a:solidFill>
                  <a:srgbClr val="F2F2F2"/>
                </a:solidFill>
                <a:latin typeface="Arial"/>
              </a:rPr>
              <a:t>: Revenue pe fiecare magazin, comenzi pe fiecare metodă, Revenue pe fiecare lună.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Patru mișcări pe care le rezolvi azi cu 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3226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grupezi cu 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b="1" sz="1500">
                <a:solidFill>
                  <a:srgbClr val="F2F2F2"/>
                </a:solidFill>
                <a:latin typeface="Arial"/>
              </a:rPr>
              <a:t>un rând de agregat per grup</a:t>
            </a:r>
            <a:r>
              <a:rPr b="0" sz="1500">
                <a:solidFill>
                  <a:srgbClr val="F2F2F2"/>
                </a:solidFill>
                <a:latin typeface="Arial"/>
              </a:rPr>
              <a:t> (magazin, metodă, lună)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reții regula: orice coloană ne-agregată din </a:t>
            </a:r>
            <a:r>
              <a:rPr sz="1500">
                <a:solidFill>
                  <a:srgbClr val="FFA24E"/>
                </a:solidFill>
                <a:latin typeface="Consolas"/>
              </a:rPr>
              <a:t>SELECT</a:t>
            </a:r>
            <a:r>
              <a:rPr b="0" sz="1500">
                <a:solidFill>
                  <a:srgbClr val="F2F2F2"/>
                </a:solidFill>
                <a:latin typeface="Arial"/>
              </a:rPr>
              <a:t> trebuie să fie în 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sortezi grupurile după agregat (</a:t>
            </a:r>
            <a:r>
              <a:rPr sz="1500">
                <a:solidFill>
                  <a:srgbClr val="FFA24E"/>
                </a:solidFill>
                <a:latin typeface="Consolas"/>
              </a:rPr>
              <a:t>ORDER BY Revenue DESC</a:t>
            </a:r>
            <a:r>
              <a:rPr b="0" sz="1500">
                <a:solidFill>
                  <a:srgbClr val="F2F2F2"/>
                </a:solidFill>
                <a:latin typeface="Arial"/>
              </a:rPr>
              <a:t>) și grupezi pe </a:t>
            </a:r>
            <a:r>
              <a:rPr b="1" sz="1500">
                <a:solidFill>
                  <a:srgbClr val="F2F2F2"/>
                </a:solidFill>
                <a:latin typeface="Arial"/>
              </a:rPr>
              <a:t>lună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filtrezi </a:t>
            </a:r>
            <a:r>
              <a:rPr b="1" sz="1500">
                <a:solidFill>
                  <a:srgbClr val="F2F2F2"/>
                </a:solidFill>
                <a:latin typeface="Arial"/>
              </a:rPr>
              <a:t>grupurile</a:t>
            </a:r>
            <a:r>
              <a:rPr b="0" sz="1500">
                <a:solidFill>
                  <a:srgbClr val="F2F2F2"/>
                </a:solidFill>
                <a:latin typeface="Arial"/>
              </a:rPr>
              <a:t> cu </a:t>
            </a:r>
            <a:r>
              <a:rPr sz="1500">
                <a:solidFill>
                  <a:srgbClr val="FFA24E"/>
                </a:solidFill>
                <a:latin typeface="Consolas"/>
              </a:rPr>
              <a:t>HAVING</a:t>
            </a:r>
            <a:r>
              <a:rPr b="0" sz="1500">
                <a:solidFill>
                  <a:srgbClr val="F2F2F2"/>
                </a:solidFill>
                <a:latin typeface="Arial"/>
              </a:rPr>
              <a:t> (diferit de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, care filtrează rândurile)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23669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centrală: </a:t>
            </a:r>
            <a:r>
              <a:rPr b="1" sz="1400">
                <a:solidFill>
                  <a:srgbClr val="F2F2F2"/>
                </a:solidFill>
                <a:latin typeface="Arial"/>
              </a:rPr>
              <a:t>`GROUP BY` e PivotTable-ul din SQL</a:t>
            </a:r>
            <a:r>
              <a:rPr b="0" sz="1400">
                <a:solidFill>
                  <a:srgbClr val="F2F2F2"/>
                </a:solidFill>
                <a:latin typeface="Arial"/>
              </a:rPr>
              <a:t> — refaci pivoturile din L16–L17, direct în bază.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REFERINȚĂ ·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Pe ce grupezi azi (RetailHub)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Grupezi pe…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Clauza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Rezultat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Metodă de plată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GROUP BY PaymentMethod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Revenue pe fiecare metodă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Magazin (cod)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GROUP BY StoreID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pivotul din L16 (Cluj ultimul)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Lună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GROUP BY DATE_FORMAT(OrderDate,'%Y-%m')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Revenue pe fiecare lună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Măsura o dai cu un agregat: </a:t>
            </a:r>
            <a:r>
              <a:rPr sz="1300">
                <a:solidFill>
                  <a:srgbClr val="FFA24E"/>
                </a:solidFill>
                <a:latin typeface="Consolas"/>
              </a:rPr>
              <a:t>SUM(TotalAmount)</a:t>
            </a:r>
            <a:r>
              <a:rPr b="0" sz="1300">
                <a:solidFill>
                  <a:srgbClr val="F2F2F2"/>
                </a:solidFill>
                <a:latin typeface="Arial"/>
              </a:rPr>
              <a:t> (Revenue), </a:t>
            </a:r>
            <a:r>
              <a:rPr sz="1300">
                <a:solidFill>
                  <a:srgbClr val="FFA24E"/>
                </a:solidFill>
                <a:latin typeface="Consolas"/>
              </a:rPr>
              <a:t>COUNT(*)</a:t>
            </a:r>
            <a:r>
              <a:rPr b="0" sz="1300">
                <a:solidFill>
                  <a:srgbClr val="F2F2F2"/>
                </a:solidFill>
                <a:latin typeface="Arial"/>
              </a:rPr>
              <a:t> (comenzi). </a:t>
            </a:r>
            <a:r>
              <a:rPr sz="13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300">
                <a:solidFill>
                  <a:srgbClr val="F2F2F2"/>
                </a:solidFill>
                <a:latin typeface="Arial"/>
              </a:rPr>
              <a:t> e un </a:t>
            </a:r>
            <a:r>
              <a:rPr b="1" sz="1300">
                <a:solidFill>
                  <a:srgbClr val="F2F2F2"/>
                </a:solidFill>
                <a:latin typeface="Arial"/>
              </a:rPr>
              <a:t>cod</a:t>
            </a:r>
            <a:r>
              <a:rPr b="0" sz="1300">
                <a:solidFill>
                  <a:srgbClr val="F2F2F2"/>
                </a:solidFill>
                <a:latin typeface="Arial"/>
              </a:rPr>
              <a:t> — numele vine cu un </a:t>
            </a:r>
            <a:r>
              <a:rPr sz="1300">
                <a:solidFill>
                  <a:srgbClr val="FFA24E"/>
                </a:solidFill>
                <a:latin typeface="Consolas"/>
              </a:rPr>
              <a:t>JOIN</a:t>
            </a:r>
            <a:r>
              <a:rPr b="0" sz="1300">
                <a:solidFill>
                  <a:srgbClr val="F2F2F2"/>
                </a:solidFill>
                <a:latin typeface="Arial"/>
              </a:rPr>
              <a:t> (L25).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«Dă-mi Revenue pe fiecare magazin»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„Revenue-ul total e frumos, dar vreau </a:t>
            </a:r>
            <a:r>
              <a:rPr b="1" sz="1500">
                <a:solidFill>
                  <a:srgbClr val="F2F2F2"/>
                </a:solidFill>
                <a:latin typeface="Arial"/>
              </a:rPr>
              <a:t>pe fiecare magazin</a:t>
            </a:r>
            <a:r>
              <a:rPr b="0" sz="1500">
                <a:solidFill>
                  <a:srgbClr val="F2F2F2"/>
                </a:solidFill>
                <a:latin typeface="Arial"/>
              </a:rPr>
              <a:t>, și </a:t>
            </a:r>
            <a:r>
              <a:rPr b="1" sz="1500">
                <a:solidFill>
                  <a:srgbClr val="F2F2F2"/>
                </a:solidFill>
                <a:latin typeface="Arial"/>
              </a:rPr>
              <a:t>pe fiecare lună</a:t>
            </a:r>
            <a:r>
              <a:rPr b="0" sz="1500">
                <a:solidFill>
                  <a:srgbClr val="F2F2F2"/>
                </a:solidFill>
                <a:latin typeface="Arial"/>
              </a:rPr>
              <a:t> — ca pivotul din Excel (L16), dar din baza reală. Și, dacă tot ești acolo: care luni au fost slabe?”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baza </a:t>
            </a:r>
            <a:r>
              <a:rPr sz="1500">
                <a:solidFill>
                  <a:srgbClr val="FFA24E"/>
                </a:solidFill>
                <a:latin typeface="Consolas"/>
              </a:rPr>
              <a:t>RetailHub</a:t>
            </a:r>
            <a:r>
              <a:rPr b="0" sz="1500">
                <a:solidFill>
                  <a:srgbClr val="F2F2F2"/>
                </a:solidFill>
                <a:latin typeface="Arial"/>
              </a:rPr>
              <a:t>. Un </a:t>
            </a:r>
            <a:r>
              <a:rPr sz="1500">
                <a:solidFill>
                  <a:srgbClr val="FFA24E"/>
                </a:solidFill>
                <a:latin typeface="Consolas"/>
              </a:rPr>
              <a:t>SUM(TotalAmount)</a:t>
            </a:r>
            <a:r>
              <a:rPr b="0" sz="1500">
                <a:solidFill>
                  <a:srgbClr val="F2F2F2"/>
                </a:solidFill>
                <a:latin typeface="Arial"/>
              </a:rPr>
              <a:t> singur îți dă </a:t>
            </a:r>
            <a:r>
              <a:rPr b="1" sz="1500">
                <a:solidFill>
                  <a:srgbClr val="F2F2F2"/>
                </a:solidFill>
                <a:latin typeface="Arial"/>
              </a:rPr>
              <a:t>un</a:t>
            </a:r>
            <a:r>
              <a:rPr b="0" sz="1500">
                <a:solidFill>
                  <a:srgbClr val="F2F2F2"/>
                </a:solidFill>
                <a:latin typeface="Arial"/>
              </a:rPr>
              <a:t> total. Pentru „pe fiecare magazin” trebuie să-i spui bazei </a:t>
            </a:r>
            <a:r>
              <a:rPr i="1" sz="1500">
                <a:solidFill>
                  <a:srgbClr val="F2F2F2"/>
                </a:solidFill>
                <a:latin typeface="Arial"/>
              </a:rPr>
              <a:t>pe ce să grupeze</a:t>
            </a:r>
            <a:r>
              <a:rPr b="0" sz="1500">
                <a:solidFill>
                  <a:srgbClr val="F2F2F2"/>
                </a:solidFill>
                <a:latin typeface="Arial"/>
              </a:rPr>
              <a:t> — și aia e 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a uitat GROUP BY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-- voia 8 rânduri, unul per magazin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StoreID, SUM(TotalAmount) 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 primit </a:t>
            </a:r>
            <a:r>
              <a:rPr b="1" sz="1500">
                <a:solidFill>
                  <a:srgbClr val="F2F2F2"/>
                </a:solidFill>
                <a:latin typeface="Arial"/>
              </a:rPr>
              <a:t>un singur rând</a:t>
            </a:r>
            <a:r>
              <a:rPr b="0" sz="1500">
                <a:solidFill>
                  <a:srgbClr val="F2F2F2"/>
                </a:solidFill>
                <a:latin typeface="Arial"/>
              </a:rPr>
              <a:t> — un </a:t>
            </a:r>
            <a:r>
              <a:rPr sz="15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500">
                <a:solidFill>
                  <a:srgbClr val="F2F2F2"/>
                </a:solidFill>
                <a:latin typeface="Arial"/>
              </a:rPr>
              <a:t> oarecare lângă Revenue-ul </a:t>
            </a:r>
            <a:r>
              <a:rPr b="1" sz="1500">
                <a:solidFill>
                  <a:srgbClr val="F2F2F2"/>
                </a:solidFill>
                <a:latin typeface="Arial"/>
              </a:rPr>
              <a:t>total</a:t>
            </a:r>
            <a:r>
              <a:rPr b="0" sz="1500">
                <a:solidFill>
                  <a:srgbClr val="F2F2F2"/>
                </a:solidFill>
                <a:latin typeface="Arial"/>
              </a:rPr>
              <a:t> al firmei (sau, în MySQL strict, o eroare). „Voiam 8 rânduri, am primit unul.”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Fără </a:t>
            </a:r>
            <a:r>
              <a:rPr sz="14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400">
                <a:solidFill>
                  <a:srgbClr val="F2F2F2"/>
                </a:solidFill>
                <a:latin typeface="Arial"/>
              </a:rPr>
              <a:t>, un agregat strânge tot într-un număr; coloana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 n-are pe ce grup să se sprijine. Antidotul: </a:t>
            </a:r>
            <a:r>
              <a:rPr sz="1400">
                <a:solidFill>
                  <a:srgbClr val="FFA24E"/>
                </a:solidFill>
                <a:latin typeface="Consolas"/>
              </a:rPr>
              <a:t>GROUP BY 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GROUP BY e PivotTable-ul din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La L16 goleai coșul pe masă și făceai grămezi după o dimensiune (magazin, categorie), apoi cântăreai fiecare grămadă. 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 face </a:t>
            </a:r>
            <a:r>
              <a:rPr b="1" sz="1500">
                <a:solidFill>
                  <a:srgbClr val="F2F2F2"/>
                </a:solidFill>
                <a:latin typeface="Arial"/>
              </a:rPr>
              <a:t>exact</a:t>
            </a:r>
            <a:r>
              <a:rPr b="0" sz="1500">
                <a:solidFill>
                  <a:srgbClr val="F2F2F2"/>
                </a:solidFill>
                <a:latin typeface="Arial"/>
              </a:rPr>
              <a:t> asta: împarte tabelul în grămezi și calculează agregatul pentru fiecare. Un rând per grup.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658303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Pivot (L16)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SQL (L24)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dimensiunea în Rows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GROUP BY dimensiune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măsura în Values (Sum)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SUM(măsură)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în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SELECT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sortarea pivotului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 BY agregat DESC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Grupează, apoi adună — ordinea clauzelor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Clauza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Exemplu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Un agregat per grup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GROUP BY col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GROUP BY StoreID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Să sortezi grupurile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ORDER BY agregat DESC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cele mai mari primele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Să grupezi pe lună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GROUP BY DATE_FORMAT(…)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Revenue per lună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Să filtrezi grupurile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HAVING agregat &lt; …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doar lunile slabe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Ordinea fixă: </a:t>
            </a:r>
            <a:r>
              <a:rPr sz="1300">
                <a:solidFill>
                  <a:srgbClr val="FFA24E"/>
                </a:solidFill>
                <a:latin typeface="Consolas"/>
              </a:rPr>
              <a:t>SELECT … FROM … WHERE … GROUP BY … HAVING … ORDER BY … LIMIT</a:t>
            </a:r>
            <a:r>
              <a:rPr b="0" sz="1300">
                <a:solidFill>
                  <a:srgbClr val="F2F2F2"/>
                </a:solidFill>
                <a:latin typeface="Arial"/>
              </a:rPr>
              <a:t>. </a:t>
            </a:r>
            <a:r>
              <a:rPr sz="13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300">
                <a:solidFill>
                  <a:srgbClr val="F2F2F2"/>
                </a:solidFill>
                <a:latin typeface="Arial"/>
              </a:rPr>
              <a:t> filtrează rânduri; </a:t>
            </a:r>
            <a:r>
              <a:rPr sz="1300">
                <a:solidFill>
                  <a:srgbClr val="FFA24E"/>
                </a:solidFill>
                <a:latin typeface="Consolas"/>
              </a:rPr>
              <a:t>HAVING</a:t>
            </a:r>
            <a:r>
              <a:rPr b="0" sz="1300">
                <a:solidFill>
                  <a:srgbClr val="F2F2F2"/>
                </a:solidFill>
                <a:latin typeface="Arial"/>
              </a:rPr>
              <a:t> filtrează grupuri.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METODĂ DE PLATĂ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Revenue pe metodă (GROUP BY pe text)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PaymentMethod, SUM(TotalAmount)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PaymentMethod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Revenue DESC;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0896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Metodă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Revenue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BankTransfer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9.534.722,53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Cash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9.523.595,38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Card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9.459.851,30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Voucher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9.360.805,68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093208"/>
            <a:ext cx="10874959" cy="8793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4 rânduri, unul per metodă — aproape egale (~un sfert fiecare). Un rând per grup, sortat.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MAGAZIN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Pivotul din L16 — Cluj ultimul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StoreID, COUNT(*) AS Comenzi, SUM(TotalAmount)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StoreID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Revenue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8 rânduri. În frunte </a:t>
            </a:r>
            <a:r>
              <a:rPr b="1" sz="1500">
                <a:solidFill>
                  <a:srgbClr val="F2F2F2"/>
                </a:solidFill>
                <a:latin typeface="Arial"/>
              </a:rPr>
              <a:t>StoreID 1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7.535.215,95</a:t>
            </a:r>
            <a:r>
              <a:rPr b="0" sz="1500">
                <a:solidFill>
                  <a:srgbClr val="F2F2F2"/>
                </a:solidFill>
                <a:latin typeface="Arial"/>
              </a:rPr>
              <a:t>); ultimul, de departe, </a:t>
            </a:r>
            <a:r>
              <a:rPr b="1" sz="1500">
                <a:solidFill>
                  <a:srgbClr val="F2F2F2"/>
                </a:solidFill>
                <a:latin typeface="Arial"/>
              </a:rPr>
              <a:t>StoreID 2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1.987.932,42</a:t>
            </a:r>
            <a:r>
              <a:rPr b="0" sz="1500">
                <a:solidFill>
                  <a:srgbClr val="F2F2F2"/>
                </a:solidFill>
                <a:latin typeface="Arial"/>
              </a:rPr>
              <a:t>, 855 comenzi) — Cluj-Napoca.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45664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✅ MILESTONE: exact pivotul din L16, acum într-o interogare. (</a:t>
            </a:r>
            <a:r>
              <a:rPr sz="13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300">
                <a:solidFill>
                  <a:srgbClr val="F2F2F2"/>
                </a:solidFill>
                <a:latin typeface="Arial"/>
              </a:rPr>
              <a:t> e cod; numele vine cu un </a:t>
            </a:r>
            <a:r>
              <a:rPr sz="1300">
                <a:solidFill>
                  <a:srgbClr val="FFA24E"/>
                </a:solidFill>
                <a:latin typeface="Consolas"/>
              </a:rPr>
              <a:t>JOIN</a:t>
            </a:r>
            <a:r>
              <a:rPr b="0" sz="1300">
                <a:solidFill>
                  <a:srgbClr val="F2F2F2"/>
                </a:solidFill>
                <a:latin typeface="Arial"/>
              </a:rPr>
              <a:t> în L25.)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LUNĂ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Revenue pe lună — valea din septembrie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DATE_FORMAT(OrderDate, '%Y-%m') AS Luna, SUM(TotalAmount)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OrderDate &gt;= '2025-01-01'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Luna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Luna;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4213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12 rânduri (lunile lui 2025). </a:t>
            </a:r>
            <a:r>
              <a:rPr b="1" sz="1500">
                <a:solidFill>
                  <a:srgbClr val="F2F2F2"/>
                </a:solidFill>
                <a:latin typeface="Arial"/>
              </a:rPr>
              <a:t>Septembrie (`2025-09`) = 1.126.418,50</a:t>
            </a:r>
            <a:r>
              <a:rPr b="0" sz="1500">
                <a:solidFill>
                  <a:srgbClr val="F2F2F2"/>
                </a:solidFill>
                <a:latin typeface="Arial"/>
              </a:rPr>
              <a:t> — valea din finding-ul #1, lângă august (</a:t>
            </a:r>
            <a:r>
              <a:rPr sz="1500">
                <a:solidFill>
                  <a:srgbClr val="FFA24E"/>
                </a:solidFill>
                <a:latin typeface="Consolas"/>
              </a:rPr>
              <a:t>1.324.375,59</a:t>
            </a:r>
            <a:r>
              <a:rPr b="0" sz="15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89816"/>
            <a:ext cx="10874959" cy="8793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DATE_FORMAT</a:t>
            </a:r>
            <a:r>
              <a:rPr b="0" sz="1300">
                <a:solidFill>
                  <a:srgbClr val="F2F2F2"/>
                </a:solidFill>
                <a:latin typeface="Arial"/>
              </a:rPr>
              <a:t> transformă data în </a:t>
            </a:r>
            <a:r>
              <a:rPr sz="1300">
                <a:solidFill>
                  <a:srgbClr val="FFA24E"/>
                </a:solidFill>
                <a:latin typeface="Consolas"/>
              </a:rPr>
              <a:t>AAAA-LL</a:t>
            </a:r>
            <a:r>
              <a:rPr b="0" sz="1300">
                <a:solidFill>
                  <a:srgbClr val="F2F2F2"/>
                </a:solidFill>
                <a:latin typeface="Arial"/>
              </a:rPr>
              <a:t>, iar </a:t>
            </a:r>
            <a:r>
              <a:rPr sz="13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300">
                <a:solidFill>
                  <a:srgbClr val="F2F2F2"/>
                </a:solidFill>
                <a:latin typeface="Arial"/>
              </a:rPr>
              <a:t> grupează pe lună.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Care luni au fost slabe?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65506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DATE_FORMAT(OrderDate, '%Y-%m') AS Luna, SUM(TotalAmount)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OrderDate &gt;= '2025-01-01'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Luna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HAVING Revenue &lt; 1200000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Revenue;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75303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Doar </a:t>
            </a:r>
            <a:r>
              <a:rPr b="1" sz="1500">
                <a:solidFill>
                  <a:srgbClr val="F2F2F2"/>
                </a:solidFill>
                <a:latin typeface="Arial"/>
              </a:rPr>
              <a:t>2 luni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b="1" sz="1500">
                <a:solidFill>
                  <a:srgbClr val="F2F2F2"/>
                </a:solidFill>
                <a:latin typeface="Arial"/>
              </a:rPr>
              <a:t>ianuarie (`1.116.907,67`)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b="1" sz="1500">
                <a:solidFill>
                  <a:srgbClr val="F2F2F2"/>
                </a:solidFill>
                <a:latin typeface="Arial"/>
              </a:rPr>
              <a:t>septembrie (`1.126.418,50`)</a:t>
            </a:r>
            <a:r>
              <a:rPr b="0" sz="1500">
                <a:solidFill>
                  <a:srgbClr val="F2F2F2"/>
                </a:solidFill>
                <a:latin typeface="Arial"/>
              </a:rPr>
              <a:t>. Ianuarie e sezon (post-sărbători); septembrie e anomalia (finding #1).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92298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HAVING</a:t>
            </a:r>
            <a:r>
              <a:rPr b="0" sz="1300">
                <a:solidFill>
                  <a:srgbClr val="F2F2F2"/>
                </a:solidFill>
                <a:latin typeface="Arial"/>
              </a:rPr>
              <a:t> filtrează </a:t>
            </a:r>
            <a:r>
              <a:rPr b="1" sz="1300">
                <a:solidFill>
                  <a:srgbClr val="F2F2F2"/>
                </a:solidFill>
                <a:latin typeface="Arial"/>
              </a:rPr>
              <a:t>grupurile</a:t>
            </a:r>
            <a:r>
              <a:rPr b="0" sz="1300">
                <a:solidFill>
                  <a:srgbClr val="F2F2F2"/>
                </a:solidFill>
                <a:latin typeface="Arial"/>
              </a:rPr>
              <a:t> după agregatul lor — spre deosebire de </a:t>
            </a:r>
            <a:r>
              <a:rPr sz="13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300">
                <a:solidFill>
                  <a:srgbClr val="F2F2F2"/>
                </a:solidFill>
                <a:latin typeface="Arial"/>
              </a:rPr>
              <a:t>, care filtrează </a:t>
            </a:r>
            <a:r>
              <a:rPr b="1" sz="1300">
                <a:solidFill>
                  <a:srgbClr val="F2F2F2"/>
                </a:solidFill>
                <a:latin typeface="Arial"/>
              </a:rPr>
              <a:t>rândurile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uiți `GROUP BY`</a:t>
            </a:r>
            <a:r>
              <a:rPr b="0" sz="1400">
                <a:solidFill>
                  <a:srgbClr val="F2F2F2"/>
                </a:solidFill>
                <a:latin typeface="Arial"/>
              </a:rPr>
              <a:t> → un total (sau eroare), nu un rând per grup — greșeala Ioanei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agregat în `WHERE`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WHERE SUM(...) &gt; …</a:t>
            </a:r>
            <a:r>
              <a:rPr b="0" sz="1400">
                <a:solidFill>
                  <a:srgbClr val="F2F2F2"/>
                </a:solidFill>
                <a:latin typeface="Arial"/>
              </a:rPr>
              <a:t>) → eroare; pragul pe agregat = </a:t>
            </a:r>
            <a:r>
              <a:rPr sz="1400">
                <a:solidFill>
                  <a:srgbClr val="FFA24E"/>
                </a:solidFill>
                <a:latin typeface="Consolas"/>
              </a:rPr>
              <a:t>HAVING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coloană ne-agregată în afara `GROUP BY`</a:t>
            </a:r>
            <a:r>
              <a:rPr b="0" sz="1400">
                <a:solidFill>
                  <a:srgbClr val="F2F2F2"/>
                </a:solidFill>
                <a:latin typeface="Arial"/>
              </a:rPr>
              <a:t> → fiecare coloană e ori agregată, ori în </a:t>
            </a:r>
            <a:r>
              <a:rPr sz="1400">
                <a:solidFill>
                  <a:srgbClr val="FFA24E"/>
                </a:solidFill>
                <a:latin typeface="Consolas"/>
              </a:rPr>
              <a:t>GROUP BY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citești codul ca nume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400">
                <a:solidFill>
                  <a:srgbClr val="F2F2F2"/>
                </a:solidFill>
                <a:latin typeface="Arial"/>
              </a:rPr>
              <a:t> ≠ „Cluj-Napoca”) → numele vine cu un </a:t>
            </a: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 (L25)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pivoturile din Excel, în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GROUP BY col</a:t>
            </a:r>
            <a:r>
              <a:rPr b="0" sz="1400">
                <a:solidFill>
                  <a:srgbClr val="F2F2F2"/>
                </a:solidFill>
                <a:latin typeface="Arial"/>
              </a:rPr>
              <a:t> = un rând de agregat </a:t>
            </a:r>
            <a:r>
              <a:rPr b="1" sz="1400">
                <a:solidFill>
                  <a:srgbClr val="F2F2F2"/>
                </a:solidFill>
                <a:latin typeface="Arial"/>
              </a:rPr>
              <a:t>per grup</a:t>
            </a:r>
            <a:r>
              <a:rPr b="0" sz="1400">
                <a:solidFill>
                  <a:srgbClr val="F2F2F2"/>
                </a:solidFill>
                <a:latin typeface="Arial"/>
              </a:rPr>
              <a:t> — PivotTable-ul din SQL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orice coloană ne-agregată din `SELECT` trebuie în `GROUP BY`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`WHERE` filtrează rânduri; `HAVING` filtrează grupuri</a:t>
            </a:r>
            <a:r>
              <a:rPr b="0" sz="1400">
                <a:solidFill>
                  <a:srgbClr val="F2F2F2"/>
                </a:solidFill>
                <a:latin typeface="Arial"/>
              </a:rPr>
              <a:t> (pragul pe agregat)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ai refăcut pivotul din L16 (Cluj ultimul, </a:t>
            </a:r>
            <a:r>
              <a:rPr sz="1400">
                <a:solidFill>
                  <a:srgbClr val="FFA24E"/>
                </a:solidFill>
                <a:latin typeface="Consolas"/>
              </a:rPr>
              <a:t>1.987.932,42</a:t>
            </a:r>
            <a:r>
              <a:rPr b="0" sz="1400">
                <a:solidFill>
                  <a:srgbClr val="F2F2F2"/>
                </a:solidFill>
                <a:latin typeface="Arial"/>
              </a:rPr>
              <a:t>) și lunile slabe (ianuarie + septembrie)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MILESTONE de proiect: pivoturile din L16–L17 trăiesc în SQL. 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L25: `JOIN`</a:t>
            </a:r>
            <a:r>
              <a:rPr b="0" sz="1300">
                <a:solidFill>
                  <a:srgbClr val="F2F2F2"/>
                </a:solidFill>
                <a:latin typeface="Arial"/>
              </a:rPr>
              <a:t> — legi </a:t>
            </a:r>
            <a:r>
              <a:rPr sz="13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300">
                <a:solidFill>
                  <a:srgbClr val="F2F2F2"/>
                </a:solidFill>
                <a:latin typeface="Arial"/>
              </a:rPr>
              <a:t> de </a:t>
            </a:r>
            <a:r>
              <a:rPr sz="1300">
                <a:solidFill>
                  <a:srgbClr val="FFA24E"/>
                </a:solidFill>
                <a:latin typeface="Consolas"/>
              </a:rPr>
              <a:t>stores</a:t>
            </a:r>
            <a:r>
              <a:rPr b="0" sz="1300">
                <a:solidFill>
                  <a:srgbClr val="F2F2F2"/>
                </a:solidFill>
                <a:latin typeface="Arial"/>
              </a:rPr>
              <a:t> și </a:t>
            </a:r>
            <a:r>
              <a:rPr sz="13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300">
                <a:solidFill>
                  <a:srgbClr val="F2F2F2"/>
                </a:solidFill>
                <a:latin typeface="Arial"/>
              </a:rPr>
              <a:t> devine </a:t>
            </a:r>
            <a:r>
              <a:rPr b="1" sz="1300">
                <a:solidFill>
                  <a:srgbClr val="F2F2F2"/>
                </a:solidFill>
                <a:latin typeface="Arial"/>
              </a:rPr>
              <a:t>Cluj-Napoca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L24 · GROUP BY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