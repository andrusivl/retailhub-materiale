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A doua zi de SQL. La L20 ai filtrat cu un WHERE simplu (= 2, &gt;= '2025-09-01'). Azi înveți micul set de unelte din WHERE care răspunde aproape la orice întrebare «care rânduri»: operatori de comparație, BETWEEN, IN, LIKE, IS NULL, plus AND/OR cu paranteze. Punctul culminant: dovedești gap-ul de campanie din septembrie cu IS NULL. Baza RetailHub e deja încărcată.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Construiești peste L20. Acolo ai învățat SELECT/FROM/WHERE și ai regăsit septembrie (454) și Cluj (855). Dar filtrul era grosier. Azi rafinezi: operatorii care răspund la «între», «din lista asta», «conține», «lipsă».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Enunță obiectivele. Fiecare devine o interogare în partea a doua. Ideea mare: WHERE are o trusă mică de chei; alegi cheia potrivită după cum sună întrebarea.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Foaie de referință: coloanele pe care le filtrăm azi și operatorul potrivit pentru fiecare. Cheia de reținut: CampaignID poate fi NULL — «lipsă», nu zero. Asta pregătește dovada gap-ului de campanie.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Contextul. Elena vrea felii ascuțite, iar Andrei aruncă o ipoteză: în septembrie n-a fost campanie. Cererea «verifică în date» e declanșatorul dovezii cu IS NULL de mai târziu.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Cârligul, două greșeli într-una. Prima: = NULL dă mereu 0, fiindcă NULL nu se compară cu =. A doua: fără paranteze, AND se leagă înaintea lui OR și schimbă întrebarea. Ambele se rezolvă azi.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unică. Cine folosește cheia greșită (sau uită parantezele) primește un rezultat care «pare» corect, dar răspunde la altă întrebare. NULL e capcana clasică: «lipsă» e o stare, nu o valoare de comparat.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Slide-ul de referință — lasă-l pe ecran. Cinci forme de întrebare, cinci operatori. BETWEEN înlocuiește &gt;= X AND &lt;= Y; IN înlocuiește un lanț de OR; LIKE cu % caută un tipar; IS NULL întreabă lipsa.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Primele două unelte. &lt;&gt; = «diferit de» → 11292 de comenzi. BETWEEN = un interval inclusiv (include și 1000, și 2000) → 2852. Mai scurt și mai clar decât dublul &gt;= … AND &lt;= 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e o listă: «valoarea e una dintre astea». Înlocuiește un lanț de OR. Rezultat: 4512 comenzi din cele trei magazine. Avantajul nu e doar lungimea — e claritatea și mai puține greșeli.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 caută un tipar de text. %ACCE% = «conține ACCE». Prinde cele 7 produse de Accessories, printre care cele epuizate din L17. % e jokerul; funcționează doar cu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Vârful lecției — lasă-l să respire. Nu mai e o bănuială din L17: din 454 de comenzi din septembrie, 0 au avut campanie (IS NOT NULL). IS NULL îți dă toate 454. Ai dovedit gap-ul de campanie direct în date. = NULL ar fi dat 0 mereu, indiferent de realitate.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Ultima unealtă: parantezele. Cu paranteze, (București sau Cluj) și mare → 1041. Fără, AND se leagă primul → toate din București plus cele mari din Cluj → 3094. Regula de aur: când amesteci AND cu OR, pune paranteze.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Elicitează, mai ales prima. Patru greșeli clasice: = NULL (dă 0), paranteze uitate (schimbă întrebarea), LIKE fără % (cere exact), BETWEEN crezut exclusiv (e inclusiv). Fiecare are un antidot simplu.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milestone-ul: ai dovedit în date gap-ul de campanie — 0 din 454 de comenzi din septembrie au avut campanie. Regulile de aur: alegi operatorul după întrebare; lipsa = IS NULL; paranteze când amesteci AND/OR. Salvează scriptul. Urmează L22: sortare și Top-N.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4 · LECȚIA 21 · A DOUA LECȚIE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WHERE în detaliu — filtrezi cu precizie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SQL (filtrează fin) →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28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(SQL, L20)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o interogare = </a:t>
            </a:r>
            <a:r>
              <a:rPr sz="1500">
                <a:solidFill>
                  <a:srgbClr val="FFA24E"/>
                </a:solidFill>
                <a:latin typeface="Consolas"/>
              </a:rPr>
              <a:t>SELECT</a:t>
            </a:r>
            <a:r>
              <a:rPr b="0" sz="1500">
                <a:solidFill>
                  <a:srgbClr val="F2F2F2"/>
                </a:solidFill>
                <a:latin typeface="Arial"/>
              </a:rPr>
              <a:t> (coloane) · </a:t>
            </a:r>
            <a:r>
              <a:rPr sz="1500">
                <a:solidFill>
                  <a:srgbClr val="FFA24E"/>
                </a:solidFill>
                <a:latin typeface="Consolas"/>
              </a:rPr>
              <a:t>FROM</a:t>
            </a:r>
            <a:r>
              <a:rPr b="0" sz="1500">
                <a:solidFill>
                  <a:srgbClr val="F2F2F2"/>
                </a:solidFill>
                <a:latin typeface="Arial"/>
              </a:rPr>
              <a:t> (tabel) ·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 (rânduri)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ai regăsit în SQL: septembrie 2025 (</a:t>
            </a:r>
            <a:r>
              <a:rPr b="1" sz="1500">
                <a:solidFill>
                  <a:srgbClr val="F2F2F2"/>
                </a:solidFill>
                <a:latin typeface="Arial"/>
              </a:rPr>
              <a:t>454</a:t>
            </a:r>
            <a:r>
              <a:rPr b="0" sz="1500">
                <a:solidFill>
                  <a:srgbClr val="F2F2F2"/>
                </a:solidFill>
                <a:latin typeface="Arial"/>
              </a:rPr>
              <a:t>), Cluj (</a:t>
            </a:r>
            <a:r>
              <a:rPr b="1" sz="1500">
                <a:solidFill>
                  <a:srgbClr val="F2F2F2"/>
                </a:solidFill>
                <a:latin typeface="Arial"/>
              </a:rPr>
              <a:t>855</a:t>
            </a:r>
            <a:r>
              <a:rPr b="0" sz="15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reguli de tip: numere fără ghilimele, text/date cu ghilimele simple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dar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-ul era simplu — doar </a:t>
            </a:r>
            <a:r>
              <a:rPr sz="1500">
                <a:solidFill>
                  <a:srgbClr val="FFA24E"/>
                </a:solidFill>
                <a:latin typeface="Consolas"/>
              </a:rPr>
              <a:t>= …</a:t>
            </a:r>
            <a:r>
              <a:rPr b="0" sz="1500">
                <a:solidFill>
                  <a:srgbClr val="F2F2F2"/>
                </a:solidFill>
                <a:latin typeface="Arial"/>
              </a:rPr>
              <a:t> și </a:t>
            </a:r>
            <a:r>
              <a:rPr sz="1500">
                <a:solidFill>
                  <a:srgbClr val="FFA24E"/>
                </a:solidFill>
                <a:latin typeface="Consolas"/>
              </a:rPr>
              <a:t>&gt;=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Întrebările reale sunt mai fine: „între 1000 și 2000”, „din trei magazine”, „conține ACCE”, „</a:t>
            </a:r>
            <a:r>
              <a:rPr b="1" sz="1400">
                <a:solidFill>
                  <a:srgbClr val="F2F2F2"/>
                </a:solidFill>
                <a:latin typeface="Arial"/>
              </a:rPr>
              <a:t>fără</a:t>
            </a:r>
            <a:r>
              <a:rPr b="0" sz="1400">
                <a:solidFill>
                  <a:srgbClr val="F2F2F2"/>
                </a:solidFill>
                <a:latin typeface="Arial"/>
              </a:rPr>
              <a:t> campanie”. Azi le acoperim pe toate.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operatori de comparație (</a:t>
            </a:r>
            <a:r>
              <a:rPr sz="1500">
                <a:solidFill>
                  <a:srgbClr val="FFA24E"/>
                </a:solidFill>
                <a:latin typeface="Consolas"/>
              </a:rPr>
              <a:t>&lt;&gt;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&lt;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&gt;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&lt;=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&gt;=</a:t>
            </a:r>
            <a:r>
              <a:rPr b="0" sz="1500">
                <a:solidFill>
                  <a:srgbClr val="F2F2F2"/>
                </a:solidFill>
                <a:latin typeface="Arial"/>
              </a:rPr>
              <a:t>) și un interval cu </a:t>
            </a:r>
            <a:r>
              <a:rPr sz="1500">
                <a:solidFill>
                  <a:srgbClr val="FFA24E"/>
                </a:solidFill>
                <a:latin typeface="Consolas"/>
              </a:rPr>
              <a:t>BETWEEN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o </a:t>
            </a:r>
            <a:r>
              <a:rPr b="1" sz="1500">
                <a:solidFill>
                  <a:srgbClr val="F2F2F2"/>
                </a:solidFill>
                <a:latin typeface="Arial"/>
              </a:rPr>
              <a:t>listă</a:t>
            </a:r>
            <a:r>
              <a:rPr b="0" sz="1500">
                <a:solidFill>
                  <a:srgbClr val="F2F2F2"/>
                </a:solidFill>
                <a:latin typeface="Arial"/>
              </a:rPr>
              <a:t> de valori cu </a:t>
            </a:r>
            <a:r>
              <a:rPr sz="1500">
                <a:solidFill>
                  <a:srgbClr val="FFA24E"/>
                </a:solidFill>
                <a:latin typeface="Consolas"/>
              </a:rPr>
              <a:t>IN (…)</a:t>
            </a:r>
            <a:r>
              <a:rPr b="0" sz="1500">
                <a:solidFill>
                  <a:srgbClr val="F2F2F2"/>
                </a:solidFill>
                <a:latin typeface="Arial"/>
              </a:rPr>
              <a:t> și un </a:t>
            </a:r>
            <a:r>
              <a:rPr b="1" sz="1500">
                <a:solidFill>
                  <a:srgbClr val="F2F2F2"/>
                </a:solidFill>
                <a:latin typeface="Arial"/>
              </a:rPr>
              <a:t>tipar de text</a:t>
            </a:r>
            <a:r>
              <a:rPr b="0" sz="1500">
                <a:solidFill>
                  <a:srgbClr val="F2F2F2"/>
                </a:solidFill>
                <a:latin typeface="Arial"/>
              </a:rPr>
              <a:t> cu </a:t>
            </a:r>
            <a:r>
              <a:rPr sz="1500">
                <a:solidFill>
                  <a:srgbClr val="FFA24E"/>
                </a:solidFill>
                <a:latin typeface="Consolas"/>
              </a:rPr>
              <a:t>LIKE '%…%'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valorile lipsă</a:t>
            </a:r>
            <a:r>
              <a:rPr b="0" sz="1500">
                <a:solidFill>
                  <a:srgbClr val="F2F2F2"/>
                </a:solidFill>
                <a:latin typeface="Arial"/>
              </a:rPr>
              <a:t> cu </a:t>
            </a:r>
            <a:r>
              <a:rPr sz="1500">
                <a:solidFill>
                  <a:srgbClr val="FFA24E"/>
                </a:solidFill>
                <a:latin typeface="Consolas"/>
              </a:rPr>
              <a:t>IS NULL</a:t>
            </a:r>
            <a:r>
              <a:rPr b="0" sz="1500">
                <a:solidFill>
                  <a:srgbClr val="F2F2F2"/>
                </a:solidFill>
                <a:latin typeface="Arial"/>
              </a:rPr>
              <a:t> / </a:t>
            </a:r>
            <a:r>
              <a:rPr sz="1500">
                <a:solidFill>
                  <a:srgbClr val="FFA24E"/>
                </a:solidFill>
                <a:latin typeface="Consolas"/>
              </a:rPr>
              <a:t>IS NOT NULL</a:t>
            </a:r>
            <a:r>
              <a:rPr b="0" sz="1500">
                <a:solidFill>
                  <a:srgbClr val="F2F2F2"/>
                </a:solidFill>
                <a:latin typeface="Arial"/>
              </a:rPr>
              <a:t> — și dovada gap-ului de campanie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combini condiții cu </a:t>
            </a:r>
            <a:r>
              <a:rPr sz="1500">
                <a:solidFill>
                  <a:srgbClr val="FFA24E"/>
                </a:solidFill>
                <a:latin typeface="Consolas"/>
              </a:rPr>
              <a:t>AND</a:t>
            </a:r>
            <a:r>
              <a:rPr b="0" sz="1500">
                <a:solidFill>
                  <a:srgbClr val="F2F2F2"/>
                </a:solidFill>
                <a:latin typeface="Arial"/>
              </a:rPr>
              <a:t>/</a:t>
            </a:r>
            <a:r>
              <a:rPr sz="1500">
                <a:solidFill>
                  <a:srgbClr val="FFA24E"/>
                </a:solidFill>
                <a:latin typeface="Consolas"/>
              </a:rPr>
              <a:t>OR</a:t>
            </a:r>
            <a:r>
              <a:rPr b="0" sz="1500">
                <a:solidFill>
                  <a:srgbClr val="F2F2F2"/>
                </a:solidFill>
                <a:latin typeface="Arial"/>
              </a:rPr>
              <a:t> și pui </a:t>
            </a:r>
            <a:r>
              <a:rPr b="1" sz="1500">
                <a:solidFill>
                  <a:srgbClr val="F2F2F2"/>
                </a:solidFill>
                <a:latin typeface="Arial"/>
              </a:rPr>
              <a:t>paranteze</a:t>
            </a:r>
            <a:r>
              <a:rPr b="0" sz="1500">
                <a:solidFill>
                  <a:srgbClr val="F2F2F2"/>
                </a:solidFill>
                <a:latin typeface="Arial"/>
              </a:rPr>
              <a:t> ca precedența să nu te încurce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Ideea centrală: </a:t>
            </a:r>
            <a:r>
              <a:rPr b="1" sz="1400">
                <a:solidFill>
                  <a:srgbClr val="F2F2F2"/>
                </a:solidFill>
                <a:latin typeface="Arial"/>
              </a:rPr>
              <a:t>alegi operatorul după forma întrebării</a:t>
            </a:r>
            <a:r>
              <a:rPr b="0" sz="1400">
                <a:solidFill>
                  <a:srgbClr val="F2F2F2"/>
                </a:solidFill>
                <a:latin typeface="Arial"/>
              </a:rPr>
              <a:t> — cheia potrivită face treaba curat și corect.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REFERINȚĂ · COLOANE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Coloanele de azi (RetailHub)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Coloană / tabel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Ce 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Filtru tipic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CampaignID (orders)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campania — poate </a:t>
                      </a:r>
                      <a:r>
                        <a:rPr b="1" sz="1100">
                          <a:solidFill>
                            <a:srgbClr val="F2F2F2"/>
                          </a:solidFill>
                          <a:latin typeface="Arial"/>
                        </a:rPr>
                        <a:t>lipsi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(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NULL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IS NULL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TotalAmount (orders)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suma comenzii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BETWEEN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StoreID (orders)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codul magazinului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IN (…)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PaymentMethod (orders)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Card, Cash, Voucher…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&lt;&gt;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ProductName (products)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numele produsului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LIKE '%…%'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13308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CampaignID</a:t>
            </a:r>
            <a:r>
              <a:rPr b="0" sz="1300">
                <a:solidFill>
                  <a:srgbClr val="F2F2F2"/>
                </a:solidFill>
                <a:latin typeface="Arial"/>
              </a:rPr>
              <a:t> </a:t>
            </a:r>
            <a:r>
              <a:rPr b="1" sz="1300">
                <a:solidFill>
                  <a:srgbClr val="F2F2F2"/>
                </a:solidFill>
                <a:latin typeface="Arial"/>
              </a:rPr>
              <a:t>lipsește</a:t>
            </a:r>
            <a:r>
              <a:rPr b="0" sz="1300">
                <a:solidFill>
                  <a:srgbClr val="F2F2F2"/>
                </a:solidFill>
                <a:latin typeface="Arial"/>
              </a:rPr>
              <a:t> când o comandă n-a avut campanie — se stochează ca </a:t>
            </a:r>
            <a:r>
              <a:rPr sz="1300">
                <a:solidFill>
                  <a:srgbClr val="FFA24E"/>
                </a:solidFill>
                <a:latin typeface="Consolas"/>
              </a:rPr>
              <a:t>NULL</a:t>
            </a:r>
            <a:r>
              <a:rPr b="0" sz="1300">
                <a:solidFill>
                  <a:srgbClr val="F2F2F2"/>
                </a:solidFill>
                <a:latin typeface="Arial"/>
              </a:rPr>
              <a:t>, nu ca 0 sau text gol.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«Dă-mi felii mai fine» (Elena)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6700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„Dă-mi felii mai precise: comenzile între 1000 și 2000 de lei, cele din trei magazine anume, produsele de Accessories. Și, cel mai important — Andrei zice că în septembrie n-a fost nicio campanie. </a:t>
            </a:r>
            <a:r>
              <a:rPr b="1" sz="1500">
                <a:solidFill>
                  <a:srgbClr val="F2F2F2"/>
                </a:solidFill>
                <a:latin typeface="Arial"/>
              </a:rPr>
              <a:t>Verifică în date:</a:t>
            </a:r>
            <a:r>
              <a:rPr b="0" sz="1500">
                <a:solidFill>
                  <a:srgbClr val="F2F2F2"/>
                </a:solidFill>
                <a:latin typeface="Arial"/>
              </a:rPr>
              <a:t> câte comenzi din septembrie chiar au avut o campanie?”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902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Un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 cu </a:t>
            </a:r>
            <a:r>
              <a:rPr sz="1500">
                <a:solidFill>
                  <a:srgbClr val="FFA24E"/>
                </a:solidFill>
                <a:latin typeface="Consolas"/>
              </a:rPr>
              <a:t>= …</a:t>
            </a:r>
            <a:r>
              <a:rPr b="0" sz="1500">
                <a:solidFill>
                  <a:srgbClr val="F2F2F2"/>
                </a:solidFill>
                <a:latin typeface="Arial"/>
              </a:rPr>
              <a:t> nu ajunge pentru „între”, „din lista asta”, „care conține”, „lipsă”. Îți trebuie operatorii potriviți.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= NULL și fără paranteze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-- GREȘIT: = NULL nu e niciodată adevărat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* FROM orders WHERE CampaignID = NULL;   -- 0 rânduri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42616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 primit </a:t>
            </a:r>
            <a:r>
              <a:rPr b="1" sz="1500">
                <a:solidFill>
                  <a:srgbClr val="F2F2F2"/>
                </a:solidFill>
                <a:latin typeface="Arial"/>
              </a:rPr>
              <a:t>0</a:t>
            </a:r>
            <a:r>
              <a:rPr b="0" sz="1500">
                <a:solidFill>
                  <a:srgbClr val="F2F2F2"/>
                </a:solidFill>
                <a:latin typeface="Arial"/>
              </a:rPr>
              <a:t> și a crezut că toate comenzile au campanie. </a:t>
            </a:r>
            <a:r>
              <a:rPr sz="1500">
                <a:solidFill>
                  <a:srgbClr val="FFA24E"/>
                </a:solidFill>
                <a:latin typeface="Consolas"/>
              </a:rPr>
              <a:t>NULL</a:t>
            </a:r>
            <a:r>
              <a:rPr b="0" sz="1500">
                <a:solidFill>
                  <a:srgbClr val="F2F2F2"/>
                </a:solidFill>
                <a:latin typeface="Arial"/>
              </a:rPr>
              <a:t> înseamnă „necunoscut”: </a:t>
            </a:r>
            <a:r>
              <a:rPr sz="1500">
                <a:solidFill>
                  <a:srgbClr val="FFA24E"/>
                </a:solidFill>
                <a:latin typeface="Consolas"/>
              </a:rPr>
              <a:t>= NULL</a:t>
            </a:r>
            <a:r>
              <a:rPr b="0" sz="1500">
                <a:solidFill>
                  <a:srgbClr val="F2F2F2"/>
                </a:solidFill>
                <a:latin typeface="Arial"/>
              </a:rPr>
              <a:t> nu e adevărat niciodată. Se scrie </a:t>
            </a:r>
            <a:r>
              <a:rPr sz="1500">
                <a:solidFill>
                  <a:srgbClr val="FFA24E"/>
                </a:solidFill>
                <a:latin typeface="Consolas"/>
              </a:rPr>
              <a:t>IS NULL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90300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Apoi a combinat două magazine cu o sumă mare </a:t>
            </a:r>
            <a:r>
              <a:rPr b="1" sz="1300">
                <a:solidFill>
                  <a:srgbClr val="F2F2F2"/>
                </a:solidFill>
                <a:latin typeface="Arial"/>
              </a:rPr>
              <a:t>fără paranteze</a:t>
            </a:r>
            <a:r>
              <a:rPr b="0" sz="1300">
                <a:solidFill>
                  <a:srgbClr val="F2F2F2"/>
                </a:solidFill>
                <a:latin typeface="Arial"/>
              </a:rPr>
              <a:t> — precedența </a:t>
            </a:r>
            <a:r>
              <a:rPr sz="1300">
                <a:solidFill>
                  <a:srgbClr val="FFA24E"/>
                </a:solidFill>
                <a:latin typeface="Consolas"/>
              </a:rPr>
              <a:t>AND</a:t>
            </a:r>
            <a:r>
              <a:rPr b="0" sz="1300">
                <a:solidFill>
                  <a:srgbClr val="F2F2F2"/>
                </a:solidFill>
                <a:latin typeface="Arial"/>
              </a:rPr>
              <a:t>/</a:t>
            </a:r>
            <a:r>
              <a:rPr sz="1300">
                <a:solidFill>
                  <a:srgbClr val="FFA24E"/>
                </a:solidFill>
                <a:latin typeface="Consolas"/>
              </a:rPr>
              <a:t>OR</a:t>
            </a:r>
            <a:r>
              <a:rPr b="0" sz="1300">
                <a:solidFill>
                  <a:srgbClr val="F2F2F2"/>
                </a:solidFill>
                <a:latin typeface="Arial"/>
              </a:rPr>
              <a:t> i-a schimbat întrebarea, de trei ori mai multe rânduri.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Alegi operatorul după forma întrebării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E ca o trusă de chei: una pentru „între”, una pentru „din lista asta”, una pentru „care conține”. Poți forța totul cu </a:t>
            </a:r>
            <a:r>
              <a:rPr sz="1500">
                <a:solidFill>
                  <a:srgbClr val="FFA24E"/>
                </a:solidFill>
                <a:latin typeface="Consolas"/>
              </a:rPr>
              <a:t>=</a:t>
            </a:r>
            <a:r>
              <a:rPr b="0" sz="1500">
                <a:solidFill>
                  <a:srgbClr val="F2F2F2"/>
                </a:solidFill>
                <a:latin typeface="Arial"/>
              </a:rPr>
              <a:t> și o grămadă de </a:t>
            </a:r>
            <a:r>
              <a:rPr sz="1500">
                <a:solidFill>
                  <a:srgbClr val="FFA24E"/>
                </a:solidFill>
                <a:latin typeface="Consolas"/>
              </a:rPr>
              <a:t>OR</a:t>
            </a:r>
            <a:r>
              <a:rPr b="0" sz="1500">
                <a:solidFill>
                  <a:srgbClr val="F2F2F2"/>
                </a:solidFill>
                <a:latin typeface="Arial"/>
              </a:rPr>
              <a:t> — dar cheia potrivită face treaba curat și corect.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Două reguli de aur: </a:t>
            </a:r>
            <a:r>
              <a:rPr b="1" sz="1400">
                <a:solidFill>
                  <a:srgbClr val="F2F2F2"/>
                </a:solidFill>
                <a:latin typeface="Arial"/>
              </a:rPr>
              <a:t>`NULL` nu se compară cu `=`</a:t>
            </a:r>
            <a:r>
              <a:rPr b="0" sz="1400">
                <a:solidFill>
                  <a:srgbClr val="F2F2F2"/>
                </a:solidFill>
                <a:latin typeface="Arial"/>
              </a:rPr>
              <a:t> (folosești </a:t>
            </a:r>
            <a:r>
              <a:rPr sz="1400">
                <a:solidFill>
                  <a:srgbClr val="FFA24E"/>
                </a:solidFill>
                <a:latin typeface="Consolas"/>
              </a:rPr>
              <a:t>IS NULL</a:t>
            </a:r>
            <a:r>
              <a:rPr b="0" sz="1400">
                <a:solidFill>
                  <a:srgbClr val="F2F2F2"/>
                </a:solidFill>
                <a:latin typeface="Arial"/>
              </a:rPr>
              <a:t>); </a:t>
            </a:r>
            <a:r>
              <a:rPr b="1" sz="1400">
                <a:solidFill>
                  <a:srgbClr val="F2F2F2"/>
                </a:solidFill>
                <a:latin typeface="Arial"/>
              </a:rPr>
              <a:t>`AND` are prioritate față de `OR`</a:t>
            </a:r>
            <a:r>
              <a:rPr b="0" sz="1400">
                <a:solidFill>
                  <a:srgbClr val="F2F2F2"/>
                </a:solidFill>
                <a:latin typeface="Arial"/>
              </a:rPr>
              <a:t> (când amesteci, pune </a:t>
            </a:r>
            <a:r>
              <a:rPr b="1" sz="1400">
                <a:solidFill>
                  <a:srgbClr val="F2F2F2"/>
                </a:solidFill>
                <a:latin typeface="Arial"/>
              </a:rPr>
              <a:t>paranteze</a:t>
            </a:r>
            <a:r>
              <a:rPr b="0" sz="1400">
                <a:solidFill>
                  <a:srgbClr val="F2F2F2"/>
                </a:solidFill>
                <a:latin typeface="Arial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TRUSA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Operatorul potrivit pentru fiecare întrebare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Întrebarea sună a…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Operator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Exemplu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„diferit de”, „mai mic/mare”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&lt;&gt;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&lt;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&gt;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&lt;=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&gt;=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PaymentMethod &lt;&gt; 'Card'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„între X și Y” (inclusiv)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BETWEEN X AND Y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TotalAmount BETWEEN 1000 AND 2000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„din lista asta”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IN (a, b, c)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StoreID IN (2, 5, 7)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„conține / începe cu”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LIKE 'tipar'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ProductName LIKE '%ACCE%'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„lipsește / e completat”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IS NULL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/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IS NOT NULL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CampaignID IS NULL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13308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Pentru </a:t>
            </a:r>
            <a:r>
              <a:rPr sz="1300">
                <a:solidFill>
                  <a:srgbClr val="FFA24E"/>
                </a:solidFill>
                <a:latin typeface="Consolas"/>
              </a:rPr>
              <a:t>LIKE</a:t>
            </a:r>
            <a:r>
              <a:rPr b="0" sz="1300">
                <a:solidFill>
                  <a:srgbClr val="F2F2F2"/>
                </a:solidFill>
                <a:latin typeface="Arial"/>
              </a:rPr>
              <a:t>: </a:t>
            </a:r>
            <a:r>
              <a:rPr sz="1300">
                <a:solidFill>
                  <a:srgbClr val="FFA24E"/>
                </a:solidFill>
                <a:latin typeface="Consolas"/>
              </a:rPr>
              <a:t>%</a:t>
            </a:r>
            <a:r>
              <a:rPr b="0" sz="1300">
                <a:solidFill>
                  <a:srgbClr val="F2F2F2"/>
                </a:solidFill>
                <a:latin typeface="Arial"/>
              </a:rPr>
              <a:t> ține locul </a:t>
            </a:r>
            <a:r>
              <a:rPr b="1" sz="1300">
                <a:solidFill>
                  <a:srgbClr val="F2F2F2"/>
                </a:solidFill>
                <a:latin typeface="Arial"/>
              </a:rPr>
              <a:t>oricâtor</a:t>
            </a:r>
            <a:r>
              <a:rPr b="0" sz="1300">
                <a:solidFill>
                  <a:srgbClr val="F2F2F2"/>
                </a:solidFill>
                <a:latin typeface="Arial"/>
              </a:rPr>
              <a:t> caractere, </a:t>
            </a:r>
            <a:r>
              <a:rPr sz="1300">
                <a:solidFill>
                  <a:srgbClr val="FFA24E"/>
                </a:solidFill>
                <a:latin typeface="Consolas"/>
              </a:rPr>
              <a:t>_</a:t>
            </a:r>
            <a:r>
              <a:rPr b="0" sz="1300">
                <a:solidFill>
                  <a:srgbClr val="F2F2F2"/>
                </a:solidFill>
                <a:latin typeface="Arial"/>
              </a:rPr>
              <a:t> ține locul </a:t>
            </a:r>
            <a:r>
              <a:rPr b="1" sz="1300">
                <a:solidFill>
                  <a:srgbClr val="F2F2F2"/>
                </a:solidFill>
                <a:latin typeface="Arial"/>
              </a:rPr>
              <a:t>unui</a:t>
            </a:r>
            <a:r>
              <a:rPr b="0" sz="1300">
                <a:solidFill>
                  <a:srgbClr val="F2F2F2"/>
                </a:solidFill>
                <a:latin typeface="Arial"/>
              </a:rPr>
              <a:t> caracter. </a:t>
            </a:r>
            <a:r>
              <a:rPr sz="1300">
                <a:solidFill>
                  <a:srgbClr val="FFA24E"/>
                </a:solidFill>
                <a:latin typeface="Consolas"/>
              </a:rPr>
              <a:t>'%ACCE%'</a:t>
            </a:r>
            <a:r>
              <a:rPr b="0" sz="1300">
                <a:solidFill>
                  <a:srgbClr val="F2F2F2"/>
                </a:solidFill>
                <a:latin typeface="Arial"/>
              </a:rPr>
              <a:t> = „conține ACCE”.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EXEMPLU · &lt;&gt; ȘI BETWEEN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„Diferit de” și un interval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955547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OrderID, PaymentMethod FROM orders WHERE PaymentMethod &lt;&gt; 'Card';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OrderID, TotalAmount FROM orders WHERE TotalAmount BETWEEN 1000 AND 2000;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75788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Prima: comenzile care </a:t>
            </a:r>
            <a:r>
              <a:rPr b="1" sz="1400">
                <a:solidFill>
                  <a:srgbClr val="F2F2F2"/>
                </a:solidFill>
                <a:latin typeface="Arial"/>
              </a:rPr>
              <a:t>nu-s</a:t>
            </a:r>
            <a:r>
              <a:rPr b="0" sz="1400">
                <a:solidFill>
                  <a:srgbClr val="F2F2F2"/>
                </a:solidFill>
                <a:latin typeface="Arial"/>
              </a:rPr>
              <a:t> cu Card — </a:t>
            </a:r>
            <a:r>
              <a:rPr b="1" sz="1400">
                <a:solidFill>
                  <a:srgbClr val="F2F2F2"/>
                </a:solidFill>
                <a:latin typeface="Arial"/>
              </a:rPr>
              <a:t>11292</a:t>
            </a:r>
            <a:r>
              <a:rPr b="0" sz="1400">
                <a:solidFill>
                  <a:srgbClr val="F2F2F2"/>
                </a:solidFill>
                <a:latin typeface="Arial"/>
              </a:rPr>
              <a:t> (Cash, Voucher, BankTransfer). A doua: sumele </a:t>
            </a:r>
            <a:r>
              <a:rPr b="1" sz="1400">
                <a:solidFill>
                  <a:srgbClr val="F2F2F2"/>
                </a:solidFill>
                <a:latin typeface="Arial"/>
              </a:rPr>
              <a:t>între 1000 și 2000 inclusiv</a:t>
            </a:r>
            <a:r>
              <a:rPr b="0" sz="1400">
                <a:solidFill>
                  <a:srgbClr val="F2F2F2"/>
                </a:solidFill>
                <a:latin typeface="Arial"/>
              </a:rPr>
              <a:t> — </a:t>
            </a:r>
            <a:r>
              <a:rPr b="1" sz="1400">
                <a:solidFill>
                  <a:srgbClr val="F2F2F2"/>
                </a:solidFill>
                <a:latin typeface="Arial"/>
              </a:rPr>
              <a:t>2852</a:t>
            </a:r>
            <a:r>
              <a:rPr b="0" sz="1400">
                <a:solidFill>
                  <a:srgbClr val="F2F2F2"/>
                </a:solidFill>
                <a:latin typeface="Arial"/>
              </a:rPr>
              <a:t>. </a:t>
            </a:r>
            <a:r>
              <a:rPr sz="1400">
                <a:solidFill>
                  <a:srgbClr val="FFA24E"/>
                </a:solidFill>
                <a:latin typeface="Consolas"/>
              </a:rPr>
              <a:t>BETWEEN</a:t>
            </a:r>
            <a:r>
              <a:rPr b="0" sz="1400">
                <a:solidFill>
                  <a:srgbClr val="F2F2F2"/>
                </a:solidFill>
                <a:latin typeface="Arial"/>
              </a:rPr>
              <a:t> e mai scurt decât </a:t>
            </a:r>
            <a:r>
              <a:rPr sz="1400">
                <a:solidFill>
                  <a:srgbClr val="FFA24E"/>
                </a:solidFill>
                <a:latin typeface="Consolas"/>
              </a:rPr>
              <a:t>&gt;= 1000 AND &lt;= 2000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O listă de magazine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48920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OrderID, StoreID FROM orders WHERE StoreID IN (2, 5, 7);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09444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4512 de rânduri</a:t>
            </a:r>
            <a:r>
              <a:rPr b="0" sz="1500">
                <a:solidFill>
                  <a:srgbClr val="F2F2F2"/>
                </a:solidFill>
                <a:latin typeface="Arial"/>
              </a:rPr>
              <a:t> — comenzile din magazinele 2, 5, 7 (Cluj-Napoca, Constanța, Craiova).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229590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IN (2, 5, 7)</a:t>
            </a:r>
            <a:r>
              <a:rPr b="0" sz="1300">
                <a:solidFill>
                  <a:srgbClr val="F2F2F2"/>
                </a:solidFill>
                <a:latin typeface="Arial"/>
              </a:rPr>
              <a:t> înlocuiește </a:t>
            </a:r>
            <a:r>
              <a:rPr sz="1300">
                <a:solidFill>
                  <a:srgbClr val="FFA24E"/>
                </a:solidFill>
                <a:latin typeface="Consolas"/>
              </a:rPr>
              <a:t>StoreID = 2 OR StoreID = 5 OR StoreID = 7</a:t>
            </a:r>
            <a:r>
              <a:rPr b="0" sz="1300">
                <a:solidFill>
                  <a:srgbClr val="F2F2F2"/>
                </a:solidFill>
                <a:latin typeface="Arial"/>
              </a:rPr>
              <a:t> — mai scurt, mai ușor de citit, mai greu de greșit.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 tipar de text — produsele de Accessories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48920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ProductID, ProductName FROM products WHERE ProductName LIKE '%ACCE%';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09444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Cele </a:t>
            </a:r>
            <a:r>
              <a:rPr b="1" sz="1500">
                <a:solidFill>
                  <a:srgbClr val="F2F2F2"/>
                </a:solidFill>
                <a:latin typeface="Arial"/>
              </a:rPr>
              <a:t>7</a:t>
            </a:r>
            <a:r>
              <a:rPr b="0" sz="1500">
                <a:solidFill>
                  <a:srgbClr val="F2F2F2"/>
                </a:solidFill>
                <a:latin typeface="Arial"/>
              </a:rPr>
              <a:t> produse cu „ACCE” în nume (codul de Accessories) — printre ele </a:t>
            </a:r>
            <a:r>
              <a:rPr sz="1500">
                <a:solidFill>
                  <a:srgbClr val="FFA24E"/>
                </a:solidFill>
                <a:latin typeface="Consolas"/>
              </a:rPr>
              <a:t>Apto ACCE-101</a:t>
            </a:r>
            <a:r>
              <a:rPr b="0" sz="1500">
                <a:solidFill>
                  <a:srgbClr val="F2F2F2"/>
                </a:solidFill>
                <a:latin typeface="Arial"/>
              </a:rPr>
              <a:t> și </a:t>
            </a:r>
            <a:r>
              <a:rPr sz="1500">
                <a:solidFill>
                  <a:srgbClr val="FFA24E"/>
                </a:solidFill>
                <a:latin typeface="Consolas"/>
              </a:rPr>
              <a:t>Pulse ACCE-114</a:t>
            </a:r>
            <a:r>
              <a:rPr b="0" sz="1500">
                <a:solidFill>
                  <a:srgbClr val="F2F2F2"/>
                </a:solidFill>
                <a:latin typeface="Arial"/>
              </a:rPr>
              <a:t>, exact produsele epuizate din septembrie (L17).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5712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%</a:t>
            </a:r>
            <a:r>
              <a:rPr b="0" sz="1300">
                <a:solidFill>
                  <a:srgbClr val="F2F2F2"/>
                </a:solidFill>
                <a:latin typeface="Arial"/>
              </a:rPr>
              <a:t> ține locul oricăror caractere în jur → </a:t>
            </a:r>
            <a:r>
              <a:rPr sz="1300">
                <a:solidFill>
                  <a:srgbClr val="FFA24E"/>
                </a:solidFill>
                <a:latin typeface="Consolas"/>
              </a:rPr>
              <a:t>'%ACCE%'</a:t>
            </a:r>
            <a:r>
              <a:rPr b="0" sz="1300">
                <a:solidFill>
                  <a:srgbClr val="F2F2F2"/>
                </a:solidFill>
                <a:latin typeface="Arial"/>
              </a:rPr>
              <a:t> = „conține ACCE”. Merge doar cu </a:t>
            </a:r>
            <a:r>
              <a:rPr sz="1300">
                <a:solidFill>
                  <a:srgbClr val="FFA24E"/>
                </a:solidFill>
                <a:latin typeface="Consolas"/>
              </a:rPr>
              <a:t>LIKE</a:t>
            </a:r>
            <a:r>
              <a:rPr b="0" sz="1300">
                <a:solidFill>
                  <a:srgbClr val="F2F2F2"/>
                </a:solidFill>
                <a:latin typeface="Arial"/>
              </a:rPr>
              <a:t>, nu cu </a:t>
            </a:r>
            <a:r>
              <a:rPr sz="1300">
                <a:solidFill>
                  <a:srgbClr val="FFA24E"/>
                </a:solidFill>
                <a:latin typeface="Consolas"/>
              </a:rPr>
              <a:t>=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IS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Dovada gap-ului de campanie (septembrie)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955547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COUNT(*) FROM orders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OrderDate &gt;= '2025-09-01' AND OrderDate &lt; '2025-10-01'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AND CampaignID IS NOT NULL;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75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0</a:t>
            </a:r>
            <a:r>
              <a:rPr b="0" sz="1500">
                <a:solidFill>
                  <a:srgbClr val="F2F2F2"/>
                </a:solidFill>
                <a:latin typeface="Arial"/>
              </a:rPr>
              <a:t>. Din cele 454 de comenzi din septembrie, </a:t>
            </a:r>
            <a:r>
              <a:rPr b="1" sz="1500">
                <a:solidFill>
                  <a:srgbClr val="F2F2F2"/>
                </a:solidFill>
                <a:latin typeface="Arial"/>
              </a:rPr>
              <a:t>niciuna</a:t>
            </a:r>
            <a:r>
              <a:rPr b="0" sz="1500">
                <a:solidFill>
                  <a:srgbClr val="F2F2F2"/>
                </a:solidFill>
                <a:latin typeface="Arial"/>
              </a:rPr>
              <a:t> n-a avut campanie. Schimbi în </a:t>
            </a:r>
            <a:r>
              <a:rPr sz="1500">
                <a:solidFill>
                  <a:srgbClr val="FFA24E"/>
                </a:solidFill>
                <a:latin typeface="Consolas"/>
              </a:rPr>
              <a:t>IS NULL</a:t>
            </a:r>
            <a:r>
              <a:rPr b="0" sz="1500">
                <a:solidFill>
                  <a:srgbClr val="F2F2F2"/>
                </a:solidFill>
                <a:latin typeface="Arial"/>
              </a:rPr>
              <a:t> → </a:t>
            </a:r>
            <a:r>
              <a:rPr b="1" sz="1500">
                <a:solidFill>
                  <a:srgbClr val="F2F2F2"/>
                </a:solidFill>
                <a:latin typeface="Arial"/>
              </a:rPr>
              <a:t>454</a:t>
            </a:r>
            <a:r>
              <a:rPr b="0" sz="1500">
                <a:solidFill>
                  <a:srgbClr val="F2F2F2"/>
                </a:solidFill>
                <a:latin typeface="Arial"/>
              </a:rPr>
              <a:t> (toate).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2347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✅ MILESTONE: gap-ul de campanie e </a:t>
            </a:r>
            <a:r>
              <a:rPr b="1" sz="1400">
                <a:solidFill>
                  <a:srgbClr val="F2F2F2"/>
                </a:solidFill>
                <a:latin typeface="Arial"/>
              </a:rPr>
              <a:t>real</a:t>
            </a:r>
            <a:r>
              <a:rPr b="0" sz="1400">
                <a:solidFill>
                  <a:srgbClr val="F2F2F2"/>
                </a:solidFill>
                <a:latin typeface="Arial"/>
              </a:rPr>
              <a:t>, dovedit cu o interogare — confirmă o parte din cauza finding-ului #1. (Cu </a:t>
            </a:r>
            <a:r>
              <a:rPr sz="1400">
                <a:solidFill>
                  <a:srgbClr val="FFA24E"/>
                </a:solidFill>
                <a:latin typeface="Consolas"/>
              </a:rPr>
              <a:t>= NULL</a:t>
            </a:r>
            <a:r>
              <a:rPr b="0" sz="1400">
                <a:solidFill>
                  <a:srgbClr val="F2F2F2"/>
                </a:solidFill>
                <a:latin typeface="Arial"/>
              </a:rPr>
              <a:t> primeai 0 mereu — greșeala Ioanei.)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PARANTEZE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Combini corect — precedența AND/OR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OrderID, StoreID, TotalAmount FROM orders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(StoreID = 1 OR StoreID = 2) AND TotalAmount &gt; 3000;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42616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1041</a:t>
            </a:r>
            <a:r>
              <a:rPr b="0" sz="1500">
                <a:solidFill>
                  <a:srgbClr val="F2F2F2"/>
                </a:solidFill>
                <a:latin typeface="Arial"/>
              </a:rPr>
              <a:t> — comenzile mari (&gt;3000) din București </a:t>
            </a:r>
            <a:r>
              <a:rPr b="1" sz="1500">
                <a:solidFill>
                  <a:srgbClr val="F2F2F2"/>
                </a:solidFill>
                <a:latin typeface="Arial"/>
              </a:rPr>
              <a:t>sau</a:t>
            </a:r>
            <a:r>
              <a:rPr b="0" sz="1500">
                <a:solidFill>
                  <a:srgbClr val="F2F2F2"/>
                </a:solidFill>
                <a:latin typeface="Arial"/>
              </a:rPr>
              <a:t> Cluj. Fără paranteze primeai </a:t>
            </a:r>
            <a:r>
              <a:rPr b="1" sz="1500">
                <a:solidFill>
                  <a:srgbClr val="F2F2F2"/>
                </a:solidFill>
                <a:latin typeface="Arial"/>
              </a:rPr>
              <a:t>3094</a:t>
            </a:r>
            <a:r>
              <a:rPr b="0" sz="1500">
                <a:solidFill>
                  <a:srgbClr val="F2F2F2"/>
                </a:solidFill>
                <a:latin typeface="Arial"/>
              </a:rPr>
              <a:t> — altă întrebare.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90300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Fără paranteze, </a:t>
            </a:r>
            <a:r>
              <a:rPr sz="1300">
                <a:solidFill>
                  <a:srgbClr val="FFA24E"/>
                </a:solidFill>
                <a:latin typeface="Consolas"/>
              </a:rPr>
              <a:t>AND</a:t>
            </a:r>
            <a:r>
              <a:rPr b="0" sz="1300">
                <a:solidFill>
                  <a:srgbClr val="F2F2F2"/>
                </a:solidFill>
                <a:latin typeface="Arial"/>
              </a:rPr>
              <a:t> se leagă primul: „toate din București </a:t>
            </a:r>
            <a:r>
              <a:rPr b="1" sz="1300">
                <a:solidFill>
                  <a:srgbClr val="F2F2F2"/>
                </a:solidFill>
                <a:latin typeface="Arial"/>
              </a:rPr>
              <a:t>plus</a:t>
            </a:r>
            <a:r>
              <a:rPr b="0" sz="1300">
                <a:solidFill>
                  <a:srgbClr val="F2F2F2"/>
                </a:solidFill>
                <a:latin typeface="Arial"/>
              </a:rPr>
              <a:t> cele mari din Cluj”. Parantezele fac diferența.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de junior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`= NULL` în loc de `IS NULL`</a:t>
            </a:r>
            <a:r>
              <a:rPr b="0" sz="1400">
                <a:solidFill>
                  <a:srgbClr val="F2F2F2"/>
                </a:solidFill>
                <a:latin typeface="Arial"/>
              </a:rPr>
              <a:t> → dă mereu 0 (greșeala Ioanei); lipsa e o stare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amesteci `AND`/`OR` fără paranteze</a:t>
            </a:r>
            <a:r>
              <a:rPr b="0" sz="1400">
                <a:solidFill>
                  <a:srgbClr val="F2F2F2"/>
                </a:solidFill>
                <a:latin typeface="Arial"/>
              </a:rPr>
              <a:t> → precedența îți schimbă întrebarea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`LIKE` fără `%`</a:t>
            </a:r>
            <a:r>
              <a:rPr b="0" sz="1400">
                <a:solidFill>
                  <a:srgbClr val="F2F2F2"/>
                </a:solidFill>
                <a:latin typeface="Arial"/>
              </a:rPr>
              <a:t> (sau </a:t>
            </a:r>
            <a:r>
              <a:rPr sz="1400">
                <a:solidFill>
                  <a:srgbClr val="FFA24E"/>
                </a:solidFill>
                <a:latin typeface="Consolas"/>
              </a:rPr>
              <a:t>=</a:t>
            </a:r>
            <a:r>
              <a:rPr b="0" sz="1400">
                <a:solidFill>
                  <a:srgbClr val="F2F2F2"/>
                </a:solidFill>
                <a:latin typeface="Arial"/>
              </a:rPr>
              <a:t> cu </a:t>
            </a:r>
            <a:r>
              <a:rPr sz="1400">
                <a:solidFill>
                  <a:srgbClr val="FFA24E"/>
                </a:solidFill>
                <a:latin typeface="Consolas"/>
              </a:rPr>
              <a:t>%</a:t>
            </a:r>
            <a:r>
              <a:rPr b="0" sz="1400">
                <a:solidFill>
                  <a:srgbClr val="F2F2F2"/>
                </a:solidFill>
                <a:latin typeface="Arial"/>
              </a:rPr>
              <a:t>) → „conține” = </a:t>
            </a:r>
            <a:r>
              <a:rPr sz="1400">
                <a:solidFill>
                  <a:srgbClr val="FFA24E"/>
                </a:solidFill>
                <a:latin typeface="Consolas"/>
              </a:rPr>
              <a:t>LIKE '%…%'</a:t>
            </a:r>
            <a:r>
              <a:rPr b="0" sz="1400">
                <a:solidFill>
                  <a:srgbClr val="F2F2F2"/>
                </a:solidFill>
                <a:latin typeface="Arial"/>
              </a:rPr>
              <a:t>, nu </a:t>
            </a:r>
            <a:r>
              <a:rPr sz="1400">
                <a:solidFill>
                  <a:srgbClr val="FFA24E"/>
                </a:solidFill>
                <a:latin typeface="Consolas"/>
              </a:rPr>
              <a:t>=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uiți că `BETWEEN` e inclusiv</a:t>
            </a:r>
            <a:r>
              <a:rPr b="0" sz="1400">
                <a:solidFill>
                  <a:srgbClr val="F2F2F2"/>
                </a:solidFill>
                <a:latin typeface="Arial"/>
              </a:rPr>
              <a:t> → include ambele capete; „sub 2000 strict” = </a:t>
            </a:r>
            <a:r>
              <a:rPr sz="1400">
                <a:solidFill>
                  <a:srgbClr val="FFA24E"/>
                </a:solidFill>
                <a:latin typeface="Consolas"/>
              </a:rPr>
              <a:t>&lt; 2000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gap-ul de campanie, dovedit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alegi </a:t>
            </a:r>
            <a:r>
              <a:rPr b="1" sz="1400">
                <a:solidFill>
                  <a:srgbClr val="F2F2F2"/>
                </a:solidFill>
                <a:latin typeface="Arial"/>
              </a:rPr>
              <a:t>operatorul după întrebare</a:t>
            </a:r>
            <a:r>
              <a:rPr b="0" sz="1400">
                <a:solidFill>
                  <a:srgbClr val="F2F2F2"/>
                </a:solidFill>
                <a:latin typeface="Arial"/>
              </a:rPr>
              <a:t>: </a:t>
            </a:r>
            <a:r>
              <a:rPr sz="1400">
                <a:solidFill>
                  <a:srgbClr val="FFA24E"/>
                </a:solidFill>
                <a:latin typeface="Consolas"/>
              </a:rPr>
              <a:t>BETWEEN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IN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LIKE '%…%'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&lt;&gt;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lipsa se întreabă cu </a:t>
            </a:r>
            <a:r>
              <a:rPr b="1" sz="1400">
                <a:solidFill>
                  <a:srgbClr val="F2F2F2"/>
                </a:solidFill>
                <a:latin typeface="Arial"/>
              </a:rPr>
              <a:t>`IS NULL`</a:t>
            </a:r>
            <a:r>
              <a:rPr b="0" sz="1400">
                <a:solidFill>
                  <a:srgbClr val="F2F2F2"/>
                </a:solidFill>
                <a:latin typeface="Arial"/>
              </a:rPr>
              <a:t>, nu </a:t>
            </a:r>
            <a:r>
              <a:rPr sz="1400">
                <a:solidFill>
                  <a:srgbClr val="FFA24E"/>
                </a:solidFill>
                <a:latin typeface="Consolas"/>
              </a:rPr>
              <a:t>= NULL</a:t>
            </a:r>
            <a:r>
              <a:rPr b="0" sz="1400">
                <a:solidFill>
                  <a:srgbClr val="F2F2F2"/>
                </a:solidFill>
                <a:latin typeface="Arial"/>
              </a:rPr>
              <a:t> (care dă mereu 0)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când amesteci </a:t>
            </a:r>
            <a:r>
              <a:rPr sz="1400">
                <a:solidFill>
                  <a:srgbClr val="FFA24E"/>
                </a:solidFill>
                <a:latin typeface="Consolas"/>
              </a:rPr>
              <a:t>AND</a:t>
            </a:r>
            <a:r>
              <a:rPr b="0" sz="1400">
                <a:solidFill>
                  <a:srgbClr val="F2F2F2"/>
                </a:solidFill>
                <a:latin typeface="Arial"/>
              </a:rPr>
              <a:t> cu </a:t>
            </a:r>
            <a:r>
              <a:rPr sz="1400">
                <a:solidFill>
                  <a:srgbClr val="FFA24E"/>
                </a:solidFill>
                <a:latin typeface="Consolas"/>
              </a:rPr>
              <a:t>OR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b="1" sz="1400">
                <a:solidFill>
                  <a:srgbClr val="F2F2F2"/>
                </a:solidFill>
                <a:latin typeface="Arial"/>
              </a:rPr>
              <a:t>pune paranteze</a:t>
            </a:r>
            <a:r>
              <a:rPr b="0" sz="1400">
                <a:solidFill>
                  <a:srgbClr val="F2F2F2"/>
                </a:solidFill>
                <a:latin typeface="Arial"/>
              </a:rPr>
              <a:t> — </a:t>
            </a:r>
            <a:r>
              <a:rPr sz="1400">
                <a:solidFill>
                  <a:srgbClr val="FFA24E"/>
                </a:solidFill>
                <a:latin typeface="Consolas"/>
              </a:rPr>
              <a:t>AND</a:t>
            </a:r>
            <a:r>
              <a:rPr b="0" sz="1400">
                <a:solidFill>
                  <a:srgbClr val="F2F2F2"/>
                </a:solidFill>
                <a:latin typeface="Arial"/>
              </a:rPr>
              <a:t> se leagă primul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ai </a:t>
            </a:r>
            <a:r>
              <a:rPr b="1" sz="1400">
                <a:solidFill>
                  <a:srgbClr val="F2F2F2"/>
                </a:solidFill>
                <a:latin typeface="Arial"/>
              </a:rPr>
              <a:t>dovedit</a:t>
            </a:r>
            <a:r>
              <a:rPr b="0" sz="1400">
                <a:solidFill>
                  <a:srgbClr val="F2F2F2"/>
                </a:solidFill>
                <a:latin typeface="Arial"/>
              </a:rPr>
              <a:t> gap-ul: din </a:t>
            </a:r>
            <a:r>
              <a:rPr b="1" sz="1400">
                <a:solidFill>
                  <a:srgbClr val="F2F2F2"/>
                </a:solidFill>
                <a:latin typeface="Arial"/>
              </a:rPr>
              <a:t>454</a:t>
            </a:r>
            <a:r>
              <a:rPr b="0" sz="1400">
                <a:solidFill>
                  <a:srgbClr val="F2F2F2"/>
                </a:solidFill>
                <a:latin typeface="Arial"/>
              </a:rPr>
              <a:t> de comenzi din septembrie, </a:t>
            </a:r>
            <a:r>
              <a:rPr b="1" sz="1400">
                <a:solidFill>
                  <a:srgbClr val="F2F2F2"/>
                </a:solidFill>
                <a:latin typeface="Arial"/>
              </a:rPr>
              <a:t>0</a:t>
            </a:r>
            <a:r>
              <a:rPr b="0" sz="1400">
                <a:solidFill>
                  <a:srgbClr val="F2F2F2"/>
                </a:solidFill>
                <a:latin typeface="Arial"/>
              </a:rPr>
              <a:t> cu campanie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Punte → </a:t>
            </a:r>
            <a:r>
              <a:rPr b="1" sz="1300">
                <a:solidFill>
                  <a:srgbClr val="F2F2F2"/>
                </a:solidFill>
                <a:latin typeface="Arial"/>
              </a:rPr>
              <a:t>L22: ORDER BY &amp; Top-N</a:t>
            </a:r>
            <a:r>
              <a:rPr b="0" sz="1300">
                <a:solidFill>
                  <a:srgbClr val="F2F2F2"/>
                </a:solidFill>
                <a:latin typeface="Arial"/>
              </a:rPr>
              <a:t> — sortezi rezultatele și scoți „primele N” (cele mai mari comenzi, cele mai scumpe produse).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L21 · WHERE fin  ·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