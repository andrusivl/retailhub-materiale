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 șasea zi de SQL. La L24 ai refăcut pivotul din Excel cu GROUP BY — dar îți dădea StoreID 2, nu «Cluj-Napoca». Azi înveți JOIN: legi două tabele pe cheia comună și aduci numele. Baza RetailHub e deja încărcată; te conectezi și scrii.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Construiești peste L24. Acolo ai grupat, dar rezultatul avea coduri. Recapitulează repede lanțul SQL de până acum și pune degetul pe limită: un raport nu se citește cu coduri.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 ca întrebări de business. Fiecare devine o interogare în partea a doua a orei. Plantează ideea centrală: JOIN = XLOOKUP din SQL (ecou L15).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 RetailHub regăsim mai multe tabele, fiecare cu un aspect al afacerii. Cheia mentală: numele nu-i în tabelul comenzilor; e într-un tabel-satelit (stores, categories). Ca să-l aduci, legi tabelele — și asta e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Cererea vine de la Andrei — prima observație de raportare pe care o vei primi mereu: nu coduri, nume. Ăsta e declanșatorul întregii lecții.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Cârligul, și e o greșeală de gândire. Ioana a crezut că «a lista tabelele în FROM» = «a le lega». Nu — trebuie să spui pe ce cheie se potrivesc. Fără ON, fiecare comandă s-a lipit de toate cele 8 orașe. Antidotul e o singură clauză: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unică: JOIN e XLOOKUP-ul din SQL. În L15 aduceai numele orașului dintr-un al doilea tabel după StoreID; aici JOIN...ON face la fel — doar că aduce tot al doilea tabel, dintr-o clauză, pentru toate rândurile. Când prinzi maparea asta, orice lookup din Excel devine un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Miezul de referință. INNER JOIN...ON leagă pe cheia comună. Aliasul scurtează și dezambiguizează. Poți înlănțui JOIN-uri. LEFT JOIN păstrează tot stângul, chiar fără pereche. Apoi regulile de aur.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demonstrație, la nivel de rând, ca să se vadă mecanica. Lângă fiecare comandă apare acum orașul ei. Asta face ON: potrivește fiecare comandă cu magazinul ei. LIMIT 5 — ne uităm doar la primele cinci, ca să vedem 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Vârful lecției — lasă-l să respire. Legi (JOIN) ca să aduci numele, grupezi (GROUP BY s.City) ca să ai un rând per oraș. La L24 aveai StoreID 2 și 1.987.932,42. Acum ai Cluj-Napoca și 1.987.932,42 — aceeași cifră, dar codul a devenit nume. Ăsta e exact pivotul din L16, acum citibil.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doilea tip de JOIN: în lanț. Numele categoriei nu-i în order_items — acolo e doar ProductID. Treci prin products (are CategoryID) și apoi categories (are numele) — două JOIN-uri. Sunt sume brute, la nivel de linie.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doilea reveal — plata narativă a modulului. La L17, în Excel, ai găsit că septembrie a căzut din cauza Accessories, −55,9%. Acum o reconstruiești în SQL cu un JOIN pe patru tabele. Aceeași cifră, aceeași concluzie — dar acum trăiește în bază, cu numele categoriei.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treilea tip de JOIN, și e unealta care te ferește de o minciună. Cu INNER JOIN pe campanii, comenzile fără campanie ar fi dispărut. LEFT JOIN le păstrează, cu campania NULL. Așa vezi golul din septembrie: 454 comenzi, 0 campanii — finding-ul din L21, făcut vizibil.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Elicitează, mai ales prima. JOIN nu e cosmetic — face baza citibilă: coduri → nume. INNER vs LEFT decide dacă vezi golurile. Fan-out: aduni totalul comenzii peste liniile ei și-l numeri de mai multe ori — 129M în loc de 38M. Aduni la grana potrivită.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milestone-ul: azi ai învățat să legi tabelele — JOIN...ON, XLOOKUP-ul din SQL — și ai făcut codul să devină nume. Ai refăcut pivotul din L16 citibil și finding-ul din L17 în SQL. Regula de aur: ON obligatoriu; califică coloanele; INNER doar potrivirile, LEFT tot stângul + NULL. Salvează scriptul. Urmează L26.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25 · A ȘASEA LECȚIE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JOIN — legi tabelele (codul devine nume)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SQL (leagă tabelele) →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4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(SQL, L20 → L24)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filtrează rândurile ·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fin (L20–L21)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500">
                <a:solidFill>
                  <a:srgbClr val="F2F2F2"/>
                </a:solidFill>
                <a:latin typeface="Arial"/>
              </a:rPr>
              <a:t> + </a:t>
            </a:r>
            <a:r>
              <a:rPr sz="15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500">
                <a:solidFill>
                  <a:srgbClr val="F2F2F2"/>
                </a:solidFill>
                <a:latin typeface="Arial"/>
              </a:rPr>
              <a:t> → Top-N (L22)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COUNT / SUM / AVG</a:t>
            </a:r>
            <a:r>
              <a:rPr b="0" sz="1500">
                <a:solidFill>
                  <a:srgbClr val="F2F2F2"/>
                </a:solidFill>
                <a:latin typeface="Arial"/>
              </a:rPr>
              <a:t> agregă (L23)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 = pivotul din Excel — </a:t>
            </a:r>
            <a:r>
              <a:rPr b="1" sz="1500">
                <a:solidFill>
                  <a:srgbClr val="F2F2F2"/>
                </a:solidFill>
                <a:latin typeface="Arial"/>
              </a:rPr>
              <a:t>dar dă coduri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500">
                <a:solidFill>
                  <a:srgbClr val="F2F2F2"/>
                </a:solidFill>
                <a:latin typeface="Arial"/>
              </a:rPr>
              <a:t>), nu nume (L24)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Problema: raportul iese cu </a:t>
            </a:r>
            <a:r>
              <a:rPr b="1" sz="1400">
                <a:solidFill>
                  <a:srgbClr val="F2F2F2"/>
                </a:solidFill>
                <a:latin typeface="Arial"/>
              </a:rPr>
              <a:t>coduri</a:t>
            </a:r>
            <a:r>
              <a:rPr b="0" sz="1400">
                <a:solidFill>
                  <a:srgbClr val="F2F2F2"/>
                </a:solidFill>
                <a:latin typeface="Arial"/>
              </a:rPr>
              <a:t>. Nimeni din board nu știe ce e «StoreID 2».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răspundem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Trei întrebări-cheie pe care le rezolvăm cu </a:t>
            </a:r>
            <a:r>
              <a:rPr sz="1500">
                <a:solidFill>
                  <a:srgbClr val="FFA24E"/>
                </a:solidFill>
                <a:latin typeface="Consolas"/>
              </a:rPr>
              <a:t>JOIN</a:t>
            </a:r>
            <a:r>
              <a:rPr b="0" sz="1500">
                <a:solidFill>
                  <a:srgbClr val="F2F2F2"/>
                </a:solidFill>
                <a:latin typeface="Arial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3226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Cum aduc </a:t>
            </a:r>
            <a:r>
              <a:rPr b="1" sz="1500">
                <a:solidFill>
                  <a:srgbClr val="F2F2F2"/>
                </a:solidFill>
                <a:latin typeface="Arial"/>
              </a:rPr>
              <a:t>numele orașului</a:t>
            </a:r>
            <a:r>
              <a:rPr b="0" sz="1500">
                <a:solidFill>
                  <a:srgbClr val="F2F2F2"/>
                </a:solidFill>
                <a:latin typeface="Arial"/>
              </a:rPr>
              <a:t> lângă Revenue (nu codul)?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Cum refac finding-ul </a:t>
            </a:r>
            <a:r>
              <a:rPr b="1" sz="1500">
                <a:solidFill>
                  <a:srgbClr val="F2F2F2"/>
                </a:solidFill>
                <a:latin typeface="Arial"/>
              </a:rPr>
              <a:t>Accessories (L17)</a:t>
            </a:r>
            <a:r>
              <a:rPr b="0" sz="1500">
                <a:solidFill>
                  <a:srgbClr val="F2F2F2"/>
                </a:solidFill>
                <a:latin typeface="Arial"/>
              </a:rPr>
              <a:t> în SQL, cu numele categoriei?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Cum văd </a:t>
            </a:r>
            <a:r>
              <a:rPr b="1" sz="1500">
                <a:solidFill>
                  <a:srgbClr val="F2F2F2"/>
                </a:solidFill>
                <a:latin typeface="Arial"/>
              </a:rPr>
              <a:t>golurile</a:t>
            </a:r>
            <a:r>
              <a:rPr b="0" sz="1500">
                <a:solidFill>
                  <a:srgbClr val="F2F2F2"/>
                </a:solidFill>
                <a:latin typeface="Arial"/>
              </a:rPr>
              <a:t> de campanie — ce </a:t>
            </a:r>
            <a:r>
              <a:rPr i="1" sz="1500">
                <a:solidFill>
                  <a:srgbClr val="F2F2F2"/>
                </a:solidFill>
                <a:latin typeface="Arial"/>
              </a:rPr>
              <a:t>lipsește</a:t>
            </a:r>
            <a:r>
              <a:rPr b="0" sz="1500">
                <a:solidFill>
                  <a:srgbClr val="F2F2F2"/>
                </a:solidFill>
                <a:latin typeface="Arial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6977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 de azi: </a:t>
            </a:r>
            <a:r>
              <a:rPr b="1" sz="1400">
                <a:solidFill>
                  <a:srgbClr val="F2F2F2"/>
                </a:solidFill>
                <a:latin typeface="Arial"/>
              </a:rPr>
              <a:t>`JOIN` e XLOOKUP-ul din SQL</a:t>
            </a:r>
            <a:r>
              <a:rPr b="0" sz="1400">
                <a:solidFill>
                  <a:srgbClr val="F2F2F2"/>
                </a:solidFill>
                <a:latin typeface="Arial"/>
              </a:rPr>
              <a:t> — aduci o coloană dintr-un al doilea tabel, după cheie.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ERD · RETAILHUB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Tabelele de care avem nevoie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3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conține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Cheie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comenzile (data, sumă)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StoreID, CampaignID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stores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magazinele → oraș, regiune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StoreID → City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order_items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liniile comenzii (cant., preț)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OrderID, ProductID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products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produsele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ProductID → CategoryID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categories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categoriile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CategoryID → nume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campaigns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campaniile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CampaignID → nume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49884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Numele </a:t>
            </a:r>
            <a:r>
              <a:rPr b="1" sz="1400">
                <a:solidFill>
                  <a:srgbClr val="F2F2F2"/>
                </a:solidFill>
                <a:latin typeface="Arial"/>
              </a:rPr>
              <a:t>nu-i</a:t>
            </a:r>
            <a:r>
              <a:rPr b="0" sz="1400">
                <a:solidFill>
                  <a:srgbClr val="F2F2F2"/>
                </a:solidFill>
                <a:latin typeface="Arial"/>
              </a:rPr>
              <a:t>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— trăiește în tabele-satelit. Ca să-l aduci, </a:t>
            </a:r>
            <a:r>
              <a:rPr b="1" sz="1400">
                <a:solidFill>
                  <a:srgbClr val="F2F2F2"/>
                </a:solidFill>
                <a:latin typeface="Arial"/>
              </a:rPr>
              <a:t>legi</a:t>
            </a:r>
            <a:r>
              <a:rPr b="0" sz="1400">
                <a:solidFill>
                  <a:srgbClr val="F2F2F2"/>
                </a:solidFill>
                <a:latin typeface="Arial"/>
              </a:rPr>
              <a:t> tabelele: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«Vreau numele, nu codul»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„Nimeni din board nu știe ce e «StoreID 2». Vreau numele orașului lângă Revenue — Cluj-Napoca, București — ca-n Excel după lookup. Și povestea cu Accessories din septembrie (L17), direct în bază, cu numele categoriei.”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baza </a:t>
            </a:r>
            <a:r>
              <a:rPr sz="1500">
                <a:solidFill>
                  <a:srgbClr val="FFA24E"/>
                </a:solidFill>
                <a:latin typeface="Consolas"/>
              </a:rPr>
              <a:t>RetailHub</a:t>
            </a:r>
            <a:r>
              <a:rPr b="0" sz="1500">
                <a:solidFill>
                  <a:srgbClr val="F2F2F2"/>
                </a:solidFill>
                <a:latin typeface="Arial"/>
              </a:rPr>
              <a:t>. Cererea are două fețe: nume de </a:t>
            </a:r>
            <a:r>
              <a:rPr b="1" sz="1500">
                <a:solidFill>
                  <a:srgbClr val="F2F2F2"/>
                </a:solidFill>
                <a:latin typeface="Arial"/>
              </a:rPr>
              <a:t>oraș</a:t>
            </a:r>
            <a:r>
              <a:rPr b="0" sz="1500">
                <a:solidFill>
                  <a:srgbClr val="F2F2F2"/>
                </a:solidFill>
                <a:latin typeface="Arial"/>
              </a:rPr>
              <a:t> și nume de </a:t>
            </a:r>
            <a:r>
              <a:rPr b="1" sz="1500">
                <a:solidFill>
                  <a:srgbClr val="F2F2F2"/>
                </a:solidFill>
                <a:latin typeface="Arial"/>
              </a:rPr>
              <a:t>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 — amândouă în alte tabele decât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legat fără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GREȘIT: virgulă, fără ON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o.OrderID, s.City, o.TotalAmount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o, stores 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75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Rezultat: </a:t>
            </a:r>
            <a:r>
              <a:rPr b="1" sz="1500">
                <a:solidFill>
                  <a:srgbClr val="F2F2F2"/>
                </a:solidFill>
                <a:latin typeface="Arial"/>
              </a:rPr>
              <a:t>119.744</a:t>
            </a:r>
            <a:r>
              <a:rPr b="0" sz="1500">
                <a:solidFill>
                  <a:srgbClr val="F2F2F2"/>
                </a:solidFill>
                <a:latin typeface="Arial"/>
              </a:rPr>
              <a:t> de rânduri (14968 × 8) și un Revenue de </a:t>
            </a:r>
            <a:r>
              <a:rPr b="1" sz="1500">
                <a:solidFill>
                  <a:srgbClr val="F2F2F2"/>
                </a:solidFill>
                <a:latin typeface="Arial"/>
              </a:rPr>
              <a:t>8×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303.031.799,12</a:t>
            </a:r>
            <a:r>
              <a:rPr b="0" sz="1500">
                <a:solidFill>
                  <a:srgbClr val="F2F2F2"/>
                </a:solidFill>
                <a:latin typeface="Arial"/>
              </a:rPr>
              <a:t>) — un </a:t>
            </a:r>
            <a:r>
              <a:rPr b="1" sz="1500">
                <a:solidFill>
                  <a:srgbClr val="F2F2F2"/>
                </a:solidFill>
                <a:latin typeface="Arial"/>
              </a:rPr>
              <a:t>produs cartezian</a:t>
            </a:r>
            <a:r>
              <a:rPr b="0" sz="1500">
                <a:solidFill>
                  <a:srgbClr val="F2F2F2"/>
                </a:solidFill>
                <a:latin typeface="Arial"/>
              </a:rPr>
              <a:t>, nu un raport.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347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Corect: </a:t>
            </a:r>
            <a:r>
              <a:rPr sz="1400">
                <a:solidFill>
                  <a:srgbClr val="FFA24E"/>
                </a:solidFill>
                <a:latin typeface="Consolas"/>
              </a:rPr>
              <a:t>JOIN stores s ON o.StoreID = s.StoreID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→ fiecare comandă primește </a:t>
            </a:r>
            <a:r>
              <a:rPr b="1" sz="1400">
                <a:solidFill>
                  <a:srgbClr val="F2F2F2"/>
                </a:solidFill>
                <a:latin typeface="Arial"/>
              </a:rPr>
              <a:t>orașul ei</a:t>
            </a:r>
            <a:r>
              <a:rPr b="0" sz="1400">
                <a:solidFill>
                  <a:srgbClr val="F2F2F2"/>
                </a:solidFill>
                <a:latin typeface="Arial"/>
              </a:rPr>
              <a:t>, nu toate 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JOIN e XLOOKUP-ul din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XLOOKUP (Excel, L15)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JOIN (SQL, L25)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valoarea căutată (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StoreID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o.StoreID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din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tabelul-sursă (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stores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JOIN stores 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coloana adusă (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City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s.City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în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SELECT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400">
                <a:solidFill>
                  <a:srgbClr val="FFA24E"/>
                </a:solidFill>
                <a:latin typeface="Consolas"/>
              </a:rPr>
              <a:t>ON o.StoreID = s.StoreID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= inima: „potrivește comanda cu magazinul cu </a:t>
            </a:r>
            <a:r>
              <a:rPr b="1" sz="1400">
                <a:solidFill>
                  <a:srgbClr val="F2F2F2"/>
                </a:solidFill>
                <a:latin typeface="Arial"/>
              </a:rPr>
              <a:t>același</a:t>
            </a:r>
            <a:r>
              <a:rPr b="0" sz="1400">
                <a:solidFill>
                  <a:srgbClr val="F2F2F2"/>
                </a:solidFill>
                <a:latin typeface="Arial"/>
              </a:rPr>
              <a:t> cod”. Un rând → orașul lui, nu toate 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HARTA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INNER · LEFT · lanț · reguli de aur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Scrii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Numele din alt tabel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INNER JOIN … ON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orders o JOIN stores s ON o.StoreID=s.StoreID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Să scurtezi numele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alias de tabel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orders o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,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stores s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→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o.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,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s.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Să înlănțui tabele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JOIN … JOIN …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order_items → products → categories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Să păstrezi tot stângul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LEFT JOIN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comenzi fără campanie →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NULL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767328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🔑 </a:t>
            </a:r>
            <a:r>
              <a:rPr b="1" sz="1300">
                <a:solidFill>
                  <a:srgbClr val="F2F2F2"/>
                </a:solidFill>
                <a:latin typeface="Arial"/>
              </a:rPr>
              <a:t>`ON` e obligatoriu</a:t>
            </a:r>
            <a:r>
              <a:rPr b="0" sz="1300">
                <a:solidFill>
                  <a:srgbClr val="F2F2F2"/>
                </a:solidFill>
                <a:latin typeface="Arial"/>
              </a:rPr>
              <a:t> — fără el, produs cartezian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🔑 </a:t>
            </a:r>
            <a:r>
              <a:rPr b="1" sz="1300">
                <a:solidFill>
                  <a:srgbClr val="F2F2F2"/>
                </a:solidFill>
                <a:latin typeface="Arial"/>
              </a:rPr>
              <a:t>califică coloanele cu alias</a:t>
            </a:r>
            <a:r>
              <a:rPr b="0" sz="1300">
                <a:solidFill>
                  <a:srgbClr val="F2F2F2"/>
                </a:solidFill>
                <a:latin typeface="Arial"/>
              </a:rPr>
              <a:t> când sunt în ambele tabele (</a:t>
            </a:r>
            <a:r>
              <a:rPr sz="1300">
                <a:solidFill>
                  <a:srgbClr val="FFA24E"/>
                </a:solidFill>
                <a:latin typeface="Consolas"/>
              </a:rPr>
              <a:t>o.StoreID</a:t>
            </a:r>
            <a:r>
              <a:rPr b="0" sz="13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🔑 </a:t>
            </a:r>
            <a:r>
              <a:rPr b="1" sz="1300">
                <a:solidFill>
                  <a:srgbClr val="F2F2F2"/>
                </a:solidFill>
                <a:latin typeface="Arial"/>
              </a:rPr>
              <a:t>`INNER` = doar potrivirile · `LEFT` = tot stângul + `NULL`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EXEMPLU · INNER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Orașul lângă comandă (nivel rând)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o.OrderID, o.StoreID, s.City, o.TotalAmount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stores s ON o.StoreID = s.StoreID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o.OrderID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LIMIT 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4213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Ce vezi:</a:t>
            </a:r>
            <a:r>
              <a:rPr b="0" sz="1500">
                <a:solidFill>
                  <a:srgbClr val="F2F2F2"/>
                </a:solidFill>
                <a:latin typeface="Arial"/>
              </a:rPr>
              <a:t> 5 comenzi, fiecare cu </a:t>
            </a:r>
            <a:r>
              <a:rPr b="1" sz="1500">
                <a:solidFill>
                  <a:srgbClr val="F2F2F2"/>
                </a:solidFill>
                <a:latin typeface="Arial"/>
              </a:rPr>
              <a:t>codul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500">
                <a:solidFill>
                  <a:srgbClr val="F2F2F2"/>
                </a:solidFill>
                <a:latin typeface="Arial"/>
              </a:rPr>
              <a:t>) </a:t>
            </a:r>
            <a:r>
              <a:rPr b="1" sz="1500">
                <a:solidFill>
                  <a:srgbClr val="F2F2F2"/>
                </a:solidFill>
                <a:latin typeface="Arial"/>
              </a:rPr>
              <a:t>și numele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City</a:t>
            </a:r>
            <a:r>
              <a:rPr b="0" sz="1500">
                <a:solidFill>
                  <a:srgbClr val="F2F2F2"/>
                </a:solidFill>
                <a:latin typeface="Arial"/>
              </a:rPr>
              <a:t>) — comanda cu </a:t>
            </a:r>
            <a:r>
              <a:rPr sz="15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500">
                <a:solidFill>
                  <a:srgbClr val="F2F2F2"/>
                </a:solidFill>
                <a:latin typeface="Arial"/>
              </a:rPr>
              <a:t> arată </a:t>
            </a:r>
            <a:r>
              <a:rPr sz="1500">
                <a:solidFill>
                  <a:srgbClr val="FFA24E"/>
                </a:solidFill>
                <a:latin typeface="Consolas"/>
              </a:rPr>
              <a:t>Cluj-Napoca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8981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Verifică-te: </a:t>
            </a:r>
            <a:r>
              <a:rPr sz="1400">
                <a:solidFill>
                  <a:srgbClr val="FFA24E"/>
                </a:solidFill>
                <a:latin typeface="Consolas"/>
              </a:rPr>
              <a:t>ON</a:t>
            </a:r>
            <a:r>
              <a:rPr b="0" sz="1400">
                <a:solidFill>
                  <a:srgbClr val="F2F2F2"/>
                </a:solidFill>
                <a:latin typeface="Arial"/>
              </a:rPr>
              <a:t> aduce, pentru fiecare comandă, </a:t>
            </a:r>
            <a:r>
              <a:rPr b="1" sz="1400">
                <a:solidFill>
                  <a:srgbClr val="F2F2F2"/>
                </a:solidFill>
                <a:latin typeface="Arial"/>
              </a:rPr>
              <a:t>orașul ei</a:t>
            </a:r>
            <a:r>
              <a:rPr b="0" sz="1400">
                <a:solidFill>
                  <a:srgbClr val="F2F2F2"/>
                </a:solidFill>
                <a:latin typeface="Arial"/>
              </a:rPr>
              <a:t> — nu toate 8, ca la Ioana.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REVENUE PE ORAȘ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Pivotul din L16 — acum cu NUME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s.City, COUNT(*) AS Comenzi, SUM(o.TotalAmount)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stores s ON o.StoreID = s.StoreID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s.City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Revenue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4213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București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7.535.215,95</a:t>
            </a:r>
            <a:r>
              <a:rPr b="0" sz="1500">
                <a:solidFill>
                  <a:srgbClr val="F2F2F2"/>
                </a:solidFill>
                <a:latin typeface="Arial"/>
              </a:rPr>
              <a:t> primul · </a:t>
            </a:r>
            <a:r>
              <a:rPr b="1" sz="1500">
                <a:solidFill>
                  <a:srgbClr val="F2F2F2"/>
                </a:solidFill>
                <a:latin typeface="Arial"/>
              </a:rPr>
              <a:t>Cluj-Napoca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1.987.932,42</a:t>
            </a:r>
            <a:r>
              <a:rPr b="0" sz="1500">
                <a:solidFill>
                  <a:srgbClr val="F2F2F2"/>
                </a:solidFill>
                <a:latin typeface="Arial"/>
              </a:rPr>
              <a:t> ultimul (855 comenzi) — exact pivotul din L16, dar cu </a:t>
            </a:r>
            <a:r>
              <a:rPr b="1" sz="1500">
                <a:solidFill>
                  <a:srgbClr val="F2F2F2"/>
                </a:solidFill>
                <a:latin typeface="Arial"/>
              </a:rPr>
              <a:t>nume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8981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MILESTONE: codul din L24 (</a:t>
            </a:r>
            <a:r>
              <a:rPr sz="14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400">
                <a:solidFill>
                  <a:srgbClr val="F2F2F2"/>
                </a:solidFill>
                <a:latin typeface="Arial"/>
              </a:rPr>
              <a:t>) a devenit </a:t>
            </a:r>
            <a:r>
              <a:rPr b="1" sz="1400">
                <a:solidFill>
                  <a:srgbClr val="F2F2F2"/>
                </a:solidFill>
                <a:latin typeface="Arial"/>
              </a:rPr>
              <a:t>nume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Cluj-Napoca</a:t>
            </a:r>
            <a:r>
              <a:rPr b="0" sz="1400">
                <a:solidFill>
                  <a:srgbClr val="F2F2F2"/>
                </a:solidFill>
                <a:latin typeface="Arial"/>
              </a:rPr>
              <a:t>). Raportul e gata de 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CATEGORII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JOIN pe 3 tabele — Revenue pe categorie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c.CategoryName, SUM(i.Quantity*i.UnitPrice) AS Vanzari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order_items 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products p   ON i.ProductID = p.ProductID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categories c ON p.CategoryID = c.CategoryID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c.CategoryName ORDER BY Vanzari DESC LIMIT 5;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342132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Categorie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Vânzări (brut)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Laptops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5.631.962,64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5.345.068,64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Fitness Equipment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3.572.469,73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Tablets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3.406.003,98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REVEAL 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Accessories aug → sept = −55,9% (în SQL)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35458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DATE_FORMAT(o.OrderDate,'%Y-%m') AS Luna,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SUM(i.Quantity*i.UnitPrice) AS Vanzari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order_items 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orders o     ON i.OrderID = o.OrderID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products p   ON i.ProductID = p.ProductID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categories c ON p.CategoryID = c.CategoryID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c.CategoryName='Accessories'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AND o.OrderDate&gt;='2025-08-01' AND o.OrderDate&lt;'2025-10-01'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Luna;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7482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august </a:t>
            </a:r>
            <a:r>
              <a:rPr sz="1400">
                <a:solidFill>
                  <a:srgbClr val="FFA24E"/>
                </a:solidFill>
                <a:latin typeface="Consolas"/>
              </a:rPr>
              <a:t>194.213,42</a:t>
            </a:r>
            <a:r>
              <a:rPr b="0" sz="1400">
                <a:solidFill>
                  <a:srgbClr val="F2F2F2"/>
                </a:solidFill>
                <a:latin typeface="Arial"/>
              </a:rPr>
              <a:t> → septembrie </a:t>
            </a:r>
            <a:r>
              <a:rPr sz="1400">
                <a:solidFill>
                  <a:srgbClr val="FFA24E"/>
                </a:solidFill>
                <a:latin typeface="Consolas"/>
              </a:rPr>
              <a:t>85.585,05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b="1" sz="1400">
                <a:solidFill>
                  <a:srgbClr val="F2F2F2"/>
                </a:solidFill>
                <a:latin typeface="Arial"/>
              </a:rPr>
              <a:t>−55,9%</a:t>
            </a:r>
            <a:r>
              <a:rPr b="0" sz="1400">
                <a:solidFill>
                  <a:srgbClr val="F2F2F2"/>
                </a:solidFill>
                <a:latin typeface="Arial"/>
              </a:rPr>
              <a:t> — exact culpritul din </a:t>
            </a:r>
            <a:r>
              <a:rPr b="1" sz="1400">
                <a:solidFill>
                  <a:srgbClr val="F2F2F2"/>
                </a:solidFill>
                <a:latin typeface="Arial"/>
              </a:rPr>
              <a:t>L17</a:t>
            </a:r>
            <a:r>
              <a:rPr b="0" sz="1400">
                <a:solidFill>
                  <a:srgbClr val="F2F2F2"/>
                </a:solidFill>
                <a:latin typeface="Arial"/>
              </a:rPr>
              <a:t>, acum în SQL (JOIN pe 4 tabele).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LEFT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Golul de campanie (septembrie 454 / 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COUNT(*) AS ComenziSept, COUNT(cam.CampaignID) AS CuCampanie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LEFT JOIN campaigns cam ON o.CampaignID = cam.CampaignID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o.OrderDate&gt;='2025-09-01' AND o.OrderDate&lt;'2025-10-01';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ComenziSept = 454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CuCampanie = 0</a:t>
            </a:r>
            <a:r>
              <a:rPr b="0" sz="1500">
                <a:solidFill>
                  <a:srgbClr val="F2F2F2"/>
                </a:solidFill>
                <a:latin typeface="Arial"/>
              </a:rPr>
              <a:t> — toate comenzile din septembrie au campania </a:t>
            </a:r>
            <a:r>
              <a:rPr sz="1500">
                <a:solidFill>
                  <a:srgbClr val="FFA24E"/>
                </a:solidFill>
                <a:latin typeface="Consolas"/>
              </a:rPr>
              <a:t>NULL</a:t>
            </a:r>
            <a:r>
              <a:rPr b="0" sz="1500">
                <a:solidFill>
                  <a:srgbClr val="F2F2F2"/>
                </a:solidFill>
                <a:latin typeface="Arial"/>
              </a:rPr>
              <a:t>. Cu </a:t>
            </a:r>
            <a:r>
              <a:rPr sz="1500">
                <a:solidFill>
                  <a:srgbClr val="FFA24E"/>
                </a:solidFill>
                <a:latin typeface="Consolas"/>
              </a:rPr>
              <a:t>INNER JOIN</a:t>
            </a:r>
            <a:r>
              <a:rPr b="0" sz="1500">
                <a:solidFill>
                  <a:srgbClr val="F2F2F2"/>
                </a:solidFill>
                <a:latin typeface="Arial"/>
              </a:rPr>
              <a:t> ar fi </a:t>
            </a:r>
            <a:r>
              <a:rPr i="1" sz="1500">
                <a:solidFill>
                  <a:srgbClr val="F2F2F2"/>
                </a:solidFill>
                <a:latin typeface="Arial"/>
              </a:rPr>
              <a:t>dispărut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4456644"/>
          <a:ext cx="10874959" cy="1115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185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INNER vs LEFT (campanii)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Rânduri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INNER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(doar potriviri)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4530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LEFT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(tot stângul + NULL)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14968 (10438 cu NULL)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INNER vs LEFT · fan-out · greșeli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Legi fără `ON`</a:t>
            </a:r>
            <a:r>
              <a:rPr b="0" sz="1500">
                <a:solidFill>
                  <a:srgbClr val="F2F2F2"/>
                </a:solidFill>
                <a:latin typeface="Arial"/>
              </a:rPr>
              <a:t> → produs cartezian (Ioana: 119.744, Revenue 8×) — orice JOIN are un </a:t>
            </a:r>
            <a:r>
              <a:rPr sz="1500">
                <a:solidFill>
                  <a:srgbClr val="FFA24E"/>
                </a:solidFill>
                <a:latin typeface="Consolas"/>
              </a:rPr>
              <a:t>ON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Coloană ambiguă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500">
                <a:solidFill>
                  <a:srgbClr val="F2F2F2"/>
                </a:solidFill>
                <a:latin typeface="Arial"/>
              </a:rPr>
              <a:t> în ambele) → califică cu alias (</a:t>
            </a:r>
            <a:r>
              <a:rPr sz="1500">
                <a:solidFill>
                  <a:srgbClr val="FFA24E"/>
                </a:solidFill>
                <a:latin typeface="Consolas"/>
              </a:rPr>
              <a:t>o.StoreID</a:t>
            </a:r>
            <a:r>
              <a:rPr b="0" sz="15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`INNER` când voiai `LEFT`</a:t>
            </a:r>
            <a:r>
              <a:rPr b="0" sz="1500">
                <a:solidFill>
                  <a:srgbClr val="F2F2F2"/>
                </a:solidFill>
                <a:latin typeface="Arial"/>
              </a:rPr>
              <a:t> → pierzi golurile (comenzile fără campanie)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Fan-out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SUM(o.TotalAmount)</a:t>
            </a:r>
            <a:r>
              <a:rPr b="0" sz="1500">
                <a:solidFill>
                  <a:srgbClr val="F2F2F2"/>
                </a:solidFill>
                <a:latin typeface="Arial"/>
              </a:rPr>
              <a:t> peste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129.477.125,92</a:t>
            </a:r>
            <a:r>
              <a:rPr b="0" sz="1500">
                <a:solidFill>
                  <a:srgbClr val="F2F2F2"/>
                </a:solidFill>
                <a:latin typeface="Arial"/>
              </a:rPr>
              <a:t>, ~3,4×) → aduni la grana potrivită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codul a devenit nume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JOIN … ON</a:t>
            </a:r>
            <a:r>
              <a:rPr b="0" sz="1400">
                <a:solidFill>
                  <a:srgbClr val="F2F2F2"/>
                </a:solidFill>
                <a:latin typeface="Arial"/>
              </a:rPr>
              <a:t> leagă pe cheia comună — codul devine nume; e </a:t>
            </a:r>
            <a:r>
              <a:rPr b="1" sz="1400">
                <a:solidFill>
                  <a:srgbClr val="F2F2F2"/>
                </a:solidFill>
                <a:latin typeface="Arial"/>
              </a:rPr>
              <a:t>XLOOKUP-ul din SQL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`ON` obligatoriu</a:t>
            </a:r>
            <a:r>
              <a:rPr b="0" sz="1400">
                <a:solidFill>
                  <a:srgbClr val="F2F2F2"/>
                </a:solidFill>
                <a:latin typeface="Arial"/>
              </a:rPr>
              <a:t> (fără el, cartezian); califică coloanele cu alias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Înlănțui</a:t>
            </a:r>
            <a:r>
              <a:rPr b="0" sz="1400">
                <a:solidFill>
                  <a:srgbClr val="F2F2F2"/>
                </a:solidFill>
                <a:latin typeface="Arial"/>
              </a:rPr>
              <a:t> JOIN-uri (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 → products → categories</a:t>
            </a:r>
            <a:r>
              <a:rPr b="0" sz="1400">
                <a:solidFill>
                  <a:srgbClr val="F2F2F2"/>
                </a:solidFill>
                <a:latin typeface="Arial"/>
              </a:rPr>
              <a:t>) și grupezi pe </a:t>
            </a:r>
            <a:r>
              <a:rPr b="1" sz="1400">
                <a:solidFill>
                  <a:srgbClr val="F2F2F2"/>
                </a:solidFill>
                <a:latin typeface="Arial"/>
              </a:rPr>
              <a:t>nume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`INNER` = potriviri · `LEFT` = tot stângul + `NULL`</a:t>
            </a:r>
            <a:r>
              <a:rPr b="0" sz="1400">
                <a:solidFill>
                  <a:srgbClr val="F2F2F2"/>
                </a:solidFill>
                <a:latin typeface="Arial"/>
              </a:rPr>
              <a:t> (așa vezi golul: 454 /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</a:t>
            </a:r>
            <a:r>
              <a:rPr b="1" sz="1400">
                <a:solidFill>
                  <a:srgbClr val="F2F2F2"/>
                </a:solidFill>
                <a:latin typeface="Arial"/>
              </a:rPr>
              <a:t>codurile devin nume; finding-ul din L17 trăiește în SQL.</a:t>
            </a:r>
            <a:r>
              <a:rPr b="0" sz="1400">
                <a:solidFill>
                  <a:srgbClr val="F2F2F2"/>
                </a:solidFill>
                <a:latin typeface="Arial"/>
              </a:rPr>
              <a:t>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L26: JOIN-uri II</a:t>
            </a:r>
            <a:r>
              <a:rPr b="0" sz="1400">
                <a:solidFill>
                  <a:srgbClr val="F2F2F2"/>
                </a:solidFill>
                <a:latin typeface="Arial"/>
              </a:rPr>
              <a:t> (clienți, angajați, campanii cu nume, într-un raport complet).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L25 · JOIN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