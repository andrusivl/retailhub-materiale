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La L16 ai făcut pivoturi pe o dimensiune. Azi le combini: categorie ȘI lună în același pivot, adaugi % din total ca să vezi cât cântărește fiecare felie, și pui un Slicer ca să testezi o ipoteză cu un click. Cu ele dai finding-ului #1 (septembrie −14,9%) răspunsul care lipsea: ce a scăzut, unde și cât din scădere. Fișierul L17_pivots2.xlsx are sales (linie, gross, cu City/Month/CategoryName) și orders (net pe comandă).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L16. Acolo ai făcut pivoturi pe o singură dimensiune: Revenue pe magazin, pe categorie, cu Rows + Values, Sum și sortare. Tabelul e îmbogățit: fiecare linie știe deja City, Month, CategoryName, aduse cu lookup în L15. Regula grain-ului: categoria trăiește în sales (linie, gross); netul exact în orders (comandă). Și ai două finding-uri pe masă: septembrie −14,9% și Cluj cel mai slab magazin pe an. Dar un pivot pe o dimensiune nu-ți spune ce a scăzut în septembrie.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Combini categorie și lună într-un crosstab, adaugi % of Column Total ca să dimensionezi felia, pui un Slicer ca să testezi o ipoteză, și înveți să descompui pe dimensiunea corectă. Ideea centrală: nu blamezi o dimensiune până n-o tai și nu vezi scăderea acolo.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(§2, §5). Deschizi L17_pivots2.xlsx. Ai sales (linie, gross, cu City/Month/CategoryName îmbogățite în L15) și orders (net pe comandă). Descompunerea pe categorie o faci pe sales; verificarea netă, pe orders. Month e text YYYY-MM, se pivotează și se sortează cronologic direct. Un pivot pe o singură dimensiune nu ajunge: îți trebuie categorie ȘI lună deodată, și un mod de a testa o bănuială.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Elenei (§2). Ai două finding-uri: septembrie −14,9% și Cluj cel mai slab magazin. Elena vine cu întrebarea firească: ce a scăzut, o categorie sau un magazin? Nu un singur număr, ci unde s-a dus scăderea, ca să știe pe cine să sune. Cererea are două fețe: ce (categorie) și unde (magazin).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(§3), și e o greșeală de gândire. Ioana s-a uitat la cele două finding-uri și a tras concluzia logică: Cluj e cel mai slab magazin, deci Cluj a tras luna în jos. Sună rezonabil, dar e o ipoteză, nu un fapt, și e ușor de testat cu un pivot. Curiozitatea de azi: dacă pun magazinul și luna în același pivot, chiar văd scăderea la Cluj? Uneori suspectul evident e nevinovat.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La L16: dimensiune în Rows, măsură în Values. Azi adaugi trei mișcări. Columns: a doua dimensiune pe orizontală, CategoryName în Rows plus Month în Columns dă un crosstab. Show Values As, % of Column Total: procentul, nu leii, ca să vezi ponderea. Slicer: un panou de butoane, click pe Cluj-Napoca și tot pivotul se filtrează. Regula de aur rămâne: în Values o cantitate cu Sum; în Rows/Columns/Slicer dimensiuni cu nume, niciodată un cod.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Un total care scade e ca o durere difuză: știi că doare, nu unde. Ca s-o localizezi, tai pe rând pe fiecare dimensiune. Tai pe lună, vezi când; pe categorie, vezi ce; pe magazin, vezi unde. Abia când combini tăieturile vezi exact de unde vine durerea, și pe cine să suni. Tabelul rezumă cele trei mișcări.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(§7). Click oriunde în tblSales, Insert &gt; PivotTable, New Worksheet, OK. Trage CategoryName în Rows, Month în Columns, LineValue în Values (Sum of LineValue). Ce vezi: un tabel mare, categoriile pe rânduri, lunile pe coloane. Uită-te la coloanele 2025-08 și 2025-09, una lângă alta. Fiecare celulă e Revenue-ul unei categorii într-o lună: ai ce și când deodată.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2 (§7). Ca să nu citești 30 de rânduri, sortează după coloana 2025-09 (click dreapta pe o valoare, Sort, Largest to Smallest) sau compară aug vs sep. Accessories se prăbușește: de la 194.213,42 la 85.585,05, se înjumătățește. Nu toate categoriile scad la fel: Smartphones și Cookware chiar cresc. Scăderea e concentrată, nu generală.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(§7). Click dreapta pe o valoare din pivot, Show Values As, % of Column Total. Ce vezi: Accessories 14,2% din august, dar doar 7,6% din septembrie. Categoria nu doar a scăzut, s-a micșorat ca pondere în lună. Din toată scăderea companiei, Accessories singură face 45,6%, aproape jumătate; primele 3 categorii, ~66%.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Revino la lei (Show Values As, No Calculation). PivotTable Analyze, Insert Slicer, bifează City, OK. Apare panoul cu orașe. Click pe Cluj-Napoca. Ce vezi: pivotul se filtrează la Cluj și, surpriză, la Cluj nu scade, de fapt crește: 74.242,21 la 79.020,30, plus 6,4%. Click prin celelalte orașe: scăderea mare pe Accessories e la magazinele mari (București, Constanța, Oradea), nu la Cluj. Ipoteza Ioanei, respinsă cu un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5 (§7). Fă un al doilea pivot din tblOrders: City în Rows, Month în Columns, TotalAmount (Sum) în Values. Compară 2025-08 cu 2025-09. Ce vezi: 6 din 8 magazine scad în septembrie, cel mai tare Constanța −38,1%, apoi Oradea −29,3%. Doar Cluj-Napoca +6,4% și Timișoara +12,6% cresc. Total companie 1.324.375,59 la 1.126.418,50, minus 14,9%, finding-ul #1 confirmat net. Ipoteza a fost Cluj e falsă: septembrie a scăzut în toată rețeaua, concentrat pe Accessories.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Confunzi nivel cu variație: cel mai mic pe an nu e a scăzut luna asta; descompune pe lună. Presupui în loc să testezi: orice bănuială se testează cu un Slicer, cu un click. Citești cifra fără pondere: adaugă % of Total, 46% din scădere spune ce prioritizezi. Cod în Rows/Columns/Slicer: City, nu StoreID, un Slicer cu nume se citește.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Combini dimensiuni, una în Rows, alta în Columns, crosstab. % of Total dimensionează felia: Accessories 14% la 8% egal ~46% din scădere. Slicer egal testul unei ipoteze cu un click: a fost Cluj, plus 6,4%, respinsă. Descompui pe dimensiunea corectă: septembrie a scăzut din Accessories, în toată rețeaua, stoc plus campanie, nu magazinul slab. Milestone de proiect: finding-ul #1 are acum o cauză. Din L18 o faci vizibilă într-un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17 · A ȘAPTEA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Pivot Tables II — combini dimensiuni, % din total, slicere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(descompune) → Answer. Azi afli ce, unde și cât de mult.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21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La </a:t>
            </a:r>
            <a:r>
              <a:rPr b="1" sz="1400">
                <a:solidFill>
                  <a:srgbClr val="F2F2F2"/>
                </a:solidFill>
                <a:latin typeface="Arial"/>
              </a:rPr>
              <a:t>L16</a:t>
            </a:r>
            <a:r>
              <a:rPr b="0" sz="1400">
                <a:solidFill>
                  <a:srgbClr val="F2F2F2"/>
                </a:solidFill>
                <a:latin typeface="Arial"/>
              </a:rPr>
              <a:t> ai făcut pivoturi pe </a:t>
            </a:r>
            <a:r>
              <a:rPr b="1" sz="1400">
                <a:solidFill>
                  <a:srgbClr val="F2F2F2"/>
                </a:solidFill>
                <a:latin typeface="Arial"/>
              </a:rPr>
              <a:t>o</a:t>
            </a:r>
            <a:r>
              <a:rPr b="0" sz="1400">
                <a:solidFill>
                  <a:srgbClr val="F2F2F2"/>
                </a:solidFill>
                <a:latin typeface="Arial"/>
              </a:rPr>
              <a:t> dimensiune: Revenue pe magazin, pe categorie (</a:t>
            </a:r>
            <a:r>
              <a:rPr sz="1400">
                <a:solidFill>
                  <a:srgbClr val="FFA24E"/>
                </a:solidFill>
                <a:latin typeface="Consolas"/>
              </a:rPr>
              <a:t>Rows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sz="1400">
                <a:solidFill>
                  <a:srgbClr val="FFA24E"/>
                </a:solidFill>
                <a:latin typeface="Consolas"/>
              </a:rPr>
              <a:t>Values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, sortare)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Tabelul e îmbogățit: fiecare linie știe deja 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Month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CategoryName</a:t>
            </a:r>
            <a:r>
              <a:rPr b="0" sz="1400">
                <a:solidFill>
                  <a:srgbClr val="F2F2F2"/>
                </a:solidFill>
                <a:latin typeface="Arial"/>
              </a:rPr>
              <a:t> (lookup, L15)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Grain: categoria trăiește în </a:t>
            </a:r>
            <a:r>
              <a:rPr sz="14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400">
                <a:solidFill>
                  <a:srgbClr val="F2F2F2"/>
                </a:solidFill>
                <a:latin typeface="Arial"/>
              </a:rPr>
              <a:t> (linie, </a:t>
            </a:r>
            <a:r>
              <a:rPr b="1" sz="1400">
                <a:solidFill>
                  <a:srgbClr val="F2F2F2"/>
                </a:solidFill>
                <a:latin typeface="Arial"/>
              </a:rPr>
              <a:t>gross</a:t>
            </a:r>
            <a:r>
              <a:rPr b="0" sz="1400">
                <a:solidFill>
                  <a:srgbClr val="F2F2F2"/>
                </a:solidFill>
                <a:latin typeface="Arial"/>
              </a:rPr>
              <a:t>); netul exact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(comandă) — L16/L7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Două finding-uri pe masă: septembrie </a:t>
            </a:r>
            <a:r>
              <a:rPr b="1" sz="14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400">
                <a:solidFill>
                  <a:srgbClr val="F2F2F2"/>
                </a:solidFill>
                <a:latin typeface="Arial"/>
              </a:rPr>
              <a:t> (L14) și </a:t>
            </a:r>
            <a:r>
              <a:rPr b="1" sz="14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400">
                <a:solidFill>
                  <a:srgbClr val="F2F2F2"/>
                </a:solidFill>
                <a:latin typeface="Arial"/>
              </a:rPr>
              <a:t> cel mai slab magazin pe 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Dar un pivot pe </a:t>
            </a:r>
            <a:r>
              <a:rPr b="1" sz="1400">
                <a:solidFill>
                  <a:srgbClr val="F2F2F2"/>
                </a:solidFill>
                <a:latin typeface="Arial"/>
              </a:rPr>
              <a:t>o</a:t>
            </a:r>
            <a:r>
              <a:rPr b="0" sz="1400">
                <a:solidFill>
                  <a:srgbClr val="F2F2F2"/>
                </a:solidFill>
                <a:latin typeface="Arial"/>
              </a:rPr>
              <a:t> dimensiune nu-ți spune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a scăzut în septembrie. Azi combini </a:t>
            </a:r>
            <a:r>
              <a:rPr b="1" sz="1400">
                <a:solidFill>
                  <a:srgbClr val="F2F2F2"/>
                </a:solidFill>
                <a:latin typeface="Arial"/>
              </a:rPr>
              <a:t>două</a:t>
            </a:r>
            <a:r>
              <a:rPr b="0" sz="1400">
                <a:solidFill>
                  <a:srgbClr val="F2F2F2"/>
                </a:solidFill>
                <a:latin typeface="Arial"/>
              </a:rPr>
              <a:t> dimensiuni.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pui o dimensiune în </a:t>
            </a:r>
            <a:r>
              <a:rPr b="1" sz="1400">
                <a:solidFill>
                  <a:srgbClr val="F2F2F2"/>
                </a:solidFill>
                <a:latin typeface="Arial"/>
              </a:rPr>
              <a:t>Rows</a:t>
            </a:r>
            <a:r>
              <a:rPr b="0" sz="1400">
                <a:solidFill>
                  <a:srgbClr val="F2F2F2"/>
                </a:solidFill>
                <a:latin typeface="Arial"/>
              </a:rPr>
              <a:t> și alta în </a:t>
            </a:r>
            <a:r>
              <a:rPr b="1" sz="1400">
                <a:solidFill>
                  <a:srgbClr val="F2F2F2"/>
                </a:solidFill>
                <a:latin typeface="Arial"/>
              </a:rPr>
              <a:t>Columns</a:t>
            </a:r>
            <a:r>
              <a:rPr b="0" sz="1400">
                <a:solidFill>
                  <a:srgbClr val="F2F2F2"/>
                </a:solidFill>
                <a:latin typeface="Arial"/>
              </a:rPr>
              <a:t> → un </a:t>
            </a:r>
            <a:r>
              <a:rPr b="1" sz="1400">
                <a:solidFill>
                  <a:srgbClr val="F2F2F2"/>
                </a:solidFill>
                <a:latin typeface="Arial"/>
              </a:rPr>
              <a:t>tabel încrucișat</a:t>
            </a:r>
            <a:r>
              <a:rPr b="0" sz="1400">
                <a:solidFill>
                  <a:srgbClr val="F2F2F2"/>
                </a:solidFill>
                <a:latin typeface="Arial"/>
              </a:rPr>
              <a:t> (categorie × lună)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afișezi </a:t>
            </a:r>
            <a:r>
              <a:rPr b="1" sz="1400">
                <a:solidFill>
                  <a:srgbClr val="F2F2F2"/>
                </a:solidFill>
                <a:latin typeface="Arial"/>
              </a:rPr>
              <a:t>`% of Column Total`</a:t>
            </a:r>
            <a:r>
              <a:rPr b="0" sz="1400">
                <a:solidFill>
                  <a:srgbClr val="F2F2F2"/>
                </a:solidFill>
                <a:latin typeface="Arial"/>
              </a:rPr>
              <a:t> (Show Values As) — cât cântărește o felie, nu doar cifra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inserezi un </a:t>
            </a:r>
            <a:r>
              <a:rPr b="1" sz="1400">
                <a:solidFill>
                  <a:srgbClr val="F2F2F2"/>
                </a:solidFill>
                <a:latin typeface="Arial"/>
              </a:rPr>
              <a:t>Slicer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Insert &gt; Slicer</a:t>
            </a:r>
            <a:r>
              <a:rPr b="0" sz="1400">
                <a:solidFill>
                  <a:srgbClr val="F2F2F2"/>
                </a:solidFill>
                <a:latin typeface="Arial"/>
              </a:rPr>
              <a:t>) și să filtrezi pivotul pe un magazin cu un click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descompui pe dimensiunea corectă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și să vezi că suspectul evident (Cluj) e nevinovat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Ideea centrală de azi: </a:t>
            </a:r>
            <a:r>
              <a:rPr b="1" sz="1300">
                <a:solidFill>
                  <a:srgbClr val="F2F2F2"/>
                </a:solidFill>
                <a:latin typeface="Arial"/>
              </a:rPr>
              <a:t>descompui pe dimensiunea corectă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nu blamezi o dimensiune până n-o tai și nu vezi scăderea acolo.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DATELE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și de ce nu ajunge o dimensiune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L17_pivots2.xlsx</a:t>
            </a:r>
            <a:r>
              <a:rPr b="0" sz="1500">
                <a:solidFill>
                  <a:srgbClr val="F2F2F2"/>
                </a:solidFill>
                <a:latin typeface="Arial"/>
              </a:rPr>
              <a:t>. Ai </a:t>
            </a:r>
            <a:r>
              <a:rPr sz="15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500">
                <a:solidFill>
                  <a:srgbClr val="F2F2F2"/>
                </a:solidFill>
                <a:latin typeface="Arial"/>
              </a:rPr>
              <a:t> (fiecare linie știe deja </a:t>
            </a:r>
            <a:r>
              <a:rPr sz="1500">
                <a:solidFill>
                  <a:srgbClr val="FFA24E"/>
                </a:solidFill>
                <a:latin typeface="Consolas"/>
              </a:rPr>
              <a:t>City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Month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CategoryName</a:t>
            </a:r>
            <a:r>
              <a:rPr b="0" sz="1500">
                <a:solidFill>
                  <a:srgbClr val="F2F2F2"/>
                </a:solidFill>
                <a:latin typeface="Arial"/>
              </a:rPr>
              <a:t> — lookup, L15) și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(Revenue net pe comandă).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400">
                <a:solidFill>
                  <a:srgbClr val="F2F2F2"/>
                </a:solidFill>
                <a:latin typeface="Arial"/>
              </a:rPr>
              <a:t> — grain de </a:t>
            </a:r>
            <a:r>
              <a:rPr b="1" sz="1400">
                <a:solidFill>
                  <a:srgbClr val="F2F2F2"/>
                </a:solidFill>
                <a:latin typeface="Arial"/>
              </a:rPr>
              <a:t>linie</a:t>
            </a:r>
            <a:r>
              <a:rPr b="0" sz="1400">
                <a:solidFill>
                  <a:srgbClr val="F2F2F2"/>
                </a:solidFill>
                <a:latin typeface="Arial"/>
              </a:rPr>
              <a:t>, valori </a:t>
            </a:r>
            <a:r>
              <a:rPr b="1" sz="1400">
                <a:solidFill>
                  <a:srgbClr val="F2F2F2"/>
                </a:solidFill>
                <a:latin typeface="Arial"/>
              </a:rPr>
              <a:t>brute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LineValue</a:t>
            </a:r>
            <a:r>
              <a:rPr b="0" sz="1400">
                <a:solidFill>
                  <a:srgbClr val="F2F2F2"/>
                </a:solidFill>
                <a:latin typeface="Arial"/>
              </a:rPr>
              <a:t>); aici descompui pe categorie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— grain de </a:t>
            </a:r>
            <a:r>
              <a:rPr b="1" sz="1400">
                <a:solidFill>
                  <a:srgbClr val="F2F2F2"/>
                </a:solidFill>
                <a:latin typeface="Arial"/>
              </a:rPr>
              <a:t>comandă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b="1" sz="1400">
                <a:solidFill>
                  <a:srgbClr val="F2F2F2"/>
                </a:solidFill>
                <a:latin typeface="Arial"/>
              </a:rPr>
              <a:t>net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); aici confirmi −14,9%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Month</a:t>
            </a:r>
            <a:r>
              <a:rPr b="0" sz="1400">
                <a:solidFill>
                  <a:srgbClr val="F2F2F2"/>
                </a:solidFill>
                <a:latin typeface="Arial"/>
              </a:rPr>
              <a:t> e text </a:t>
            </a:r>
            <a:r>
              <a:rPr sz="1400">
                <a:solidFill>
                  <a:srgbClr val="FFA24E"/>
                </a:solidFill>
                <a:latin typeface="Consolas"/>
              </a:rPr>
              <a:t>YYYY-MM</a:t>
            </a:r>
            <a:r>
              <a:rPr b="0" sz="1400">
                <a:solidFill>
                  <a:srgbClr val="F2F2F2"/>
                </a:solidFill>
                <a:latin typeface="Arial"/>
              </a:rPr>
              <a:t> (ex. </a:t>
            </a:r>
            <a:r>
              <a:rPr sz="1400">
                <a:solidFill>
                  <a:srgbClr val="FFA24E"/>
                </a:solidFill>
                <a:latin typeface="Consolas"/>
              </a:rPr>
              <a:t>2025-09</a:t>
            </a:r>
            <a:r>
              <a:rPr b="0" sz="1400">
                <a:solidFill>
                  <a:srgbClr val="F2F2F2"/>
                </a:solidFill>
                <a:latin typeface="Arial"/>
              </a:rPr>
              <a:t>) — se pivotează și se sortează cronologic direct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Un pivot pe o singură dimensiune nu ajunge: îți trebuie </a:t>
            </a:r>
            <a:r>
              <a:rPr b="1" sz="1300">
                <a:solidFill>
                  <a:srgbClr val="F2F2F2"/>
                </a:solidFill>
                <a:latin typeface="Arial"/>
              </a:rPr>
              <a:t>categorie ȘI lună</a:t>
            </a:r>
            <a:r>
              <a:rPr b="0" sz="1300">
                <a:solidFill>
                  <a:srgbClr val="F2F2F2"/>
                </a:solidFill>
                <a:latin typeface="Arial"/>
              </a:rPr>
              <a:t> deodată — și un mod de a </a:t>
            </a:r>
            <a:r>
              <a:rPr b="1" sz="1300">
                <a:solidFill>
                  <a:srgbClr val="F2F2F2"/>
                </a:solidFill>
                <a:latin typeface="Arial"/>
              </a:rPr>
              <a:t>testa</a:t>
            </a:r>
            <a:r>
              <a:rPr b="0" sz="1300">
                <a:solidFill>
                  <a:srgbClr val="F2F2F2"/>
                </a:solidFill>
                <a:latin typeface="Arial"/>
              </a:rPr>
              <a:t> o bănuială.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„Bine, dar CE a scăzut în septembrie?” (Elena)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„Am înțeles că septembrie a scăzut cu ~15%. Dar </a:t>
            </a:r>
            <a:r>
              <a:rPr i="1" sz="1500">
                <a:solidFill>
                  <a:srgbClr val="F2F2F2"/>
                </a:solidFill>
                <a:latin typeface="Arial"/>
              </a:rPr>
              <a:t>ce</a:t>
            </a:r>
            <a:r>
              <a:rPr b="0" sz="1500">
                <a:solidFill>
                  <a:srgbClr val="F2F2F2"/>
                </a:solidFill>
                <a:latin typeface="Arial"/>
              </a:rPr>
              <a:t> a scăzut? O categorie anume? Un magazin? Nu-mi da un singur număr — dă-mi </a:t>
            </a:r>
            <a:r>
              <a:rPr b="1" sz="1500">
                <a:solidFill>
                  <a:srgbClr val="F2F2F2"/>
                </a:solidFill>
                <a:latin typeface="Arial"/>
              </a:rPr>
              <a:t>unde</a:t>
            </a:r>
            <a:r>
              <a:rPr b="0" sz="1500">
                <a:solidFill>
                  <a:srgbClr val="F2F2F2"/>
                </a:solidFill>
                <a:latin typeface="Arial"/>
              </a:rPr>
              <a:t> s-a dus scăderea, ca să știu pe cine sun.” — </a:t>
            </a:r>
            <a:r>
              <a:rPr b="1" sz="1500">
                <a:solidFill>
                  <a:srgbClr val="F2F2F2"/>
                </a:solidFill>
                <a:latin typeface="Arial"/>
              </a:rPr>
              <a:t>Elena</a:t>
            </a:r>
            <a:r>
              <a:rPr b="0" sz="1500">
                <a:solidFill>
                  <a:srgbClr val="F2F2F2"/>
                </a:solidFill>
                <a:latin typeface="Arial"/>
              </a:rPr>
              <a:t>, Sales Director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Cererea are două fețe: </a:t>
            </a:r>
            <a:r>
              <a:rPr i="1" sz="1500">
                <a:solidFill>
                  <a:srgbClr val="F2F2F2"/>
                </a:solidFill>
                <a:latin typeface="Arial"/>
              </a:rPr>
              <a:t>ce</a:t>
            </a:r>
            <a:r>
              <a:rPr b="0" sz="1500">
                <a:solidFill>
                  <a:srgbClr val="F2F2F2"/>
                </a:solidFill>
                <a:latin typeface="Arial"/>
              </a:rPr>
              <a:t> (categorie) și </a:t>
            </a:r>
            <a:r>
              <a:rPr i="1" sz="1500">
                <a:solidFill>
                  <a:srgbClr val="F2F2F2"/>
                </a:solidFill>
                <a:latin typeface="Arial"/>
              </a:rPr>
              <a:t>unde</a:t>
            </a:r>
            <a:r>
              <a:rPr b="0" sz="1500">
                <a:solidFill>
                  <a:srgbClr val="F2F2F2"/>
                </a:solidFill>
                <a:latin typeface="Arial"/>
              </a:rPr>
              <a:t> (magazin) — plus un mod de a testa rapid o bănuială.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zis Ioana: „a fost Cluj”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„E clar — Cluj e cel mai slab magazin, deci Cluj a tras luna în jos în septembrie. Scriem că e problema de la Cluj și mergem mai departe.” — </a:t>
            </a:r>
            <a:r>
              <a:rPr b="1" sz="1400">
                <a:solidFill>
                  <a:srgbClr val="F2F2F2"/>
                </a:solidFill>
                <a:latin typeface="Arial"/>
              </a:rPr>
              <a:t>Ioana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Sună rezonabil. Dar e o </a:t>
            </a:r>
            <a:r>
              <a:rPr b="1" sz="1500">
                <a:solidFill>
                  <a:srgbClr val="F2F2F2"/>
                </a:solidFill>
                <a:latin typeface="Arial"/>
              </a:rPr>
              <a:t>ipoteză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 fapt — și e ușor de testat. Un analist nu blamează o dimensiune până n-o </a:t>
            </a:r>
            <a:r>
              <a:rPr b="1" sz="1500">
                <a:solidFill>
                  <a:srgbClr val="F2F2F2"/>
                </a:solidFill>
                <a:latin typeface="Arial"/>
              </a:rPr>
              <a:t>descompune</a:t>
            </a:r>
            <a:r>
              <a:rPr b="0" sz="1500">
                <a:solidFill>
                  <a:srgbClr val="F2F2F2"/>
                </a:solidFill>
                <a:latin typeface="Arial"/>
              </a:rPr>
              <a:t> și nu vede scăderea acolo, cu ochii lui.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Trei mișcări noi peste L16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Columns</a:t>
            </a:r>
            <a:r>
              <a:rPr b="0" sz="1400">
                <a:solidFill>
                  <a:srgbClr val="F2F2F2"/>
                </a:solidFill>
                <a:latin typeface="Arial"/>
              </a:rPr>
              <a:t> — a doua dimensiune, pe orizontală. </a:t>
            </a:r>
            <a:r>
              <a:rPr sz="1400">
                <a:solidFill>
                  <a:srgbClr val="FFA24E"/>
                </a:solidFill>
                <a:latin typeface="Consolas"/>
              </a:rPr>
              <a:t>CategoryName</a:t>
            </a:r>
            <a:r>
              <a:rPr b="0" sz="1400">
                <a:solidFill>
                  <a:srgbClr val="F2F2F2"/>
                </a:solidFill>
                <a:latin typeface="Arial"/>
              </a:rPr>
              <a:t> (Rows) + </a:t>
            </a:r>
            <a:r>
              <a:rPr sz="1400">
                <a:solidFill>
                  <a:srgbClr val="FFA24E"/>
                </a:solidFill>
                <a:latin typeface="Consolas"/>
              </a:rPr>
              <a:t>Month</a:t>
            </a:r>
            <a:r>
              <a:rPr b="0" sz="1400">
                <a:solidFill>
                  <a:srgbClr val="F2F2F2"/>
                </a:solidFill>
                <a:latin typeface="Arial"/>
              </a:rPr>
              <a:t> (Columns) = </a:t>
            </a:r>
            <a:r>
              <a:rPr b="1" sz="1400">
                <a:solidFill>
                  <a:srgbClr val="F2F2F2"/>
                </a:solidFill>
                <a:latin typeface="Arial"/>
              </a:rPr>
              <a:t>crosstab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Show Values As → `% of Column Total`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procentul, nu leii: o categorie 14% din august, 8% din septembrie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Slicer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Insert &gt; Slicer</a:t>
            </a:r>
            <a:r>
              <a:rPr b="0" sz="1400">
                <a:solidFill>
                  <a:srgbClr val="F2F2F2"/>
                </a:solidFill>
                <a:latin typeface="Arial"/>
              </a:rPr>
              <a:t>) — un panou de butoane (orașele). Click pe „Cluj-Napoca” → tot pivotul se filtrează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Regula de aur (L16): în </a:t>
            </a:r>
            <a:r>
              <a:rPr b="1" sz="1300">
                <a:solidFill>
                  <a:srgbClr val="F2F2F2"/>
                </a:solidFill>
                <a:latin typeface="Arial"/>
              </a:rPr>
              <a:t>Values</a:t>
            </a:r>
            <a:r>
              <a:rPr b="0" sz="1300">
                <a:solidFill>
                  <a:srgbClr val="F2F2F2"/>
                </a:solidFill>
                <a:latin typeface="Arial"/>
              </a:rPr>
              <a:t> o cantitate (</a:t>
            </a:r>
            <a:r>
              <a:rPr sz="1300">
                <a:solidFill>
                  <a:srgbClr val="FFA24E"/>
                </a:solidFill>
                <a:latin typeface="Consolas"/>
              </a:rPr>
              <a:t>LineValue</a:t>
            </a:r>
            <a:r>
              <a:rPr b="0" sz="1300">
                <a:solidFill>
                  <a:srgbClr val="F2F2F2"/>
                </a:solidFill>
                <a:latin typeface="Arial"/>
              </a:rPr>
              <a:t>) cu </a:t>
            </a:r>
            <a:r>
              <a:rPr sz="1300">
                <a:solidFill>
                  <a:srgbClr val="FFA24E"/>
                </a:solidFill>
                <a:latin typeface="Consolas"/>
              </a:rPr>
              <a:t>Sum</a:t>
            </a:r>
            <a:r>
              <a:rPr b="0" sz="1300">
                <a:solidFill>
                  <a:srgbClr val="F2F2F2"/>
                </a:solidFill>
                <a:latin typeface="Arial"/>
              </a:rPr>
              <a:t>; în Rows/Columns/Slicer </a:t>
            </a:r>
            <a:r>
              <a:rPr b="1" sz="1300">
                <a:solidFill>
                  <a:srgbClr val="F2F2F2"/>
                </a:solidFill>
                <a:latin typeface="Arial"/>
              </a:rPr>
              <a:t>dimensiuni cu nume</a:t>
            </a:r>
            <a:r>
              <a:rPr b="0" sz="1300">
                <a:solidFill>
                  <a:srgbClr val="F2F2F2"/>
                </a:solidFill>
                <a:latin typeface="Arial"/>
              </a:rPr>
              <a:t> — niciodată un cod (L6).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Descompui pe dimensiunea corectă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total care scade e ca o durere difuză: știi </a:t>
            </a:r>
            <a:r>
              <a:rPr i="1" sz="1500">
                <a:solidFill>
                  <a:srgbClr val="F2F2F2"/>
                </a:solidFill>
                <a:latin typeface="Arial"/>
              </a:rPr>
              <a:t>că</a:t>
            </a:r>
            <a:r>
              <a:rPr b="0" sz="1500">
                <a:solidFill>
                  <a:srgbClr val="F2F2F2"/>
                </a:solidFill>
                <a:latin typeface="Arial"/>
              </a:rPr>
              <a:t> doare, nu </a:t>
            </a:r>
            <a:r>
              <a:rPr i="1" sz="1500">
                <a:solidFill>
                  <a:srgbClr val="F2F2F2"/>
                </a:solidFill>
                <a:latin typeface="Arial"/>
              </a:rPr>
              <a:t>unde</a:t>
            </a:r>
            <a:r>
              <a:rPr b="0" sz="1500">
                <a:solidFill>
                  <a:srgbClr val="F2F2F2"/>
                </a:solidFill>
                <a:latin typeface="Arial"/>
              </a:rPr>
              <a:t>. Ca s-o localizezi, tai pe rând pe fiecare dimensiune.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30764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 să vezi…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 pivot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Rezultat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 măsură pe două dimensiuni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una în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Rows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, alta în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tabel încrucișat (categorie × lună)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 cântărește o felie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Show Values As → % of … Total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14% vs 8% — ponderea, nu cifra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testezi o bănuială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Insert Slicer pe o dimensiune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filtrezi la un magazin cu un click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CROSSTAB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Categorie × lună într-un singur pivot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Insert &gt; PivotTable → New Worksheet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Rows: CategoryName · Columns: Month · Values: Sum of LineValue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500">
                <a:solidFill>
                  <a:srgbClr val="F2F2F2"/>
                </a:solidFill>
                <a:latin typeface="Arial"/>
              </a:rPr>
              <a:t> categoriile pe rânduri, lunile pe coloane. Uită-te la </a:t>
            </a:r>
            <a:r>
              <a:rPr sz="1500">
                <a:solidFill>
                  <a:srgbClr val="FFA24E"/>
                </a:solidFill>
                <a:latin typeface="Consolas"/>
              </a:rPr>
              <a:t>2025-08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2025-09</a:t>
            </a:r>
            <a:r>
              <a:rPr b="0" sz="1500">
                <a:solidFill>
                  <a:srgbClr val="F2F2F2"/>
                </a:solidFill>
                <a:latin typeface="Arial"/>
              </a:rPr>
              <a:t>, una lângă alta.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Fiecare celulă = Revenue-ul unei categorii într-o lună. Ai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i="1" sz="1400">
                <a:solidFill>
                  <a:srgbClr val="F2F2F2"/>
                </a:solidFill>
                <a:latin typeface="Arial"/>
              </a:rPr>
              <a:t>când</a:t>
            </a:r>
            <a:r>
              <a:rPr b="0" sz="1400">
                <a:solidFill>
                  <a:srgbClr val="F2F2F2"/>
                </a:solidFill>
                <a:latin typeface="Arial"/>
              </a:rPr>
              <a:t> deodată — pe un singur ecran.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CINE 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Accessories se înjumătățește (aug → sep)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Sortează după coloana </a:t>
            </a:r>
            <a:r>
              <a:rPr sz="1500">
                <a:solidFill>
                  <a:srgbClr val="FFA24E"/>
                </a:solidFill>
                <a:latin typeface="Consolas"/>
              </a:rPr>
              <a:t>2025-09</a:t>
            </a:r>
            <a:r>
              <a:rPr b="0" sz="1500">
                <a:solidFill>
                  <a:srgbClr val="F2F2F2"/>
                </a:solidFill>
                <a:latin typeface="Arial"/>
              </a:rPr>
              <a:t> (click dreapta → </a:t>
            </a:r>
            <a:r>
              <a:rPr sz="1500">
                <a:solidFill>
                  <a:srgbClr val="FFA24E"/>
                </a:solidFill>
                <a:latin typeface="Consolas"/>
              </a:rPr>
              <a:t>Sort &gt; Largest to Smallest</a:t>
            </a:r>
            <a:r>
              <a:rPr b="0" sz="1500">
                <a:solidFill>
                  <a:srgbClr val="F2F2F2"/>
                </a:solidFill>
                <a:latin typeface="Arial"/>
              </a:rPr>
              <a:t>) sau compară pur și simplu aug vs sep: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30764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42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CategoryName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2025-08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2025-09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Δ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194.213,42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85.585,05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−55,9%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Audio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52.079,00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25.591,05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−50,9%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Laptops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177.456,43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155.875,34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−12,2%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Sports Accessories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64.927,84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43.835,98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−32,5%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11501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Accessories se înjumătățește.</a:t>
            </a:r>
            <a:r>
              <a:rPr b="0" sz="1300">
                <a:solidFill>
                  <a:srgbClr val="F2F2F2"/>
                </a:solidFill>
                <a:latin typeface="Arial"/>
              </a:rPr>
              <a:t> Unele categorii (Smartphones, Cookware) chiar cresc — scăderea e </a:t>
            </a:r>
            <a:r>
              <a:rPr b="1" sz="1300">
                <a:solidFill>
                  <a:srgbClr val="F2F2F2"/>
                </a:solidFill>
                <a:latin typeface="Arial"/>
              </a:rPr>
              <a:t>concentrată</a:t>
            </a:r>
            <a:r>
              <a:rPr b="0" sz="1300">
                <a:solidFill>
                  <a:srgbClr val="F2F2F2"/>
                </a:solidFill>
                <a:latin typeface="Arial"/>
              </a:rPr>
              <a:t>, nu generală.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% DIN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Cât din scădere? (% of Column Total)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Click dreapta pe o valoare → Show Values As &gt; % of Column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94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Accessories = </a:t>
            </a:r>
            <a:r>
              <a:rPr b="1" sz="1400">
                <a:solidFill>
                  <a:srgbClr val="F2F2F2"/>
                </a:solidFill>
                <a:latin typeface="Arial"/>
              </a:rPr>
              <a:t>14,2%</a:t>
            </a:r>
            <a:r>
              <a:rPr b="0" sz="1400">
                <a:solidFill>
                  <a:srgbClr val="F2F2F2"/>
                </a:solidFill>
                <a:latin typeface="Arial"/>
              </a:rPr>
              <a:t> din august, dar </a:t>
            </a:r>
            <a:r>
              <a:rPr b="1" sz="1400">
                <a:solidFill>
                  <a:srgbClr val="F2F2F2"/>
                </a:solidFill>
                <a:latin typeface="Arial"/>
              </a:rPr>
              <a:t>7,6%</a:t>
            </a:r>
            <a:r>
              <a:rPr b="0" sz="1400">
                <a:solidFill>
                  <a:srgbClr val="F2F2F2"/>
                </a:solidFill>
                <a:latin typeface="Arial"/>
              </a:rPr>
              <a:t> din septembrie — nu doar a scăzut, s-a </a:t>
            </a:r>
            <a:r>
              <a:rPr b="1" sz="1400">
                <a:solidFill>
                  <a:srgbClr val="F2F2F2"/>
                </a:solidFill>
                <a:latin typeface="Arial"/>
              </a:rPr>
              <a:t>micșorat ca pondere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9745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Din toată scăderea companiei,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 singură face 45,6%</a:t>
            </a:r>
            <a:r>
              <a:rPr b="0" sz="1500">
                <a:solidFill>
                  <a:srgbClr val="F2F2F2"/>
                </a:solidFill>
                <a:latin typeface="Arial"/>
              </a:rPr>
              <a:t> — aproape jumătate; primele 3 categorii, ~66%.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SLICER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Testezi ipoteza: „a fost Cluj?”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Show Values As &gt; No Calculation  (revii la lei)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PivotTable Analyze &gt; Insert Slicer → City → click «Cluj-Napoca»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500">
                <a:solidFill>
                  <a:srgbClr val="F2F2F2"/>
                </a:solidFill>
                <a:latin typeface="Arial"/>
              </a:rPr>
              <a:t> la Cluj </a:t>
            </a:r>
            <a:r>
              <a:rPr b="1" sz="1500">
                <a:solidFill>
                  <a:srgbClr val="F2F2F2"/>
                </a:solidFill>
                <a:latin typeface="Arial"/>
              </a:rPr>
              <a:t>nu</a:t>
            </a:r>
            <a:r>
              <a:rPr b="0" sz="1500">
                <a:solidFill>
                  <a:srgbClr val="F2F2F2"/>
                </a:solidFill>
                <a:latin typeface="Arial"/>
              </a:rPr>
              <a:t> scade — de fapt </a:t>
            </a:r>
            <a:r>
              <a:rPr b="1" sz="1500">
                <a:solidFill>
                  <a:srgbClr val="F2F2F2"/>
                </a:solidFill>
                <a:latin typeface="Arial"/>
              </a:rPr>
              <a:t>crește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74.242,21 → 79.020,30</a:t>
            </a:r>
            <a:r>
              <a:rPr b="0" sz="1500">
                <a:solidFill>
                  <a:srgbClr val="F2F2F2"/>
                </a:solidFill>
                <a:latin typeface="Arial"/>
              </a:rPr>
              <a:t> = </a:t>
            </a:r>
            <a:r>
              <a:rPr b="1" sz="1500">
                <a:solidFill>
                  <a:srgbClr val="F2F2F2"/>
                </a:solidFill>
                <a:latin typeface="Arial"/>
              </a:rPr>
              <a:t>+6,4%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Ipoteza Ioanei — </a:t>
            </a:r>
            <a:r>
              <a:rPr b="1" sz="1400">
                <a:solidFill>
                  <a:srgbClr val="F2F2F2"/>
                </a:solidFill>
                <a:latin typeface="Arial"/>
              </a:rPr>
              <a:t>respinsă cu un click</a:t>
            </a:r>
            <a:r>
              <a:rPr b="0" sz="1400">
                <a:solidFill>
                  <a:srgbClr val="F2F2F2"/>
                </a:solidFill>
                <a:latin typeface="Arial"/>
              </a:rPr>
              <a:t>. Scăderea pe Accessories e la magazinele mari (București, Constanța, Oradea), nu la Cluj.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5 · CONFIRMĂ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Pe magazin, din </a:t>
            </a:r>
            <a:r>
              <a:rPr sz="3000">
                <a:solidFill>
                  <a:srgbClr val="FFA24E"/>
                </a:solidFill>
                <a:latin typeface="Consolas"/>
              </a:rPr>
              <a:t>orders</a:t>
            </a:r>
            <a:r>
              <a:rPr b="1" sz="3000">
                <a:solidFill>
                  <a:srgbClr val="F2F2F2"/>
                </a:solidFill>
                <a:latin typeface="Arial"/>
              </a:rPr>
              <a:t> (−14,9%)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tblOrders → Rows: City · Columns: Month · Values: Sum of TotalAmount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09444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6 din 8 magazine scad</a:t>
            </a:r>
            <a:r>
              <a:rPr b="0" sz="1500">
                <a:solidFill>
                  <a:srgbClr val="F2F2F2"/>
                </a:solidFill>
                <a:latin typeface="Arial"/>
              </a:rPr>
              <a:t>: Constanța </a:t>
            </a:r>
            <a:r>
              <a:rPr b="1" sz="1500">
                <a:solidFill>
                  <a:srgbClr val="F2F2F2"/>
                </a:solidFill>
                <a:latin typeface="Arial"/>
              </a:rPr>
              <a:t>−38,1%</a:t>
            </a:r>
            <a:r>
              <a:rPr b="0" sz="1500">
                <a:solidFill>
                  <a:srgbClr val="F2F2F2"/>
                </a:solidFill>
                <a:latin typeface="Arial"/>
              </a:rPr>
              <a:t>, Oradea </a:t>
            </a:r>
            <a:r>
              <a:rPr b="1" sz="1500">
                <a:solidFill>
                  <a:srgbClr val="F2F2F2"/>
                </a:solidFill>
                <a:latin typeface="Arial"/>
              </a:rPr>
              <a:t>−29,3%</a:t>
            </a:r>
            <a:r>
              <a:rPr b="0" sz="1500">
                <a:solidFill>
                  <a:srgbClr val="F2F2F2"/>
                </a:solidFill>
                <a:latin typeface="Arial"/>
              </a:rPr>
              <a:t>. Doar Cluj (</a:t>
            </a:r>
            <a:r>
              <a:rPr b="1" sz="1500">
                <a:solidFill>
                  <a:srgbClr val="F2F2F2"/>
                </a:solidFill>
                <a:latin typeface="Arial"/>
              </a:rPr>
              <a:t>+6,4%</a:t>
            </a:r>
            <a:r>
              <a:rPr b="0" sz="1500">
                <a:solidFill>
                  <a:srgbClr val="F2F2F2"/>
                </a:solidFill>
                <a:latin typeface="Arial"/>
              </a:rPr>
              <a:t>) și Timișoara (</a:t>
            </a:r>
            <a:r>
              <a:rPr b="1" sz="1500">
                <a:solidFill>
                  <a:srgbClr val="F2F2F2"/>
                </a:solidFill>
                <a:latin typeface="Arial"/>
              </a:rPr>
              <a:t>+12,6%</a:t>
            </a:r>
            <a:r>
              <a:rPr b="0" sz="1500">
                <a:solidFill>
                  <a:srgbClr val="F2F2F2"/>
                </a:solidFill>
                <a:latin typeface="Arial"/>
              </a:rPr>
              <a:t>) cresc.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5712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Total companie: </a:t>
            </a:r>
            <a:r>
              <a:rPr sz="1400">
                <a:solidFill>
                  <a:srgbClr val="FFA24E"/>
                </a:solidFill>
                <a:latin typeface="Consolas"/>
              </a:rPr>
              <a:t>1.324.375,59 → 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b="1" sz="14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400">
                <a:solidFill>
                  <a:srgbClr val="F2F2F2"/>
                </a:solidFill>
                <a:latin typeface="Arial"/>
              </a:rPr>
              <a:t> — finding-ul #1 confirmat. Ipoteza „a fost Cluj” e </a:t>
            </a:r>
            <a:r>
              <a:rPr b="1" sz="1400">
                <a:solidFill>
                  <a:srgbClr val="F2F2F2"/>
                </a:solidFill>
                <a:latin typeface="Arial"/>
              </a:rPr>
              <a:t>falsă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Confunzi „nivel” cu „variație”</a:t>
            </a:r>
            <a:r>
              <a:rPr b="0" sz="1400">
                <a:solidFill>
                  <a:srgbClr val="F2F2F2"/>
                </a:solidFill>
                <a:latin typeface="Arial"/>
              </a:rPr>
              <a:t> — „cel mai mic pe an” ≠ „a scăzut luna asta”; descompune pe </a:t>
            </a:r>
            <a:r>
              <a:rPr b="1" sz="1400">
                <a:solidFill>
                  <a:srgbClr val="F2F2F2"/>
                </a:solidFill>
                <a:latin typeface="Arial"/>
              </a:rPr>
              <a:t>lună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Presupui în loc să testezi</a:t>
            </a:r>
            <a:r>
              <a:rPr b="0" sz="1400">
                <a:solidFill>
                  <a:srgbClr val="F2F2F2"/>
                </a:solidFill>
                <a:latin typeface="Arial"/>
              </a:rPr>
              <a:t> — orice bănuială („a fost X”) se testează cu un </a:t>
            </a:r>
            <a:r>
              <a:rPr b="1" sz="1400">
                <a:solidFill>
                  <a:srgbClr val="F2F2F2"/>
                </a:solidFill>
                <a:latin typeface="Arial"/>
              </a:rPr>
              <a:t>Slicer</a:t>
            </a:r>
            <a:r>
              <a:rPr b="0" sz="1400">
                <a:solidFill>
                  <a:srgbClr val="F2F2F2"/>
                </a:solidFill>
                <a:latin typeface="Arial"/>
              </a:rPr>
              <a:t>, cu un click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Citești cifra fără pondere</a:t>
            </a:r>
            <a:r>
              <a:rPr b="0" sz="1400">
                <a:solidFill>
                  <a:srgbClr val="F2F2F2"/>
                </a:solidFill>
                <a:latin typeface="Arial"/>
              </a:rPr>
              <a:t> — adaugă </a:t>
            </a:r>
            <a:r>
              <a:rPr sz="1400">
                <a:solidFill>
                  <a:srgbClr val="FFA24E"/>
                </a:solidFill>
                <a:latin typeface="Consolas"/>
              </a:rPr>
              <a:t>% of … Total</a:t>
            </a:r>
            <a:r>
              <a:rPr b="0" sz="1400">
                <a:solidFill>
                  <a:srgbClr val="F2F2F2"/>
                </a:solidFill>
                <a:latin typeface="Arial"/>
              </a:rPr>
              <a:t>: „46% din scădere” prioritizează; „108.628 lei” singur, nu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Cod în Rows/Columns/Slicer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, nu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; un Slicer cu „București, Cluj-Napoca…” se citește (L15)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finding-ul #1 primește o cauză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Combini dimensiuni</a:t>
            </a:r>
            <a:r>
              <a:rPr b="0" sz="1400">
                <a:solidFill>
                  <a:srgbClr val="F2F2F2"/>
                </a:solidFill>
                <a:latin typeface="Arial"/>
              </a:rPr>
              <a:t>: una în Rows, alta în Columns = crosstab (categorie × lună) —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i="1" sz="1400">
                <a:solidFill>
                  <a:srgbClr val="F2F2F2"/>
                </a:solidFill>
                <a:latin typeface="Arial"/>
              </a:rPr>
              <a:t>când</a:t>
            </a:r>
            <a:r>
              <a:rPr b="0" sz="1400">
                <a:solidFill>
                  <a:srgbClr val="F2F2F2"/>
                </a:solidFill>
                <a:latin typeface="Arial"/>
              </a:rPr>
              <a:t> deodată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`% of … Total`</a:t>
            </a:r>
            <a:r>
              <a:rPr b="0" sz="1400">
                <a:solidFill>
                  <a:srgbClr val="F2F2F2"/>
                </a:solidFill>
                <a:latin typeface="Arial"/>
              </a:rPr>
              <a:t> dimensionează felia: Accessories 14% → 8% = ~46% din scădere, prioritatea #1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Slicer = testul unei ipoteze cu un click</a:t>
            </a:r>
            <a:r>
              <a:rPr b="0" sz="1400">
                <a:solidFill>
                  <a:srgbClr val="F2F2F2"/>
                </a:solidFill>
                <a:latin typeface="Arial"/>
              </a:rPr>
              <a:t>: „a fost Cluj?” → +6,4% → ipoteză respinsă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Descompui pe dimensiunea corectă</a:t>
            </a:r>
            <a:r>
              <a:rPr b="0" sz="1400">
                <a:solidFill>
                  <a:srgbClr val="F2F2F2"/>
                </a:solidFill>
                <a:latin typeface="Arial"/>
              </a:rPr>
              <a:t>: septembrie a scăzut din </a:t>
            </a:r>
            <a:r>
              <a:rPr b="1" sz="1400">
                <a:solidFill>
                  <a:srgbClr val="F2F2F2"/>
                </a:solidFill>
                <a:latin typeface="Arial"/>
              </a:rPr>
              <a:t>Accessories, în toată rețeaua</a:t>
            </a:r>
            <a:r>
              <a:rPr b="0" sz="1400">
                <a:solidFill>
                  <a:srgbClr val="F2F2F2"/>
                </a:solidFill>
                <a:latin typeface="Arial"/>
              </a:rPr>
              <a:t> — nu magazinul slab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finding-ul #1 primește o </a:t>
            </a:r>
            <a:r>
              <a:rPr b="1" sz="1400">
                <a:solidFill>
                  <a:srgbClr val="F2F2F2"/>
                </a:solidFill>
                <a:latin typeface="Arial"/>
              </a:rPr>
              <a:t>cauză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Accessories −55,9% (~46% din scădere), stoc + campanie; Cluj nevinovat (+6,4%).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L18: Charts</a:t>
            </a:r>
            <a:r>
              <a:rPr b="0" sz="1400">
                <a:solidFill>
                  <a:srgbClr val="F2F2F2"/>
                </a:solidFill>
                <a:latin typeface="Arial"/>
              </a:rPr>
              <a:t> (o faci vizibilă).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L17 · Pivot II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