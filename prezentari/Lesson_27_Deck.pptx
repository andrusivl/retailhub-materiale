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Capstone-ul Modulului 4. La L20–L26 ai învățat toate uneltele: WHERE, ORDER BY, agregate, GROUP BY, JOIN, raportul complet. Azi nu înveți o unealtă nouă — le înlănțui într-o investigație cap-coadă: de la un număr-titlu (septembrie −14,9%) până la o decizie. Ideea centrală: o investigație e un LANȚ de interogări, în ordine fixă — Reper → Unde → De ce → Decizie. E versiunea SQL a dashboard-ului din L19. Baza RetailHub e deja încărcată.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L26: scheletul raportului complet și cele două finding-uri acționabile. Puntea: aveai toate uneltele; azi le înlănțui într-o singură investigație care se termină cu o decizie.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obiective din §1, ca întrebări. Azi le așezi în ordine — nu înveți o unealtă nouă. Plantează ideea centrală: o investigație e un lanț de interogări.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Tabelul din §5: cei patru pași ai unei investigații, fiecare o interogare pe care o știi deja din L20–L26. Noutatea nu e sintaxa — e ordinea și întrebarea din spatele fiecărui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Contextul din §2. Andrei a văzut piesele — scăderea, pivoturile, canalele — și cere sinteza: toată povestea, într-un script, cu o decizie la final. Declanșatorul întregii lecții.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Anti-exemplul din §3. Ioana a văzut scăderea și a scris „e Cluj” fără să verifice. Când descompui pe magazine, Cluj a crescut. Suspectul evident era nevinovat; vinovatul era o categorie.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straturile 1 și 2. Analogia doctorului: nu te oprești la „ai febră” și nu ghicești „e gripă” — întrebi în ordine. Reperul spune cât; descompunerea, unde; drill-ul, de ce; sinteza, ce facem.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§5, cele două reguli de aur. Descompune pe dimensiunea care concentrează scăderea ȘI arată o cauză reparabilă. Respinge suspectul evident cu date — o ipoteză se testează înainte de a fi scrisă.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Pasul 1. Reperul: SUM pe lună, august vs septembrie. Scăderea −14,9% e finding #1. Am răspuns la „cât?”. Urmează „unde?”.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Pasul 2. Descompunem pe oraș, august vs septembrie. Cluj a CRESCUT +6,4%, Timișoara +12,6%. Suspectul evident e nevinovat — nu e o poveste de magazin. Ipoteza Ioanei, respinsă cu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Pasul 3. JOIN pe 4 tabele, filtrat pe Accessories, august vs septembrie. −55,9%; scăderea (108.628,37) e ~46% din toată scăderea lunii. Aici se concentrează — o categorie, nu un magazin.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Pasul 4. Două cauze. 4a: LEFT JOIN campaigns → 454 comenzi, 0 cu campanie (golul din L21). 4b: stoc premium epuizat sub reorder (ACCE-064 4.779,96 etc.). Cele două cauze: stoc epuizat premium + zero campanie.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sinteza. Povestea completă în trei rânduri: Observație, Cauză, Decizie. O analiză se închide cu o decizie, nu cu un număr — ca dashboard-ul din L19, dar ca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§11, cele 4 greșeli de junior: sari la suspectul evident; te oprești la reper; descompui pe dimensiunea greșită; închei cu un număr, nu cu o decizie.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§12/§14. Cele 4 idei + milestone (investigația cap-coadă în SQL) + puntea spre Modulul 5 (Data Studio): aceleași concluzii, acum vizuale și de prezentat.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Punte spre segmentul AI. Nu e o lecție nouă — e o simulare despre cum evoluează meseria. Mesajul: AI-ul face mecanica, analistul framează + verifică +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 fără dramă. Nu e science-fiction — e cum se lucrează deja. Reformulează frica în întrebarea utilă: ce rămâne treaba analistului.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Descrie mecanica pe scurt. Analogia juniorului rapid e cheia: util, dar are nevoie de supraveghere. Asta pregătește ideea de verificare.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Sublinia: calitatea răspunsului depinde de calitatea întrebării. Framing-ul (L3) e primul lucru care rămâne treaba analistului. Un prompt vag = răspuns vag.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 secunde, Claude produce exact investigația pe care ai făcut-o tu de mână în L25–L27. Același rezultat, mult mai repede. Aici mulți se opresc — și greșesc.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Ăsta e slide-ul-cheie al segmentului. AI-ul, ca Ioana, poate da un rezultat plauzibil dar greșit (fan-out, grana, o cifră inventată). Reflexul de reconciliere din L32 e acum și mai valoros. Nu semnezi ce n-ai verificat.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Împarte clar rolurile. Mecanica se automatizează; gândirea nu. De-aia tot ce ai învățat în curs (Data Thinking, framing, reconciliere) devine mai valoros, nu mai puțin.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mesajul central: AI-ul amplifică analistul bun. Cine știe să gândească + să verifice devine de neînlocuit. Regula lui Andrei, decodată pentru era AI: răspunsuri verificate, nu rapoarte 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4 · LECȚIA 27 · CAPSTONE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Coloana vertebrală analitică — investigația cap-coadă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Date → SQL (investigația completă) → Decizie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6 noiembrie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raportul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Scheletul raportului complet: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JOIN</a:t>
            </a:r>
            <a:r>
              <a:rPr b="0" sz="1500">
                <a:solidFill>
                  <a:srgbClr val="F2F2F2"/>
                </a:solidFill>
                <a:latin typeface="Arial"/>
              </a:rPr>
              <a:t> după </a:t>
            </a:r>
            <a:r>
              <a:rPr sz="1500">
                <a:solidFill>
                  <a:srgbClr val="FFA24E"/>
                </a:solidFill>
                <a:latin typeface="Consolas"/>
              </a:rPr>
              <a:t>FROM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sz="15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sz="1500">
                <a:solidFill>
                  <a:srgbClr val="FFA24E"/>
                </a:solidFill>
                <a:latin typeface="Consolas"/>
              </a:rPr>
              <a:t>HAVING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sz="1500">
                <a:solidFill>
                  <a:srgbClr val="FFA24E"/>
                </a:solidFill>
                <a:latin typeface="Consolas"/>
              </a:rPr>
              <a:t>ORDER BY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Canalele mari (</a:t>
            </a:r>
            <a:r>
              <a:rPr sz="1500">
                <a:solidFill>
                  <a:srgbClr val="FFA24E"/>
                </a:solidFill>
                <a:latin typeface="Consolas"/>
              </a:rPr>
              <a:t>HAVING &gt; 1M</a:t>
            </a:r>
            <a:r>
              <a:rPr b="0" sz="1500">
                <a:solidFill>
                  <a:srgbClr val="F2F2F2"/>
                </a:solidFill>
                <a:latin typeface="Arial"/>
              </a:rPr>
              <a:t>): </a:t>
            </a:r>
            <a:r>
              <a:rPr b="1" sz="1500">
                <a:solidFill>
                  <a:srgbClr val="F2F2F2"/>
                </a:solidFill>
                <a:latin typeface="Arial"/>
              </a:rPr>
              <a:t>SMS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2.905.513,98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b="1" sz="1500">
                <a:solidFill>
                  <a:srgbClr val="F2F2F2"/>
                </a:solidFill>
                <a:latin typeface="Arial"/>
              </a:rPr>
              <a:t>Google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2.712.750,25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b="1" sz="1500">
                <a:solidFill>
                  <a:srgbClr val="F2F2F2"/>
                </a:solidFill>
                <a:latin typeface="Arial"/>
              </a:rPr>
              <a:t>Facebook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1.930.233,63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Loialitatea aduce </a:t>
            </a:r>
            <a:r>
              <a:rPr b="1" sz="1500">
                <a:solidFill>
                  <a:srgbClr val="F2F2F2"/>
                </a:solidFill>
                <a:latin typeface="Arial"/>
              </a:rPr>
              <a:t>volum</a:t>
            </a:r>
            <a:r>
              <a:rPr b="0" sz="1500">
                <a:solidFill>
                  <a:srgbClr val="F2F2F2"/>
                </a:solidFill>
                <a:latin typeface="Arial"/>
              </a:rPr>
              <a:t>, nu coș mai mare: Platinum+Gold = </a:t>
            </a:r>
            <a:r>
              <a:rPr b="1" sz="1500">
                <a:solidFill>
                  <a:srgbClr val="F2F2F2"/>
                </a:solidFill>
                <a:latin typeface="Arial"/>
              </a:rPr>
              <a:t>68,1%</a:t>
            </a:r>
            <a:r>
              <a:rPr b="0" sz="1500">
                <a:solidFill>
                  <a:srgbClr val="F2F2F2"/>
                </a:solidFill>
                <a:latin typeface="Arial"/>
              </a:rPr>
              <a:t> din Revenue, dar AOV egal (~2.500)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Ai toate uneltele — filtrare, agregare, grupare, </a:t>
            </a:r>
            <a:r>
              <a:rPr sz="1400">
                <a:solidFill>
                  <a:srgbClr val="FFA24E"/>
                </a:solidFill>
                <a:latin typeface="Consolas"/>
              </a:rPr>
              <a:t>JOIN</a:t>
            </a:r>
            <a:r>
              <a:rPr b="0" sz="1400">
                <a:solidFill>
                  <a:srgbClr val="F2F2F2"/>
                </a:solidFill>
                <a:latin typeface="Arial"/>
              </a:rPr>
              <a:t>. Azi nu mai adaugi nimic: le </a:t>
            </a:r>
            <a:r>
              <a:rPr b="1" sz="1400">
                <a:solidFill>
                  <a:srgbClr val="F2F2F2"/>
                </a:solidFill>
                <a:latin typeface="Arial"/>
              </a:rPr>
              <a:t>înlănțui</a:t>
            </a:r>
            <a:r>
              <a:rPr b="0" sz="1400">
                <a:solidFill>
                  <a:srgbClr val="F2F2F2"/>
                </a:solidFill>
                <a:latin typeface="Arial"/>
              </a:rPr>
              <a:t> într-o singură investigație.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duci o investigație pe </a:t>
            </a:r>
            <a:r>
              <a:rPr b="1" sz="1500">
                <a:solidFill>
                  <a:srgbClr val="F2F2F2"/>
                </a:solidFill>
                <a:latin typeface="Arial"/>
              </a:rPr>
              <a:t>coloana vertebrală</a:t>
            </a:r>
            <a:r>
              <a:rPr b="0" sz="1500">
                <a:solidFill>
                  <a:srgbClr val="F2F2F2"/>
                </a:solidFill>
                <a:latin typeface="Arial"/>
              </a:rPr>
              <a:t>: </a:t>
            </a:r>
            <a:r>
              <a:rPr b="1" sz="1500">
                <a:solidFill>
                  <a:srgbClr val="F2F2F2"/>
                </a:solidFill>
                <a:latin typeface="Arial"/>
              </a:rPr>
              <a:t>Reper → Unde → De ce → Decizie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</a:t>
            </a:r>
            <a:r>
              <a:rPr b="1" sz="1500">
                <a:solidFill>
                  <a:srgbClr val="F2F2F2"/>
                </a:solidFill>
                <a:latin typeface="Arial"/>
              </a:rPr>
              <a:t>descompui</a:t>
            </a:r>
            <a:r>
              <a:rPr b="0" sz="1500">
                <a:solidFill>
                  <a:srgbClr val="F2F2F2"/>
                </a:solidFill>
                <a:latin typeface="Arial"/>
              </a:rPr>
              <a:t> pe dimensiunea </a:t>
            </a:r>
            <a:r>
              <a:rPr b="1" sz="1500">
                <a:solidFill>
                  <a:srgbClr val="F2F2F2"/>
                </a:solidFill>
                <a:latin typeface="Arial"/>
              </a:rPr>
              <a:t>potrivită</a:t>
            </a:r>
            <a:r>
              <a:rPr b="0" sz="1500">
                <a:solidFill>
                  <a:srgbClr val="F2F2F2"/>
                </a:solidFill>
                <a:latin typeface="Arial"/>
              </a:rPr>
              <a:t> — cea care concentrează scăderea și arată o cauză reparabilă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</a:t>
            </a:r>
            <a:r>
              <a:rPr b="1" sz="1500">
                <a:solidFill>
                  <a:srgbClr val="F2F2F2"/>
                </a:solidFill>
                <a:latin typeface="Arial"/>
              </a:rPr>
              <a:t>respingi suspectul evident</a:t>
            </a:r>
            <a:r>
              <a:rPr b="0" sz="1500">
                <a:solidFill>
                  <a:srgbClr val="F2F2F2"/>
                </a:solidFill>
                <a:latin typeface="Arial"/>
              </a:rPr>
              <a:t> cu date — nu „probabil e Cluj”, ci „hai să verific”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închei cu o </a:t>
            </a:r>
            <a:r>
              <a:rPr b="1" sz="1500">
                <a:solidFill>
                  <a:srgbClr val="F2F2F2"/>
                </a:solidFill>
                <a:latin typeface="Arial"/>
              </a:rPr>
              <a:t>decizie</a:t>
            </a:r>
            <a:r>
              <a:rPr b="0" sz="1500">
                <a:solidFill>
                  <a:srgbClr val="F2F2F2"/>
                </a:solidFill>
                <a:latin typeface="Arial"/>
              </a:rPr>
              <a:t>, nu cu un număr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Ideea centrală: o investigație e un </a:t>
            </a:r>
            <a:r>
              <a:rPr b="1" sz="1400">
                <a:solidFill>
                  <a:srgbClr val="F2F2F2"/>
                </a:solidFill>
                <a:latin typeface="Arial"/>
              </a:rPr>
              <a:t>lanț de interogări</a:t>
            </a:r>
            <a:r>
              <a:rPr b="0" sz="1400">
                <a:solidFill>
                  <a:srgbClr val="F2F2F2"/>
                </a:solidFill>
                <a:latin typeface="Arial"/>
              </a:rPr>
              <a:t>, nu una singură — capstone-ul Modulului 4, versiunea SQL a dashboard-ului din L19.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 · COLOANA VERTEBRALĂ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Patru pași, în ordine fixă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Pas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Întrebarea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Unealta (o știi deja)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1. Reper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Cât de mare e problema?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SUM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pe lună (L23)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2. Unde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Pe ce dimensiune se concentrează?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JOIN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+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GROUP BY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(L24–L25)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3. De ce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Ce cauză, în zona găsită?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WHERE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/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LEFT JOIN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(L21/L25)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4. Decizie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Ce facem?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sinteza — o frază acționabilă (L19)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Fiecare pas e o interogare din L20–L26. Noutatea nu e sintaxa — e </a:t>
            </a:r>
            <a:r>
              <a:rPr b="1" sz="1300">
                <a:solidFill>
                  <a:srgbClr val="F2F2F2"/>
                </a:solidFill>
                <a:latin typeface="Arial"/>
              </a:rPr>
              <a:t>ordinea</a:t>
            </a:r>
            <a:r>
              <a:rPr b="0" sz="1300">
                <a:solidFill>
                  <a:srgbClr val="F2F2F2"/>
                </a:solidFill>
                <a:latin typeface="Arial"/>
              </a:rPr>
              <a:t> și </a:t>
            </a:r>
            <a:r>
              <a:rPr b="1" sz="1300">
                <a:solidFill>
                  <a:srgbClr val="F2F2F2"/>
                </a:solidFill>
                <a:latin typeface="Arial"/>
              </a:rPr>
              <a:t>întrebarea</a:t>
            </a:r>
            <a:r>
              <a:rPr b="0" sz="1300">
                <a:solidFill>
                  <a:srgbClr val="F2F2F2"/>
                </a:solidFill>
                <a:latin typeface="Arial"/>
              </a:rPr>
              <a:t> din spatele fiecărui pas.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«Dă-mi toată povestea — și ce facem»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„Mi-ai arătat bucăți — scăderea, pivoturile, canalele. Acum vreau </a:t>
            </a:r>
            <a:r>
              <a:rPr b="1" sz="1500">
                <a:solidFill>
                  <a:srgbClr val="F2F2F2"/>
                </a:solidFill>
                <a:latin typeface="Arial"/>
              </a:rPr>
              <a:t>toată povestea din septembrie, într-un singur script SQL</a:t>
            </a:r>
            <a:r>
              <a:rPr b="0" sz="1500">
                <a:solidFill>
                  <a:srgbClr val="F2F2F2"/>
                </a:solidFill>
                <a:latin typeface="Arial"/>
              </a:rPr>
              <a:t>: de ce a scăzut, cine e vinovatul, și </a:t>
            </a:r>
            <a:r>
              <a:rPr b="1" sz="1500">
                <a:solidFill>
                  <a:srgbClr val="F2F2F2"/>
                </a:solidFill>
                <a:latin typeface="Arial"/>
              </a:rPr>
              <a:t>ce facem</a:t>
            </a:r>
            <a:r>
              <a:rPr b="0" sz="1500">
                <a:solidFill>
                  <a:srgbClr val="F2F2F2"/>
                </a:solidFill>
                <a:latin typeface="Arial"/>
              </a:rPr>
              <a:t>. Nu-mi da un număr — dă-mi o decizie pe care s-o pot lua mâine.”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baza </a:t>
            </a:r>
            <a:r>
              <a:rPr sz="1500">
                <a:solidFill>
                  <a:srgbClr val="FFA24E"/>
                </a:solidFill>
                <a:latin typeface="Consolas"/>
              </a:rPr>
              <a:t>RetailHub</a:t>
            </a:r>
            <a:r>
              <a:rPr b="0" sz="1500">
                <a:solidFill>
                  <a:srgbClr val="F2F2F2"/>
                </a:solidFill>
                <a:latin typeface="Arial"/>
              </a:rPr>
              <a:t>. Ai tot ce-ți trebuie — azi nu mai adaugi unelte, le </a:t>
            </a:r>
            <a:r>
              <a:rPr b="1" sz="1500">
                <a:solidFill>
                  <a:srgbClr val="F2F2F2"/>
                </a:solidFill>
                <a:latin typeface="Arial"/>
              </a:rPr>
              <a:t>așezi în ordine</a:t>
            </a:r>
            <a:r>
              <a:rPr b="0" sz="1500">
                <a:solidFill>
                  <a:srgbClr val="F2F2F2"/>
                </a:solidFill>
                <a:latin typeface="Arial"/>
              </a:rPr>
              <a:t>, ca să duci întrebarea de la „ce s-a întâmplat” la „ce facem”.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 (a sărit la vinovat)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Ioana a văzut că septembrie a scăzut și a tras concluzia „evidentă”: </a:t>
            </a:r>
            <a:r>
              <a:rPr i="1" sz="1500">
                <a:solidFill>
                  <a:srgbClr val="F2F2F2"/>
                </a:solidFill>
                <a:latin typeface="Arial"/>
              </a:rPr>
              <a:t>„Sigur e Cluj — e cel mai slab magazin (L16).”</a:t>
            </a:r>
            <a:r>
              <a:rPr b="0" sz="1500">
                <a:solidFill>
                  <a:srgbClr val="F2F2F2"/>
                </a:solidFill>
                <a:latin typeface="Arial"/>
              </a:rPr>
              <a:t> A scris în raport „septembrie a căzut din cauza Clujului” — </a:t>
            </a:r>
            <a:r>
              <a:rPr b="1" sz="1500">
                <a:solidFill>
                  <a:srgbClr val="F2F2F2"/>
                </a:solidFill>
                <a:latin typeface="Arial"/>
              </a:rPr>
              <a:t>fără să verifice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Greșit. Descompui pe magazine și </a:t>
            </a:r>
            <a:r>
              <a:rPr b="1" sz="1400">
                <a:solidFill>
                  <a:srgbClr val="F2F2F2"/>
                </a:solidFill>
                <a:latin typeface="Arial"/>
              </a:rPr>
              <a:t>Cluj a CRESCUT +6,4%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74.242,21</a:t>
            </a:r>
            <a:r>
              <a:rPr b="0" sz="1400">
                <a:solidFill>
                  <a:srgbClr val="F2F2F2"/>
                </a:solidFill>
                <a:latin typeface="Arial"/>
              </a:rPr>
              <a:t> → </a:t>
            </a:r>
            <a:r>
              <a:rPr sz="1400">
                <a:solidFill>
                  <a:srgbClr val="FFA24E"/>
                </a:solidFill>
                <a:latin typeface="Consolas"/>
              </a:rPr>
              <a:t>79.020,30</a:t>
            </a:r>
            <a:r>
              <a:rPr b="0" sz="1400">
                <a:solidFill>
                  <a:srgbClr val="F2F2F2"/>
                </a:solidFill>
                <a:latin typeface="Arial"/>
              </a:rPr>
              <a:t>). Suspectul evident era nevinovat — vinovatul era o </a:t>
            </a:r>
            <a:r>
              <a:rPr b="1" sz="1400">
                <a:solidFill>
                  <a:srgbClr val="F2F2F2"/>
                </a:solidFill>
                <a:latin typeface="Arial"/>
              </a:rPr>
              <a:t>categorie</a:t>
            </a:r>
            <a:r>
              <a:rPr b="0" sz="1400">
                <a:solidFill>
                  <a:srgbClr val="F2F2F2"/>
                </a:solidFill>
                <a:latin typeface="Arial"/>
              </a:rPr>
              <a:t> (Accessories), nu un magazin.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Investigația e un LANȚ de interogări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Un doctor bun nu se oprește la „ai febră” (reperul) și nu ghicește „sigur e gripă” (suspectul evident). Întreabă în ordine: cât de mare e febra, unde doare, de ce, apoi tratamentul. O investigație de date e la fel — </a:t>
            </a:r>
            <a:r>
              <a:rPr b="1" sz="1500">
                <a:solidFill>
                  <a:srgbClr val="F2F2F2"/>
                </a:solidFill>
                <a:latin typeface="Arial"/>
              </a:rPr>
              <a:t>un lanț de întrebări</a:t>
            </a:r>
            <a:r>
              <a:rPr b="0" sz="1500">
                <a:solidFill>
                  <a:srgbClr val="F2F2F2"/>
                </a:solidFill>
                <a:latin typeface="Arial"/>
              </a:rPr>
              <a:t>, fiecare îngustând spre cauză.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955547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200">
                <a:solidFill>
                  <a:srgbClr val="FFA24E"/>
                </a:solidFill>
                <a:latin typeface="Consolas"/>
              </a:rPr>
              <a:t>Reper (cât?)     -&gt;  Unde? (ce dimensiune)     -&gt;  De ce? (cauza)            -&gt;  Decizie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FFA24E"/>
                </a:solidFill>
                <a:latin typeface="Consolas"/>
              </a:rPr>
              <a:t>SUM pe luna          GROUP BY magazin/categ.      LEFT JOIN / WHERE             o fraza actionabila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FFA24E"/>
                </a:solidFill>
                <a:latin typeface="Consolas"/>
              </a:rPr>
              <a:t>-14,9%               Cluj a crescut -&gt; categorie   campanie = 0; stoc epuizat    reaprovizionare + campanie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DOUĂ REGULI DE AUR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Cum alegi și cum verifici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Descompune pe dimensiunea POTRIVITĂ</a:t>
            </a:r>
            <a:r>
              <a:rPr b="0" sz="1500">
                <a:solidFill>
                  <a:srgbClr val="F2F2F2"/>
                </a:solidFill>
                <a:latin typeface="Arial"/>
              </a:rPr>
              <a:t> — cea care concentrează scăderea (o categorie = ~46% din ea) </a:t>
            </a:r>
            <a:r>
              <a:rPr b="1" sz="1500">
                <a:solidFill>
                  <a:srgbClr val="F2F2F2"/>
                </a:solidFill>
                <a:latin typeface="Arial"/>
              </a:rPr>
              <a:t>și</a:t>
            </a:r>
            <a:r>
              <a:rPr b="0" sz="1500">
                <a:solidFill>
                  <a:srgbClr val="F2F2F2"/>
                </a:solidFill>
                <a:latin typeface="Arial"/>
              </a:rPr>
              <a:t> arată o cauză reparabilă (stoc, campanie).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Respinge suspectul evident cu date</a:t>
            </a:r>
            <a:r>
              <a:rPr b="0" sz="1500">
                <a:solidFill>
                  <a:srgbClr val="F2F2F2"/>
                </a:solidFill>
                <a:latin typeface="Arial"/>
              </a:rPr>
              <a:t> — „probabil e Cluj” e o ipoteză, nu o concluzie. O testezi (</a:t>
            </a:r>
            <a:r>
              <a:rPr sz="15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500">
                <a:solidFill>
                  <a:srgbClr val="F2F2F2"/>
                </a:solidFill>
                <a:latin typeface="Arial"/>
              </a:rPr>
              <a:t> pe magazin) înainte s-o scrii.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82696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Suspectul evident e adesea nevinovat: Cluj părea vinovat (magazinul slab din L16), dar a </a:t>
            </a:r>
            <a:r>
              <a:rPr b="1" sz="1300">
                <a:solidFill>
                  <a:srgbClr val="F2F2F2"/>
                </a:solidFill>
                <a:latin typeface="Arial"/>
              </a:rPr>
              <a:t>crescut</a:t>
            </a:r>
            <a:r>
              <a:rPr b="0" sz="1300">
                <a:solidFill>
                  <a:srgbClr val="F2F2F2"/>
                </a:solidFill>
                <a:latin typeface="Arial"/>
              </a:rPr>
              <a:t> +6,4%. Ioana n-a testat și a greșit.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REPER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Cât a scăzut septembrie? (</a:t>
            </a:r>
            <a:r>
              <a:rPr sz="3000">
                <a:solidFill>
                  <a:srgbClr val="FFA24E"/>
                </a:solidFill>
                <a:latin typeface="Consolas"/>
              </a:rPr>
              <a:t>SUM</a:t>
            </a:r>
            <a:r>
              <a:rPr b="1" sz="3000">
                <a:solidFill>
                  <a:srgbClr val="F2F2F2"/>
                </a:solidFill>
                <a:latin typeface="Arial"/>
              </a:rPr>
              <a:t> pe lună)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188720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DATE_FORMAT(OrderDate,'%Y-%m') AS Luna, SUM(TotalAmount) AS Revenue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OrderDate &gt;= '2025-08-01' AND OrderDate &lt; '2025-10-01'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Luna;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0896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august </a:t>
            </a:r>
            <a:r>
              <a:rPr sz="1400">
                <a:solidFill>
                  <a:srgbClr val="FFA24E"/>
                </a:solidFill>
                <a:latin typeface="Consolas"/>
              </a:rPr>
              <a:t>1.324.375,59</a:t>
            </a:r>
            <a:r>
              <a:rPr b="0" sz="1400">
                <a:solidFill>
                  <a:srgbClr val="F2F2F2"/>
                </a:solidFill>
                <a:latin typeface="Arial"/>
              </a:rPr>
              <a:t>, septembrie </a:t>
            </a:r>
            <a:r>
              <a:rPr sz="1400">
                <a:solidFill>
                  <a:srgbClr val="FFA24E"/>
                </a:solidFill>
                <a:latin typeface="Consolas"/>
              </a:rPr>
              <a:t>1.126.418,50</a:t>
            </a:r>
            <a:r>
              <a:rPr b="0" sz="1400">
                <a:solidFill>
                  <a:srgbClr val="F2F2F2"/>
                </a:solidFill>
                <a:latin typeface="Arial"/>
              </a:rPr>
              <a:t> → </a:t>
            </a:r>
            <a:r>
              <a:rPr b="1" sz="1400">
                <a:solidFill>
                  <a:srgbClr val="F2F2F2"/>
                </a:solidFill>
                <a:latin typeface="Arial"/>
              </a:rPr>
              <a:t>−14,9%</a:t>
            </a:r>
            <a:r>
              <a:rPr b="0" sz="1400">
                <a:solidFill>
                  <a:srgbClr val="F2F2F2"/>
                </a:solidFill>
                <a:latin typeface="Arial"/>
              </a:rPr>
              <a:t> (finding #1). </a:t>
            </a:r>
            <a:r>
              <a:rPr i="1" sz="1400">
                <a:solidFill>
                  <a:srgbClr val="F2F2F2"/>
                </a:solidFill>
                <a:latin typeface="Arial"/>
              </a:rPr>
              <a:t>Cât?</a:t>
            </a:r>
            <a:r>
              <a:rPr b="0" sz="1400">
                <a:solidFill>
                  <a:srgbClr val="F2F2F2"/>
                </a:solidFill>
                <a:latin typeface="Arial"/>
              </a:rPr>
              <a:t> Am răspuns. Acum: </a:t>
            </a:r>
            <a:r>
              <a:rPr b="1" sz="1400">
                <a:solidFill>
                  <a:srgbClr val="F2F2F2"/>
                </a:solidFill>
                <a:latin typeface="Arial"/>
              </a:rPr>
              <a:t>unde</a:t>
            </a:r>
            <a:r>
              <a:rPr b="0" sz="1400">
                <a:solidFill>
                  <a:srgbClr val="F2F2F2"/>
                </a:solidFill>
                <a:latin typeface="Arial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UNDE (MAGAZIN)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E vina unui magazin? (</a:t>
            </a:r>
            <a:r>
              <a:rPr sz="3000">
                <a:solidFill>
                  <a:srgbClr val="FFA24E"/>
                </a:solidFill>
                <a:latin typeface="Consolas"/>
              </a:rPr>
              <a:t>JOIN stores</a:t>
            </a:r>
            <a:r>
              <a:rPr b="1" sz="3000">
                <a:solidFill>
                  <a:srgbClr val="F2F2F2"/>
                </a:solidFill>
                <a:latin typeface="Arial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21892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s.City, SUM(o.TotalAmount) AS RevenueSept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o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stores s ON o.StoreID = s.StoreID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o.OrderDate &gt;= '2025-09-01' AND o.OrderDate &lt; '2025-10-01'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s.City ORDER BY RevenueSept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42132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Rulezi la fel pentru august și compari: majoritatea au scăzut, dar </a:t>
            </a:r>
            <a:r>
              <a:rPr b="1" sz="1300">
                <a:solidFill>
                  <a:srgbClr val="F2F2F2"/>
                </a:solidFill>
                <a:latin typeface="Arial"/>
              </a:rPr>
              <a:t>Cluj-Napoca a CRESCUT +6,4%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sz="1300">
                <a:solidFill>
                  <a:srgbClr val="FFA24E"/>
                </a:solidFill>
                <a:latin typeface="Consolas"/>
              </a:rPr>
              <a:t>74.242,21</a:t>
            </a:r>
            <a:r>
              <a:rPr b="0" sz="1300">
                <a:solidFill>
                  <a:srgbClr val="F2F2F2"/>
                </a:solidFill>
                <a:latin typeface="Arial"/>
              </a:rPr>
              <a:t> → </a:t>
            </a:r>
            <a:r>
              <a:rPr sz="1300">
                <a:solidFill>
                  <a:srgbClr val="FFA24E"/>
                </a:solidFill>
                <a:latin typeface="Consolas"/>
              </a:rPr>
              <a:t>79.020,30</a:t>
            </a:r>
            <a:r>
              <a:rPr b="0" sz="1300">
                <a:solidFill>
                  <a:srgbClr val="F2F2F2"/>
                </a:solidFill>
                <a:latin typeface="Arial"/>
              </a:rPr>
              <a:t>), Timișoara +12,6%. </a:t>
            </a:r>
            <a:r>
              <a:rPr b="1" sz="1300">
                <a:solidFill>
                  <a:srgbClr val="F2F2F2"/>
                </a:solidFill>
                <a:latin typeface="Arial"/>
              </a:rPr>
              <a:t>Suspectul e nevinovat</a:t>
            </a:r>
            <a:r>
              <a:rPr b="0" sz="1300">
                <a:solidFill>
                  <a:srgbClr val="F2F2F2"/>
                </a:solidFill>
                <a:latin typeface="Arial"/>
              </a:rPr>
              <a:t> — nu e o poveste de magazin.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UNDE (CATEGORIE)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Care categorie a tras în jos? (JOIN pe 4 tabele)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121408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DATE_FORMAT(o.OrderDate,'%Y-%m') AS Luna, SUM(i.Quantity*i.UnitPrice) AS Vanzari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order_items 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orders o ON i.OrderID = o.OrderID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products p ON i.ProductID = p.ProductID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categories c ON p.CategoryID = c.CategoryID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c.CategoryName='Accessories'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AND o.OrderDate&gt;='2025-08-01' AND o.OrderDate&lt;'2025-10-01'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Luna;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04164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🖥️ Accessories: august </a:t>
            </a:r>
            <a:r>
              <a:rPr sz="1300">
                <a:solidFill>
                  <a:srgbClr val="FFA24E"/>
                </a:solidFill>
                <a:latin typeface="Consolas"/>
              </a:rPr>
              <a:t>194.213,42</a:t>
            </a:r>
            <a:r>
              <a:rPr b="0" sz="1300">
                <a:solidFill>
                  <a:srgbClr val="F2F2F2"/>
                </a:solidFill>
                <a:latin typeface="Arial"/>
              </a:rPr>
              <a:t> → septembrie </a:t>
            </a:r>
            <a:r>
              <a:rPr sz="1300">
                <a:solidFill>
                  <a:srgbClr val="FFA24E"/>
                </a:solidFill>
                <a:latin typeface="Consolas"/>
              </a:rPr>
              <a:t>85.585,05</a:t>
            </a:r>
            <a:r>
              <a:rPr b="0" sz="1300">
                <a:solidFill>
                  <a:srgbClr val="F2F2F2"/>
                </a:solidFill>
                <a:latin typeface="Arial"/>
              </a:rPr>
              <a:t> = </a:t>
            </a:r>
            <a:r>
              <a:rPr b="1" sz="1300">
                <a:solidFill>
                  <a:srgbClr val="F2F2F2"/>
                </a:solidFill>
                <a:latin typeface="Arial"/>
              </a:rPr>
              <a:t>−55,9%</a:t>
            </a:r>
            <a:r>
              <a:rPr b="0" sz="1300">
                <a:solidFill>
                  <a:srgbClr val="F2F2F2"/>
                </a:solidFill>
                <a:latin typeface="Arial"/>
              </a:rPr>
              <a:t>. Scăderea (</a:t>
            </a:r>
            <a:r>
              <a:rPr sz="1300">
                <a:solidFill>
                  <a:srgbClr val="FFA24E"/>
                </a:solidFill>
                <a:latin typeface="Consolas"/>
              </a:rPr>
              <a:t>108.628,37</a:t>
            </a:r>
            <a:r>
              <a:rPr b="0" sz="1300">
                <a:solidFill>
                  <a:srgbClr val="F2F2F2"/>
                </a:solidFill>
                <a:latin typeface="Arial"/>
              </a:rPr>
              <a:t>) e </a:t>
            </a:r>
            <a:r>
              <a:rPr b="1" sz="1300">
                <a:solidFill>
                  <a:srgbClr val="F2F2F2"/>
                </a:solidFill>
                <a:latin typeface="Arial"/>
              </a:rPr>
              <a:t>~46%</a:t>
            </a:r>
            <a:r>
              <a:rPr b="0" sz="1300">
                <a:solidFill>
                  <a:srgbClr val="F2F2F2"/>
                </a:solidFill>
                <a:latin typeface="Arial"/>
              </a:rPr>
              <a:t> din toată scăderea lunii. </a:t>
            </a:r>
            <a:r>
              <a:rPr b="1" sz="1300">
                <a:solidFill>
                  <a:srgbClr val="F2F2F2"/>
                </a:solidFill>
                <a:latin typeface="Arial"/>
              </a:rPr>
              <a:t>Aici se concentrează.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DE 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lovit Accessories? (două cauze)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21892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-- 4a. Gap de campanie (LEFT JOIN)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COUNT(*) AS ComenziSept, COUNT(cam.CampaignID) AS CuCampanie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o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LEFT JOIN campaigns cam ON o.CampaignID = cam.CampaignID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o.OrderDate &gt;= '2025-09-01' AND o.OrderDate &lt; '2025-10-01';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42132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300">
                <a:solidFill>
                  <a:srgbClr val="F2F2F2"/>
                </a:solidFill>
                <a:latin typeface="Arial"/>
              </a:rPr>
              <a:t>454 comenzi, 0 cu campanie</a:t>
            </a:r>
            <a:r>
              <a:rPr b="0" sz="1300">
                <a:solidFill>
                  <a:srgbClr val="F2F2F2"/>
                </a:solidFill>
                <a:latin typeface="Arial"/>
              </a:rPr>
              <a:t> (golul din L21). Și 4b (stoc): produse Accessories </a:t>
            </a:r>
            <a:r>
              <a:rPr b="1" sz="1300">
                <a:solidFill>
                  <a:srgbClr val="F2F2F2"/>
                </a:solidFill>
                <a:latin typeface="Arial"/>
              </a:rPr>
              <a:t>premium</a:t>
            </a:r>
            <a:r>
              <a:rPr b="0" sz="1300">
                <a:solidFill>
                  <a:srgbClr val="F2F2F2"/>
                </a:solidFill>
                <a:latin typeface="Arial"/>
              </a:rPr>
              <a:t> sub reaprovizionare — </a:t>
            </a:r>
            <a:r>
              <a:rPr sz="1300">
                <a:solidFill>
                  <a:srgbClr val="FFA24E"/>
                </a:solidFill>
                <a:latin typeface="Consolas"/>
              </a:rPr>
              <a:t>ACCE-064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sz="1300">
                <a:solidFill>
                  <a:srgbClr val="FFA24E"/>
                </a:solidFill>
                <a:latin typeface="Consolas"/>
              </a:rPr>
              <a:t>4.779,96</a:t>
            </a:r>
            <a:r>
              <a:rPr b="0" sz="1300">
                <a:solidFill>
                  <a:srgbClr val="F2F2F2"/>
                </a:solidFill>
                <a:latin typeface="Arial"/>
              </a:rPr>
              <a:t>), </a:t>
            </a:r>
            <a:r>
              <a:rPr sz="1300">
                <a:solidFill>
                  <a:srgbClr val="FFA24E"/>
                </a:solidFill>
                <a:latin typeface="Consolas"/>
              </a:rPr>
              <a:t>ACCE-116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sz="1300">
                <a:solidFill>
                  <a:srgbClr val="FFA24E"/>
                </a:solidFill>
                <a:latin typeface="Consolas"/>
              </a:rPr>
              <a:t>4.371,00</a:t>
            </a:r>
            <a:r>
              <a:rPr b="0" sz="1300">
                <a:solidFill>
                  <a:srgbClr val="F2F2F2"/>
                </a:solidFill>
                <a:latin typeface="Arial"/>
              </a:rPr>
              <a:t>). </a:t>
            </a:r>
            <a:r>
              <a:rPr b="1" sz="1300">
                <a:solidFill>
                  <a:srgbClr val="F2F2F2"/>
                </a:solidFill>
                <a:latin typeface="Arial"/>
              </a:rPr>
              <a:t>Două cauze:</a:t>
            </a:r>
            <a:r>
              <a:rPr b="0" sz="1300">
                <a:solidFill>
                  <a:srgbClr val="F2F2F2"/>
                </a:solidFill>
                <a:latin typeface="Arial"/>
              </a:rPr>
              <a:t> stoc premium epuizat + zero campanie.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SINTEZĂ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Decizia — povestea în trei rânduri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Observație:</a:t>
            </a:r>
            <a:r>
              <a:rPr b="0" sz="1400">
                <a:solidFill>
                  <a:srgbClr val="F2F2F2"/>
                </a:solidFill>
                <a:latin typeface="Arial"/>
              </a:rPr>
              <a:t> septembrie </a:t>
            </a:r>
            <a:r>
              <a:rPr b="1" sz="1400">
                <a:solidFill>
                  <a:srgbClr val="F2F2F2"/>
                </a:solidFill>
                <a:latin typeface="Arial"/>
              </a:rPr>
              <a:t>−14,9%</a:t>
            </a:r>
            <a:r>
              <a:rPr b="0" sz="1400">
                <a:solidFill>
                  <a:srgbClr val="F2F2F2"/>
                </a:solidFill>
                <a:latin typeface="Arial"/>
              </a:rPr>
              <a:t> (finding #1).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Cauză:</a:t>
            </a:r>
            <a:r>
              <a:rPr b="0" sz="1400">
                <a:solidFill>
                  <a:srgbClr val="F2F2F2"/>
                </a:solidFill>
                <a:latin typeface="Arial"/>
              </a:rPr>
              <a:t> nu un magazin (Cluj +6,4%), ci categoria </a:t>
            </a:r>
            <a:r>
              <a:rPr b="1" sz="1400">
                <a:solidFill>
                  <a:srgbClr val="F2F2F2"/>
                </a:solidFill>
                <a:latin typeface="Arial"/>
              </a:rPr>
              <a:t>Accessories −55,9%</a:t>
            </a:r>
            <a:r>
              <a:rPr b="0" sz="1400">
                <a:solidFill>
                  <a:srgbClr val="F2F2F2"/>
                </a:solidFill>
                <a:latin typeface="Arial"/>
              </a:rPr>
              <a:t> (~46% din scădere) — din </a:t>
            </a:r>
            <a:r>
              <a:rPr b="1" sz="1400">
                <a:solidFill>
                  <a:srgbClr val="F2F2F2"/>
                </a:solidFill>
                <a:latin typeface="Arial"/>
              </a:rPr>
              <a:t>stoc premium epuizat</a:t>
            </a:r>
            <a:r>
              <a:rPr b="0" sz="1400">
                <a:solidFill>
                  <a:srgbClr val="F2F2F2"/>
                </a:solidFill>
                <a:latin typeface="Arial"/>
              </a:rPr>
              <a:t> + </a:t>
            </a:r>
            <a:r>
              <a:rPr b="1" sz="1400">
                <a:solidFill>
                  <a:srgbClr val="F2F2F2"/>
                </a:solidFill>
                <a:latin typeface="Arial"/>
              </a:rPr>
              <a:t>zero campanie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Decizie: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b="1" sz="1400">
                <a:solidFill>
                  <a:srgbClr val="F2F2F2"/>
                </a:solidFill>
                <a:latin typeface="Arial"/>
              </a:rPr>
              <a:t>reaprovizionează Accessories premium</a:t>
            </a:r>
            <a:r>
              <a:rPr b="0" sz="1400">
                <a:solidFill>
                  <a:srgbClr val="F2F2F2"/>
                </a:solidFill>
                <a:latin typeface="Arial"/>
              </a:rPr>
              <a:t> + </a:t>
            </a:r>
            <a:r>
              <a:rPr b="1" sz="1400">
                <a:solidFill>
                  <a:srgbClr val="F2F2F2"/>
                </a:solidFill>
                <a:latin typeface="Arial"/>
              </a:rPr>
              <a:t>rulează o campanie</a:t>
            </a:r>
            <a:r>
              <a:rPr b="0" sz="1400">
                <a:solidFill>
                  <a:srgbClr val="F2F2F2"/>
                </a:solidFill>
                <a:latin typeface="Arial"/>
              </a:rPr>
              <a:t> pe SMS/Google/Facebook (L26).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✅ O analiză se închide cu o </a:t>
            </a:r>
            <a:r>
              <a:rPr b="1" sz="1300">
                <a:solidFill>
                  <a:srgbClr val="F2F2F2"/>
                </a:solidFill>
                <a:latin typeface="Arial"/>
              </a:rPr>
              <a:t>decizie</a:t>
            </a:r>
            <a:r>
              <a:rPr b="0" sz="1300">
                <a:solidFill>
                  <a:srgbClr val="F2F2F2"/>
                </a:solidFill>
                <a:latin typeface="Arial"/>
              </a:rPr>
              <a:t>, nu cu un număr — exact ca dashboard-ul din L19, dar ca script 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 · 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care strică o investigație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Sari la suspectul evident</a:t>
            </a:r>
            <a:r>
              <a:rPr b="0" sz="1400">
                <a:solidFill>
                  <a:srgbClr val="F2F2F2"/>
                </a:solidFill>
                <a:latin typeface="Arial"/>
              </a:rPr>
              <a:t> — „sigur e Cluj”, fără să descompui (Cluj a crescut +6,4%).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Te oprești la reper</a:t>
            </a:r>
            <a:r>
              <a:rPr b="0" sz="1400">
                <a:solidFill>
                  <a:srgbClr val="F2F2F2"/>
                </a:solidFill>
                <a:latin typeface="Arial"/>
              </a:rPr>
              <a:t> — un număr (−14,9%) nu e o investigație; descompune și drill-uiește.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Descompui pe dimensiunea greșită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metodă de plată (împrăștiat, neacționabil) în loc de categorie.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Închei cu un număr, nu cu o decizie</a:t>
            </a:r>
            <a:r>
              <a:rPr b="0" sz="1400">
                <a:solidFill>
                  <a:srgbClr val="F2F2F2"/>
                </a:solidFill>
                <a:latin typeface="Arial"/>
              </a:rPr>
              <a:t> — cauza fără decizie e o poveste neterminată (ecou L19).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Modulul 4 e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investigație e un </a:t>
            </a:r>
            <a:r>
              <a:rPr b="1" sz="1400">
                <a:solidFill>
                  <a:srgbClr val="F2F2F2"/>
                </a:solidFill>
                <a:latin typeface="Arial"/>
              </a:rPr>
              <a:t>lanț</a:t>
            </a:r>
            <a:r>
              <a:rPr b="0" sz="1400">
                <a:solidFill>
                  <a:srgbClr val="F2F2F2"/>
                </a:solidFill>
                <a:latin typeface="Arial"/>
              </a:rPr>
              <a:t>: </a:t>
            </a:r>
            <a:r>
              <a:rPr b="1" sz="1400">
                <a:solidFill>
                  <a:srgbClr val="F2F2F2"/>
                </a:solidFill>
                <a:latin typeface="Arial"/>
              </a:rPr>
              <a:t>Reper → Unde → De ce → Decizie</a:t>
            </a:r>
            <a:r>
              <a:rPr b="0" sz="1400">
                <a:solidFill>
                  <a:srgbClr val="F2F2F2"/>
                </a:solidFill>
                <a:latin typeface="Arial"/>
              </a:rPr>
              <a:t> — fiecare pas o interogare.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Descompune pe dimensiunea potrivită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concentrează + e acționabilă (categorie, nu metodă de plată).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Respinge suspectul evident cu date</a:t>
            </a:r>
            <a:r>
              <a:rPr b="0" sz="1400">
                <a:solidFill>
                  <a:srgbClr val="F2F2F2"/>
                </a:solidFill>
                <a:latin typeface="Arial"/>
              </a:rPr>
              <a:t> — Cluj părea vinovat, dar a crescut +6,4%.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Închei cu o decizie</a:t>
            </a:r>
            <a:r>
              <a:rPr b="0" sz="1400">
                <a:solidFill>
                  <a:srgbClr val="F2F2F2"/>
                </a:solidFill>
                <a:latin typeface="Arial"/>
              </a:rPr>
              <a:t> — reaprovizionare Accessories premium + campanie pe SMS/Google/Facebook.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MILESTONE: investigația din septembrie cap-coadă în SQL — de la −14,9% la decizie. Punte → </a:t>
            </a:r>
            <a:r>
              <a:rPr b="1" sz="1300">
                <a:solidFill>
                  <a:srgbClr val="F2F2F2"/>
                </a:solidFill>
                <a:latin typeface="Arial"/>
              </a:rPr>
              <a:t>Modulul 5 (Data Studio):</a:t>
            </a:r>
            <a:r>
              <a:rPr b="0" sz="1300">
                <a:solidFill>
                  <a:srgbClr val="F2F2F2"/>
                </a:solidFill>
                <a:latin typeface="Arial"/>
              </a:rPr>
              <a:t> aceleași concluzii, acum </a:t>
            </a:r>
            <a:r>
              <a:rPr b="1" sz="1300">
                <a:solidFill>
                  <a:srgbClr val="F2F2F2"/>
                </a:solidFill>
                <a:latin typeface="Arial"/>
              </a:rPr>
              <a:t>vizuale și de prezentat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BONUS PRACTIC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Bonus AI — SQL cu Claude conectat la RetailHub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Ați dus investigația din septembrie cap-coadă, </a:t>
            </a:r>
            <a:r>
              <a:rPr b="1" sz="1500">
                <a:solidFill>
                  <a:srgbClr val="F2F2F2"/>
                </a:solidFill>
                <a:latin typeface="Arial"/>
              </a:rPr>
              <a:t>de mână</a:t>
            </a:r>
            <a:r>
              <a:rPr b="0" sz="1500">
                <a:solidFill>
                  <a:srgbClr val="F2F2F2"/>
                </a:solidFill>
                <a:latin typeface="Arial"/>
              </a:rPr>
              <a:t>, în SQL. Înainte de a închide lecția, o demonstrație scurtă: cum arată </a:t>
            </a:r>
            <a:r>
              <a:rPr b="1" sz="1500">
                <a:solidFill>
                  <a:srgbClr val="F2F2F2"/>
                </a:solidFill>
                <a:latin typeface="Arial"/>
              </a:rPr>
              <a:t>exact aceeași muncă</a:t>
            </a:r>
            <a:r>
              <a:rPr b="0" sz="1500">
                <a:solidFill>
                  <a:srgbClr val="F2F2F2"/>
                </a:solidFill>
                <a:latin typeface="Arial"/>
              </a:rPr>
              <a:t> cu un AI conectat direct la baza RetailHub — și de ce contați voi </a:t>
            </a:r>
            <a:r>
              <a:rPr b="1" sz="1500">
                <a:solidFill>
                  <a:srgbClr val="F2F2F2"/>
                </a:solidFill>
                <a:latin typeface="Arial"/>
              </a:rPr>
              <a:t>și mai mult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Demonstrație, </a:t>
            </a:r>
            <a:r>
              <a:rPr b="1" sz="1400">
                <a:solidFill>
                  <a:srgbClr val="F2F2F2"/>
                </a:solidFill>
                <a:latin typeface="Arial"/>
              </a:rPr>
              <a:t>nu exercițiu</a:t>
            </a:r>
            <a:r>
              <a:rPr b="0" sz="1400">
                <a:solidFill>
                  <a:srgbClr val="F2F2F2"/>
                </a:solidFill>
                <a:latin typeface="Arial"/>
              </a:rPr>
              <a:t>. Priviți și întrebați. (~8–10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BONUS PRACTIC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Nu mai scrii SQL-ul de mână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Ai dus investigația cap-coadă în SQL (L20–L27) — de mână. Azi vezi cum lucrează un analist </a:t>
            </a:r>
            <a:r>
              <a:rPr b="1" sz="1500">
                <a:solidFill>
                  <a:srgbClr val="F2F2F2"/>
                </a:solidFill>
                <a:latin typeface="Arial"/>
              </a:rPr>
              <a:t>modern</a:t>
            </a:r>
            <a:r>
              <a:rPr b="0" sz="1500">
                <a:solidFill>
                  <a:srgbClr val="F2F2F2"/>
                </a:solidFill>
                <a:latin typeface="Arial"/>
              </a:rPr>
              <a:t>: cu un AI (Claude) </a:t>
            </a:r>
            <a:r>
              <a:rPr b="1" sz="1500">
                <a:solidFill>
                  <a:srgbClr val="F2F2F2"/>
                </a:solidFill>
                <a:latin typeface="Arial"/>
              </a:rPr>
              <a:t>conectat direct la baza RetailHub</a:t>
            </a:r>
            <a:r>
              <a:rPr b="0" sz="1500">
                <a:solidFill>
                  <a:srgbClr val="F2F2F2"/>
                </a:solidFill>
                <a:latin typeface="Arial"/>
              </a:rPr>
              <a:t>, care scrie și rulează SQL-ul pentru tine.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Întrebarea nu e „AI-ul îmi ia jobul?” — ci </a:t>
            </a:r>
            <a:r>
              <a:rPr b="1" sz="1400">
                <a:solidFill>
                  <a:srgbClr val="F2F2F2"/>
                </a:solidFill>
                <a:latin typeface="Arial"/>
              </a:rPr>
              <a:t>„ce rămâne treaba mea, și de ce devine mai importantă?”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CUM ARATĂ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Claude, conectat la RetailHub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Pui întrebarea în </a:t>
            </a:r>
            <a:r>
              <a:rPr b="1" sz="1500">
                <a:solidFill>
                  <a:srgbClr val="F2F2F2"/>
                </a:solidFill>
                <a:latin typeface="Arial"/>
              </a:rPr>
              <a:t>limbaj natural</a:t>
            </a:r>
            <a:r>
              <a:rPr b="0" sz="1500">
                <a:solidFill>
                  <a:srgbClr val="F2F2F2"/>
                </a:solidFill>
                <a:latin typeface="Arial"/>
              </a:rPr>
              <a:t> — fără SQL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Claude explorează schema, </a:t>
            </a:r>
            <a:r>
              <a:rPr b="1" sz="1500">
                <a:solidFill>
                  <a:srgbClr val="F2F2F2"/>
                </a:solidFill>
                <a:latin typeface="Arial"/>
              </a:rPr>
              <a:t>scrie interogarea</a:t>
            </a:r>
            <a:r>
              <a:rPr b="0" sz="1500">
                <a:solidFill>
                  <a:srgbClr val="F2F2F2"/>
                </a:solidFill>
                <a:latin typeface="Arial"/>
              </a:rPr>
              <a:t> și o </a:t>
            </a:r>
            <a:r>
              <a:rPr b="1" sz="1500">
                <a:solidFill>
                  <a:srgbClr val="F2F2F2"/>
                </a:solidFill>
                <a:latin typeface="Arial"/>
              </a:rPr>
              <a:t>rulează</a:t>
            </a:r>
            <a:r>
              <a:rPr b="0" sz="1500">
                <a:solidFill>
                  <a:srgbClr val="F2F2F2"/>
                </a:solidFill>
                <a:latin typeface="Arial"/>
              </a:rPr>
              <a:t> pe bază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Îți dă </a:t>
            </a:r>
            <a:r>
              <a:rPr b="1" sz="1500">
                <a:solidFill>
                  <a:srgbClr val="F2F2F2"/>
                </a:solidFill>
                <a:latin typeface="Arial"/>
              </a:rPr>
              <a:t>rezultatul + explicația</a:t>
            </a:r>
            <a:r>
              <a:rPr b="0" sz="1500">
                <a:solidFill>
                  <a:srgbClr val="F2F2F2"/>
                </a:solidFill>
                <a:latin typeface="Arial"/>
              </a:rPr>
              <a:t> pașilor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Tu ceri, </a:t>
            </a:r>
            <a:r>
              <a:rPr b="1" sz="1500">
                <a:solidFill>
                  <a:srgbClr val="F2F2F2"/>
                </a:solidFill>
                <a:latin typeface="Arial"/>
              </a:rPr>
              <a:t>verifici</a:t>
            </a:r>
            <a:r>
              <a:rPr b="0" sz="1500">
                <a:solidFill>
                  <a:srgbClr val="F2F2F2"/>
                </a:solidFill>
                <a:latin typeface="Arial"/>
              </a:rPr>
              <a:t>, ajustezi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E ca și cum ai avea un </a:t>
            </a:r>
            <a:r>
              <a:rPr b="1" sz="1400">
                <a:solidFill>
                  <a:srgbClr val="F2F2F2"/>
                </a:solidFill>
                <a:latin typeface="Arial"/>
              </a:rPr>
              <a:t>junior foarte rapid</a:t>
            </a:r>
            <a:r>
              <a:rPr b="0" sz="1400">
                <a:solidFill>
                  <a:srgbClr val="F2F2F2"/>
                </a:solidFill>
                <a:latin typeface="Arial"/>
              </a:rPr>
              <a:t>, care nu obosește — dar căruia </a:t>
            </a:r>
            <a:r>
              <a:rPr b="1" sz="1400">
                <a:solidFill>
                  <a:srgbClr val="F2F2F2"/>
                </a:solidFill>
                <a:latin typeface="Arial"/>
              </a:rPr>
              <a:t>trebuie să-i verifici munca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SIMULARE · PASUL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Întrebi în limbaj natural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Tu → Claude:</a:t>
            </a:r>
            <a:r>
              <a:rPr b="0" sz="1400">
                <a:solidFill>
                  <a:srgbClr val="F2F2F2"/>
                </a:solidFill>
                <a:latin typeface="Arial"/>
              </a:rPr>
              <a:t> „De ce a scăzut Revenue în septembrie 2025 față de august? Sparge pe categorie și arată-mi vinovatul.”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710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Nicio linie de SQL. Doar </a:t>
            </a:r>
            <a:r>
              <a:rPr b="1" sz="1500">
                <a:solidFill>
                  <a:srgbClr val="F2F2F2"/>
                </a:solidFill>
                <a:latin typeface="Arial"/>
              </a:rPr>
              <a:t>întrebarea de business, bine formulată</a:t>
            </a:r>
            <a:r>
              <a:rPr b="0" sz="1500">
                <a:solidFill>
                  <a:srgbClr val="F2F2F2"/>
                </a:solidFill>
                <a:latin typeface="Arial"/>
              </a:rPr>
              <a:t> — exact framing-ul din L3. Partea asta rămâne a ta: un AI prost întrebat dă un răspuns prost.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SIMULARE · PASUL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Claude scrie și rulează SQL-ul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121408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DATE_FORMAT(o.OrderDate,'%Y-%m') AS Luna, c.CategoryName,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SUM(i.Quantity*i.UnitPrice) AS Vanzari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order_items 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orders o     ON i.OrderID   = o.OrderID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products p   ON i.ProductID = p.ProductID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categories c ON p.CategoryID = c.CategoryID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o.OrderDate&gt;='2025-08-01' AND o.OrderDate&lt;'2025-10-01'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Luna, c.CategoryName;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04164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Claude:</a:t>
            </a:r>
            <a:r>
              <a:rPr b="0" sz="1400">
                <a:solidFill>
                  <a:srgbClr val="F2F2F2"/>
                </a:solidFill>
                <a:latin typeface="Arial"/>
              </a:rPr>
              <a:t> „Am legat 4 tabele și am grupat pe lună × categorie. Vinovatul: </a:t>
            </a:r>
            <a:r>
              <a:rPr b="1" sz="1400">
                <a:solidFill>
                  <a:srgbClr val="F2F2F2"/>
                </a:solidFill>
                <a:latin typeface="Arial"/>
              </a:rPr>
              <a:t>Accessories</a:t>
            </a:r>
            <a:r>
              <a:rPr b="0" sz="1400">
                <a:solidFill>
                  <a:srgbClr val="F2F2F2"/>
                </a:solidFill>
                <a:latin typeface="Arial"/>
              </a:rPr>
              <a:t>, de la </a:t>
            </a:r>
            <a:r>
              <a:rPr sz="1400">
                <a:solidFill>
                  <a:srgbClr val="FFA24E"/>
                </a:solidFill>
                <a:latin typeface="Consolas"/>
              </a:rPr>
              <a:t>194.213,42</a:t>
            </a:r>
            <a:r>
              <a:rPr b="0" sz="1400">
                <a:solidFill>
                  <a:srgbClr val="F2F2F2"/>
                </a:solidFill>
                <a:latin typeface="Arial"/>
              </a:rPr>
              <a:t> (aug) la </a:t>
            </a:r>
            <a:r>
              <a:rPr sz="1400">
                <a:solidFill>
                  <a:srgbClr val="FFA24E"/>
                </a:solidFill>
                <a:latin typeface="Consolas"/>
              </a:rPr>
              <a:t>85.585,05</a:t>
            </a:r>
            <a:r>
              <a:rPr b="0" sz="1400">
                <a:solidFill>
                  <a:srgbClr val="F2F2F2"/>
                </a:solidFill>
                <a:latin typeface="Arial"/>
              </a:rPr>
              <a:t> (sept) = </a:t>
            </a:r>
            <a:r>
              <a:rPr b="1" sz="1400">
                <a:solidFill>
                  <a:srgbClr val="F2F2F2"/>
                </a:solidFill>
                <a:latin typeface="Arial"/>
              </a:rPr>
              <a:t>−55,9%</a:t>
            </a:r>
            <a:r>
              <a:rPr b="0" sz="1400">
                <a:solidFill>
                  <a:srgbClr val="F2F2F2"/>
                </a:solidFill>
                <a:latin typeface="Arial"/>
              </a:rPr>
              <a:t>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⚠️ MOMENTUL-CHEIE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Nu te încrezi orbește — verifici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Reconciliază:</a:t>
            </a:r>
            <a:r>
              <a:rPr b="0" sz="1400">
                <a:solidFill>
                  <a:srgbClr val="F2F2F2"/>
                </a:solidFill>
                <a:latin typeface="Arial"/>
              </a:rPr>
              <a:t> totalul dă </a:t>
            </a:r>
            <a:r>
              <a:rPr sz="1400">
                <a:solidFill>
                  <a:srgbClr val="FFA24E"/>
                </a:solidFill>
                <a:latin typeface="Consolas"/>
              </a:rPr>
              <a:t>37.878.974,89</a:t>
            </a:r>
            <a:r>
              <a:rPr b="0" sz="1400">
                <a:solidFill>
                  <a:srgbClr val="F2F2F2"/>
                </a:solidFill>
                <a:latin typeface="Arial"/>
              </a:rPr>
              <a:t>? (ancora din L32)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Grana e corectă?</a:t>
            </a:r>
            <a:r>
              <a:rPr b="0" sz="1400">
                <a:solidFill>
                  <a:srgbClr val="F2F2F2"/>
                </a:solidFill>
                <a:latin typeface="Arial"/>
              </a:rPr>
              <a:t> sau AI-ul a făcut </a:t>
            </a:r>
            <a:r>
              <a:rPr b="1" sz="1400">
                <a:solidFill>
                  <a:srgbClr val="F2F2F2"/>
                </a:solidFill>
                <a:latin typeface="Arial"/>
              </a:rPr>
              <a:t>fan-out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129.477.125,92</a:t>
            </a:r>
            <a:r>
              <a:rPr b="0" sz="1400">
                <a:solidFill>
                  <a:srgbClr val="F2F2F2"/>
                </a:solidFill>
                <a:latin typeface="Arial"/>
              </a:rPr>
              <a:t> în loc de 38M)?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Cifra e reală</a:t>
            </a:r>
            <a:r>
              <a:rPr b="0" sz="1400">
                <a:solidFill>
                  <a:srgbClr val="F2F2F2"/>
                </a:solidFill>
                <a:latin typeface="Arial"/>
              </a:rPr>
              <a:t> sau „halucinată” ca să sune bine?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AI-ul poate greși </a:t>
            </a:r>
            <a:r>
              <a:rPr b="1" sz="1400">
                <a:solidFill>
                  <a:srgbClr val="F2F2F2"/>
                </a:solidFill>
                <a:latin typeface="Arial"/>
              </a:rPr>
              <a:t>convingător — exact ca Ioana</a:t>
            </a:r>
            <a:r>
              <a:rPr b="0" sz="1400">
                <a:solidFill>
                  <a:srgbClr val="F2F2F2"/>
                </a:solidFill>
                <a:latin typeface="Arial"/>
              </a:rPr>
              <a:t>. „Sună bine” ≠ „e corect”. </a:t>
            </a:r>
            <a:r>
              <a:rPr b="1" sz="1400">
                <a:solidFill>
                  <a:srgbClr val="F2F2F2"/>
                </a:solidFill>
                <a:latin typeface="Arial"/>
              </a:rPr>
              <a:t>Verificarea e acum superputerea 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CE RĂMÂNE TREABA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Dirijezi · verifici · decizi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7033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Claude face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Tu faci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scrie &amp; rulează SQL-ul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framezi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întrebarea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explorează schema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reconciliezi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rezultatul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rezumă rândurile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iei decizia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+ recomandarea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Claude face </a:t>
            </a:r>
            <a:r>
              <a:rPr b="1" sz="1400">
                <a:solidFill>
                  <a:srgbClr val="F2F2F2"/>
                </a:solidFill>
                <a:latin typeface="Arial"/>
              </a:rPr>
              <a:t>mecanica</a:t>
            </a:r>
            <a:r>
              <a:rPr b="0" sz="1400">
                <a:solidFill>
                  <a:srgbClr val="F2F2F2"/>
                </a:solidFill>
                <a:latin typeface="Arial"/>
              </a:rPr>
              <a:t> în secunde. </a:t>
            </a:r>
            <a:r>
              <a:rPr b="1" sz="1400">
                <a:solidFill>
                  <a:srgbClr val="F2F2F2"/>
                </a:solidFill>
                <a:latin typeface="Arial"/>
              </a:rPr>
              <a:t>Gândirea</a:t>
            </a:r>
            <a:r>
              <a:rPr b="0" sz="1400">
                <a:solidFill>
                  <a:srgbClr val="F2F2F2"/>
                </a:solidFill>
                <a:latin typeface="Arial"/>
              </a:rPr>
              <a:t> — framing, reconciliere, decizie — rămâne a ta și cântărește mai mult ca oricând.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Analistul + AI: rolul evoluează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De la „</a:t>
            </a:r>
            <a:r>
              <a:rPr b="1" sz="1500">
                <a:solidFill>
                  <a:srgbClr val="F2F2F2"/>
                </a:solidFill>
                <a:latin typeface="Arial"/>
              </a:rPr>
              <a:t>scrii</a:t>
            </a:r>
            <a:r>
              <a:rPr b="0" sz="1500">
                <a:solidFill>
                  <a:srgbClr val="F2F2F2"/>
                </a:solidFill>
                <a:latin typeface="Arial"/>
              </a:rPr>
              <a:t> query-uri” → „</a:t>
            </a:r>
            <a:r>
              <a:rPr b="1" sz="1500">
                <a:solidFill>
                  <a:srgbClr val="F2F2F2"/>
                </a:solidFill>
                <a:latin typeface="Arial"/>
              </a:rPr>
              <a:t>dirijezi + verifici + decizi</a:t>
            </a:r>
            <a:r>
              <a:rPr b="0" sz="1500">
                <a:solidFill>
                  <a:srgbClr val="F2F2F2"/>
                </a:solidFill>
                <a:latin typeface="Arial"/>
              </a:rPr>
              <a:t>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Abilitățile din curs (Data Thinking, framing, reconciliere) devin </a:t>
            </a:r>
            <a:r>
              <a:rPr b="1" sz="1500">
                <a:solidFill>
                  <a:srgbClr val="F2F2F2"/>
                </a:solidFill>
                <a:latin typeface="Arial"/>
              </a:rPr>
              <a:t>MAI</a:t>
            </a:r>
            <a:r>
              <a:rPr b="0" sz="1500">
                <a:solidFill>
                  <a:srgbClr val="F2F2F2"/>
                </a:solidFill>
                <a:latin typeface="Arial"/>
              </a:rPr>
              <a:t> valoroase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AI = un </a:t>
            </a:r>
            <a:r>
              <a:rPr b="1" sz="1500">
                <a:solidFill>
                  <a:srgbClr val="F2F2F2"/>
                </a:solidFill>
                <a:latin typeface="Arial"/>
              </a:rPr>
              <a:t>multiplicator</a:t>
            </a:r>
            <a:r>
              <a:rPr b="0" sz="1500">
                <a:solidFill>
                  <a:srgbClr val="F2F2F2"/>
                </a:solidFill>
                <a:latin typeface="Arial"/>
              </a:rPr>
              <a:t>, nu un înlocuitor — dacă știi să-l dirijezi și să-l verifici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Regula lui Andrei ține și cu AI: </a:t>
            </a:r>
            <a:r>
              <a:rPr b="1" sz="1400">
                <a:solidFill>
                  <a:srgbClr val="F2F2F2"/>
                </a:solidFill>
                <a:latin typeface="Arial"/>
              </a:rPr>
              <a:t>nu livrăm rapoarte — livrăm răspunsuri verificate.</a:t>
            </a:r>
            <a:r>
              <a:rPr b="0" sz="1400">
                <a:solidFill>
                  <a:srgbClr val="F2F2F2"/>
                </a:solidFill>
                <a:latin typeface="Arial"/>
              </a:rPr>
              <a:t> AI-ul îți dă rapoarte instant; răspunsul îl garantezi tu.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L27 · Backbone  ·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