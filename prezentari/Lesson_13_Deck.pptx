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Datele sunt curate (L12). Acum le pui să răspundă — cu formule. O formulă nu e „mate în Excel”; e o întrebare de business tradusă într-un calcul pe care îl poți verifica și refolosi. Fișierul L13_formulas.xlsx are datele curate în tblOrders și sloturi galbene în fila calcule.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Legăm de L12. Ai curățat exportul real: dedublat (2.009 → 2.000), text și date uniforme, golurile înțelese (1.413 lăsate, 34 marcate), imposibilele semnalate. Ai acum date în care poți avea încredere. Azi le pui să răspundă — cu formule.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Obiectivele din §1. Cele patru formule de bază; referințe structurate; diferența relativ vs absolut ($); AOV — chiar KPI-ul din Fișa ta (L4).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(§2, §5). Deschizi L13_formulas.xlsx. Datele curate sunt deja în fila orders, ca tblOrders. În fila calcule ai sloturi galbene — acolo scrii formulele. Total Row-ul (L11) îți dădea o cifră o dată; o formulă e un obiect pe care îl referi, îl copiezi, îl construiești mai departe. Ăsta e instrumentul real al analistului.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Citatul lui Andrei (§2). Total Row a fost bun ca să te orientezi. Dar pentru raport îmi trebuie formule — ca să le pot refolosi, verifica, și trage pe alte tăieri. Dă-mi fundamentele pe datele curate: Revenue total, câte comenzi, AOV, și cum se împart plățile pe metode.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 (§3). Ioana a vrut ponderea fiecărei metode de plată. A pus Revenue pe metodă în B10:B13, totalul în B14, și lângă prima metodă =B10/B14 → un procent corect. Apoi a tras formula în jos. Procentele au ieșit aiurea, nu dădeau 100%. Când tragi =B10/B14 în jos, AMÂNDOUĂ referințele se mută: a doua linie devine =B11/B15... dar numitorul trebuia să rămână fix pe B14. A folosit o referință relativă unde-i trebuia una absolută.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Orientare (§5). Trei lucruri. Referință structurată: tblOrders[TotalAmount] = coloana din tblOrders; se citește ca o propoziție, se extinde singură (L11). Referință de celulă: B14. Relativă (B14) se mută când copiezi; absolută ($B$14) rămâne fixă. $ blochează. Total Row vs formulă: butonul dă o cifră o dată; formula e obiectul real al analistului.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centrală (§6). O rețetă bine scrisă spune exact „300 g făină”, nu „niște făină” — și poate fi refăcută de oricine, la fel. O formulă bună e la fel: spune exact ce calcul, pe ce date, și dă același răspuns de fiecare dată. Patru cai de bătaie, fiecare la altă întrebare. Două atenționări de tip: COUNT numără doar celule numerice (text → COUNTA); procentul are mereu o bază.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1 (§7). În slotul de lângă „Revenue total”, scrie =SUM(tblOrders[TotalAmount]) → Enter. Iese 37.878.974,89. Pe măsură ce scrii tblOrders[, Excel îți propune numele coloanelor — alegi TotalAmount.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Pașii 2–3 (§7). COUNT(tblOrders[OrderID]) = 14.968 (OrderID e numeric, deci COUNT merge; text → COUNTA). AVERAGE(tblOrders[TotalAmount]) = 2.530,66, adică o comandă face în medie ~2.530 lei. Ăsta e chiar KPI-ul AOV din Fișa ta (L4): Revenue / număr de comenzi. Verifică: 37.878.974,89 / 14.968 = 2.530,66. AVERAGE face exact asta dintr-o mișcare.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(§7). Totalul e în B14 (=SUM(B10:B13)). Lângă prima metodă (C10), scrie =B10/$B$14 → Enter → formatează ca procent (Ctrl+Shift+%). Apoi trage în jos până la C13. Ies patru procente care dau 100% la un loc: fiecare metodă ~un sfert. De ce $B$14 și nu B14: $ blochează numitorul pe total; fără $, la tragere numitorul s-ar muta (bug-ul Ioanei). Numărătorul (B10) rămâne relativ, ca să se mute corect.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patru greșeli (§11). Bagi numere de mână în formulă (=SUM/14968) — ia numărul din date. Referință relativă unde-ți trebuie absolută (bug-ul Ioanei) — întreabă „ce trebuie să rămână fix?”. SUM pe un cod — pentru „câte” folosești COUNT, codul e etichetă (L6). Procent fără bază — spune mereu „% din [total]”.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 (§12/§14). O formulă = o întrebare de business tradusă într-un calcul verificabil și reutilizabil. Cei patru cai: SUM, COUNT (numeric; COUNTA text), AVERAGE (=AOV), procent (parte/total). Referință absolută ($) unde ceva trebuie să rămână fix. Nu bagi numere de mână, nu dai procent fără bază. Milestone: reperele „de sănătate” calculate corect: 37,88 mil., 14.968, AOV 2.530,66, plăți ~25%. Din L14 calculezi condiționat (IF, SUMIF, COUNTIF).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3 · LECȚIA 13 · A TREIA LECȚIE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Formulele esențiale — calcule care răspund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Excel (calculează) → Answer. Datele-s curate; scoți cifre.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14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(L12)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curățat exportul real: dedublat (</a:t>
            </a:r>
            <a:r>
              <a:rPr b="1" sz="1500">
                <a:solidFill>
                  <a:srgbClr val="F2F2F2"/>
                </a:solidFill>
                <a:latin typeface="Arial"/>
              </a:rPr>
              <a:t>2.009 → 2.000</a:t>
            </a:r>
            <a:r>
              <a:rPr b="0" sz="1500">
                <a:solidFill>
                  <a:srgbClr val="F2F2F2"/>
                </a:solidFill>
                <a:latin typeface="Arial"/>
              </a:rPr>
              <a:t>), text și date uniforme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Golurile înțelese: </a:t>
            </a:r>
            <a:r>
              <a:rPr b="1" sz="1500">
                <a:solidFill>
                  <a:srgbClr val="F2F2F2"/>
                </a:solidFill>
                <a:latin typeface="Arial"/>
              </a:rPr>
              <a:t>1.413</a:t>
            </a:r>
            <a:r>
              <a:rPr b="0" sz="1500">
                <a:solidFill>
                  <a:srgbClr val="F2F2F2"/>
                </a:solidFill>
                <a:latin typeface="Arial"/>
              </a:rPr>
              <a:t> lăsate (fără campanie), </a:t>
            </a:r>
            <a:r>
              <a:rPr b="1" sz="1500">
                <a:solidFill>
                  <a:srgbClr val="F2F2F2"/>
                </a:solidFill>
                <a:latin typeface="Arial"/>
              </a:rPr>
              <a:t>34</a:t>
            </a:r>
            <a:r>
              <a:rPr b="0" sz="1500">
                <a:solidFill>
                  <a:srgbClr val="F2F2F2"/>
                </a:solidFill>
                <a:latin typeface="Arial"/>
              </a:rPr>
              <a:t> marcate (client lipsă)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Imposibilele semnalate (24 negative, outlierul 13554) — cu jurnal de curățare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Ai acum </a:t>
            </a:r>
            <a:r>
              <a:rPr b="1" sz="1400">
                <a:solidFill>
                  <a:srgbClr val="F2F2F2"/>
                </a:solidFill>
                <a:latin typeface="Arial"/>
              </a:rPr>
              <a:t>date în care poți avea încredere</a:t>
            </a:r>
            <a:r>
              <a:rPr b="0" sz="1400">
                <a:solidFill>
                  <a:srgbClr val="F2F2F2"/>
                </a:solidFill>
                <a:latin typeface="Arial"/>
              </a:rPr>
              <a:t>. Azi le pui să răspundă — cu </a:t>
            </a:r>
            <a:r>
              <a:rPr b="1" sz="1400">
                <a:solidFill>
                  <a:srgbClr val="F2F2F2"/>
                </a:solidFill>
                <a:latin typeface="Arial"/>
              </a:rPr>
              <a:t>formule</a:t>
            </a:r>
            <a:r>
              <a:rPr b="0" sz="1400">
                <a:solidFill>
                  <a:srgbClr val="F2F2F2"/>
                </a:solidFill>
                <a:latin typeface="Arial"/>
              </a:rPr>
              <a:t>. O formulă e o întrebare de business tradusă într-un calcul.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Cele patru formule: </a:t>
            </a:r>
            <a:r>
              <a:rPr b="1" sz="1400">
                <a:solidFill>
                  <a:srgbClr val="F2F2F2"/>
                </a:solidFill>
                <a:latin typeface="Arial"/>
              </a:rPr>
              <a:t>`SUM`</a:t>
            </a:r>
            <a:r>
              <a:rPr b="0" sz="1400">
                <a:solidFill>
                  <a:srgbClr val="F2F2F2"/>
                </a:solidFill>
                <a:latin typeface="Arial"/>
              </a:rPr>
              <a:t> (cât), </a:t>
            </a:r>
            <a:r>
              <a:rPr b="1" sz="1400">
                <a:solidFill>
                  <a:srgbClr val="F2F2F2"/>
                </a:solidFill>
                <a:latin typeface="Arial"/>
              </a:rPr>
              <a:t>`COUNT`</a:t>
            </a:r>
            <a:r>
              <a:rPr b="0" sz="1400">
                <a:solidFill>
                  <a:srgbClr val="F2F2F2"/>
                </a:solidFill>
                <a:latin typeface="Arial"/>
              </a:rPr>
              <a:t> (câte), </a:t>
            </a:r>
            <a:r>
              <a:rPr b="1" sz="1400">
                <a:solidFill>
                  <a:srgbClr val="F2F2F2"/>
                </a:solidFill>
                <a:latin typeface="Arial"/>
              </a:rPr>
              <a:t>`AVERAGE`</a:t>
            </a:r>
            <a:r>
              <a:rPr b="0" sz="1400">
                <a:solidFill>
                  <a:srgbClr val="F2F2F2"/>
                </a:solidFill>
                <a:latin typeface="Arial"/>
              </a:rPr>
              <a:t> (cât în medie), </a:t>
            </a:r>
            <a:r>
              <a:rPr b="1" sz="1400">
                <a:solidFill>
                  <a:srgbClr val="F2F2F2"/>
                </a:solidFill>
                <a:latin typeface="Arial"/>
              </a:rPr>
              <a:t>procent</a:t>
            </a:r>
            <a:r>
              <a:rPr b="0" sz="1400">
                <a:solidFill>
                  <a:srgbClr val="F2F2F2"/>
                </a:solidFill>
                <a:latin typeface="Arial"/>
              </a:rPr>
              <a:t> (ce parte)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folosești </a:t>
            </a:r>
            <a:r>
              <a:rPr b="1" sz="1400">
                <a:solidFill>
                  <a:srgbClr val="F2F2F2"/>
                </a:solidFill>
                <a:latin typeface="Arial"/>
              </a:rPr>
              <a:t>referințe structurate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sz="1400">
                <a:solidFill>
                  <a:srgbClr val="FFA24E"/>
                </a:solidFill>
                <a:latin typeface="Consolas"/>
              </a:rPr>
              <a:t>=SUM(tblOrders[TotalAmount])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Diferența dintre o referință </a:t>
            </a:r>
            <a:r>
              <a:rPr b="1" sz="1400">
                <a:solidFill>
                  <a:srgbClr val="F2F2F2"/>
                </a:solidFill>
                <a:latin typeface="Arial"/>
              </a:rPr>
              <a:t>relativă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B14</a:t>
            </a:r>
            <a:r>
              <a:rPr b="0" sz="1400">
                <a:solidFill>
                  <a:srgbClr val="F2F2F2"/>
                </a:solidFill>
                <a:latin typeface="Arial"/>
              </a:rPr>
              <a:t>) și una </a:t>
            </a:r>
            <a:r>
              <a:rPr b="1" sz="1400">
                <a:solidFill>
                  <a:srgbClr val="F2F2F2"/>
                </a:solidFill>
                <a:latin typeface="Arial"/>
              </a:rPr>
              <a:t>absolută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$B$14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calculezi </a:t>
            </a:r>
            <a:r>
              <a:rPr b="1" sz="1400">
                <a:solidFill>
                  <a:srgbClr val="F2F2F2"/>
                </a:solidFill>
                <a:latin typeface="Arial"/>
              </a:rPr>
              <a:t>AOV</a:t>
            </a:r>
            <a:r>
              <a:rPr b="0" sz="1400">
                <a:solidFill>
                  <a:srgbClr val="F2F2F2"/>
                </a:solidFill>
                <a:latin typeface="Arial"/>
              </a:rPr>
              <a:t> (valoarea medie a unei comenzi) — KPI-ul din Fișa ta (L4)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FORMULA VS TOTAL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Fișierul și de ce o formulă, nu un buton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📎 </a:t>
            </a:r>
            <a:r>
              <a:rPr sz="1500">
                <a:solidFill>
                  <a:srgbClr val="FFA24E"/>
                </a:solidFill>
                <a:latin typeface="Consolas"/>
              </a:rPr>
              <a:t>L13_formulas.xlsx</a:t>
            </a:r>
            <a:r>
              <a:rPr b="0" sz="1500">
                <a:solidFill>
                  <a:srgbClr val="F2F2F2"/>
                </a:solidFill>
                <a:latin typeface="Arial"/>
              </a:rPr>
              <a:t>. Datele curate sunt în fila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, ca tabel </a:t>
            </a:r>
            <a:r>
              <a:rPr sz="1500">
                <a:solidFill>
                  <a:srgbClr val="FFA24E"/>
                </a:solidFill>
                <a:latin typeface="Consolas"/>
              </a:rPr>
              <a:t>tblOrders</a:t>
            </a:r>
            <a:r>
              <a:rPr b="0" sz="1500">
                <a:solidFill>
                  <a:srgbClr val="F2F2F2"/>
                </a:solidFill>
                <a:latin typeface="Arial"/>
              </a:rPr>
              <a:t>. În fila </a:t>
            </a:r>
            <a:r>
              <a:rPr sz="1500">
                <a:solidFill>
                  <a:srgbClr val="FFA24E"/>
                </a:solidFill>
                <a:latin typeface="Consolas"/>
              </a:rPr>
              <a:t>calcule</a:t>
            </a:r>
            <a:r>
              <a:rPr b="0" sz="1500">
                <a:solidFill>
                  <a:srgbClr val="F2F2F2"/>
                </a:solidFill>
                <a:latin typeface="Arial"/>
              </a:rPr>
              <a:t> ai </a:t>
            </a:r>
            <a:r>
              <a:rPr b="1" sz="1500">
                <a:solidFill>
                  <a:srgbClr val="F2F2F2"/>
                </a:solidFill>
                <a:latin typeface="Arial"/>
              </a:rPr>
              <a:t>sloturi galbene</a:t>
            </a:r>
            <a:r>
              <a:rPr b="0" sz="1500">
                <a:solidFill>
                  <a:srgbClr val="F2F2F2"/>
                </a:solidFill>
                <a:latin typeface="Arial"/>
              </a:rPr>
              <a:t> — acolo scrii formulele.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Total Row</a:t>
            </a:r>
            <a:r>
              <a:rPr b="0" sz="1400">
                <a:solidFill>
                  <a:srgbClr val="F2F2F2"/>
                </a:solidFill>
                <a:latin typeface="Arial"/>
              </a:rPr>
              <a:t> (L11) = un </a:t>
            </a:r>
            <a:r>
              <a:rPr b="1" sz="1400">
                <a:solidFill>
                  <a:srgbClr val="F2F2F2"/>
                </a:solidFill>
                <a:latin typeface="Arial"/>
              </a:rPr>
              <a:t>buton</a:t>
            </a:r>
            <a:r>
              <a:rPr b="0" sz="1400">
                <a:solidFill>
                  <a:srgbClr val="F2F2F2"/>
                </a:solidFill>
                <a:latin typeface="Arial"/>
              </a:rPr>
              <a:t>: dă o cifră </a:t>
            </a:r>
            <a:r>
              <a:rPr b="1" sz="1400">
                <a:solidFill>
                  <a:srgbClr val="F2F2F2"/>
                </a:solidFill>
                <a:latin typeface="Arial"/>
              </a:rPr>
              <a:t>o dată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</a:t>
            </a:r>
            <a:r>
              <a:rPr b="1" sz="1400">
                <a:solidFill>
                  <a:srgbClr val="F2F2F2"/>
                </a:solidFill>
                <a:latin typeface="Arial"/>
              </a:rPr>
              <a:t>formulă</a:t>
            </a:r>
            <a:r>
              <a:rPr b="0" sz="1400">
                <a:solidFill>
                  <a:srgbClr val="F2F2F2"/>
                </a:solidFill>
                <a:latin typeface="Arial"/>
              </a:rPr>
              <a:t> = un </a:t>
            </a:r>
            <a:r>
              <a:rPr b="1" sz="1400">
                <a:solidFill>
                  <a:srgbClr val="F2F2F2"/>
                </a:solidFill>
                <a:latin typeface="Arial"/>
              </a:rPr>
              <a:t>obiect</a:t>
            </a:r>
            <a:r>
              <a:rPr b="0" sz="1400">
                <a:solidFill>
                  <a:srgbClr val="F2F2F2"/>
                </a:solidFill>
                <a:latin typeface="Arial"/>
              </a:rPr>
              <a:t> pe care îl </a:t>
            </a:r>
            <a:r>
              <a:rPr b="1" sz="1400">
                <a:solidFill>
                  <a:srgbClr val="F2F2F2"/>
                </a:solidFill>
                <a:latin typeface="Arial"/>
              </a:rPr>
              <a:t>referi, copiezi, construiești</a:t>
            </a:r>
            <a:r>
              <a:rPr b="0" sz="1400">
                <a:solidFill>
                  <a:srgbClr val="F2F2F2"/>
                </a:solidFill>
                <a:latin typeface="Arial"/>
              </a:rPr>
              <a:t> mai departe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formulă începe cu </a:t>
            </a:r>
            <a:r>
              <a:rPr sz="1400">
                <a:solidFill>
                  <a:srgbClr val="FFA24E"/>
                </a:solidFill>
                <a:latin typeface="Consolas"/>
              </a:rPr>
              <a:t>=</a:t>
            </a:r>
            <a:r>
              <a:rPr b="0" sz="1400">
                <a:solidFill>
                  <a:srgbClr val="F2F2F2"/>
                </a:solidFill>
                <a:latin typeface="Arial"/>
              </a:rPr>
              <a:t> și îi spune lui Excel </a:t>
            </a:r>
            <a:r>
              <a:rPr i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să calculeze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„Dă-mi fundamentele, ca formule”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</a:t>
            </a:r>
            <a:r>
              <a:rPr sz="1500">
                <a:solidFill>
                  <a:srgbClr val="FFA24E"/>
                </a:solidFill>
                <a:latin typeface="Consolas"/>
              </a:rPr>
              <a:t>Total Row</a:t>
            </a:r>
            <a:r>
              <a:rPr b="0" sz="1500">
                <a:solidFill>
                  <a:srgbClr val="F2F2F2"/>
                </a:solidFill>
                <a:latin typeface="Arial"/>
              </a:rPr>
              <a:t> a fost bun ca să te orientezi. Dar pentru raport îmi trebuie </a:t>
            </a:r>
            <a:r>
              <a:rPr b="1" sz="1500">
                <a:solidFill>
                  <a:srgbClr val="F2F2F2"/>
                </a:solidFill>
                <a:latin typeface="Arial"/>
              </a:rPr>
              <a:t>formule</a:t>
            </a:r>
            <a:r>
              <a:rPr b="0" sz="1500">
                <a:solidFill>
                  <a:srgbClr val="F2F2F2"/>
                </a:solidFill>
                <a:latin typeface="Arial"/>
              </a:rPr>
              <a:t> — ca să le pot refolosi, verifica, și trage pe alte tăieri. Dă-mi fundamentele pe datele curate: Revenue total, câte comenzi, </a:t>
            </a:r>
            <a:r>
              <a:rPr b="1" sz="1500">
                <a:solidFill>
                  <a:srgbClr val="F2F2F2"/>
                </a:solidFill>
                <a:latin typeface="Arial"/>
              </a:rPr>
              <a:t>AOV</a:t>
            </a:r>
            <a:r>
              <a:rPr b="0" sz="1500">
                <a:solidFill>
                  <a:srgbClr val="F2F2F2"/>
                </a:solidFill>
                <a:latin typeface="Arial"/>
              </a:rPr>
              <a:t>-ul, și cum se împart plățile pe metode.”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Pe astea construim, înainte să tăiem pe septembrie. Dar mai întâi — o poveste despre o formulă care „s-a mutat”.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formula „s-a mutat”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C10:  =B10/B14      → procent corect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... trage în jos ...  C11: =B11/B15   ✗ numitorul s-a mutat!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4261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Numitorul (totalul) trebuia să rămână </a:t>
            </a:r>
            <a:r>
              <a:rPr b="1" sz="1400">
                <a:solidFill>
                  <a:srgbClr val="F2F2F2"/>
                </a:solidFill>
                <a:latin typeface="Arial"/>
              </a:rPr>
              <a:t>fix</a:t>
            </a:r>
            <a:r>
              <a:rPr b="0" sz="1400">
                <a:solidFill>
                  <a:srgbClr val="F2F2F2"/>
                </a:solidFill>
                <a:latin typeface="Arial"/>
              </a:rPr>
              <a:t> pe </a:t>
            </a:r>
            <a:r>
              <a:rPr sz="1400">
                <a:solidFill>
                  <a:srgbClr val="FFA24E"/>
                </a:solidFill>
                <a:latin typeface="Consolas"/>
              </a:rPr>
              <a:t>B14</a:t>
            </a:r>
            <a:r>
              <a:rPr b="0" sz="1400">
                <a:solidFill>
                  <a:srgbClr val="F2F2F2"/>
                </a:solidFill>
                <a:latin typeface="Arial"/>
              </a:rPr>
              <a:t>. Ioana a folosit o referință </a:t>
            </a:r>
            <a:r>
              <a:rPr b="1" sz="1400">
                <a:solidFill>
                  <a:srgbClr val="F2F2F2"/>
                </a:solidFill>
                <a:latin typeface="Arial"/>
              </a:rPr>
              <a:t>relativă</a:t>
            </a:r>
            <a:r>
              <a:rPr b="0" sz="1400">
                <a:solidFill>
                  <a:srgbClr val="F2F2F2"/>
                </a:solidFill>
                <a:latin typeface="Arial"/>
              </a:rPr>
              <a:t> unde-i trebuia una </a:t>
            </a:r>
            <a:r>
              <a:rPr b="1" sz="1400">
                <a:solidFill>
                  <a:srgbClr val="F2F2F2"/>
                </a:solidFill>
                <a:latin typeface="Arial"/>
              </a:rPr>
              <a:t>absolută</a:t>
            </a:r>
            <a:r>
              <a:rPr b="0" sz="1400">
                <a:solidFill>
                  <a:srgbClr val="F2F2F2"/>
                </a:solidFill>
                <a:latin typeface="Arial"/>
              </a:rPr>
              <a:t>. Procentele n-au mai dat 100%.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e o formulă (relativ vs absolut)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Referință structurată</a:t>
            </a:r>
            <a:r>
              <a:rPr b="0" sz="1400">
                <a:solidFill>
                  <a:srgbClr val="F2F2F2"/>
                </a:solidFill>
                <a:latin typeface="Arial"/>
              </a:rPr>
              <a:t>: </a:t>
            </a:r>
            <a:r>
              <a:rPr sz="1400">
                <a:solidFill>
                  <a:srgbClr val="FFA24E"/>
                </a:solidFill>
                <a:latin typeface="Consolas"/>
              </a:rPr>
              <a:t>tblOrders[TotalAmount]</a:t>
            </a:r>
            <a:r>
              <a:rPr b="0" sz="1400">
                <a:solidFill>
                  <a:srgbClr val="F2F2F2"/>
                </a:solidFill>
                <a:latin typeface="Arial"/>
              </a:rPr>
              <a:t> — se citește ca o propoziție, se extinde singură (L11)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Referință relativă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B14</a:t>
            </a:r>
            <a:r>
              <a:rPr b="0" sz="1400">
                <a:solidFill>
                  <a:srgbClr val="F2F2F2"/>
                </a:solidFill>
                <a:latin typeface="Arial"/>
              </a:rPr>
              <a:t>) se </a:t>
            </a:r>
            <a:r>
              <a:rPr b="1" sz="1400">
                <a:solidFill>
                  <a:srgbClr val="F2F2F2"/>
                </a:solidFill>
                <a:latin typeface="Arial"/>
              </a:rPr>
              <a:t>mută</a:t>
            </a:r>
            <a:r>
              <a:rPr b="0" sz="1400">
                <a:solidFill>
                  <a:srgbClr val="F2F2F2"/>
                </a:solidFill>
                <a:latin typeface="Arial"/>
              </a:rPr>
              <a:t> când copiezi formula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Referință absolută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$B$14</a:t>
            </a:r>
            <a:r>
              <a:rPr b="0" sz="1400">
                <a:solidFill>
                  <a:srgbClr val="F2F2F2"/>
                </a:solidFill>
                <a:latin typeface="Arial"/>
              </a:rPr>
              <a:t>) rămâne </a:t>
            </a:r>
            <a:r>
              <a:rPr b="1" sz="1400">
                <a:solidFill>
                  <a:srgbClr val="F2F2F2"/>
                </a:solidFill>
                <a:latin typeface="Arial"/>
              </a:rPr>
              <a:t>fixă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sz="1400">
                <a:solidFill>
                  <a:srgbClr val="FFA24E"/>
                </a:solidFill>
                <a:latin typeface="Consolas"/>
              </a:rPr>
              <a:t>$</a:t>
            </a:r>
            <a:r>
              <a:rPr b="0" sz="1400">
                <a:solidFill>
                  <a:srgbClr val="F2F2F2"/>
                </a:solidFill>
                <a:latin typeface="Arial"/>
              </a:rPr>
              <a:t> blochează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Regula: pui </a:t>
            </a:r>
            <a:r>
              <a:rPr sz="1300">
                <a:solidFill>
                  <a:srgbClr val="FFA24E"/>
                </a:solidFill>
                <a:latin typeface="Consolas"/>
              </a:rPr>
              <a:t>$</a:t>
            </a:r>
            <a:r>
              <a:rPr b="0" sz="1300">
                <a:solidFill>
                  <a:srgbClr val="F2F2F2"/>
                </a:solidFill>
                <a:latin typeface="Arial"/>
              </a:rPr>
              <a:t> pe </a:t>
            </a:r>
            <a:r>
              <a:rPr b="1" sz="1300">
                <a:solidFill>
                  <a:srgbClr val="F2F2F2"/>
                </a:solidFill>
                <a:latin typeface="Arial"/>
              </a:rPr>
              <a:t>ce trebuie să rămână fix</a:t>
            </a:r>
            <a:r>
              <a:rPr b="0" sz="1300">
                <a:solidFill>
                  <a:srgbClr val="F2F2F2"/>
                </a:solidFill>
                <a:latin typeface="Arial"/>
              </a:rPr>
              <a:t> (totalul unui procent); lași relativ </a:t>
            </a:r>
            <a:r>
              <a:rPr b="1" sz="1300">
                <a:solidFill>
                  <a:srgbClr val="F2F2F2"/>
                </a:solidFill>
                <a:latin typeface="Arial"/>
              </a:rPr>
              <a:t>ce trebuie să se miște</a:t>
            </a:r>
            <a:r>
              <a:rPr b="0" sz="1300">
                <a:solidFill>
                  <a:srgbClr val="F2F2F2"/>
                </a:solidFill>
                <a:latin typeface="Arial"/>
              </a:rPr>
              <a:t> (partea).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 formulă e o întrebare, tradusă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Formula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Întrebarea de business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Exemplu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SUM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Cât în total?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=SUM(tblOrders[TotalAmount])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Câte (numerice)?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=COUNT(tblOrders[OrderID])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Cât în medie / pe unitate?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=AVERAGE(tblOrders[TotalAmount])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procent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Ce pondere / ce parte?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=B10/$B$14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767328"/>
            <a:ext cx="10874959" cy="137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sz="13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300">
                <a:solidFill>
                  <a:srgbClr val="F2F2F2"/>
                </a:solidFill>
                <a:latin typeface="Arial"/>
              </a:rPr>
              <a:t> numără doar celule </a:t>
            </a:r>
            <a:r>
              <a:rPr b="1" sz="1300">
                <a:solidFill>
                  <a:srgbClr val="F2F2F2"/>
                </a:solidFill>
                <a:latin typeface="Arial"/>
              </a:rPr>
              <a:t>numerice</a:t>
            </a:r>
            <a:r>
              <a:rPr b="0" sz="1300">
                <a:solidFill>
                  <a:srgbClr val="F2F2F2"/>
                </a:solidFill>
                <a:latin typeface="Arial"/>
              </a:rPr>
              <a:t>; pentru text folosești </a:t>
            </a:r>
            <a:r>
              <a:rPr sz="1300">
                <a:solidFill>
                  <a:srgbClr val="FFA24E"/>
                </a:solidFill>
                <a:latin typeface="Consolas"/>
              </a:rPr>
              <a:t>COUNTA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Procentul are mereu o bază</a:t>
            </a:r>
            <a:r>
              <a:rPr b="0" sz="1300">
                <a:solidFill>
                  <a:srgbClr val="F2F2F2"/>
                </a:solidFill>
                <a:latin typeface="Arial"/>
              </a:rPr>
              <a:t>: „% din </a:t>
            </a:r>
            <a:r>
              <a:rPr i="1" sz="1300">
                <a:solidFill>
                  <a:srgbClr val="F2F2F2"/>
                </a:solidFill>
                <a:latin typeface="Arial"/>
              </a:rPr>
              <a:t>ce</a:t>
            </a:r>
            <a:r>
              <a:rPr b="0" sz="1300">
                <a:solidFill>
                  <a:srgbClr val="F2F2F2"/>
                </a:solidFill>
                <a:latin typeface="Arial"/>
              </a:rPr>
              <a:t>?” Fără bază clară, un procent nu înseamnă nimic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3000">
                <a:solidFill>
                  <a:srgbClr val="FFA24E"/>
                </a:solidFill>
                <a:latin typeface="Consolas"/>
              </a:rPr>
              <a:t>SUM</a:t>
            </a:r>
            <a:r>
              <a:rPr b="1" sz="3000">
                <a:solidFill>
                  <a:srgbClr val="F2F2F2"/>
                </a:solidFill>
                <a:latin typeface="Arial"/>
              </a:rPr>
              <a:t> — cât în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=SUM(tblOrders[TotalAmount])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0944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400">
                <a:solidFill>
                  <a:srgbClr val="F2F2F2"/>
                </a:solidFill>
                <a:latin typeface="Arial"/>
              </a:rPr>
              <a:t>37.878.974,89</a:t>
            </a:r>
            <a:r>
              <a:rPr b="0" sz="1400">
                <a:solidFill>
                  <a:srgbClr val="F2F2F2"/>
                </a:solidFill>
                <a:latin typeface="Arial"/>
              </a:rPr>
              <a:t>. Pe măsură ce scrii </a:t>
            </a:r>
            <a:r>
              <a:rPr sz="1400">
                <a:solidFill>
                  <a:srgbClr val="FFA24E"/>
                </a:solidFill>
                <a:latin typeface="Consolas"/>
              </a:rPr>
              <a:t>tblOrders[</a:t>
            </a:r>
            <a:r>
              <a:rPr b="0" sz="1400">
                <a:solidFill>
                  <a:srgbClr val="F2F2F2"/>
                </a:solidFill>
                <a:latin typeface="Arial"/>
              </a:rPr>
              <a:t>, Excel îți propune numele coloanelor — alegi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. Referința structurată se citește ca o propoziție.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COMENZI + AOV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3000">
                <a:solidFill>
                  <a:srgbClr val="FFA24E"/>
                </a:solidFill>
                <a:latin typeface="Consolas"/>
              </a:rPr>
              <a:t>COUNT</a:t>
            </a:r>
            <a:r>
              <a:rPr b="1" sz="3000">
                <a:solidFill>
                  <a:srgbClr val="F2F2F2"/>
                </a:solidFill>
                <a:latin typeface="Arial"/>
              </a:rPr>
              <a:t> și </a:t>
            </a:r>
            <a:r>
              <a:rPr sz="3000">
                <a:solidFill>
                  <a:srgbClr val="FFA24E"/>
                </a:solidFill>
                <a:latin typeface="Consolas"/>
              </a:rPr>
              <a:t>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=COUNT(tblOrders[OrderID])       → 14.968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=AVERAGE(tblOrders[TotalAmount]) → 2.530,66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4261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AOV = 2.530,66 lei</a:t>
            </a:r>
            <a:r>
              <a:rPr b="0" sz="1400">
                <a:solidFill>
                  <a:srgbClr val="F2F2F2"/>
                </a:solidFill>
                <a:latin typeface="Arial"/>
              </a:rPr>
              <a:t> — o comandă tipică. E chiar KPI-ul din Fișa ta (L4): </a:t>
            </a:r>
            <a:r>
              <a:rPr sz="1400">
                <a:solidFill>
                  <a:srgbClr val="FFA24E"/>
                </a:solidFill>
                <a:latin typeface="Consolas"/>
              </a:rPr>
              <a:t>Revenue / nr. comenzi</a:t>
            </a:r>
            <a:r>
              <a:rPr b="0" sz="1400">
                <a:solidFill>
                  <a:srgbClr val="F2F2F2"/>
                </a:solidFill>
                <a:latin typeface="Arial"/>
              </a:rPr>
              <a:t>. Verifică: </a:t>
            </a:r>
            <a:r>
              <a:rPr sz="1400">
                <a:solidFill>
                  <a:srgbClr val="FFA24E"/>
                </a:solidFill>
                <a:latin typeface="Consolas"/>
              </a:rPr>
              <a:t>37.878.974,89 / 14.968 = 2.530,66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30624"/>
            <a:ext cx="10874959" cy="116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FFA24E"/>
                </a:solidFill>
                <a:latin typeface="Consolas"/>
              </a:rPr>
              <a:t>OrderID</a:t>
            </a:r>
            <a:r>
              <a:rPr b="0" sz="1400">
                <a:solidFill>
                  <a:srgbClr val="F2F2F2"/>
                </a:solidFill>
                <a:latin typeface="Arial"/>
              </a:rPr>
              <a:t> e numeric, deci </a:t>
            </a:r>
            <a:r>
              <a:rPr sz="14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400">
                <a:solidFill>
                  <a:srgbClr val="F2F2F2"/>
                </a:solidFill>
                <a:latin typeface="Arial"/>
              </a:rPr>
              <a:t> merge; dacă ai număra o coloană de </a:t>
            </a:r>
            <a:r>
              <a:rPr b="1" sz="1400">
                <a:solidFill>
                  <a:srgbClr val="F2F2F2"/>
                </a:solidFill>
                <a:latin typeface="Arial"/>
              </a:rPr>
              <a:t>text</a:t>
            </a:r>
            <a:r>
              <a:rPr b="0" sz="1400">
                <a:solidFill>
                  <a:srgbClr val="F2F2F2"/>
                </a:solidFill>
                <a:latin typeface="Arial"/>
              </a:rPr>
              <a:t>, ți-ar trebui </a:t>
            </a:r>
            <a:r>
              <a:rPr sz="1400">
                <a:solidFill>
                  <a:srgbClr val="FFA24E"/>
                </a:solidFill>
                <a:latin typeface="Consolas"/>
              </a:rPr>
              <a:t>COUNTA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PROCENT CU `$`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Ponderea pe metodă — total fix cu </a:t>
            </a:r>
            <a:r>
              <a:rPr sz="3000">
                <a:solidFill>
                  <a:srgbClr val="FFA24E"/>
                </a:solidFill>
                <a:latin typeface="Consolas"/>
              </a:rPr>
              <a:t>$B$14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B14:  =SUM(B10:B13)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C10:  =B10/$B$14   → format %  → trage în jos până la C13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642616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Metodă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% din Revenue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BankTransfer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Cash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Card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Voucher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62686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$</a:t>
            </a:r>
            <a:r>
              <a:rPr b="0" sz="1300">
                <a:solidFill>
                  <a:srgbClr val="F2F2F2"/>
                </a:solidFill>
                <a:latin typeface="Arial"/>
              </a:rPr>
              <a:t> </a:t>
            </a:r>
            <a:r>
              <a:rPr b="1" sz="1300">
                <a:solidFill>
                  <a:srgbClr val="F2F2F2"/>
                </a:solidFill>
                <a:latin typeface="Arial"/>
              </a:rPr>
              <a:t>blochează</a:t>
            </a:r>
            <a:r>
              <a:rPr b="0" sz="1300">
                <a:solidFill>
                  <a:srgbClr val="F2F2F2"/>
                </a:solidFill>
                <a:latin typeface="Arial"/>
              </a:rPr>
              <a:t> numitorul pe total; numărătorul (</a:t>
            </a:r>
            <a:r>
              <a:rPr sz="1300">
                <a:solidFill>
                  <a:srgbClr val="FFA24E"/>
                </a:solidFill>
                <a:latin typeface="Consolas"/>
              </a:rPr>
              <a:t>B10</a:t>
            </a:r>
            <a:r>
              <a:rPr b="0" sz="1300">
                <a:solidFill>
                  <a:srgbClr val="F2F2F2"/>
                </a:solidFill>
                <a:latin typeface="Arial"/>
              </a:rPr>
              <a:t>) rămâne relativ. Cele patru dau </a:t>
            </a:r>
            <a:r>
              <a:rPr b="1" sz="1300">
                <a:solidFill>
                  <a:srgbClr val="F2F2F2"/>
                </a:solidFill>
                <a:latin typeface="Arial"/>
              </a:rPr>
              <a:t>100%</a:t>
            </a:r>
            <a:r>
              <a:rPr b="0" sz="1300">
                <a:solidFill>
                  <a:srgbClr val="F2F2F2"/>
                </a:solidFill>
                <a:latin typeface="Arial"/>
              </a:rPr>
              <a:t> — plățile-s echilibrate, ~un sfert fiecare.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Numere „de mână”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=SUM(...)/14968</a:t>
            </a:r>
            <a:r>
              <a:rPr b="0" sz="1400">
                <a:solidFill>
                  <a:srgbClr val="F2F2F2"/>
                </a:solidFill>
                <a:latin typeface="Arial"/>
              </a:rPr>
              <a:t>) → ia numărul din date (</a:t>
            </a:r>
            <a:r>
              <a:rPr sz="14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AVERAGE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Relativ unde trebuie absolut</a:t>
            </a:r>
            <a:r>
              <a:rPr b="0" sz="1400">
                <a:solidFill>
                  <a:srgbClr val="F2F2F2"/>
                </a:solidFill>
                <a:latin typeface="Arial"/>
              </a:rPr>
              <a:t> → întreabă „ce rămâne fix?” și pune </a:t>
            </a:r>
            <a:r>
              <a:rPr sz="1400">
                <a:solidFill>
                  <a:srgbClr val="FFA24E"/>
                </a:solidFill>
                <a:latin typeface="Consolas"/>
              </a:rPr>
              <a:t>$</a:t>
            </a:r>
            <a:r>
              <a:rPr b="0" sz="1400">
                <a:solidFill>
                  <a:srgbClr val="F2F2F2"/>
                </a:solidFill>
                <a:latin typeface="Arial"/>
              </a:rPr>
              <a:t> acolo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`SUM` pe un cod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OrderID</a:t>
            </a:r>
            <a:r>
              <a:rPr b="0" sz="1400">
                <a:solidFill>
                  <a:srgbClr val="F2F2F2"/>
                </a:solidFill>
                <a:latin typeface="Arial"/>
              </a:rPr>
              <a:t>) → pentru „câte” folosești </a:t>
            </a:r>
            <a:r>
              <a:rPr sz="14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400">
                <a:solidFill>
                  <a:srgbClr val="F2F2F2"/>
                </a:solidFill>
                <a:latin typeface="Arial"/>
              </a:rPr>
              <a:t>; codul e etichetă (L6)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Procent fără bază</a:t>
            </a:r>
            <a:r>
              <a:rPr b="0" sz="1400">
                <a:solidFill>
                  <a:srgbClr val="F2F2F2"/>
                </a:solidFill>
                <a:latin typeface="Arial"/>
              </a:rPr>
              <a:t> → spune mereu „% </a:t>
            </a:r>
            <a:r>
              <a:rPr b="1" sz="1400">
                <a:solidFill>
                  <a:srgbClr val="F2F2F2"/>
                </a:solidFill>
                <a:latin typeface="Arial"/>
              </a:rPr>
              <a:t>din</a:t>
            </a:r>
            <a:r>
              <a:rPr b="0" sz="1400">
                <a:solidFill>
                  <a:srgbClr val="F2F2F2"/>
                </a:solidFill>
                <a:latin typeface="Arial"/>
              </a:rPr>
              <a:t> [total]”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ai fundamentele, ca formule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formulă = o întrebare tradusă într-un calcul </a:t>
            </a:r>
            <a:r>
              <a:rPr b="1" sz="1400">
                <a:solidFill>
                  <a:srgbClr val="F2F2F2"/>
                </a:solidFill>
                <a:latin typeface="Arial"/>
              </a:rPr>
              <a:t>verificabil și reutilizabil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=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Cei patru cai: </a:t>
            </a:r>
            <a:r>
              <a:rPr sz="1400">
                <a:solidFill>
                  <a:srgbClr val="FFA24E"/>
                </a:solidFill>
                <a:latin typeface="Consolas"/>
              </a:rPr>
              <a:t>SUM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COUNT</a:t>
            </a:r>
            <a:r>
              <a:rPr b="0" sz="1400">
                <a:solidFill>
                  <a:srgbClr val="F2F2F2"/>
                </a:solidFill>
                <a:latin typeface="Arial"/>
              </a:rPr>
              <a:t> (numeric; </a:t>
            </a:r>
            <a:r>
              <a:rPr sz="1400">
                <a:solidFill>
                  <a:srgbClr val="FFA24E"/>
                </a:solidFill>
                <a:latin typeface="Consolas"/>
              </a:rPr>
              <a:t>COUNTA</a:t>
            </a:r>
            <a:r>
              <a:rPr b="0" sz="1400">
                <a:solidFill>
                  <a:srgbClr val="F2F2F2"/>
                </a:solidFill>
                <a:latin typeface="Arial"/>
              </a:rPr>
              <a:t> text), </a:t>
            </a:r>
            <a:r>
              <a:rPr sz="1400">
                <a:solidFill>
                  <a:srgbClr val="FFA24E"/>
                </a:solidFill>
                <a:latin typeface="Consolas"/>
              </a:rPr>
              <a:t>AVERAGE</a:t>
            </a:r>
            <a:r>
              <a:rPr b="0" sz="1400">
                <a:solidFill>
                  <a:srgbClr val="F2F2F2"/>
                </a:solidFill>
                <a:latin typeface="Arial"/>
              </a:rPr>
              <a:t> (=AOV), </a:t>
            </a:r>
            <a:r>
              <a:rPr b="1" sz="1400">
                <a:solidFill>
                  <a:srgbClr val="F2F2F2"/>
                </a:solidFill>
                <a:latin typeface="Arial"/>
              </a:rPr>
              <a:t>procent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Referință absolută (`$`)</a:t>
            </a:r>
            <a:r>
              <a:rPr b="0" sz="1400">
                <a:solidFill>
                  <a:srgbClr val="F2F2F2"/>
                </a:solidFill>
                <a:latin typeface="Arial"/>
              </a:rPr>
              <a:t> unde ceva rămâne fix; relativă unde trebuie să se miște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Nu bagi numere de mână și nu dai un procent fără </a:t>
            </a:r>
            <a:r>
              <a:rPr b="1" sz="1400">
                <a:solidFill>
                  <a:srgbClr val="F2F2F2"/>
                </a:solidFill>
                <a:latin typeface="Arial"/>
              </a:rPr>
              <a:t>bază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de proiect: fundamentele ca formule — </a:t>
            </a:r>
            <a:r>
              <a:rPr b="1" sz="1400">
                <a:solidFill>
                  <a:srgbClr val="F2F2F2"/>
                </a:solidFill>
                <a:latin typeface="Arial"/>
              </a:rPr>
              <a:t>37,88 mil.</a:t>
            </a:r>
            <a:r>
              <a:rPr b="0" sz="1400">
                <a:solidFill>
                  <a:srgbClr val="F2F2F2"/>
                </a:solidFill>
                <a:latin typeface="Arial"/>
              </a:rPr>
              <a:t> Revenue, </a:t>
            </a:r>
            <a:r>
              <a:rPr b="1" sz="1400">
                <a:solidFill>
                  <a:srgbClr val="F2F2F2"/>
                </a:solidFill>
                <a:latin typeface="Arial"/>
              </a:rPr>
              <a:t>14.968</a:t>
            </a:r>
            <a:r>
              <a:rPr b="0" sz="1400">
                <a:solidFill>
                  <a:srgbClr val="F2F2F2"/>
                </a:solidFill>
                <a:latin typeface="Arial"/>
              </a:rPr>
              <a:t> comenzi, </a:t>
            </a:r>
            <a:r>
              <a:rPr b="1" sz="1400">
                <a:solidFill>
                  <a:srgbClr val="F2F2F2"/>
                </a:solidFill>
                <a:latin typeface="Arial"/>
              </a:rPr>
              <a:t>AOV 2.530,66</a:t>
            </a:r>
            <a:r>
              <a:rPr b="0" sz="1400">
                <a:solidFill>
                  <a:srgbClr val="F2F2F2"/>
                </a:solidFill>
                <a:latin typeface="Arial"/>
              </a:rPr>
              <a:t>, plăți ~25%.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L14: calcul condiționat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IF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SUMIF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COUNTIF</a:t>
            </a:r>
            <a:r>
              <a:rPr b="0" sz="14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L13 · Formule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