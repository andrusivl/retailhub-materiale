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lecție — închide cursul. Livrabil: prezentarea apărată (3 min BLUF + poveste pe dashboard + Q&amp;A) în fața unui panel simulat. Diferența nouă față de L30: apărarea. A concede (pe detaliu, onest) ≠ a ceda (pe recomandare, din frică). La final: graduation.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L34: analiza de capstone gata (framing → analiză → dashboard → recomandare). Azi o prezinți și o aperi.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§1: la L30 ai învățat să prezinți; azi adaugi apărarea. Panelul e exigent, nu ostil.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§2: Andrei te prezintă panelului, apoi te lasă singur. Radu, Elena, conducerea te împing. Nu ceda, justifică cu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§3: prezentarea (3 min BLUF + poveste) + apărarea (Q&amp;A: justifici, reîncadrezi, concezi onest).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§4: BLUF, povestea pe dashboard (3 bătăi), adaptezi la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§5: cele 4 mișcări ale apărării. Anticipează, justifică cu date, concezi elegant, nu ceda / nu te enerva.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 callout: concede (pe detaliu, onest) vs cede (pe recomandare, din frică). Ioana confunda cele două.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§6: categoriile de întrebări. La fiecare, răspunzi cu o decizie + o cifră/dovadă.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§7: aceleași 5 dimensiuni, dar sub întrebări. Absolvi la Level 3+ pe toate.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§8: checklist-ul de apărare. Ești calm — panelul te testează, nu te doboară.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§9: privirea înapoi pe tot cursul; graduation. Nu livrăm rapoarte, livrăm răspunsuri.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7 · LECȚIA 35 · PREZENTARE &amp; APĂRARE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Prezentarea finală: prezinți și îți aperi deciziile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Nu e destul să ai răspunsul — azi îl susții. Și absolvi.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20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ai construit capstone-ul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analiza de capstone pe cazul de </a:t>
            </a:r>
            <a:r>
              <a:rPr b="1" sz="1500">
                <a:solidFill>
                  <a:srgbClr val="F2F2F2"/>
                </a:solidFill>
                <a:latin typeface="Arial"/>
              </a:rPr>
              <a:t>loialitate</a:t>
            </a:r>
            <a:r>
              <a:rPr b="0" sz="1500">
                <a:solidFill>
                  <a:srgbClr val="F2F2F2"/>
                </a:solidFill>
                <a:latin typeface="Arial"/>
              </a:rPr>
              <a:t>: framing → analiză reconciliată → dashboard → recomandare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Un caz </a:t>
            </a:r>
            <a:r>
              <a:rPr b="1" sz="1500">
                <a:solidFill>
                  <a:srgbClr val="F2F2F2"/>
                </a:solidFill>
                <a:latin typeface="Arial"/>
              </a:rPr>
              <a:t>nou</a:t>
            </a:r>
            <a:r>
              <a:rPr b="0" sz="1500">
                <a:solidFill>
                  <a:srgbClr val="F2F2F2"/>
                </a:solidFill>
                <a:latin typeface="Arial"/>
              </a:rPr>
              <a:t>, dus cap-coadă, </a:t>
            </a:r>
            <a:r>
              <a:rPr b="1" sz="1500">
                <a:solidFill>
                  <a:srgbClr val="F2F2F2"/>
                </a:solidFill>
                <a:latin typeface="Arial"/>
              </a:rPr>
              <a:t>singur</a:t>
            </a:r>
            <a:r>
              <a:rPr b="0" sz="1500">
                <a:solidFill>
                  <a:srgbClr val="F2F2F2"/>
                </a:solidFill>
                <a:latin typeface="Arial"/>
              </a:rPr>
              <a:t> — fără schelă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Măsura ai ales-o </a:t>
            </a:r>
            <a:r>
              <a:rPr b="1" sz="1500">
                <a:solidFill>
                  <a:srgbClr val="F2F2F2"/>
                </a:solidFill>
                <a:latin typeface="Arial"/>
              </a:rPr>
              <a:t>tu</a:t>
            </a:r>
            <a:r>
              <a:rPr b="0" sz="1500">
                <a:solidFill>
                  <a:srgbClr val="F2F2F2"/>
                </a:solidFill>
                <a:latin typeface="Arial"/>
              </a:rPr>
              <a:t> (ce înseamnă „valoros”) și ai reconciliat cifrele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</a:t>
            </a:r>
            <a:r>
              <a:rPr b="1" sz="1400">
                <a:solidFill>
                  <a:srgbClr val="F2F2F2"/>
                </a:solidFill>
                <a:latin typeface="Arial"/>
              </a:rPr>
              <a:t>răspunsul</a:t>
            </a:r>
            <a:r>
              <a:rPr b="0" sz="1400">
                <a:solidFill>
                  <a:srgbClr val="F2F2F2"/>
                </a:solidFill>
                <a:latin typeface="Arial"/>
              </a:rPr>
              <a:t>. Azi faci ultimul lucru pe care-l face un analist: îl </a:t>
            </a:r>
            <a:r>
              <a:rPr b="1" sz="1400">
                <a:solidFill>
                  <a:srgbClr val="F2F2F2"/>
                </a:solidFill>
                <a:latin typeface="Arial"/>
              </a:rPr>
              <a:t>prezinți</a:t>
            </a:r>
            <a:r>
              <a:rPr b="0" sz="1400">
                <a:solidFill>
                  <a:srgbClr val="F2F2F2"/>
                </a:solidFill>
                <a:latin typeface="Arial"/>
              </a:rPr>
              <a:t> și îl </a:t>
            </a:r>
            <a:r>
              <a:rPr b="1" sz="1400">
                <a:solidFill>
                  <a:srgbClr val="F2F2F2"/>
                </a:solidFill>
                <a:latin typeface="Arial"/>
              </a:rPr>
              <a:t>aperi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 · ULTIMA PROBĂ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Prezinți capstone-ul și îți aperi deciziile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La L30 ai învățat să </a:t>
            </a:r>
            <a:r>
              <a:rPr b="1" sz="1500">
                <a:solidFill>
                  <a:srgbClr val="F2F2F2"/>
                </a:solidFill>
                <a:latin typeface="Arial"/>
              </a:rPr>
              <a:t>prezinți</a:t>
            </a:r>
            <a:r>
              <a:rPr b="0" sz="1500">
                <a:solidFill>
                  <a:srgbClr val="F2F2F2"/>
                </a:solidFill>
                <a:latin typeface="Arial"/>
              </a:rPr>
              <a:t> (BLUF, povestea, obiecțiile). Azi adaugi ceva mai greu: </a:t>
            </a:r>
            <a:r>
              <a:rPr b="1" sz="1500">
                <a:solidFill>
                  <a:srgbClr val="F2F2F2"/>
                </a:solidFill>
                <a:latin typeface="Arial"/>
              </a:rPr>
              <a:t>apărarea</a:t>
            </a:r>
            <a:r>
              <a:rPr b="0" sz="1500">
                <a:solidFill>
                  <a:srgbClr val="F2F2F2"/>
                </a:solidFill>
                <a:latin typeface="Arial"/>
              </a:rPr>
              <a:t> — să-ți justifici alegerile sub întrebări care te împing („de ce ai măsurat așa?”, „ce riști?”).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Panelul nu e ostil — e </a:t>
            </a:r>
            <a:r>
              <a:rPr b="1" sz="1400">
                <a:solidFill>
                  <a:srgbClr val="F2F2F2"/>
                </a:solidFill>
                <a:latin typeface="Arial"/>
              </a:rPr>
              <a:t>exigent</a:t>
            </a:r>
            <a:r>
              <a:rPr b="0" sz="1400">
                <a:solidFill>
                  <a:srgbClr val="F2F2F2"/>
                </a:solidFill>
                <a:latin typeface="Arial"/>
              </a:rPr>
              <a:t>. Vrea să vadă că deciziile tale stau în picioare, nu doar că sună bine.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46311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Când închizi asta, ai încheiat cursul: nu doar „pot livra o analiză”, ci „</a:t>
            </a:r>
            <a:r>
              <a:rPr b="1" sz="1500">
                <a:solidFill>
                  <a:srgbClr val="F2F2F2"/>
                </a:solidFill>
                <a:latin typeface="Arial"/>
              </a:rPr>
              <a:t>o pot și apăra</a:t>
            </a:r>
            <a:r>
              <a:rPr b="0" sz="1500">
                <a:solidFill>
                  <a:srgbClr val="F2F2F2"/>
                </a:solidFill>
                <a:latin typeface="Arial"/>
              </a:rPr>
              <a:t>”. Ești analist.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„Acum o aperi tu”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„O prezinți conducerii — dar de data asta eu doar te prezint, apoi </a:t>
            </a:r>
            <a:r>
              <a:rPr b="1" sz="1400">
                <a:solidFill>
                  <a:srgbClr val="F2F2F2"/>
                </a:solidFill>
                <a:latin typeface="Arial"/>
              </a:rPr>
              <a:t>te las singur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b="1" sz="1400">
                <a:solidFill>
                  <a:srgbClr val="F2F2F2"/>
                </a:solidFill>
                <a:latin typeface="Arial"/>
              </a:rPr>
              <a:t>Radu</a:t>
            </a:r>
            <a:r>
              <a:rPr b="0" sz="1400">
                <a:solidFill>
                  <a:srgbClr val="F2F2F2"/>
                </a:solidFill>
                <a:latin typeface="Arial"/>
              </a:rPr>
              <a:t> întreabă dacă loialitatea merită banii; </a:t>
            </a:r>
            <a:r>
              <a:rPr b="1" sz="1400">
                <a:solidFill>
                  <a:srgbClr val="F2F2F2"/>
                </a:solidFill>
                <a:latin typeface="Arial"/>
              </a:rPr>
              <a:t>Elena</a:t>
            </a:r>
            <a:r>
              <a:rPr b="0" sz="1400">
                <a:solidFill>
                  <a:srgbClr val="F2F2F2"/>
                </a:solidFill>
                <a:latin typeface="Arial"/>
              </a:rPr>
              <a:t> vrea acțiuni; conducerea întreabă de impact și risc.”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„Și cineva o să te întrebe </a:t>
            </a:r>
            <a:r>
              <a:rPr b="1" sz="1500">
                <a:solidFill>
                  <a:srgbClr val="F2F2F2"/>
                </a:solidFill>
                <a:latin typeface="Arial"/>
              </a:rPr>
              <a:t>de ce ai măsurat «valoros» așa cum ai măsurat</a:t>
            </a:r>
            <a:r>
              <a:rPr b="0" sz="1500">
                <a:solidFill>
                  <a:srgbClr val="F2F2F2"/>
                </a:solidFill>
                <a:latin typeface="Arial"/>
              </a:rPr>
              <a:t>. Nu te fâstâci și nu ceda. Justifică cu date. Iar dacă ai greșit undeva — </a:t>
            </a:r>
            <a:r>
              <a:rPr b="1" sz="1500">
                <a:solidFill>
                  <a:srgbClr val="F2F2F2"/>
                </a:solidFill>
                <a:latin typeface="Arial"/>
              </a:rPr>
              <a:t>recunoaște elegant</a:t>
            </a:r>
            <a:r>
              <a:rPr b="0" sz="1500">
                <a:solidFill>
                  <a:srgbClr val="F2F2F2"/>
                </a:solidFill>
                <a:latin typeface="Arial"/>
              </a:rPr>
              <a:t> și mergi mai departe.”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CE LIVREZI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Prezentarea + apărarea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Prezentarea (3 min):</a:t>
            </a:r>
            <a:r>
              <a:rPr b="0" sz="1400">
                <a:solidFill>
                  <a:srgbClr val="F2F2F2"/>
                </a:solidFill>
                <a:latin typeface="Arial"/>
              </a:rPr>
              <a:t> BLUF (recomandarea + de ce, o frază) → povestea pe dashboard (Situație → Complicație → Rezolvare) → recomandarea cu compromisul onest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Apărarea (Q&amp;A):</a:t>
            </a:r>
            <a:r>
              <a:rPr b="0" sz="1400">
                <a:solidFill>
                  <a:srgbClr val="F2F2F2"/>
                </a:solidFill>
                <a:latin typeface="Arial"/>
              </a:rPr>
              <a:t> justifici alegerea măsurii, reconcilierea, reveal-ul, recomandarea; reîncadrezi obiecțiile; </a:t>
            </a:r>
            <a:r>
              <a:rPr b="1" sz="1400">
                <a:solidFill>
                  <a:srgbClr val="F2F2F2"/>
                </a:solidFill>
                <a:latin typeface="Arial"/>
              </a:rPr>
              <a:t>concezi onest</a:t>
            </a:r>
            <a:r>
              <a:rPr b="0" sz="1400">
                <a:solidFill>
                  <a:srgbClr val="F2F2F2"/>
                </a:solidFill>
                <a:latin typeface="Arial"/>
              </a:rPr>
              <a:t> unde e cazul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CUM PREZINȚI · REMINDER L30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Nimic nou aici — ai făcut-o la L30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BLUF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prima propoziție e recomandarea + „de ce”, nu „am luat datele”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Povestea, pe dashboard</a:t>
            </a:r>
            <a:r>
              <a:rPr b="0" sz="1400">
                <a:solidFill>
                  <a:srgbClr val="F2F2F2"/>
                </a:solidFill>
                <a:latin typeface="Arial"/>
              </a:rPr>
              <a:t> — 3 bătăi (Situație → Complicație → Rezolvare), nu 10 grafice citite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Adaptezi la public</a:t>
            </a:r>
            <a:r>
              <a:rPr b="0" sz="1400">
                <a:solidFill>
                  <a:srgbClr val="F2F2F2"/>
                </a:solidFill>
                <a:latin typeface="Arial"/>
              </a:rPr>
              <a:t> — Radu: loialitatea; Elena: acțiunile pe clienți; conducere: decizia + impactul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CUM APERI · PARTEA NOUĂ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Apărarea — o justificare calmă, cu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Anticipează.</a:t>
            </a:r>
            <a:r>
              <a:rPr b="0" sz="1300">
                <a:solidFill>
                  <a:srgbClr val="F2F2F2"/>
                </a:solidFill>
                <a:latin typeface="Arial"/>
              </a:rPr>
              <a:t> Scrie </a:t>
            </a:r>
            <a:r>
              <a:rPr b="1" sz="1300">
                <a:solidFill>
                  <a:srgbClr val="F2F2F2"/>
                </a:solidFill>
                <a:latin typeface="Arial"/>
              </a:rPr>
              <a:t>întrebările pe care ți le-ai pune tu</a:t>
            </a:r>
            <a:r>
              <a:rPr b="0" sz="1300">
                <a:solidFill>
                  <a:srgbClr val="F2F2F2"/>
                </a:solidFill>
                <a:latin typeface="Arial"/>
              </a:rPr>
              <a:t> și pregătește răspunsul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Justifică cu date + raționament.</a:t>
            </a:r>
            <a:r>
              <a:rPr b="0" sz="1300">
                <a:solidFill>
                  <a:srgbClr val="F2F2F2"/>
                </a:solidFill>
                <a:latin typeface="Arial"/>
              </a:rPr>
              <a:t> „Am măsurat valoarea ca ___ fiindcă ___, și am verificat că ___”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Concezi elegant unde ai greșit</a:t>
            </a:r>
            <a:r>
              <a:rPr b="0" sz="1300">
                <a:solidFill>
                  <a:srgbClr val="F2F2F2"/>
                </a:solidFill>
                <a:latin typeface="Arial"/>
              </a:rPr>
              <a:t> (onestitate intelectuală) — „bună observație, aici aș rafina; nu schimbă concluzia principală”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Nu ceda pe recomandare, nu te enerva.</a:t>
            </a:r>
            <a:r>
              <a:rPr b="0" sz="1300">
                <a:solidFill>
                  <a:srgbClr val="F2F2F2"/>
                </a:solidFill>
                <a:latin typeface="Arial"/>
              </a:rPr>
              <a:t> „Nu avem destule date” se </a:t>
            </a:r>
            <a:r>
              <a:rPr b="1" sz="1300">
                <a:solidFill>
                  <a:srgbClr val="F2F2F2"/>
                </a:solidFill>
                <a:latin typeface="Arial"/>
              </a:rPr>
              <a:t>reîncadrează</a:t>
            </a:r>
            <a:r>
              <a:rPr b="0" sz="1300">
                <a:solidFill>
                  <a:srgbClr val="F2F2F2"/>
                </a:solidFill>
                <a:latin typeface="Arial"/>
              </a:rPr>
              <a:t>, nu se cedează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DIFERENȚA 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 concede NU e a ceda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 </a:t>
            </a:r>
            <a:r>
              <a:rPr b="1" sz="1400">
                <a:solidFill>
                  <a:srgbClr val="F2F2F2"/>
                </a:solidFill>
                <a:latin typeface="Arial"/>
              </a:rPr>
              <a:t>concede</a:t>
            </a:r>
            <a:r>
              <a:rPr b="0" sz="1400">
                <a:solidFill>
                  <a:srgbClr val="F2F2F2"/>
                </a:solidFill>
                <a:latin typeface="Arial"/>
              </a:rPr>
              <a:t> (pe un detaliu, cu onestitate) NU e a </a:t>
            </a:r>
            <a:r>
              <a:rPr b="1" sz="1400">
                <a:solidFill>
                  <a:srgbClr val="F2F2F2"/>
                </a:solidFill>
                <a:latin typeface="Arial"/>
              </a:rPr>
              <a:t>ceda</a:t>
            </a:r>
            <a:r>
              <a:rPr b="0" sz="1400">
                <a:solidFill>
                  <a:srgbClr val="F2F2F2"/>
                </a:solidFill>
                <a:latin typeface="Arial"/>
              </a:rPr>
              <a:t> (pe recomandare, din frică). Concezi ca să fii credibil; nu cedezi ca să nu-ți pierzi răspunsul.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confunda cele două — recunoștea că „n-are destule date” și </a:t>
            </a:r>
            <a:r>
              <a:rPr b="1" sz="1500">
                <a:solidFill>
                  <a:srgbClr val="F2F2F2"/>
                </a:solidFill>
                <a:latin typeface="Arial"/>
              </a:rPr>
              <a:t>abandona</a:t>
            </a:r>
            <a:r>
              <a:rPr b="0" sz="1500">
                <a:solidFill>
                  <a:srgbClr val="F2F2F2"/>
                </a:solidFill>
                <a:latin typeface="Arial"/>
              </a:rPr>
              <a:t> recomandarea. Tu concezi pe detaliu, dar îți ții decizia (ancorată + cu compromisul deja spus).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PREGĂTIRE · ÎNTREBĂRILE PANELULUI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Întrebările pe care le vei primi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Panelul întreabă...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testează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Pregătește...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„De ce ai definit «valoros» așa?”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alegerea măsurii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de ce ai ales-o, și de ce nu alternativa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„Cum știi că cifrele sunt corecte?”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reconcilierea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ancora ta (ce total se potrivește)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„(Radu) Merită loialitatea banii?”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valoarea de business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spune analiza despre ROI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„(Elena) Ce fac eu luni?”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acționabilitatea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acțiunea concretă, nu principiul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„Ce riști cu recomandarea?”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compromisul onest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NU faci și ce se poate întâmpla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La fiecare întrebare, răspunzi cu </a:t>
            </a:r>
            <a:r>
              <a:rPr b="1" sz="1400">
                <a:solidFill>
                  <a:srgbClr val="F2F2F2"/>
                </a:solidFill>
                <a:latin typeface="Arial"/>
              </a:rPr>
              <a:t>o decizie + o cifră/dovadă</a:t>
            </a:r>
            <a:r>
              <a:rPr b="0" sz="1400">
                <a:solidFill>
                  <a:srgbClr val="F2F2F2"/>
                </a:solidFill>
                <a:latin typeface="Arial"/>
              </a:rPr>
              <a:t>: „Am ales asta pentru că ___, și datele arată ___.”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EVALUARE · APĂRAREA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5 dimensiuni, acum sub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Dimensiune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La apărare înseamnă...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Analytical Reasoning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îți justifici framing-ul/măsura la „de ce așa?”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Data Interpretation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arăți reconcilierea și dovada reveal-ului; nu te clatini la „ești sigur?”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Business Understanding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răspunzi pe limba fiecărui stakeholder (Radu / Elena / conducere)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Decision Quality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îți ții recomandarea sub presiune; concezi onest pe detalii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Communication Clarity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 min curate (BLUF întâi); răspunsuri scurte și la obiect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Absolvi când:</a:t>
            </a:r>
            <a:r>
              <a:rPr b="0" sz="1400">
                <a:solidFill>
                  <a:srgbClr val="F2F2F2"/>
                </a:solidFill>
                <a:latin typeface="Arial"/>
              </a:rPr>
              <a:t> ai livrat </a:t>
            </a:r>
            <a:r>
              <a:rPr b="1" sz="1400">
                <a:solidFill>
                  <a:srgbClr val="F2F2F2"/>
                </a:solidFill>
                <a:latin typeface="Arial"/>
              </a:rPr>
              <a:t>și apărat</a:t>
            </a:r>
            <a:r>
              <a:rPr b="0" sz="1400">
                <a:solidFill>
                  <a:srgbClr val="F2F2F2"/>
                </a:solidFill>
                <a:latin typeface="Arial"/>
              </a:rPr>
              <a:t> capstone-ul, la </a:t>
            </a:r>
            <a:r>
              <a:rPr b="1" sz="1400">
                <a:solidFill>
                  <a:srgbClr val="F2F2F2"/>
                </a:solidFill>
                <a:latin typeface="Arial"/>
              </a:rPr>
              <a:t>Level 3+</a:t>
            </a:r>
            <a:r>
              <a:rPr b="0" sz="1400">
                <a:solidFill>
                  <a:srgbClr val="F2F2F2"/>
                </a:solidFill>
                <a:latin typeface="Arial"/>
              </a:rPr>
              <a:t> pe toate cele 5 dimensiuni.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Ești gata de apărare când...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Ai </a:t>
            </a:r>
            <a:r>
              <a:rPr b="1" sz="1300">
                <a:solidFill>
                  <a:srgbClr val="F2F2F2"/>
                </a:solidFill>
                <a:latin typeface="Arial"/>
              </a:rPr>
              <a:t>prezentarea de 3 min</a:t>
            </a:r>
            <a:r>
              <a:rPr b="0" sz="1300">
                <a:solidFill>
                  <a:srgbClr val="F2F2F2"/>
                </a:solidFill>
                <a:latin typeface="Arial"/>
              </a:rPr>
              <a:t> scrisă și rostită cronometrat (BLUF + povestea)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Ți-ai scris </a:t>
            </a:r>
            <a:r>
              <a:rPr b="1" sz="1300">
                <a:solidFill>
                  <a:srgbClr val="F2F2F2"/>
                </a:solidFill>
                <a:latin typeface="Arial"/>
              </a:rPr>
              <a:t>întrebările pe care ți le-ai pune tu</a:t>
            </a:r>
            <a:r>
              <a:rPr b="0" sz="1300">
                <a:solidFill>
                  <a:srgbClr val="F2F2F2"/>
                </a:solidFill>
                <a:latin typeface="Arial"/>
              </a:rPr>
              <a:t> și un răspuns ancorat la fiecare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Poți arăta </a:t>
            </a:r>
            <a:r>
              <a:rPr b="1" sz="1300">
                <a:solidFill>
                  <a:srgbClr val="F2F2F2"/>
                </a:solidFill>
                <a:latin typeface="Arial"/>
              </a:rPr>
              <a:t>reconcilierea</a:t>
            </a:r>
            <a:r>
              <a:rPr b="0" sz="1300">
                <a:solidFill>
                  <a:srgbClr val="F2F2F2"/>
                </a:solidFill>
                <a:latin typeface="Arial"/>
              </a:rPr>
              <a:t> (ancora) și </a:t>
            </a:r>
            <a:r>
              <a:rPr b="1" sz="1300">
                <a:solidFill>
                  <a:srgbClr val="F2F2F2"/>
                </a:solidFill>
                <a:latin typeface="Arial"/>
              </a:rPr>
              <a:t>dovada reveal-ului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Ai o </a:t>
            </a:r>
            <a:r>
              <a:rPr b="1" sz="1300">
                <a:solidFill>
                  <a:srgbClr val="F2F2F2"/>
                </a:solidFill>
                <a:latin typeface="Arial"/>
              </a:rPr>
              <a:t>acțiune concretă</a:t>
            </a:r>
            <a:r>
              <a:rPr b="0" sz="1300">
                <a:solidFill>
                  <a:srgbClr val="F2F2F2"/>
                </a:solidFill>
                <a:latin typeface="Arial"/>
              </a:rPr>
              <a:t> pentru Elena și un răspuns pe </a:t>
            </a:r>
            <a:r>
              <a:rPr b="1" sz="1300">
                <a:solidFill>
                  <a:srgbClr val="F2F2F2"/>
                </a:solidFill>
                <a:latin typeface="Arial"/>
              </a:rPr>
              <a:t>ROI</a:t>
            </a:r>
            <a:r>
              <a:rPr b="0" sz="1300">
                <a:solidFill>
                  <a:srgbClr val="F2F2F2"/>
                </a:solidFill>
                <a:latin typeface="Arial"/>
              </a:rPr>
              <a:t> pentru Radu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Știi ce </a:t>
            </a:r>
            <a:r>
              <a:rPr b="1" sz="1300">
                <a:solidFill>
                  <a:srgbClr val="F2F2F2"/>
                </a:solidFill>
                <a:latin typeface="Arial"/>
              </a:rPr>
              <a:t>concezi</a:t>
            </a:r>
            <a:r>
              <a:rPr b="0" sz="1300">
                <a:solidFill>
                  <a:srgbClr val="F2F2F2"/>
                </a:solidFill>
                <a:latin typeface="Arial"/>
              </a:rPr>
              <a:t> (detalii) vs ce </a:t>
            </a:r>
            <a:r>
              <a:rPr b="1" sz="1300">
                <a:solidFill>
                  <a:srgbClr val="F2F2F2"/>
                </a:solidFill>
                <a:latin typeface="Arial"/>
              </a:rPr>
              <a:t>nu cedezi</a:t>
            </a:r>
            <a:r>
              <a:rPr b="0" sz="1300">
                <a:solidFill>
                  <a:srgbClr val="F2F2F2"/>
                </a:solidFill>
                <a:latin typeface="Arial"/>
              </a:rPr>
              <a:t> (recomandarea ancorată)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Ești calm: panelul te împinge ca să te </a:t>
            </a:r>
            <a:r>
              <a:rPr b="1" sz="1400">
                <a:solidFill>
                  <a:srgbClr val="F2F2F2"/>
                </a:solidFill>
                <a:latin typeface="Arial"/>
              </a:rPr>
              <a:t>testeze</a:t>
            </a:r>
            <a:r>
              <a:rPr b="0" sz="1400">
                <a:solidFill>
                  <a:srgbClr val="F2F2F2"/>
                </a:solidFill>
                <a:latin typeface="Arial"/>
              </a:rPr>
              <a:t>, nu ca să te doboare.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ABSOLVIRE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Ai închis cursul — ești analist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Uită-te înapoi: ai pornit cu o mentalitate (M1–2), ai învățat să cureți și să înțelegi date (M2), să răspunzi în Excel (M3) și SQL (M4), să comunici (M5), să duci un caz întreg singur (M6) — și, la capstone, ai rezolvat </a:t>
            </a:r>
            <a:r>
              <a:rPr b="1" sz="1500">
                <a:solidFill>
                  <a:srgbClr val="F2F2F2"/>
                </a:solidFill>
                <a:latin typeface="Arial"/>
              </a:rPr>
              <a:t>și apărat</a:t>
            </a:r>
            <a:r>
              <a:rPr b="0" sz="1500">
                <a:solidFill>
                  <a:srgbClr val="F2F2F2"/>
                </a:solidFill>
                <a:latin typeface="Arial"/>
              </a:rPr>
              <a:t> un caz nou, complet independent (M7).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Nu mai ești cineva care „a făcut un curs”. Poți lua o problemă vagă, o transformi într-un răspuns ancorat, și îl </a:t>
            </a:r>
            <a:r>
              <a:rPr b="1" sz="1400">
                <a:solidFill>
                  <a:srgbClr val="F2F2F2"/>
                </a:solidFill>
                <a:latin typeface="Arial"/>
              </a:rPr>
              <a:t>susții</a:t>
            </a:r>
            <a:r>
              <a:rPr b="0" sz="1400">
                <a:solidFill>
                  <a:srgbClr val="F2F2F2"/>
                </a:solidFill>
                <a:latin typeface="Arial"/>
              </a:rPr>
              <a:t> în fața unei săli exigente. Ăsta e un analist. </a:t>
            </a:r>
            <a:r>
              <a:rPr i="1" sz="1400">
                <a:solidFill>
                  <a:srgbClr val="F2F2F2"/>
                </a:solidFill>
                <a:latin typeface="Arial"/>
              </a:rPr>
              <a:t>Felicitări. Ai absolvit.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L35 · Apărare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