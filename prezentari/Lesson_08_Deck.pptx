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Lecție de model relațional, fără SQL. Ideea unică: tabelele se leagă prin chei; un cod nu e o fundătură, e un pointer. Tensiunea: datele de care ai nevoie sunt împrăștiate în mai multe tabele. Rezolvarea: urmărești cheia — un traseu prin model. În Modulul 4, traseul =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L7: un rând înseamnă ceva precis (grain); o întrebare cere uneori grain-ul dintr-un tabel și un atribut din altul; dimensiune vs măsură. Zidul din L7: „ce categorie a scăzut?” — categoria nu e în order_items. Puntea: azi înveți cum se leagă tabelele.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obiective din §1. Tot fără tool — modelul relațional; SQL vine în Modulul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§2. Elena vrea categoria care a scăzut. Deschizi order_items, unde trăiesc produsele vândute la grain fin — și te blochezi din nou.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date. Arată tabelul real din §2. ProductID = 8, 101, 114 — coduri. Niciunde categoria, nici numele. Doar un cod. Acolo se blochează juniorul.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§3–§4. Instinctul de junior: ori se blochează, ori inventează („probabil electronice”). Ambele greșite. Codul e o punte: ProductID din order_items e același cod care identifică un rând în products. Îl folosești ca să sari dintr-un tabel în altul.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§5. PK = coloana care identifică unic un rând în tabelul lui (ProductID în products, OrderID în orders, CustomerID în customers) — „numărul de buletin” al rândului. FK = o coloană care referă PK-ul altui tabel (order_items.ProductID arată spre products; order_items.OrderID arată spre orders).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§5, final. Când order_items.ProductID = 8 și products.ProductID = 8, cele două rânduri vorbesc despre același produs. Așa cobori din vânzare în identitatea produsului și apoi în categorie (prin products.CategoryID → categories). „Audio” e ilustrativ (Andrei: «să zicem Audio»).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stratul 1 — intuiția. O carte cu note de subsol: în text scrie „vezi nota 8”; nota 8 are detaliile. Textul nu repetă detaliile — trimite la ele. ProductID = 8 e „vezi nota 8”. De-aia datele sunt împărțite: fiecare lucru descris o singură dată, în tabelul lui, referit prin cod.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stratul 2 — structura. Relațiile au o formă, cel mai des unu-la-mulți: un client → multe comenzi; o comandă → multe linii; un produs apare în multe linii; o categorie grupează multe produse. Citește săgețile ca propoziții — sunt căile pe care mergi ca să răspunzi.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stratul 3 — aplicarea. Întrebarea devine un traseu prin model: pornești din order_items (septembrie prin orders.OrderDate) → ProductID → products (CategoryID) → categories (numele) → aduni banii pe categorie. Trei tabele, două chei. În Modulul 4, traseul =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§7. Andrei „merge pe chei” cu voce tare. N-a scris nicio interogare — a citit modelul și a găsit traseul. Reflexul de reținut: când vezi un cod, nu e o fundătură și nu inventezi — e o întrebare: «spre ce tabel arată?».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§11. Cele 4 greșeli: se blochează la un cod; inventează valoarea lipsă; pornesc din tabelul greșit (fără măsură); confundă PK cu FK.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§12. Cele 5 idei + puntea spre L9 (date curate vs greșite). Puntea: până acum am presupus că datele sunt curate — nu sunt.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2 · LECȚIA 8 · A TREIA LECȚIE DE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Cum se conectează datele — chei și relații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Un cod într-un tabel e un pointer către un rând din altul — așa răspunzi la întrebări pe care niciun tabel singur nu le poate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Vineri, 2 octombrie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L8 · Chei și relații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 · 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ai rămas — granularitatea și zidul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L7:</a:t>
            </a:r>
            <a:r>
              <a:rPr b="0" sz="1500">
                <a:solidFill>
                  <a:srgbClr val="F2F2F2"/>
                </a:solidFill>
                <a:latin typeface="Arial"/>
              </a:rPr>
              <a:t> un </a:t>
            </a:r>
            <a:r>
              <a:rPr b="1" sz="1500">
                <a:solidFill>
                  <a:srgbClr val="F2F2F2"/>
                </a:solidFill>
                <a:latin typeface="Arial"/>
              </a:rPr>
              <a:t>rând</a:t>
            </a:r>
            <a:r>
              <a:rPr b="0" sz="1500">
                <a:solidFill>
                  <a:srgbClr val="F2F2F2"/>
                </a:solidFill>
                <a:latin typeface="Arial"/>
              </a:rPr>
              <a:t> înseamnă ceva precis — grain-ul unui tabel (o comandă, o linie de comandă)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L7:</a:t>
            </a:r>
            <a:r>
              <a:rPr b="0" sz="1500">
                <a:solidFill>
                  <a:srgbClr val="F2F2F2"/>
                </a:solidFill>
                <a:latin typeface="Arial"/>
              </a:rPr>
              <a:t> o întrebare cere uneori </a:t>
            </a:r>
            <a:r>
              <a:rPr b="1" sz="1500">
                <a:solidFill>
                  <a:srgbClr val="F2F2F2"/>
                </a:solidFill>
                <a:latin typeface="Arial"/>
              </a:rPr>
              <a:t>grain-ul</a:t>
            </a:r>
            <a:r>
              <a:rPr b="0" sz="1500">
                <a:solidFill>
                  <a:srgbClr val="F2F2F2"/>
                </a:solidFill>
                <a:latin typeface="Arial"/>
              </a:rPr>
              <a:t> dintr-un tabel și un </a:t>
            </a:r>
            <a:r>
              <a:rPr b="1" sz="1500">
                <a:solidFill>
                  <a:srgbClr val="F2F2F2"/>
                </a:solidFill>
                <a:latin typeface="Arial"/>
              </a:rPr>
              <a:t>atribut</a:t>
            </a:r>
            <a:r>
              <a:rPr b="0" sz="1500">
                <a:solidFill>
                  <a:srgbClr val="F2F2F2"/>
                </a:solidFill>
                <a:latin typeface="Arial"/>
              </a:rPr>
              <a:t> din altul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L2:</a:t>
            </a:r>
            <a:r>
              <a:rPr b="0" sz="1500">
                <a:solidFill>
                  <a:srgbClr val="F2F2F2"/>
                </a:solidFill>
                <a:latin typeface="Arial"/>
              </a:rPr>
              <a:t> o cerere de business atinge, de obicei, </a:t>
            </a:r>
            <a:r>
              <a:rPr b="1" sz="1500">
                <a:solidFill>
                  <a:srgbClr val="F2F2F2"/>
                </a:solidFill>
                <a:latin typeface="Arial"/>
              </a:rPr>
              <a:t>mai multe tabele</a:t>
            </a:r>
            <a:r>
              <a:rPr b="0" sz="1500">
                <a:solidFill>
                  <a:srgbClr val="F2F2F2"/>
                </a:solidFill>
                <a:latin typeface="Arial"/>
              </a:rPr>
              <a:t> — nu unul singur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În L7 ai lovit un </a:t>
            </a:r>
            <a:r>
              <a:rPr b="1" sz="1400">
                <a:solidFill>
                  <a:srgbClr val="F2F2F2"/>
                </a:solidFill>
                <a:latin typeface="Arial"/>
              </a:rPr>
              <a:t>zid</a:t>
            </a:r>
            <a:r>
              <a:rPr b="0" sz="1400">
                <a:solidFill>
                  <a:srgbClr val="F2F2F2"/>
                </a:solidFill>
                <a:latin typeface="Arial"/>
              </a:rPr>
              <a:t>: „ce categorie a scăzut?” — dar categoria nu e în 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400">
                <a:solidFill>
                  <a:srgbClr val="F2F2F2"/>
                </a:solidFill>
                <a:latin typeface="Arial"/>
              </a:rPr>
              <a:t>. Azi înveți cum tabelele se </a:t>
            </a:r>
            <a:r>
              <a:rPr b="1" sz="1400">
                <a:solidFill>
                  <a:srgbClr val="F2F2F2"/>
                </a:solidFill>
                <a:latin typeface="Arial"/>
              </a:rPr>
              <a:t>leagă</a:t>
            </a:r>
            <a:r>
              <a:rPr b="0" sz="1400">
                <a:solidFill>
                  <a:srgbClr val="F2F2F2"/>
                </a:solidFill>
                <a:latin typeface="Arial"/>
              </a:rPr>
              <a:t> între ele, ca să treci de zid.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L8 · Chei și relații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explici ce e o </a:t>
            </a:r>
            <a:r>
              <a:rPr b="1" sz="1400">
                <a:solidFill>
                  <a:srgbClr val="F2F2F2"/>
                </a:solidFill>
                <a:latin typeface="Arial"/>
              </a:rPr>
              <a:t>cheie primară</a:t>
            </a:r>
            <a:r>
              <a:rPr b="0" sz="1400">
                <a:solidFill>
                  <a:srgbClr val="F2F2F2"/>
                </a:solidFill>
                <a:latin typeface="Arial"/>
              </a:rPr>
              <a:t> (PK) și o </a:t>
            </a:r>
            <a:r>
              <a:rPr b="1" sz="1400">
                <a:solidFill>
                  <a:srgbClr val="F2F2F2"/>
                </a:solidFill>
                <a:latin typeface="Arial"/>
              </a:rPr>
              <a:t>cheie străină</a:t>
            </a:r>
            <a:r>
              <a:rPr b="0" sz="1400">
                <a:solidFill>
                  <a:srgbClr val="F2F2F2"/>
                </a:solidFill>
                <a:latin typeface="Arial"/>
              </a:rPr>
              <a:t> (FK)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citești o </a:t>
            </a:r>
            <a:r>
              <a:rPr b="1" sz="1400">
                <a:solidFill>
                  <a:srgbClr val="F2F2F2"/>
                </a:solidFill>
                <a:latin typeface="Arial"/>
              </a:rPr>
              <a:t>relație</a:t>
            </a:r>
            <a:r>
              <a:rPr b="0" sz="1400">
                <a:solidFill>
                  <a:srgbClr val="F2F2F2"/>
                </a:solidFill>
                <a:latin typeface="Arial"/>
              </a:rPr>
              <a:t> între tabele (un client are multe comenzi; o comandă are multe linii)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înțelegi </a:t>
            </a:r>
            <a:r>
              <a:rPr b="1" sz="1400">
                <a:solidFill>
                  <a:srgbClr val="F2F2F2"/>
                </a:solidFill>
                <a:latin typeface="Arial"/>
              </a:rPr>
              <a:t>modelul de date RetailHub</a:t>
            </a:r>
            <a:r>
              <a:rPr b="0" sz="1400">
                <a:solidFill>
                  <a:srgbClr val="F2F2F2"/>
                </a:solidFill>
                <a:latin typeface="Arial"/>
              </a:rPr>
              <a:t>: </a:t>
            </a:r>
            <a:r>
              <a:rPr sz="1400">
                <a:solidFill>
                  <a:srgbClr val="FFA24E"/>
                </a:solidFill>
                <a:latin typeface="Consolas"/>
              </a:rPr>
              <a:t>customers → orders → order_items → products → categories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„urmărești cheile” de la o întrebare până la răspuns, chiar când e împrăștiat în mai multe tabele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Tot fără tool — azi înțelegi </a:t>
            </a:r>
            <a:r>
              <a:rPr b="1" sz="1400">
                <a:solidFill>
                  <a:srgbClr val="F2F2F2"/>
                </a:solidFill>
                <a:latin typeface="Arial"/>
              </a:rPr>
              <a:t>harta drumului</a:t>
            </a:r>
            <a:r>
              <a:rPr b="0" sz="1400">
                <a:solidFill>
                  <a:srgbClr val="F2F2F2"/>
                </a:solidFill>
                <a:latin typeface="Arial"/>
              </a:rPr>
              <a:t>. „A merge pe traseu” va avea un nume în Modulul 4: </a:t>
            </a:r>
            <a:r>
              <a:rPr b="1" sz="1400">
                <a:solidFill>
                  <a:srgbClr val="F2F2F2"/>
                </a:solidFill>
                <a:latin typeface="Arial"/>
              </a:rPr>
              <a:t>JOIN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L8 · Chei și relații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Elena revine: „Dar pe ce categorie?”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Elena: „Revenue-ul a scăzut în septembrie. Dar pe </a:t>
            </a:r>
            <a:r>
              <a:rPr b="1" sz="1400">
                <a:solidFill>
                  <a:srgbClr val="F2F2F2"/>
                </a:solidFill>
                <a:latin typeface="Arial"/>
              </a:rPr>
              <a:t>ce categorie</a:t>
            </a:r>
            <a:r>
              <a:rPr b="0" sz="1400">
                <a:solidFill>
                  <a:srgbClr val="F2F2F2"/>
                </a:solidFill>
                <a:latin typeface="Arial"/>
              </a:rPr>
              <a:t>? Electronice? Beauty? Trebuie să știu unde să mă uit.”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71088"/>
            <a:ext cx="10874959" cy="2293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Întrebare rezonabilă. Deschizi </a:t>
            </a:r>
            <a:r>
              <a:rPr sz="15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500">
                <a:solidFill>
                  <a:srgbClr val="F2F2F2"/>
                </a:solidFill>
                <a:latin typeface="Arial"/>
              </a:rPr>
              <a:t> — acolo trăiesc produsele vândute, la grain fin (L7). Și te blochezi din nou: vezi un </a:t>
            </a:r>
            <a:r>
              <a:rPr sz="1500">
                <a:solidFill>
                  <a:srgbClr val="FFA24E"/>
                </a:solidFill>
                <a:latin typeface="Consolas"/>
              </a:rPr>
              <a:t>ProductID</a:t>
            </a:r>
            <a:r>
              <a:rPr b="0" sz="1500">
                <a:solidFill>
                  <a:srgbClr val="F2F2F2"/>
                </a:solidFill>
                <a:latin typeface="Arial"/>
              </a:rPr>
              <a:t>, un cod, dar </a:t>
            </a:r>
            <a:r>
              <a:rPr b="1" sz="1500">
                <a:solidFill>
                  <a:srgbClr val="F2F2F2"/>
                </a:solidFill>
                <a:latin typeface="Arial"/>
              </a:rPr>
              <a:t>nicăieri nu scrie „categoria”</a:t>
            </a:r>
            <a:r>
              <a:rPr b="0" sz="1500">
                <a:solidFill>
                  <a:srgbClr val="F2F2F2"/>
                </a:solidFill>
                <a:latin typeface="Arial"/>
              </a:rPr>
              <a:t>. Nici măcar numele produsului. Cum răspunzi „ce categorie?” când tabelul cu vânzări nu conține categoria?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L8 · Chei și relații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DATELE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vezi de fapt în </a:t>
            </a:r>
            <a:r>
              <a:rPr sz="3000">
                <a:solidFill>
                  <a:srgbClr val="FFA24E"/>
                </a:solidFill>
                <a:latin typeface="Consolas"/>
              </a:rPr>
              <a:t>order_items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4991"/>
                <a:gridCol w="2174991"/>
                <a:gridCol w="2174991"/>
                <a:gridCol w="2174991"/>
                <a:gridCol w="2174995"/>
              </a:tblGrid>
              <a:tr h="37033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OrderItemID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OrderID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ProductID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Quantity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UnitPrice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88012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10428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320,00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88013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10428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83,75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88014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10429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312,00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40156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Ai </a:t>
            </a:r>
            <a:r>
              <a:rPr sz="1400">
                <a:solidFill>
                  <a:srgbClr val="FFA24E"/>
                </a:solidFill>
                <a:latin typeface="Consolas"/>
              </a:rPr>
              <a:t>ProductID</a:t>
            </a:r>
            <a:r>
              <a:rPr b="0" sz="1400">
                <a:solidFill>
                  <a:srgbClr val="F2F2F2"/>
                </a:solidFill>
                <a:latin typeface="Arial"/>
              </a:rPr>
              <a:t> — un cod: </a:t>
            </a:r>
            <a:r>
              <a:rPr b="1" sz="1400">
                <a:solidFill>
                  <a:srgbClr val="F2F2F2"/>
                </a:solidFill>
                <a:latin typeface="Arial"/>
              </a:rPr>
              <a:t>8, 101, 114</a:t>
            </a:r>
            <a:r>
              <a:rPr b="0" sz="1400">
                <a:solidFill>
                  <a:srgbClr val="F2F2F2"/>
                </a:solidFill>
                <a:latin typeface="Arial"/>
              </a:rPr>
              <a:t>. Dar nicăieri categoria, nici numele produsului. Doar un cod. Aici se blochează orice începător.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L8 · Chei și relații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 cod nu e o fundătură — e un pointer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FFA24E"/>
                </a:solidFill>
                <a:latin typeface="Consolas"/>
              </a:rPr>
              <a:t>ProductID = 8</a:t>
            </a:r>
            <a:r>
              <a:rPr b="0" sz="1500">
                <a:solidFill>
                  <a:srgbClr val="F2F2F2"/>
                </a:solidFill>
                <a:latin typeface="Arial"/>
              </a:rPr>
              <a:t> pare o fundătură: un număr, fără nume, fără categorie. Instinctul de junior e ori să se </a:t>
            </a:r>
            <a:r>
              <a:rPr b="1" sz="1500">
                <a:solidFill>
                  <a:srgbClr val="F2F2F2"/>
                </a:solidFill>
                <a:latin typeface="Arial"/>
              </a:rPr>
              <a:t>blocheze</a:t>
            </a:r>
            <a:r>
              <a:rPr b="0" sz="1500">
                <a:solidFill>
                  <a:srgbClr val="F2F2F2"/>
                </a:solidFill>
                <a:latin typeface="Arial"/>
              </a:rPr>
              <a:t>, ori să </a:t>
            </a:r>
            <a:r>
              <a:rPr b="1" sz="1500">
                <a:solidFill>
                  <a:srgbClr val="F2F2F2"/>
                </a:solidFill>
                <a:latin typeface="Arial"/>
              </a:rPr>
              <a:t>inventeze</a:t>
            </a:r>
            <a:r>
              <a:rPr b="0" sz="1500">
                <a:solidFill>
                  <a:srgbClr val="F2F2F2"/>
                </a:solidFill>
                <a:latin typeface="Arial"/>
              </a:rPr>
              <a:t> („probabil e electronice”). Ambele sunt greșite. Un analist face altceva: </a:t>
            </a:r>
            <a:r>
              <a:rPr b="1" sz="1500">
                <a:solidFill>
                  <a:srgbClr val="F2F2F2"/>
                </a:solidFill>
                <a:latin typeface="Arial"/>
              </a:rPr>
              <a:t>urmărește cheia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Codul </a:t>
            </a:r>
            <a:r>
              <a:rPr sz="1400">
                <a:solidFill>
                  <a:srgbClr val="FFA24E"/>
                </a:solidFill>
                <a:latin typeface="Consolas"/>
              </a:rPr>
              <a:t>ProductID</a:t>
            </a:r>
            <a:r>
              <a:rPr b="0" sz="1400">
                <a:solidFill>
                  <a:srgbClr val="F2F2F2"/>
                </a:solidFill>
                <a:latin typeface="Arial"/>
              </a:rPr>
              <a:t> din 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400">
                <a:solidFill>
                  <a:srgbClr val="F2F2F2"/>
                </a:solidFill>
                <a:latin typeface="Arial"/>
              </a:rPr>
              <a:t> e </a:t>
            </a:r>
            <a:r>
              <a:rPr b="1" sz="1400">
                <a:solidFill>
                  <a:srgbClr val="F2F2F2"/>
                </a:solidFill>
                <a:latin typeface="Arial"/>
              </a:rPr>
              <a:t>același</a:t>
            </a:r>
            <a:r>
              <a:rPr b="0" sz="1400">
                <a:solidFill>
                  <a:srgbClr val="F2F2F2"/>
                </a:solidFill>
                <a:latin typeface="Arial"/>
              </a:rPr>
              <a:t> cod care identifică un rând în </a:t>
            </a:r>
            <a:r>
              <a:rPr sz="1400">
                <a:solidFill>
                  <a:srgbClr val="FFA24E"/>
                </a:solidFill>
                <a:latin typeface="Consolas"/>
              </a:rPr>
              <a:t>products</a:t>
            </a:r>
            <a:r>
              <a:rPr b="0" sz="1400">
                <a:solidFill>
                  <a:srgbClr val="F2F2F2"/>
                </a:solidFill>
                <a:latin typeface="Arial"/>
              </a:rPr>
              <a:t>. Îl folosești ca să </a:t>
            </a:r>
            <a:r>
              <a:rPr b="1" sz="1400">
                <a:solidFill>
                  <a:srgbClr val="F2F2F2"/>
                </a:solidFill>
                <a:latin typeface="Arial"/>
              </a:rPr>
              <a:t>sari</a:t>
            </a:r>
            <a:r>
              <a:rPr b="0" sz="1400">
                <a:solidFill>
                  <a:srgbClr val="F2F2F2"/>
                </a:solidFill>
                <a:latin typeface="Arial"/>
              </a:rPr>
              <a:t> dintr-un tabel în altul. Codul e o </a:t>
            </a:r>
            <a:r>
              <a:rPr b="1" sz="1400">
                <a:solidFill>
                  <a:srgbClr val="F2F2F2"/>
                </a:solidFill>
                <a:latin typeface="Arial"/>
              </a:rPr>
              <a:t>punte</a:t>
            </a:r>
            <a:r>
              <a:rPr b="0" sz="1400">
                <a:solidFill>
                  <a:srgbClr val="F2F2F2"/>
                </a:solidFill>
                <a:latin typeface="Arial"/>
              </a:rPr>
              <a:t>, nu o barieră — miezul modelului relațional.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L8 · Chei și relații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Chei primare (PK) și chei străine (FK)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43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Cheie primară (PK)</a:t>
            </a:r>
            <a:r>
              <a:rPr b="0" sz="1400">
                <a:solidFill>
                  <a:srgbClr val="F2F2F2"/>
                </a:solidFill>
                <a:latin typeface="Arial"/>
              </a:rPr>
              <a:t> = coloana care </a:t>
            </a:r>
            <a:r>
              <a:rPr b="1" sz="1400">
                <a:solidFill>
                  <a:srgbClr val="F2F2F2"/>
                </a:solidFill>
                <a:latin typeface="Arial"/>
              </a:rPr>
              <a:t>identifică unic un rând</a:t>
            </a:r>
            <a:r>
              <a:rPr b="0" sz="1400">
                <a:solidFill>
                  <a:srgbClr val="F2F2F2"/>
                </a:solidFill>
                <a:latin typeface="Arial"/>
              </a:rPr>
              <a:t> în tabelul lui. </a:t>
            </a:r>
            <a:r>
              <a:rPr sz="1400">
                <a:solidFill>
                  <a:srgbClr val="FFA24E"/>
                </a:solidFill>
                <a:latin typeface="Consolas"/>
              </a:rPr>
              <a:t>ProductID</a:t>
            </a:r>
            <a:r>
              <a:rPr b="0" sz="1400">
                <a:solidFill>
                  <a:srgbClr val="F2F2F2"/>
                </a:solidFill>
                <a:latin typeface="Arial"/>
              </a:rPr>
              <a:t> în </a:t>
            </a:r>
            <a:r>
              <a:rPr sz="1400">
                <a:solidFill>
                  <a:srgbClr val="FFA24E"/>
                </a:solidFill>
                <a:latin typeface="Consolas"/>
              </a:rPr>
              <a:t>products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OrderID</a:t>
            </a:r>
            <a:r>
              <a:rPr b="0" sz="1400">
                <a:solidFill>
                  <a:srgbClr val="F2F2F2"/>
                </a:solidFill>
                <a:latin typeface="Arial"/>
              </a:rPr>
              <a:t> în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CustomerID</a:t>
            </a:r>
            <a:r>
              <a:rPr b="0" sz="1400">
                <a:solidFill>
                  <a:srgbClr val="F2F2F2"/>
                </a:solidFill>
                <a:latin typeface="Arial"/>
              </a:rPr>
              <a:t> în </a:t>
            </a:r>
            <a:r>
              <a:rPr sz="1400">
                <a:solidFill>
                  <a:srgbClr val="FFA24E"/>
                </a:solidFill>
                <a:latin typeface="Consolas"/>
              </a:rPr>
              <a:t>customers</a:t>
            </a:r>
            <a:r>
              <a:rPr b="0" sz="1400">
                <a:solidFill>
                  <a:srgbClr val="F2F2F2"/>
                </a:solidFill>
                <a:latin typeface="Arial"/>
              </a:rPr>
              <a:t> — „numărul de buletin” al rândului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Cheie străină (FK)</a:t>
            </a:r>
            <a:r>
              <a:rPr b="0" sz="1400">
                <a:solidFill>
                  <a:srgbClr val="F2F2F2"/>
                </a:solidFill>
                <a:latin typeface="Arial"/>
              </a:rPr>
              <a:t> = o coloană care </a:t>
            </a:r>
            <a:r>
              <a:rPr b="1" sz="1400">
                <a:solidFill>
                  <a:srgbClr val="F2F2F2"/>
                </a:solidFill>
                <a:latin typeface="Arial"/>
              </a:rPr>
              <a:t>referă PK-ul altui tabel</a:t>
            </a:r>
            <a:r>
              <a:rPr b="0" sz="1400">
                <a:solidFill>
                  <a:srgbClr val="F2F2F2"/>
                </a:solidFill>
                <a:latin typeface="Arial"/>
              </a:rPr>
              <a:t>. 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order_items.ProductID</a:t>
            </a:r>
            <a:r>
              <a:rPr b="0" sz="1400">
                <a:solidFill>
                  <a:srgbClr val="F2F2F2"/>
                </a:solidFill>
                <a:latin typeface="Arial"/>
              </a:rPr>
              <a:t> nu identifică linia (aia e </a:t>
            </a:r>
            <a:r>
              <a:rPr sz="1400">
                <a:solidFill>
                  <a:srgbClr val="FFA24E"/>
                </a:solidFill>
                <a:latin typeface="Consolas"/>
              </a:rPr>
              <a:t>OrderItemID</a:t>
            </a:r>
            <a:r>
              <a:rPr b="0" sz="1400">
                <a:solidFill>
                  <a:srgbClr val="F2F2F2"/>
                </a:solidFill>
                <a:latin typeface="Arial"/>
              </a:rPr>
              <a:t>) — </a:t>
            </a:r>
            <a:r>
              <a:rPr b="1" sz="1400">
                <a:solidFill>
                  <a:srgbClr val="F2F2F2"/>
                </a:solidFill>
                <a:latin typeface="Arial"/>
              </a:rPr>
              <a:t>arată spre</a:t>
            </a:r>
            <a:r>
              <a:rPr b="0" sz="1400">
                <a:solidFill>
                  <a:srgbClr val="F2F2F2"/>
                </a:solidFill>
                <a:latin typeface="Arial"/>
              </a:rPr>
              <a:t> un produs din </a:t>
            </a:r>
            <a:r>
              <a:rPr sz="1400">
                <a:solidFill>
                  <a:srgbClr val="FFA24E"/>
                </a:solidFill>
                <a:latin typeface="Consolas"/>
              </a:rPr>
              <a:t>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21736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PK = identitatea unui rând în tabelul lui · FK = un pointer către identitatea unui rând din alt tabel.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L8 · Chei și relații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EXEMPLU · POTRIVEȘTI CODUL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Cum „se potrivesc” două rânduri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Când </a:t>
            </a:r>
            <a:r>
              <a:rPr sz="1500">
                <a:solidFill>
                  <a:srgbClr val="FFA24E"/>
                </a:solidFill>
                <a:latin typeface="Consolas"/>
              </a:rPr>
              <a:t>order_items.ProductID = 8</a:t>
            </a:r>
            <a:r>
              <a:rPr b="0" sz="1500">
                <a:solidFill>
                  <a:srgbClr val="F2F2F2"/>
                </a:solidFill>
                <a:latin typeface="Arial"/>
              </a:rPr>
              <a:t> și </a:t>
            </a:r>
            <a:r>
              <a:rPr sz="1500">
                <a:solidFill>
                  <a:srgbClr val="FFA24E"/>
                </a:solidFill>
                <a:latin typeface="Consolas"/>
              </a:rPr>
              <a:t>products.ProductID = 8</a:t>
            </a:r>
            <a:r>
              <a:rPr b="0" sz="1500">
                <a:solidFill>
                  <a:srgbClr val="F2F2F2"/>
                </a:solidFill>
                <a:latin typeface="Arial"/>
              </a:rPr>
              <a:t>, cele două rânduri </a:t>
            </a:r>
            <a:r>
              <a:rPr b="1" sz="1500">
                <a:solidFill>
                  <a:srgbClr val="F2F2F2"/>
                </a:solidFill>
                <a:latin typeface="Arial"/>
              </a:rPr>
              <a:t>se potrivesc</a:t>
            </a:r>
            <a:r>
              <a:rPr b="0" sz="1500">
                <a:solidFill>
                  <a:srgbClr val="F2F2F2"/>
                </a:solidFill>
                <a:latin typeface="Arial"/>
              </a:rPr>
              <a:t> — vorbesc despre același produs. Fiecare tabel știe altceva: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130764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7033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Tabel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Cheia pe care o folosești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Ce afli acolo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order_items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ProductID = 8 (FK)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cât s-a vândut din produsul 8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products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ProductID = 8 (PK) → CategoryID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ce e produsul 8 și din ce categorie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categories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CategoryID (PK)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numele categoriei (ex. «Audio»)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L8 · Chei și relații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Analogia: nota de subsol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293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Gândește-te la o carte cu note de subsol. În text scrie „vezi nota 8”; nota 8, la subsol, are detaliile. Textul nu repetă detaliile de fiecare dată — trimite la ele printr-un număr. </a:t>
            </a:r>
            <a:r>
              <a:rPr sz="1500">
                <a:solidFill>
                  <a:srgbClr val="FFA24E"/>
                </a:solidFill>
                <a:latin typeface="Consolas"/>
              </a:rPr>
              <a:t>ProductID = 8</a:t>
            </a:r>
            <a:r>
              <a:rPr b="0" sz="1500">
                <a:solidFill>
                  <a:srgbClr val="F2F2F2"/>
                </a:solidFill>
                <a:latin typeface="Arial"/>
              </a:rPr>
              <a:t> e „vezi nota 8”: nu repetă numele și categoria pe fiecare linie de vânzare, ci trimite la </a:t>
            </a:r>
            <a:r>
              <a:rPr sz="1500">
                <a:solidFill>
                  <a:srgbClr val="FFA24E"/>
                </a:solidFill>
                <a:latin typeface="Consolas"/>
              </a:rPr>
              <a:t>products</a:t>
            </a:r>
            <a:r>
              <a:rPr b="0" sz="1500">
                <a:solidFill>
                  <a:srgbClr val="F2F2F2"/>
                </a:solidFill>
                <a:latin typeface="Arial"/>
              </a:rPr>
              <a:t>, unde sunt scrise </a:t>
            </a:r>
            <a:r>
              <a:rPr b="1" sz="1500">
                <a:solidFill>
                  <a:srgbClr val="F2F2F2"/>
                </a:solidFill>
                <a:latin typeface="Arial"/>
              </a:rPr>
              <a:t>o singură dată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185841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De-aia datele sunt împărțite în mai multe tabele: fiecare lucru (produs, client, magazin) e descris </a:t>
            </a:r>
            <a:r>
              <a:rPr b="1" sz="1400">
                <a:solidFill>
                  <a:srgbClr val="F2F2F2"/>
                </a:solidFill>
                <a:latin typeface="Arial"/>
              </a:rPr>
              <a:t>o singură dată</a:t>
            </a:r>
            <a:r>
              <a:rPr b="0" sz="1400">
                <a:solidFill>
                  <a:srgbClr val="F2F2F2"/>
                </a:solidFill>
                <a:latin typeface="Arial"/>
              </a:rPr>
              <a:t>, în tabelul lui, și referit prin cod de câte ori e nevoie. Curat, fără repetiții.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L8 · Chei și relații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Modelul RetailHub — relații unu-la-mulți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Legăturile au o „formă” — cel mai des </a:t>
            </a:r>
            <a:r>
              <a:rPr b="1" sz="1500">
                <a:solidFill>
                  <a:srgbClr val="F2F2F2"/>
                </a:solidFill>
                <a:latin typeface="Arial"/>
              </a:rPr>
              <a:t>unu-la-mulți</a:t>
            </a:r>
            <a:r>
              <a:rPr b="0" sz="1500">
                <a:solidFill>
                  <a:srgbClr val="F2F2F2"/>
                </a:solidFill>
                <a:latin typeface="Arial"/>
              </a:rPr>
              <a:t>. Citește modelul ca pe niște propoziții: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188823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customers   --&lt;  orders        un client -&gt; multe comenzi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stores      --&lt;  orders        un magazin -&gt; multe comenzi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campaigns   --&lt;  orders        o campanie -&gt; multe comenzi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orders      --&lt;  order_items   o comanda -&gt; multe linii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products    --&lt;  order_items   un produs -&gt; multe linii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categories  --&lt;  products      o categorie -&gt; multe produse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stores      --&lt;  inventory     un magazin -&gt; mult stoc urmarit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15616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Săgețile nu sunt decor — sunt exact </a:t>
            </a:r>
            <a:r>
              <a:rPr b="1" sz="1400">
                <a:solidFill>
                  <a:srgbClr val="F2F2F2"/>
                </a:solidFill>
                <a:latin typeface="Arial"/>
              </a:rPr>
              <a:t>căile</a:t>
            </a:r>
            <a:r>
              <a:rPr b="0" sz="1400">
                <a:solidFill>
                  <a:srgbClr val="F2F2F2"/>
                </a:solidFill>
                <a:latin typeface="Arial"/>
              </a:rPr>
              <a:t> pe care „mergi” ca să răspunzi la o întrebare.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L8 · Chei și relații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APLICARE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„Ce categorie a scăzut?” = un traseu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1.</a:t>
            </a:r>
            <a:r>
              <a:rPr b="0" sz="1400">
                <a:solidFill>
                  <a:srgbClr val="F2F2F2"/>
                </a:solidFill>
                <a:latin typeface="Arial"/>
              </a:rPr>
              <a:t> Pornești din 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400">
                <a:solidFill>
                  <a:srgbClr val="F2F2F2"/>
                </a:solidFill>
                <a:latin typeface="Arial"/>
              </a:rPr>
              <a:t> (vânzările, grain fin) — filtrate pe septembrie prin </a:t>
            </a:r>
            <a:r>
              <a:rPr sz="1400">
                <a:solidFill>
                  <a:srgbClr val="FFA24E"/>
                </a:solidFill>
                <a:latin typeface="Consolas"/>
              </a:rPr>
              <a:t>orders.OrderDate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2.</a:t>
            </a:r>
            <a:r>
              <a:rPr b="0" sz="1400">
                <a:solidFill>
                  <a:srgbClr val="F2F2F2"/>
                </a:solidFill>
                <a:latin typeface="Arial"/>
              </a:rPr>
              <a:t> Fiecare linie are </a:t>
            </a:r>
            <a:r>
              <a:rPr sz="1400">
                <a:solidFill>
                  <a:srgbClr val="FFA24E"/>
                </a:solidFill>
                <a:latin typeface="Consolas"/>
              </a:rPr>
              <a:t>ProductID</a:t>
            </a:r>
            <a:r>
              <a:rPr b="0" sz="1400">
                <a:solidFill>
                  <a:srgbClr val="F2F2F2"/>
                </a:solidFill>
                <a:latin typeface="Arial"/>
              </a:rPr>
              <a:t> → sari în </a:t>
            </a:r>
            <a:r>
              <a:rPr sz="1400">
                <a:solidFill>
                  <a:srgbClr val="FFA24E"/>
                </a:solidFill>
                <a:latin typeface="Consolas"/>
              </a:rPr>
              <a:t>products</a:t>
            </a:r>
            <a:r>
              <a:rPr b="0" sz="1400">
                <a:solidFill>
                  <a:srgbClr val="F2F2F2"/>
                </a:solidFill>
                <a:latin typeface="Arial"/>
              </a:rPr>
              <a:t>, iei </a:t>
            </a:r>
            <a:r>
              <a:rPr sz="1400">
                <a:solidFill>
                  <a:srgbClr val="FFA24E"/>
                </a:solidFill>
                <a:latin typeface="Consolas"/>
              </a:rPr>
              <a:t>CategoryID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3.</a:t>
            </a:r>
            <a:r>
              <a:rPr b="0" sz="1400">
                <a:solidFill>
                  <a:srgbClr val="F2F2F2"/>
                </a:solidFill>
                <a:latin typeface="Arial"/>
              </a:rPr>
              <a:t> </a:t>
            </a:r>
            <a:r>
              <a:rPr sz="1400">
                <a:solidFill>
                  <a:srgbClr val="FFA24E"/>
                </a:solidFill>
                <a:latin typeface="Consolas"/>
              </a:rPr>
              <a:t>CategoryID</a:t>
            </a:r>
            <a:r>
              <a:rPr b="0" sz="1400">
                <a:solidFill>
                  <a:srgbClr val="F2F2F2"/>
                </a:solidFill>
                <a:latin typeface="Arial"/>
              </a:rPr>
              <a:t> → sari în </a:t>
            </a:r>
            <a:r>
              <a:rPr sz="1400">
                <a:solidFill>
                  <a:srgbClr val="FFA24E"/>
                </a:solidFill>
                <a:latin typeface="Consolas"/>
              </a:rPr>
              <a:t>categories</a:t>
            </a:r>
            <a:r>
              <a:rPr b="0" sz="1400">
                <a:solidFill>
                  <a:srgbClr val="F2F2F2"/>
                </a:solidFill>
                <a:latin typeface="Arial"/>
              </a:rPr>
              <a:t>, iei </a:t>
            </a:r>
            <a:r>
              <a:rPr b="1" sz="1400">
                <a:solidFill>
                  <a:srgbClr val="F2F2F2"/>
                </a:solidFill>
                <a:latin typeface="Arial"/>
              </a:rPr>
              <a:t>numele</a:t>
            </a:r>
            <a:r>
              <a:rPr b="0" sz="1400">
                <a:solidFill>
                  <a:srgbClr val="F2F2F2"/>
                </a:solidFill>
                <a:latin typeface="Arial"/>
              </a:rPr>
              <a:t> categoriei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4.</a:t>
            </a:r>
            <a:r>
              <a:rPr b="0" sz="1400">
                <a:solidFill>
                  <a:srgbClr val="F2F2F2"/>
                </a:solidFill>
                <a:latin typeface="Arial"/>
              </a:rPr>
              <a:t> Aduni banii (</a:t>
            </a:r>
            <a:r>
              <a:rPr b="1" sz="1400">
                <a:solidFill>
                  <a:srgbClr val="F2F2F2"/>
                </a:solidFill>
                <a:latin typeface="Arial"/>
              </a:rPr>
              <a:t>măsură</a:t>
            </a:r>
            <a:r>
              <a:rPr b="0" sz="1400">
                <a:solidFill>
                  <a:srgbClr val="F2F2F2"/>
                </a:solidFill>
                <a:latin typeface="Arial"/>
              </a:rPr>
              <a:t>) pe categorie (</a:t>
            </a:r>
            <a:r>
              <a:rPr b="1" sz="1400">
                <a:solidFill>
                  <a:srgbClr val="F2F2F2"/>
                </a:solidFill>
                <a:latin typeface="Arial"/>
              </a:rPr>
              <a:t>dimensiune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Trei tabele legate prin două chei. Nu e complicat — e un </a:t>
            </a:r>
            <a:r>
              <a:rPr b="1" sz="1400">
                <a:solidFill>
                  <a:srgbClr val="F2F2F2"/>
                </a:solidFill>
                <a:latin typeface="Arial"/>
              </a:rPr>
              <a:t>traseu</a:t>
            </a:r>
            <a:r>
              <a:rPr b="0" sz="1400">
                <a:solidFill>
                  <a:srgbClr val="F2F2F2"/>
                </a:solidFill>
                <a:latin typeface="Arial"/>
              </a:rPr>
              <a:t>. În Modulul 4, „a merge pe traseul ăsta” va avea un nume: </a:t>
            </a:r>
            <a:r>
              <a:rPr b="1" sz="1400">
                <a:solidFill>
                  <a:srgbClr val="F2F2F2"/>
                </a:solidFill>
                <a:latin typeface="Arial"/>
              </a:rPr>
              <a:t>JOIN</a:t>
            </a:r>
            <a:r>
              <a:rPr b="0" sz="1400">
                <a:solidFill>
                  <a:srgbClr val="F2F2F2"/>
                </a:solidFill>
                <a:latin typeface="Arial"/>
              </a:rPr>
              <a:t>. Azi doar înțelegi harta drumului.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L8 · Chei și relații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Cum gândește Andrei: merge pe chei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5176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Andrei: „«Ce categorie a scăzut» — categoria nu e în vânzări, deci am un </a:t>
            </a:r>
            <a:r>
              <a:rPr b="1" sz="1400">
                <a:solidFill>
                  <a:srgbClr val="F2F2F2"/>
                </a:solidFill>
                <a:latin typeface="Arial"/>
              </a:rPr>
              <a:t>traseu</a:t>
            </a:r>
            <a:r>
              <a:rPr b="0" sz="1400">
                <a:solidFill>
                  <a:srgbClr val="F2F2F2"/>
                </a:solidFill>
                <a:latin typeface="Arial"/>
              </a:rPr>
              <a:t> de făcut. Plec din 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400">
                <a:solidFill>
                  <a:srgbClr val="F2F2F2"/>
                </a:solidFill>
                <a:latin typeface="Arial"/>
              </a:rPr>
              <a:t>. </a:t>
            </a:r>
            <a:r>
              <a:rPr sz="1400">
                <a:solidFill>
                  <a:srgbClr val="FFA24E"/>
                </a:solidFill>
                <a:latin typeface="Consolas"/>
              </a:rPr>
              <a:t>ProductID</a:t>
            </a:r>
            <a:r>
              <a:rPr b="0" sz="1400">
                <a:solidFill>
                  <a:srgbClr val="F2F2F2"/>
                </a:solidFill>
                <a:latin typeface="Arial"/>
              </a:rPr>
              <a:t> e o cheie străină — mă duce în </a:t>
            </a:r>
            <a:r>
              <a:rPr sz="1400">
                <a:solidFill>
                  <a:srgbClr val="FFA24E"/>
                </a:solidFill>
                <a:latin typeface="Consolas"/>
              </a:rPr>
              <a:t>products</a:t>
            </a:r>
            <a:r>
              <a:rPr b="0" sz="1400">
                <a:solidFill>
                  <a:srgbClr val="F2F2F2"/>
                </a:solidFill>
                <a:latin typeface="Arial"/>
              </a:rPr>
              <a:t>, unde produsul 8 are un </a:t>
            </a:r>
            <a:r>
              <a:rPr sz="1400">
                <a:solidFill>
                  <a:srgbClr val="FFA24E"/>
                </a:solidFill>
                <a:latin typeface="Consolas"/>
              </a:rPr>
              <a:t>CategoryID</a:t>
            </a:r>
            <a:r>
              <a:rPr b="0" sz="1400">
                <a:solidFill>
                  <a:srgbClr val="F2F2F2"/>
                </a:solidFill>
                <a:latin typeface="Arial"/>
              </a:rPr>
              <a:t>. Ăla mă duce în </a:t>
            </a:r>
            <a:r>
              <a:rPr sz="1400">
                <a:solidFill>
                  <a:srgbClr val="FFA24E"/>
                </a:solidFill>
                <a:latin typeface="Consolas"/>
              </a:rPr>
              <a:t>categories</a:t>
            </a:r>
            <a:r>
              <a:rPr b="0" sz="1400">
                <a:solidFill>
                  <a:srgbClr val="F2F2F2"/>
                </a:solidFill>
                <a:latin typeface="Arial"/>
              </a:rPr>
              <a:t>. Trei tabele, două sărituri — fiecare doar «potrivește codul din A cu identitatea din B».”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37888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Apoi pune degetul pe reflex: „Când vezi un cod — </a:t>
            </a:r>
            <a:r>
              <a:rPr sz="1500">
                <a:solidFill>
                  <a:srgbClr val="FFA24E"/>
                </a:solidFill>
                <a:latin typeface="Consolas"/>
              </a:rPr>
              <a:t>ProductID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CustomerID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500">
                <a:solidFill>
                  <a:srgbClr val="F2F2F2"/>
                </a:solidFill>
                <a:latin typeface="Arial"/>
              </a:rPr>
              <a:t> — nu e o fundătură și nu inventezi. E o </a:t>
            </a:r>
            <a:r>
              <a:rPr b="1" sz="1500">
                <a:solidFill>
                  <a:srgbClr val="F2F2F2"/>
                </a:solidFill>
                <a:latin typeface="Arial"/>
              </a:rPr>
              <a:t>întrebare</a:t>
            </a:r>
            <a:r>
              <a:rPr b="0" sz="1500">
                <a:solidFill>
                  <a:srgbClr val="F2F2F2"/>
                </a:solidFill>
                <a:latin typeface="Arial"/>
              </a:rPr>
              <a:t>: «spre ce tabel arată codul ăsta?». Modelul de date îți spune.” N-a scris nicio interogare — a citit modelul și a găsit traseul.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L8 · Chei și relații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GREȘELI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38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Se blochează la un cod</a:t>
            </a:r>
            <a:r>
              <a:rPr b="0" sz="1300">
                <a:solidFill>
                  <a:srgbClr val="F2F2F2"/>
                </a:solidFill>
                <a:latin typeface="Arial"/>
              </a:rPr>
              <a:t> — văd </a:t>
            </a:r>
            <a:r>
              <a:rPr sz="1300">
                <a:solidFill>
                  <a:srgbClr val="FFA24E"/>
                </a:solidFill>
                <a:latin typeface="Consolas"/>
              </a:rPr>
              <a:t>ProductID = 8</a:t>
            </a:r>
            <a:r>
              <a:rPr b="0" sz="1300">
                <a:solidFill>
                  <a:srgbClr val="F2F2F2"/>
                </a:solidFill>
                <a:latin typeface="Arial"/>
              </a:rPr>
              <a:t> și nu știu ce să facă. Antidot: un cod e un pointer — întreabă „spre ce tabel arată?”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Inventează valoarea lipsă</a:t>
            </a:r>
            <a:r>
              <a:rPr b="0" sz="1300">
                <a:solidFill>
                  <a:srgbClr val="F2F2F2"/>
                </a:solidFill>
                <a:latin typeface="Arial"/>
              </a:rPr>
              <a:t> — „produsul 8 e probabil electronice”. Antidot: nu ghicești un atribut, îl cauți în tabelul unde e descris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Pornesc din tabelul greșit</a:t>
            </a:r>
            <a:r>
              <a:rPr b="0" sz="1300">
                <a:solidFill>
                  <a:srgbClr val="F2F2F2"/>
                </a:solidFill>
                <a:latin typeface="Arial"/>
              </a:rPr>
              <a:t> — vor „Revenue pe magazin” și încep din </a:t>
            </a:r>
            <a:r>
              <a:rPr sz="1300">
                <a:solidFill>
                  <a:srgbClr val="FFA24E"/>
                </a:solidFill>
                <a:latin typeface="Consolas"/>
              </a:rPr>
              <a:t>stores</a:t>
            </a:r>
            <a:r>
              <a:rPr b="0" sz="1300">
                <a:solidFill>
                  <a:srgbClr val="F2F2F2"/>
                </a:solidFill>
                <a:latin typeface="Arial"/>
              </a:rPr>
              <a:t> (care n-are bani). Antidot: pornește din tabelul cu </a:t>
            </a:r>
            <a:r>
              <a:rPr b="1" sz="1300">
                <a:solidFill>
                  <a:srgbClr val="F2F2F2"/>
                </a:solidFill>
                <a:latin typeface="Arial"/>
              </a:rPr>
              <a:t>măsura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Confundă PK cu FK</a:t>
            </a:r>
            <a:r>
              <a:rPr b="0" sz="1300">
                <a:solidFill>
                  <a:srgbClr val="F2F2F2"/>
                </a:solidFill>
                <a:latin typeface="Arial"/>
              </a:rPr>
              <a:t> — cred că </a:t>
            </a:r>
            <a:r>
              <a:rPr sz="1300">
                <a:solidFill>
                  <a:srgbClr val="FFA24E"/>
                </a:solidFill>
                <a:latin typeface="Consolas"/>
              </a:rPr>
              <a:t>order_items.ProductID</a:t>
            </a:r>
            <a:r>
              <a:rPr b="0" sz="1300">
                <a:solidFill>
                  <a:srgbClr val="F2F2F2"/>
                </a:solidFill>
                <a:latin typeface="Arial"/>
              </a:rPr>
              <a:t> identifică linia. Antidot: </a:t>
            </a:r>
            <a:r>
              <a:rPr sz="1300">
                <a:solidFill>
                  <a:srgbClr val="FFA24E"/>
                </a:solidFill>
                <a:latin typeface="Consolas"/>
              </a:rPr>
              <a:t>OrderItemID</a:t>
            </a:r>
            <a:r>
              <a:rPr b="0" sz="1300">
                <a:solidFill>
                  <a:srgbClr val="F2F2F2"/>
                </a:solidFill>
                <a:latin typeface="Arial"/>
              </a:rPr>
              <a:t> identifică linia; </a:t>
            </a:r>
            <a:r>
              <a:rPr sz="1300">
                <a:solidFill>
                  <a:srgbClr val="FFA24E"/>
                </a:solidFill>
                <a:latin typeface="Consolas"/>
              </a:rPr>
              <a:t>ProductID</a:t>
            </a:r>
            <a:r>
              <a:rPr b="0" sz="1300">
                <a:solidFill>
                  <a:srgbClr val="F2F2F2"/>
                </a:solidFill>
                <a:latin typeface="Arial"/>
              </a:rPr>
              <a:t> arată spre produs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L8 · Chei și relații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reții — în 5 idei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89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Tabelele se leagă prin </a:t>
            </a:r>
            <a:r>
              <a:rPr b="1" sz="1300">
                <a:solidFill>
                  <a:srgbClr val="F2F2F2"/>
                </a:solidFill>
                <a:latin typeface="Arial"/>
              </a:rPr>
              <a:t>chei</a:t>
            </a:r>
            <a:r>
              <a:rPr b="0" sz="1300">
                <a:solidFill>
                  <a:srgbClr val="F2F2F2"/>
                </a:solidFill>
                <a:latin typeface="Arial"/>
              </a:rPr>
              <a:t>: un cod într-un tabel arată spre un rând din altul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PK</a:t>
            </a:r>
            <a:r>
              <a:rPr b="0" sz="1300">
                <a:solidFill>
                  <a:srgbClr val="F2F2F2"/>
                </a:solidFill>
                <a:latin typeface="Arial"/>
              </a:rPr>
              <a:t> = identitatea unui rând în tabelul lui · </a:t>
            </a:r>
            <a:r>
              <a:rPr b="1" sz="1300">
                <a:solidFill>
                  <a:srgbClr val="F2F2F2"/>
                </a:solidFill>
                <a:latin typeface="Arial"/>
              </a:rPr>
              <a:t>FK</a:t>
            </a:r>
            <a:r>
              <a:rPr b="0" sz="1300">
                <a:solidFill>
                  <a:srgbClr val="F2F2F2"/>
                </a:solidFill>
                <a:latin typeface="Arial"/>
              </a:rPr>
              <a:t> = pointer spre PK-ul altui tabel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Un cod (</a:t>
            </a:r>
            <a:r>
              <a:rPr sz="1300">
                <a:solidFill>
                  <a:srgbClr val="FFA24E"/>
                </a:solidFill>
                <a:latin typeface="Consolas"/>
              </a:rPr>
              <a:t>ProductID</a:t>
            </a:r>
            <a:r>
              <a:rPr b="0" sz="1300">
                <a:solidFill>
                  <a:srgbClr val="F2F2F2"/>
                </a:solidFill>
                <a:latin typeface="Arial"/>
              </a:rPr>
              <a:t>) nu e o fundătură — e o </a:t>
            </a:r>
            <a:r>
              <a:rPr b="1" sz="1300">
                <a:solidFill>
                  <a:srgbClr val="F2F2F2"/>
                </a:solidFill>
                <a:latin typeface="Arial"/>
              </a:rPr>
              <a:t>punte</a:t>
            </a:r>
            <a:r>
              <a:rPr b="0" sz="1300">
                <a:solidFill>
                  <a:srgbClr val="F2F2F2"/>
                </a:solidFill>
                <a:latin typeface="Arial"/>
              </a:rPr>
              <a:t>. Nu te blochezi, nu inventezi: urmezi cheia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Datele sunt împărțite ca „note de subsol”: fiecare lucru descris </a:t>
            </a:r>
            <a:r>
              <a:rPr b="1" sz="1300">
                <a:solidFill>
                  <a:srgbClr val="F2F2F2"/>
                </a:solidFill>
                <a:latin typeface="Arial"/>
              </a:rPr>
              <a:t>o dată</a:t>
            </a:r>
            <a:r>
              <a:rPr b="0" sz="1300">
                <a:solidFill>
                  <a:srgbClr val="F2F2F2"/>
                </a:solidFill>
                <a:latin typeface="Arial"/>
              </a:rPr>
              <a:t>, referit prin cod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Multe întrebări sunt un </a:t>
            </a:r>
            <a:r>
              <a:rPr b="1" sz="1300">
                <a:solidFill>
                  <a:srgbClr val="F2F2F2"/>
                </a:solidFill>
                <a:latin typeface="Arial"/>
              </a:rPr>
              <a:t>traseu</a:t>
            </a:r>
            <a:r>
              <a:rPr b="0" sz="1300">
                <a:solidFill>
                  <a:srgbClr val="F2F2F2"/>
                </a:solidFill>
                <a:latin typeface="Arial"/>
              </a:rPr>
              <a:t> prin model (în Modulul 4, traseul = </a:t>
            </a:r>
            <a:r>
              <a:rPr b="1" sz="1300">
                <a:solidFill>
                  <a:srgbClr val="F2F2F2"/>
                </a:solidFill>
                <a:latin typeface="Arial"/>
              </a:rPr>
              <a:t>JOIN</a:t>
            </a:r>
            <a:r>
              <a:rPr b="0" sz="1300">
                <a:solidFill>
                  <a:srgbClr val="F2F2F2"/>
                </a:solidFill>
                <a:latin typeface="Arial"/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6786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Punte: </a:t>
            </a:r>
            <a:r>
              <a:rPr b="1" sz="1400">
                <a:solidFill>
                  <a:srgbClr val="F2F2F2"/>
                </a:solidFill>
                <a:latin typeface="Arial"/>
              </a:rPr>
              <a:t>L9</a:t>
            </a:r>
            <a:r>
              <a:rPr b="0" sz="1400">
                <a:solidFill>
                  <a:srgbClr val="F2F2F2"/>
                </a:solidFill>
                <a:latin typeface="Arial"/>
              </a:rPr>
              <a:t> — până acum am presupus că datele sunt curate. Nu sunt. Vezi cum arată datele „murdare” și de ce îți dau răspunsuri greșite cu convingere.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L8 · Chei și relații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L8 · Chei și relații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