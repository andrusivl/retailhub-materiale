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Lecție de recunoaștere a datelor murdare (curățarea e L12, în Excel). Ideea unică: datele murdare mint cu convingere — nu dau eroare, dau o cifră plauzibilă dar falsă. Cele 5 tipuri: lipsă, duplicate, inconsistențe, tip greșit, imposibil/outlier. Reflexul: complet? consistent? plauzibil? — înainte de orice sumă.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L8: tabelele se leagă prin chei (PK/FK); o întrebare e un traseu. Fire care revin: din L6 tipurile de coloană, din L7 un duplicat umflă numărătoarea, din L8 o cheie străină goală rupe o legătură. Puntea: până acum am presupus că datele sunt 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§1. Recunoști, nu cureți (curățarea e L12).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§2. Elena a cerut Revenue-ul lunii dintr-un export proaspăt (orders_raw). Ioana a adunat TotalAmount și a raportat un număr. Andrei se oprește la un rând de 2,4 milioane la o singură comandă.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§2. Tabelul murdar: o comandă duplicată (10428 de două ori, data în două formate), CustomerID gol la 10430, Discount negativ (−50), PaymentMethod în patru feluri, TotalAmount absurd (2,4 milioane). Ioana adunase totul la grămadă.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§3. Pericolul: datele murdare nu dau eroare. Aduni coloana, iese un număr, pare plauzibil, ajunge la Elena — dar e umflat de un outlier și de un duplicat. O cifră greșită dintr-o dată murdară e mai periculoasă decât lipsa cifrei.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§4. Oprește-te. Ai un export brut orders_raw și trebuie să dai Revenue. Ce verifici înainte? Aproape sigur: duplicate? goale? imposibile? formate consistente? Nu-ți trebuie tool — îți trebuie reflexul.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§5. Tabelul celor 5 tipuri. Regula: fiecare produce o cifră care arată bine dar e falsă. Un duplicat nu dă eroare — dă un Revenue mai mare; un outlier dă o medie umflată. De-aia le cauți dinadins.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1 — intuiția. Ai cumpăra o mașină doar pentru că vânzătorul îți spune un kilometraj? Sau ai verifica întâi? O cifră dintr-o dată neverificată e ca acel kilometraj. Un analist e sceptic din meserie — nu cu oamenii, ci cu datele.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2 — structura. Cele 3 întrebări: complet? consistent? plauzibil? Calculezi abia după ce toate trei sunt „da”. Dacă la vreuna e „nu”, cifra e suspectă până cureți — nu arunci datele, le repari (L12) sau spui ce ai găsit.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3 — aplicarea. Înainte să investighezi scăderea din septembrie, întrebarea „pot avea încredere în Revenue-ul din septembrie?” e reală. Dacă exportul are duplicate, un Revenue „mai mic” ar putea fi un artefact. Înainte să explici o schimbare, verifici că schimbarea e reală.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§7. Andrei ia orders_raw și, înainte de orice sumă, îl inspectează cu voce tare: complet? (CustomerID goale) consistent? (10428 duplicat; PaymentMethod în patru scrieri) plauzibil? (Discount −50 imposibil; 2,4M outlier). Abia apoi ar calcula — și i-ar spune Elenei ce a curățat. Ioana a adunat întâi și a verificat niciodată.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§11. Cele 4 greșeli: calculează întâi/verifică niciodată; cred că „ciudățeniile se pierd în total”; numără rânduri cu duplicate; tratează o inconsistență de format ca pe grupuri diferite.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§12. Cele 5 idei + puntea spre L10 (validare: corecte ȘI suficiente, închide Modulul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2 · LECȚIA 9 · A PATRA LECȚIE DE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Date curate vs date greșite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Datele reale sunt murdare — verifici întâi, calculezi după, pentru că o cifră dintr-o dată murdară e greșită dar arată corectă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7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cheile și modelul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L8:</a:t>
            </a:r>
            <a:r>
              <a:rPr b="0" sz="1500">
                <a:solidFill>
                  <a:srgbClr val="F2F2F2"/>
                </a:solidFill>
                <a:latin typeface="Arial"/>
              </a:rPr>
              <a:t> tabelele se leagă prin </a:t>
            </a:r>
            <a:r>
              <a:rPr b="1" sz="1500">
                <a:solidFill>
                  <a:srgbClr val="F2F2F2"/>
                </a:solidFill>
                <a:latin typeface="Arial"/>
              </a:rPr>
              <a:t>chei</a:t>
            </a:r>
            <a:r>
              <a:rPr b="0" sz="1500">
                <a:solidFill>
                  <a:srgbClr val="F2F2F2"/>
                </a:solidFill>
                <a:latin typeface="Arial"/>
              </a:rPr>
              <a:t> (PK/FK); o întrebare e un </a:t>
            </a:r>
            <a:r>
              <a:rPr b="1" sz="1500">
                <a:solidFill>
                  <a:srgbClr val="F2F2F2"/>
                </a:solidFill>
                <a:latin typeface="Arial"/>
              </a:rPr>
              <a:t>traseu</a:t>
            </a:r>
            <a:r>
              <a:rPr b="0" sz="1500">
                <a:solidFill>
                  <a:srgbClr val="F2F2F2"/>
                </a:solidFill>
                <a:latin typeface="Arial"/>
              </a:rPr>
              <a:t> prin model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L6:</a:t>
            </a:r>
            <a:r>
              <a:rPr b="0" sz="1500">
                <a:solidFill>
                  <a:srgbClr val="F2F2F2"/>
                </a:solidFill>
                <a:latin typeface="Arial"/>
              </a:rPr>
              <a:t> fiecare coloană are un </a:t>
            </a:r>
            <a:r>
              <a:rPr b="1" sz="1500">
                <a:solidFill>
                  <a:srgbClr val="F2F2F2"/>
                </a:solidFill>
                <a:latin typeface="Arial"/>
              </a:rPr>
              <a:t>tip</a:t>
            </a:r>
            <a:r>
              <a:rPr b="0" sz="1500">
                <a:solidFill>
                  <a:srgbClr val="F2F2F2"/>
                </a:solidFill>
                <a:latin typeface="Arial"/>
              </a:rPr>
              <a:t> — un număr scris ca text nu se adună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L7:</a:t>
            </a:r>
            <a:r>
              <a:rPr b="0" sz="1500">
                <a:solidFill>
                  <a:srgbClr val="F2F2F2"/>
                </a:solidFill>
                <a:latin typeface="Arial"/>
              </a:rPr>
              <a:t> un rând </a:t>
            </a:r>
            <a:r>
              <a:rPr b="1" sz="1500">
                <a:solidFill>
                  <a:srgbClr val="F2F2F2"/>
                </a:solidFill>
                <a:latin typeface="Arial"/>
              </a:rPr>
              <a:t>duplicat</a:t>
            </a:r>
            <a:r>
              <a:rPr b="0" sz="1500">
                <a:solidFill>
                  <a:srgbClr val="F2F2F2"/>
                </a:solidFill>
                <a:latin typeface="Arial"/>
              </a:rPr>
              <a:t> umflă numărătoarea; </a:t>
            </a:r>
            <a:r>
              <a:rPr b="1" sz="1500">
                <a:solidFill>
                  <a:srgbClr val="F2F2F2"/>
                </a:solidFill>
                <a:latin typeface="Arial"/>
              </a:rPr>
              <a:t>L8:</a:t>
            </a:r>
            <a:r>
              <a:rPr b="0" sz="1500">
                <a:solidFill>
                  <a:srgbClr val="F2F2F2"/>
                </a:solidFill>
                <a:latin typeface="Arial"/>
              </a:rPr>
              <a:t> o FK </a:t>
            </a:r>
            <a:r>
              <a:rPr b="1" sz="1500">
                <a:solidFill>
                  <a:srgbClr val="F2F2F2"/>
                </a:solidFill>
                <a:latin typeface="Arial"/>
              </a:rPr>
              <a:t>goală</a:t>
            </a:r>
            <a:r>
              <a:rPr b="0" sz="1500">
                <a:solidFill>
                  <a:srgbClr val="F2F2F2"/>
                </a:solidFill>
                <a:latin typeface="Arial"/>
              </a:rPr>
              <a:t> rupe o legătură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Până acum am presupus, tăcut, că datele sunt </a:t>
            </a:r>
            <a:r>
              <a:rPr b="1" sz="1400">
                <a:solidFill>
                  <a:srgbClr val="F2F2F2"/>
                </a:solidFill>
                <a:latin typeface="Arial"/>
              </a:rPr>
              <a:t>curate</a:t>
            </a:r>
            <a:r>
              <a:rPr b="0" sz="1400">
                <a:solidFill>
                  <a:srgbClr val="F2F2F2"/>
                </a:solidFill>
                <a:latin typeface="Arial"/>
              </a:rPr>
              <a:t>. În realitate, aproape niciodată nu sunt. Azi înveți să recunoști datele „murdare” — înainte să calculezi ceva.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recunoști cele 5 probleme de calitate: </a:t>
            </a:r>
            <a:r>
              <a:rPr b="1" sz="1400">
                <a:solidFill>
                  <a:srgbClr val="F2F2F2"/>
                </a:solidFill>
                <a:latin typeface="Arial"/>
              </a:rPr>
              <a:t>lipsă · duplicate · inconsistențe · tip greșit · imposibil/outlier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explici de ce datele murdare produc cifre </a:t>
            </a:r>
            <a:r>
              <a:rPr b="1" sz="1400">
                <a:solidFill>
                  <a:srgbClr val="F2F2F2"/>
                </a:solidFill>
                <a:latin typeface="Arial"/>
              </a:rPr>
              <a:t>plauzibile, dar false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te uiți la un extras real RetailHub și să găsești ce e în neregulă </a:t>
            </a:r>
            <a:r>
              <a:rPr b="1" sz="14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400">
                <a:solidFill>
                  <a:srgbClr val="F2F2F2"/>
                </a:solidFill>
                <a:latin typeface="Arial"/>
              </a:rPr>
              <a:t> să calculezi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înțelegi de ce „verifică datele” e un pas </a:t>
            </a:r>
            <a:r>
              <a:rPr b="1" sz="1400">
                <a:solidFill>
                  <a:srgbClr val="F2F2F2"/>
                </a:solidFill>
                <a:latin typeface="Arial"/>
              </a:rPr>
              <a:t>obligatoriu</a:t>
            </a:r>
            <a:r>
              <a:rPr b="0" sz="1400">
                <a:solidFill>
                  <a:srgbClr val="F2F2F2"/>
                </a:solidFill>
                <a:latin typeface="Arial"/>
              </a:rPr>
              <a:t>, nu opțional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doar </a:t>
            </a:r>
            <a:r>
              <a:rPr b="1" sz="1400">
                <a:solidFill>
                  <a:srgbClr val="F2F2F2"/>
                </a:solidFill>
                <a:latin typeface="Arial"/>
              </a:rPr>
              <a:t>recunoști</a:t>
            </a:r>
            <a:r>
              <a:rPr b="0" sz="1400">
                <a:solidFill>
                  <a:srgbClr val="F2F2F2"/>
                </a:solidFill>
                <a:latin typeface="Arial"/>
              </a:rPr>
              <a:t> murdăria. Curățarea efectivă (în Excel) vine în Lecția 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Ioana rulează raportul... pe extrasul brut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Elena a cerut Revenue-ul lunii dintr-un export proaspăt din sistem — un fișier </a:t>
            </a:r>
            <a:r>
              <a:rPr sz="1500">
                <a:solidFill>
                  <a:srgbClr val="FFA24E"/>
                </a:solidFill>
                <a:latin typeface="Consolas"/>
              </a:rPr>
              <a:t>orders_raw</a:t>
            </a:r>
            <a:r>
              <a:rPr b="0" sz="1500">
                <a:solidFill>
                  <a:srgbClr val="F2F2F2"/>
                </a:solidFill>
                <a:latin typeface="Arial"/>
              </a:rPr>
              <a:t>, direct, neprelucrat. </a:t>
            </a:r>
            <a:r>
              <a:rPr b="1" sz="1500">
                <a:solidFill>
                  <a:srgbClr val="F2F2F2"/>
                </a:solidFill>
                <a:latin typeface="Arial"/>
              </a:rPr>
              <a:t>Ioana Popa</a:t>
            </a:r>
            <a:r>
              <a:rPr b="0" sz="1500">
                <a:solidFill>
                  <a:srgbClr val="F2F2F2"/>
                </a:solidFill>
                <a:latin typeface="Arial"/>
              </a:rPr>
              <a:t> l-a deschis, a adunat coloana </a:t>
            </a:r>
            <a:r>
              <a:rPr sz="15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500">
                <a:solidFill>
                  <a:srgbClr val="F2F2F2"/>
                </a:solidFill>
                <a:latin typeface="Arial"/>
              </a:rPr>
              <a:t> și a raportat un număr. Andrei aruncă o privire și se oprește: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„Ioana, ai un rând aici cu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de </a:t>
            </a:r>
            <a:r>
              <a:rPr b="1" sz="1400">
                <a:solidFill>
                  <a:srgbClr val="F2F2F2"/>
                </a:solidFill>
                <a:latin typeface="Arial"/>
              </a:rPr>
              <a:t>2,4 milioane</a:t>
            </a:r>
            <a:r>
              <a:rPr b="0" sz="1400">
                <a:solidFill>
                  <a:srgbClr val="F2F2F2"/>
                </a:solidFill>
                <a:latin typeface="Arial"/>
              </a:rPr>
              <a:t>. La o singură comandă. Chiar crezi că un client a cumpărat de 2,4 milioane deodată?”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DATELE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e de fapt în </a:t>
            </a:r>
            <a:r>
              <a:rPr sz="3000">
                <a:solidFill>
                  <a:srgbClr val="FFA24E"/>
                </a:solidFill>
                <a:latin typeface="Consolas"/>
              </a:rPr>
              <a:t>orders_raw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2493"/>
                <a:gridCol w="1812493"/>
                <a:gridCol w="1812493"/>
                <a:gridCol w="1812493"/>
                <a:gridCol w="1812493"/>
                <a:gridCol w="1812494"/>
              </a:tblGrid>
              <a:tr h="3694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OrderID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OrderDate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CustomerID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PaymentMethod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Discount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TotalAmount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10428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2025-09-03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1187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card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10,00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487,50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10428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03/09/2025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1187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Card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10,00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487,50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10430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2025-09-04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(gol)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CARD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-50,00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156,75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10777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2025-09-12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2043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Cash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2.400.000,00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 comandă </a:t>
            </a:r>
            <a:r>
              <a:rPr b="1" sz="1400">
                <a:solidFill>
                  <a:srgbClr val="F2F2F2"/>
                </a:solidFill>
                <a:latin typeface="Arial"/>
              </a:rPr>
              <a:t>duplicată</a:t>
            </a:r>
            <a:r>
              <a:rPr b="0" sz="1400">
                <a:solidFill>
                  <a:srgbClr val="F2F2F2"/>
                </a:solidFill>
                <a:latin typeface="Arial"/>
              </a:rPr>
              <a:t> (10428, cu data în două formate), un </a:t>
            </a:r>
            <a:r>
              <a:rPr sz="1400">
                <a:solidFill>
                  <a:srgbClr val="FFA24E"/>
                </a:solidFill>
                <a:latin typeface="Consolas"/>
              </a:rPr>
              <a:t>CustomerID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b="1" sz="1400">
                <a:solidFill>
                  <a:srgbClr val="F2F2F2"/>
                </a:solidFill>
                <a:latin typeface="Arial"/>
              </a:rPr>
              <a:t>gol</a:t>
            </a:r>
            <a:r>
              <a:rPr b="0" sz="1400">
                <a:solidFill>
                  <a:srgbClr val="F2F2F2"/>
                </a:solidFill>
                <a:latin typeface="Arial"/>
              </a:rPr>
              <a:t>, un </a:t>
            </a:r>
            <a:r>
              <a:rPr sz="1400">
                <a:solidFill>
                  <a:srgbClr val="FFA24E"/>
                </a:solidFill>
                <a:latin typeface="Consolas"/>
              </a:rPr>
              <a:t>Discount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b="1" sz="1400">
                <a:solidFill>
                  <a:srgbClr val="F2F2F2"/>
                </a:solidFill>
                <a:latin typeface="Arial"/>
              </a:rPr>
              <a:t>negativ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PaymentMethod</a:t>
            </a:r>
            <a:r>
              <a:rPr b="0" sz="1400">
                <a:solidFill>
                  <a:srgbClr val="F2F2F2"/>
                </a:solidFill>
                <a:latin typeface="Arial"/>
              </a:rPr>
              <a:t> scris în patru feluri, un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b="1" sz="1400">
                <a:solidFill>
                  <a:srgbClr val="F2F2F2"/>
                </a:solidFill>
                <a:latin typeface="Arial"/>
              </a:rPr>
              <a:t>absurd</a:t>
            </a:r>
            <a:r>
              <a:rPr b="0" sz="1400">
                <a:solidFill>
                  <a:srgbClr val="F2F2F2"/>
                </a:solidFill>
                <a:latin typeface="Arial"/>
              </a:rPr>
              <a:t>. Ioana adunase totul, la grămadă.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Datele murdare mint cu convingere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Ăsta e pericolul, și e mai subtil decât pare: datele murdare </a:t>
            </a:r>
            <a:r>
              <a:rPr b="1" sz="1500">
                <a:solidFill>
                  <a:srgbClr val="F2F2F2"/>
                </a:solidFill>
                <a:latin typeface="Arial"/>
              </a:rPr>
              <a:t>nu-ți dau o eroare</a:t>
            </a:r>
            <a:r>
              <a:rPr b="0" sz="1500">
                <a:solidFill>
                  <a:srgbClr val="F2F2F2"/>
                </a:solidFill>
                <a:latin typeface="Arial"/>
              </a:rPr>
              <a:t>. Nu se aprinde nimic roșu. Aduni coloana, iese un număr, numărul arată plauzibil, ajunge la Elena. Doar că e umflat de un outlier absurd și de un rând duplicat.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O cifră greșită dintr-o dată murdară e mai periculoasă decât lipsa cifrei</a:t>
            </a:r>
            <a:r>
              <a:rPr b="0" sz="1400">
                <a:solidFill>
                  <a:srgbClr val="F2F2F2"/>
                </a:solidFill>
                <a:latin typeface="Arial"/>
              </a:rPr>
              <a:t> — pentru că îi dai omului încredere într-un lucru fals. Nu poți avea încredere într-o cifră până n-ai avut încredere în datele din spatele ei.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REFLEX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ai verifica înainte să aduni coloana?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Oprește-te un moment. Ai un export brut </a:t>
            </a:r>
            <a:r>
              <a:rPr sz="1500">
                <a:solidFill>
                  <a:srgbClr val="FFA24E"/>
                </a:solidFill>
                <a:latin typeface="Consolas"/>
              </a:rPr>
              <a:t>orders_raw</a:t>
            </a:r>
            <a:r>
              <a:rPr b="0" sz="1500">
                <a:solidFill>
                  <a:srgbClr val="F2F2F2"/>
                </a:solidFill>
                <a:latin typeface="Arial"/>
              </a:rPr>
              <a:t> și trebuie să dai Revenue-ul. Ce ai verifica la date </a:t>
            </a:r>
            <a:r>
              <a:rPr b="1" sz="15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500">
                <a:solidFill>
                  <a:srgbClr val="F2F2F2"/>
                </a:solidFill>
                <a:latin typeface="Arial"/>
              </a:rPr>
              <a:t> să aduni </a:t>
            </a:r>
            <a:r>
              <a:rPr sz="15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500">
                <a:solidFill>
                  <a:srgbClr val="F2F2F2"/>
                </a:solidFill>
                <a:latin typeface="Arial"/>
              </a:rPr>
              <a:t>? Notează 3–4 lucruri.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25176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Aproape sigur ai listat câteva din: </a:t>
            </a:r>
            <a:r>
              <a:rPr i="1" sz="1400">
                <a:solidFill>
                  <a:srgbClr val="F2F2F2"/>
                </a:solidFill>
                <a:latin typeface="Arial"/>
              </a:rPr>
              <a:t>sunt rânduri duplicate? sunt valori goale? sunt valori imposibile (negative, absurd de mari)? formatele sunt consistente?</a:t>
            </a:r>
            <a:r>
              <a:rPr b="0" sz="1400">
                <a:solidFill>
                  <a:srgbClr val="F2F2F2"/>
                </a:solidFill>
                <a:latin typeface="Arial"/>
              </a:rPr>
              <a:t> Astea sunt „controalele” de bază. Nu-ți trebuie tool ca să te gândești la ele — îți trebuie </a:t>
            </a:r>
            <a:r>
              <a:rPr b="1" sz="1400">
                <a:solidFill>
                  <a:srgbClr val="F2F2F2"/>
                </a:solidFill>
                <a:latin typeface="Arial"/>
              </a:rPr>
              <a:t>reflexul</a:t>
            </a:r>
            <a:r>
              <a:rPr b="0" sz="1400">
                <a:solidFill>
                  <a:srgbClr val="F2F2F2"/>
                </a:solidFill>
                <a:latin typeface="Arial"/>
              </a:rPr>
              <a:t> de a le pune înainte de orice calcul.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MIEZUL MECANICII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cinci feluri de „murdărie”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Problemă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Cum arată în `orders_raw`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De ce doare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Valori lipsă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CustomerID gol (10430)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cheie ruptă (L8); numărători greșite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Duplicate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OrderID 10428 de două ori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umflă comenzile și Revenue-ul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Inconsistențe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card / Card / CARD; două formate de dată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par grupuri diferite; nu se sortează bine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Tip greșit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număr salvat ca text („1.234”)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nu se adună — e text, nu 1234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Imposibil / outlier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Discount = -50; TotalAmount = 2.400.000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strică orice sumă sau medie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Analogia: kilometrajul mașinii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Ai cumpăra o mașină doar pentru că vânzătorul îți spune un kilometraj? Sau ai verifica întâi? O cifră dintr-o dată neverificată e ca acel kilometraj: poate fi corect, poate fi trucat, și nu știi până nu te uiți.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analist e </a:t>
            </a:r>
            <a:r>
              <a:rPr b="1" sz="1400">
                <a:solidFill>
                  <a:srgbClr val="F2F2F2"/>
                </a:solidFill>
                <a:latin typeface="Arial"/>
              </a:rPr>
              <a:t>sceptic din meserie</a:t>
            </a:r>
            <a:r>
              <a:rPr b="0" sz="1400">
                <a:solidFill>
                  <a:srgbClr val="F2F2F2"/>
                </a:solidFill>
                <a:latin typeface="Arial"/>
              </a:rPr>
              <a:t>: nu cu oamenii, ci cu </a:t>
            </a:r>
            <a:r>
              <a:rPr b="1" sz="1400">
                <a:solidFill>
                  <a:srgbClr val="F2F2F2"/>
                </a:solidFill>
                <a:latin typeface="Arial"/>
              </a:rPr>
              <a:t>datele</a:t>
            </a:r>
            <a:r>
              <a:rPr b="0" sz="1400">
                <a:solidFill>
                  <a:srgbClr val="F2F2F2"/>
                </a:solidFill>
                <a:latin typeface="Arial"/>
              </a:rPr>
              <a:t>. Nu pentru că cineva minte — ci pentru că datele reale sunt, în mod natural, dezordonate: oameni care tastează diferit, sisteme cu formate diferite, înregistrări duplicate, câmpuri goale.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Trei controale, înainte de orice sumă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88823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Coloana bruta, inainte de orice suma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|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+-- E COMPLET?    lipsesc valori?            --Nu--&gt; suspect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+-- E CONSISTENT? scris la fel? duplicate?    --Nu--&gt; suspect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+-- E PLAUZIBIL?  valori imposibile/absurde?  --Nu--&gt; suspect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|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= toate DA --&gt; abia acum calculezi, cifra e de incredere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0847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Dacă la vreuna răspunsul e „nu”, cifra e suspectă până cureți. Nu înseamnă că arunci datele — le </a:t>
            </a:r>
            <a:r>
              <a:rPr b="1" sz="1400">
                <a:solidFill>
                  <a:srgbClr val="F2F2F2"/>
                </a:solidFill>
                <a:latin typeface="Arial"/>
              </a:rPr>
              <a:t>repari</a:t>
            </a:r>
            <a:r>
              <a:rPr b="0" sz="1400">
                <a:solidFill>
                  <a:srgbClr val="F2F2F2"/>
                </a:solidFill>
                <a:latin typeface="Arial"/>
              </a:rPr>
              <a:t> (Lecția 12) sau, cel puțin, </a:t>
            </a:r>
            <a:r>
              <a:rPr b="1" sz="1400">
                <a:solidFill>
                  <a:srgbClr val="F2F2F2"/>
                </a:solidFill>
                <a:latin typeface="Arial"/>
              </a:rPr>
              <a:t>spui ce ai găsit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Pe proiectul tău: e scăderea reală?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Pe proiectul tău, înainte să investighezi scăderea din septembrie, întrebarea „pot avea încredere în Revenue-ul din septembrie?” e reală. Dacă exportul are duplicate, un Revenue „mai mic” ar putea fi un artefact de curățare, nu o scădere reală. Dacă un magazin are </a:t>
            </a:r>
            <a:r>
              <a:rPr sz="1500">
                <a:solidFill>
                  <a:srgbClr val="FFA24E"/>
                </a:solidFill>
                <a:latin typeface="Consolas"/>
              </a:rPr>
              <a:t>CustomerID</a:t>
            </a:r>
            <a:r>
              <a:rPr b="0" sz="1500">
                <a:solidFill>
                  <a:srgbClr val="F2F2F2"/>
                </a:solidFill>
                <a:latin typeface="Arial"/>
              </a:rPr>
              <a:t>-uri goale, analiza pe client șchiopătează acolo.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85841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Înainte să explici o schimbare, verifici că schimbarea e reală, nu un gunoi de date.</a:t>
            </a:r>
            <a:r>
              <a:rPr b="0" sz="1400">
                <a:solidFill>
                  <a:srgbClr val="F2F2F2"/>
                </a:solidFill>
                <a:latin typeface="Arial"/>
              </a:rPr>
              <a:t> Altfel investighezi o fantomă.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gândește Andrei: inspectează întâi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5176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„Nu ating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până nu văd cu ce lucrez. </a:t>
            </a:r>
            <a:r>
              <a:rPr b="1" sz="1400">
                <a:solidFill>
                  <a:srgbClr val="F2F2F2"/>
                </a:solidFill>
                <a:latin typeface="Arial"/>
              </a:rPr>
              <a:t>Complet?</a:t>
            </a:r>
            <a:r>
              <a:rPr b="0" sz="1400">
                <a:solidFill>
                  <a:srgbClr val="F2F2F2"/>
                </a:solidFill>
                <a:latin typeface="Arial"/>
              </a:rPr>
              <a:t> Am </a:t>
            </a:r>
            <a:r>
              <a:rPr sz="1400">
                <a:solidFill>
                  <a:srgbClr val="FFA24E"/>
                </a:solidFill>
                <a:latin typeface="Consolas"/>
              </a:rPr>
              <a:t>CustomerID</a:t>
            </a:r>
            <a:r>
              <a:rPr b="0" sz="1400">
                <a:solidFill>
                  <a:srgbClr val="F2F2F2"/>
                </a:solidFill>
                <a:latin typeface="Arial"/>
              </a:rPr>
              <a:t>-uri goale. </a:t>
            </a:r>
            <a:r>
              <a:rPr b="1" sz="1400">
                <a:solidFill>
                  <a:srgbClr val="F2F2F2"/>
                </a:solidFill>
                <a:latin typeface="Arial"/>
              </a:rPr>
              <a:t>Consistent?</a:t>
            </a:r>
            <a:r>
              <a:rPr b="0" sz="1400">
                <a:solidFill>
                  <a:srgbClr val="F2F2F2"/>
                </a:solidFill>
                <a:latin typeface="Arial"/>
              </a:rPr>
              <a:t> </a:t>
            </a:r>
            <a:r>
              <a:rPr sz="1400">
                <a:solidFill>
                  <a:srgbClr val="FFA24E"/>
                </a:solidFill>
                <a:latin typeface="Consolas"/>
              </a:rPr>
              <a:t>OrderID 10428</a:t>
            </a:r>
            <a:r>
              <a:rPr b="0" sz="1400">
                <a:solidFill>
                  <a:srgbClr val="F2F2F2"/>
                </a:solidFill>
                <a:latin typeface="Arial"/>
              </a:rPr>
              <a:t> apare de două ori — un duplicat. </a:t>
            </a:r>
            <a:r>
              <a:rPr b="1" sz="1400">
                <a:solidFill>
                  <a:srgbClr val="F2F2F2"/>
                </a:solidFill>
                <a:latin typeface="Arial"/>
              </a:rPr>
              <a:t>Plauzibil?</a:t>
            </a:r>
            <a:r>
              <a:rPr b="0" sz="1400">
                <a:solidFill>
                  <a:srgbClr val="F2F2F2"/>
                </a:solidFill>
                <a:latin typeface="Arial"/>
              </a:rPr>
              <a:t> Un </a:t>
            </a:r>
            <a:r>
              <a:rPr sz="1400">
                <a:solidFill>
                  <a:srgbClr val="FFA24E"/>
                </a:solidFill>
                <a:latin typeface="Consolas"/>
              </a:rPr>
              <a:t>Discount</a:t>
            </a:r>
            <a:r>
              <a:rPr b="0" sz="1400">
                <a:solidFill>
                  <a:srgbClr val="F2F2F2"/>
                </a:solidFill>
                <a:latin typeface="Arial"/>
              </a:rPr>
              <a:t> de −50 e imposibil; un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de 2,4 milioane e un outlier evident. </a:t>
            </a:r>
            <a:r>
              <a:rPr b="1" sz="1400">
                <a:solidFill>
                  <a:srgbClr val="F2F2F2"/>
                </a:solidFill>
                <a:latin typeface="Arial"/>
              </a:rPr>
              <a:t>Abia acum</a:t>
            </a:r>
            <a:r>
              <a:rPr b="0" sz="1400">
                <a:solidFill>
                  <a:srgbClr val="F2F2F2"/>
                </a:solidFill>
                <a:latin typeface="Arial"/>
              </a:rPr>
              <a:t> aș calcula — și i-aș spune Elenei ce am curățat.”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37888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Apoi pune degetul pe lecție: „Ioana a adunat întâi și a verificat niciodată. Regula e invers: </a:t>
            </a:r>
            <a:r>
              <a:rPr b="1" sz="1500">
                <a:solidFill>
                  <a:srgbClr val="F2F2F2"/>
                </a:solidFill>
                <a:latin typeface="Arial"/>
              </a:rPr>
              <a:t>verifici întâi, calculezi după.</a:t>
            </a:r>
            <a:r>
              <a:rPr b="0" sz="1500">
                <a:solidFill>
                  <a:srgbClr val="F2F2F2"/>
                </a:solidFill>
                <a:latin typeface="Arial"/>
              </a:rPr>
              <a:t> O cifră fără o verificare de date în spate nu e o cifră, e o presupunere frumos formatată.” N-a curățat nimic (aia e Excel, L12) — a </a:t>
            </a:r>
            <a:r>
              <a:rPr i="1" sz="1500">
                <a:solidFill>
                  <a:srgbClr val="F2F2F2"/>
                </a:solidFill>
                <a:latin typeface="Arial"/>
              </a:rPr>
              <a:t>recunoscut</a:t>
            </a:r>
            <a:r>
              <a:rPr b="0" sz="1500">
                <a:solidFill>
                  <a:srgbClr val="F2F2F2"/>
                </a:solidFill>
                <a:latin typeface="Arial"/>
              </a:rPr>
              <a:t> murdăria.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Calculează întâi, verifică niciodată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adună coloana și trimit cifra. Antidot: trei întrebări înainte de orice sumă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„Ciudățeniile se pierd în total”</a:t>
            </a:r>
            <a:r>
              <a:rPr b="0" sz="1300">
                <a:solidFill>
                  <a:srgbClr val="F2F2F2"/>
                </a:solidFill>
                <a:latin typeface="Arial"/>
              </a:rPr>
              <a:t> — ignoră un outlier. Antidot: un singur outlier absurd poate </a:t>
            </a:r>
            <a:r>
              <a:rPr b="1" sz="1300">
                <a:solidFill>
                  <a:srgbClr val="F2F2F2"/>
                </a:solidFill>
                <a:latin typeface="Arial"/>
              </a:rPr>
              <a:t>domina</a:t>
            </a:r>
            <a:r>
              <a:rPr b="0" sz="1300">
                <a:solidFill>
                  <a:srgbClr val="F2F2F2"/>
                </a:solidFill>
                <a:latin typeface="Arial"/>
              </a:rPr>
              <a:t> o sumă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Numără rânduri cu duplicate</a:t>
            </a:r>
            <a:r>
              <a:rPr b="0" sz="1300">
                <a:solidFill>
                  <a:srgbClr val="F2F2F2"/>
                </a:solidFill>
                <a:latin typeface="Arial"/>
              </a:rPr>
              <a:t> — „atâtea rânduri = atâția clienți”. Antidot: „câte distincte” ≠ „câte rânduri” (ecou L7)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Inconsistență = grupuri diferite</a:t>
            </a:r>
            <a:r>
              <a:rPr b="0" sz="1300">
                <a:solidFill>
                  <a:srgbClr val="F2F2F2"/>
                </a:solidFill>
                <a:latin typeface="Arial"/>
              </a:rPr>
              <a:t> — „</a:t>
            </a:r>
            <a:r>
              <a:rPr sz="1300">
                <a:solidFill>
                  <a:srgbClr val="FFA24E"/>
                </a:solidFill>
                <a:latin typeface="Consolas"/>
              </a:rPr>
              <a:t>card</a:t>
            </a:r>
            <a:r>
              <a:rPr b="0" sz="1300">
                <a:solidFill>
                  <a:srgbClr val="F2F2F2"/>
                </a:solidFill>
                <a:latin typeface="Arial"/>
              </a:rPr>
              <a:t> și </a:t>
            </a:r>
            <a:r>
              <a:rPr sz="1300">
                <a:solidFill>
                  <a:srgbClr val="FFA24E"/>
                </a:solidFill>
                <a:latin typeface="Consolas"/>
              </a:rPr>
              <a:t>Card</a:t>
            </a:r>
            <a:r>
              <a:rPr b="0" sz="1300">
                <a:solidFill>
                  <a:srgbClr val="F2F2F2"/>
                </a:solidFill>
                <a:latin typeface="Arial"/>
              </a:rPr>
              <a:t> sunt două metode”. Antidot: unifică formatele înainte să grupezi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5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Datele reale sunt </a:t>
            </a:r>
            <a:r>
              <a:rPr b="1" sz="1300">
                <a:solidFill>
                  <a:srgbClr val="F2F2F2"/>
                </a:solidFill>
                <a:latin typeface="Arial"/>
              </a:rPr>
              <a:t>murdare</a:t>
            </a:r>
            <a:r>
              <a:rPr b="0" sz="1300">
                <a:solidFill>
                  <a:srgbClr val="F2F2F2"/>
                </a:solidFill>
                <a:latin typeface="Arial"/>
              </a:rPr>
              <a:t> — verifici întâi, calculezi după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Cinci feluri: </a:t>
            </a:r>
            <a:r>
              <a:rPr b="1" sz="1300">
                <a:solidFill>
                  <a:srgbClr val="F2F2F2"/>
                </a:solidFill>
                <a:latin typeface="Arial"/>
              </a:rPr>
              <a:t>lipsă · duplicate · inconsistențe · tip greșit · imposibil/outlier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Datele murdare </a:t>
            </a:r>
            <a:r>
              <a:rPr b="1" sz="1300">
                <a:solidFill>
                  <a:srgbClr val="F2F2F2"/>
                </a:solidFill>
                <a:latin typeface="Arial"/>
              </a:rPr>
              <a:t>mint cu convingere</a:t>
            </a:r>
            <a:r>
              <a:rPr b="0" sz="1300">
                <a:solidFill>
                  <a:srgbClr val="F2F2F2"/>
                </a:solidFill>
                <a:latin typeface="Arial"/>
              </a:rPr>
              <a:t> — nu dau eroare, dau o cifră plauzibilă dar falsă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Trei controale: </a:t>
            </a:r>
            <a:r>
              <a:rPr b="1" sz="1300">
                <a:solidFill>
                  <a:srgbClr val="F2F2F2"/>
                </a:solidFill>
                <a:latin typeface="Arial"/>
              </a:rPr>
              <a:t>complet? consistent? plauzibil?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Nu concluzionezi despre o schimbare până nu ești sigur că schimbarea e </a:t>
            </a:r>
            <a:r>
              <a:rPr b="1" sz="1300">
                <a:solidFill>
                  <a:srgbClr val="F2F2F2"/>
                </a:solidFill>
                <a:latin typeface="Arial"/>
              </a:rPr>
              <a:t>reală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Punte: </a:t>
            </a:r>
            <a:r>
              <a:rPr b="1" sz="1400">
                <a:solidFill>
                  <a:srgbClr val="F2F2F2"/>
                </a:solidFill>
                <a:latin typeface="Arial"/>
              </a:rPr>
              <a:t>L10</a:t>
            </a:r>
            <a:r>
              <a:rPr b="0" sz="1400">
                <a:solidFill>
                  <a:srgbClr val="F2F2F2"/>
                </a:solidFill>
                <a:latin typeface="Arial"/>
              </a:rPr>
              <a:t> — ai văzut că datele pot fi </a:t>
            </a:r>
            <a:r>
              <a:rPr i="1" sz="1400">
                <a:solidFill>
                  <a:srgbClr val="F2F2F2"/>
                </a:solidFill>
                <a:latin typeface="Arial"/>
              </a:rPr>
              <a:t>greșite</a:t>
            </a:r>
            <a:r>
              <a:rPr b="0" sz="1400">
                <a:solidFill>
                  <a:srgbClr val="F2F2F2"/>
                </a:solidFill>
                <a:latin typeface="Arial"/>
              </a:rPr>
              <a:t>. Dar mai e o întrebare: sunt </a:t>
            </a:r>
            <a:r>
              <a:rPr b="1" sz="1400">
                <a:solidFill>
                  <a:srgbClr val="F2F2F2"/>
                </a:solidFill>
                <a:latin typeface="Arial"/>
              </a:rPr>
              <a:t>suficiente</a:t>
            </a:r>
            <a:r>
              <a:rPr b="0" sz="1400">
                <a:solidFill>
                  <a:srgbClr val="F2F2F2"/>
                </a:solidFill>
                <a:latin typeface="Arial"/>
              </a:rPr>
              <a:t>? Înveți să validezi datele — corecte ȘI suficiente — și închizi Modulul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L9 · Date murdare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