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F5AA95-ADC3-4827-89A0-4A8400AECF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Deschide cu contextul. Nu e o lecție tehnică — e despre ce faci de fapt. Plantează de la început regula lui Andrei: nu rapoarte, răspunsuri. La final va însemna ceva foarte concret.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BA6F98-01DE-48E9-8C36-BF1310E14CB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Enunță obiectivele. Sublinia că azi nu se atinge niciun tool — e o alegere, nu o lipsă. Gândirea e cea mai mare parte a jobului.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50981F-3255-4CFB-AAA9-BCA2A6A1A9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Ăsta e declanșatorul întregii lecții (și al cursului). Lasă întrebarea „ce faci acum?” să atârne. Instinctul tuturor: deschid datele, fac un grafic. Vom vedea de ce e o capcană.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87F19D-D70E-40A4-9001-C679C957CD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Despachetează cererea Elenei. Fiecare cuvânt ascunde o ambiguitate. „Mai jos” nu înseamnă nimic până nu spui „mai jos decât ce”. Tensiunea jobului: cererea vine vagă și umană; tu o faci precisă.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E33DD6-2975-44ED-9779-C920779695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N-am răspuns la nimic încă — nici nu am nevoie de date ca să pun întrebările astea. Fiecare întrebare îngustează căutarea. Ordinea contează: gândirea înaintea oricărui tool. E miezul cursului.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ADBBBD-1E95-4C09-9C22-B8B3B982B5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Asta e traducerea-cheie. Fără reper, „a scăzut” nu e verificabil. Fără segmente, nu ai unde să te uiți. Restul (Excel, SQL, grafice) vine abia după ce ai propoziția precisă.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C6E8DE-852A-4688-9667-C97ECE4F39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Ideea unică a lecției. Analogia tâmplarului e cheia — spune-o rar. Tool-urile sunt un pas din șapte. Arată unde stau (5/7) ca să dedramatizezi Excel/SQL: sunt importante, dar nu sunt meseria.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7A1C2E-C569-4AAC-AB7D-865F8115EA3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Prezintă framework-ul ca hartă, nu ca listă de memorat. Accentul: începe cu o problemă, se termină cu o recomandare. Tool-ul (analiza) e la mijloc, un pas din zece.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56A5C4-537B-485E-9DB5-72A8D97D1C5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Andrei nu deschide nimic. Începe de la decizie, apoi pune ipoteze. O ipoteză e o explicație posibilă, neverificată — devine adevărată sau falsă abia în date. „Nu ghicim care e — lăsăm datele să ne spună.” Abia acum are sens „ce date îmi trebuie”.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D14389-DF8C-4281-BDB8-F1BC214A97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Arată-le că au făcut deja lucru real — fără să atingă un tool. Stakeholderii nu cer niciodată tehnic („fă un GROUP BY”); cer „de ce s-a schimbat?”. Traducerea e treaba analistului. Regula lui Andrei, decodată: oamenii cer răspunsuri, nu rapoarte.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68FDA8-621A-4BA4-9F06-0815363BAF4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Elicitează — întreabă „care din astea vi se pare cel mai probabil să vi se întâmple?”. Prima e cea mai comună: tool-ul dă senzația că faci ceva. Antidotul: prima mișcare e o întrebare, nu un click.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99272F-3E8D-4AAF-A643-3757A03060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Închide cu cele 5 idei și cu regula lui Andrei, acum plină de sens: nu livrăm rapoarte, livrăm răspunsuri. Deschide-ți proiectul: scrie-ți Carta de Analist (rol, regula de aur, cei 10 pași).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EF9722-40B1-440D-A360-684D008199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E4AE61-256F-4EEC-95AE-43A84B418B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6991FD-5706-4B11-B4B2-F1C2E221FD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D4EC1A-F73B-4E92-8BE0-1184B07E23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AC5242-1933-482E-974C-67F4CF5CE4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1D401E-EA2D-4FC6-AC3C-94FBE779EF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BCB85F-4679-40C9-8C21-C41D0DCE80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B9CAD1-0318-401A-850E-D44D3B6972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B3DE44-7DD1-427D-BBDB-2E12E6FA5F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4D47F4-C050-48CF-86E7-FD6A9C341A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AB69B7-0049-415F-A825-C521E4E1CF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40B84B-0A61-41AE-B6AE-C96E9BDEF5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9613080" y="502920"/>
            <a:ext cx="1919880" cy="69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658440" y="2148840"/>
            <a:ext cx="1087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30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MODULUL 1 · LECȚIA 1 · PRIMA LECȚIE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58440" y="2697480"/>
            <a:ext cx="10874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face de fapt un analist de date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658440" y="4297680"/>
            <a:ext cx="1279800" cy="504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58440" y="4526280"/>
            <a:ext cx="1087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B0B0B4"/>
                </a:solidFill>
                <a:effectLst/>
                <a:uFillTx/>
                <a:latin typeface="Arial"/>
              </a:rPr>
              <a:t>Business Question → Date → Analiză → Insight → Recomandare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58440" y="5440680"/>
            <a:ext cx="596052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Miercuri, 23 septembrie 2026  ·  Offline, Orange Digital Center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Liliana Spatari — Lead Data Analyst, Orange Systems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BINE AI VENIT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Prima ta săptămână la RetailHub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658440" y="1783080"/>
            <a:ext cx="1087452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Ești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Junior Data Analyst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în echipa Data &amp; Analytics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RetailHub: retailer RO 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8 magazine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online + app · ~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2.000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clienți ·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300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produse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Șeful tău: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Andrei Munteanu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Head of Data &amp; Analytics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658440" y="384948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Regula de aur a lui Andrei, pe care o auzi în fiecare lecție: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„Nu livrăm rapoarte. Livrăm răspunsuri.”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2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OBJECTIVES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vei putea face după lecția asta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58440" y="1783080"/>
            <a:ext cx="1087452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Să explici ce face — și ce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nu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face — un analist de date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Să iei o cerere vagă („de ce au scăzut vânzările?”) și să vezi de ce nu poți răspunde imediat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Să transformi o cerere de business într-o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întrebare analitică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Să recunoști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Data Thinking Framework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(procesul din toate cele 35 de lecții)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6"/>
          <p:cNvSpPr/>
          <p:nvPr/>
        </p:nvSpPr>
        <p:spPr>
          <a:xfrm>
            <a:off x="658440" y="4416480"/>
            <a:ext cx="10874520" cy="91692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Azi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nu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atingi Excel. Nici SQL. Și e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intenționat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azi lucrăm la gândire.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3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MOMENTUL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Prima ta cerere reală (Elena, Sales Director)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658440" y="178308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„Vânzările din septembrie au scăzut. Am nevoie să înțeleg de ce. Poți să te uiți?” — și pleacă.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658440" y="3371040"/>
            <a:ext cx="10874520" cy="12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Nimeni nu ți-a spus ce dataset să deschizi, ce formulă, ce grafic. Ai o propoziție și un director care așteaptă.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faci acum?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4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THEORY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O întrebare simplă care nu e deloc simplă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658440" y="1783080"/>
            <a:ext cx="10874520" cy="12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„Vânzările din septembrie au scăzut. De ce?” — pare o întrebare. Sunt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trei lucruri ascunse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niciunul clar: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58440" y="3130920"/>
            <a:ext cx="1087452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„Au scăzut”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față de ce? august? septembrie anul trecut? un target?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„Vânzările”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toate? la toate cele 8 magazine? toate categoriile? sau doar undeva?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„De ce?”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Elena nu vrea un număr, vrea o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decizie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: să facă ceva sau nu, și unde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658440" y="434340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Ca s-o rezolvi, întâi faci cererea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precisă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. Și nu faci asta deschizând un tool — o faci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gândind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5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THEORY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faci în primele 5 minute (nu ce crezi)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658440" y="1783080"/>
            <a:ext cx="10874520" cy="7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Un analist bun, în primele minute,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nu deschide nimic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. Pune întrebări: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658440" y="2603160"/>
            <a:ext cx="10874520" cy="25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Scăzut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față de ce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august 2025 sau septembrie 2024?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E la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toate magazinele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sau doar la unele? (poate București ține media sus)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E la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toate categoriile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sau doar la una?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Poate fi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sezonalitate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? Au fost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promoții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care s-au terminat? Probleme de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stoc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7"/>
          <p:cNvSpPr/>
          <p:nvPr/>
        </p:nvSpPr>
        <p:spPr>
          <a:xfrm>
            <a:off x="658440" y="434340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Asta face un analist în primele minute: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transformă o ceață într-o listă de locuri unde merită să se uite.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6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THEORY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Din cerere vagă → întrebare analitică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1" name="Table 5"/>
          <p:cNvGraphicFramePr/>
          <p:nvPr/>
        </p:nvGraphicFramePr>
        <p:xfrm>
          <a:off x="658440" y="1783080"/>
          <a:ext cx="10874520" cy="765360"/>
        </p:xfrm>
        <a:graphic>
          <a:graphicData uri="http://schemas.openxmlformats.org/drawingml/2006/table">
            <a:tbl>
              <a:tblPr/>
              <a:tblGrid>
                <a:gridCol w="5437440"/>
                <a:gridCol w="5437440"/>
              </a:tblGrid>
              <a:tr h="3747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B0B0B4"/>
                          </a:solidFill>
                          <a:effectLst/>
                          <a:uFillTx/>
                          <a:latin typeface="Consolas"/>
                        </a:rPr>
                        <a:t>Cererea de business (Elena)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B0B0B4"/>
                          </a:solidFill>
                          <a:effectLst/>
                          <a:uFillTx/>
                          <a:latin typeface="Consolas"/>
                        </a:rPr>
                        <a:t>Întrebarea analitică (tu)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1E22"/>
                    </a:solidFill>
                  </a:tcPr>
                </a:tc>
              </a:tr>
              <a:tr h="3747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F2F2F2"/>
                          </a:solidFill>
                          <a:effectLst/>
                          <a:uFillTx/>
                          <a:latin typeface="Arial"/>
                        </a:rPr>
                        <a:t>„Vânzările din septembrie au scăzut. De ce?”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F2F2F2"/>
                          </a:solidFill>
                          <a:effectLst/>
                          <a:uFillTx/>
                          <a:latin typeface="Arial"/>
                        </a:rPr>
                        <a:t>Cu cât a scăzut </a:t>
                      </a:r>
                      <a:r>
                        <a:rPr lang="en-US" sz="1100" b="1" u="none" strike="noStrike">
                          <a:solidFill>
                            <a:srgbClr val="F2F2F2"/>
                          </a:solidFill>
                          <a:effectLst/>
                          <a:uFillTx/>
                          <a:latin typeface="Arial"/>
                        </a:rPr>
                        <a:t>Revenue</a:t>
                      </a:r>
                      <a:r>
                        <a:rPr lang="en-US" sz="1100" b="0" u="none" strike="noStrike">
                          <a:solidFill>
                            <a:srgbClr val="F2F2F2"/>
                          </a:solidFill>
                          <a:effectLst/>
                          <a:uFillTx/>
                          <a:latin typeface="Arial"/>
                        </a:rPr>
                        <a:t> în sept. 2025 față de aug. 2025 și sept. 2024, și care segment (magazin / categorie / campanie / stoc) explică scăderea?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122" name="TextBox 6"/>
          <p:cNvSpPr/>
          <p:nvPr/>
        </p:nvSpPr>
        <p:spPr>
          <a:xfrm>
            <a:off x="658440" y="2670120"/>
            <a:ext cx="10874520" cy="14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Ai numit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măsura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: „vânzările” =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Revenue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(nu o senzație, un număr)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Ai adăugat un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reper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(față de ce) și ai spart pe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segmente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(unde să te uiți)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7"/>
          <p:cNvSpPr/>
          <p:nvPr/>
        </p:nvSpPr>
        <p:spPr>
          <a:xfrm>
            <a:off x="658440" y="410868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Mișcarea centrală a analistului: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din business în întrebare analitică.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(Da — septembrie a fost −14,9% față de august. Dar un număr singur nu e un răspuns.)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7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IDEEA CENTRALĂ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face de fapt un analist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658440" y="1783080"/>
            <a:ext cx="10874520" cy="17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Mulți cred că un analist e „cine știe Excel și SQL”. Greșit — alea-s ciocanul și șurubelnița.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Nimeni nu-l numește pe tâmplar «persoana care ține ciocanul».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Un analist transformă un „de ce s-a întâmplat?” într-un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răspuns care sprijină o decizie.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Jobul are 7 mișcări: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658440" y="3658320"/>
            <a:ext cx="10874520" cy="8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1 întrebare business → 2 întrebare analitică → 3 ce date → 4 validezi → </a:t>
            </a: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5 analiză (Excel/SQL)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→ 6 interpretezi → 7 comunici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7"/>
          <p:cNvSpPr/>
          <p:nvPr/>
        </p:nvSpPr>
        <p:spPr>
          <a:xfrm>
            <a:off x="658440" y="4529880"/>
            <a:ext cx="10874520" cy="91692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Tool-urile sunt la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pasul 5 din 7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o singură mișcare. Restul e gândire și comunicare.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8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FRAMEWORK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Data Thinking Framework (10 pași)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658440" y="1783080"/>
            <a:ext cx="10874520" cy="183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2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1 Înțelegi problema · 2 Clarifici · 3 Traduci în întrebare analitică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2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4 Identifici datele · 5 Validezi calitatea · 6 Explorezi · 7 Analizezi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2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8 Validezi concluziile · 9 Construiești concluzia · 10 Comunici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6"/>
          <p:cNvSpPr/>
          <p:nvPr/>
        </p:nvSpPr>
        <p:spPr>
          <a:xfrm>
            <a:off x="658440" y="3620880"/>
            <a:ext cx="10874520" cy="198396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Nu-l memora — vezi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forma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: pornește de la o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problemă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(nu un tool), se termină cu o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recomandare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(nu un grafic). Coloana vertebrală: Întrebare → Date → Analiză → Insight → Recomandare.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DEMONSTRAȚIE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Cum gândește Andrei: decizie → ipoteze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658440" y="178308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„Ce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decizie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ia Elena după ce-i răspundem? Răspunsul trebuie să-i spună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unde să apese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nu doar că a scăzut.”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658440" y="3371040"/>
            <a:ext cx="10874520" cy="7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Apoi transformă întrebările în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ipoteze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explicații posibile, neverificate: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658440" y="4191120"/>
            <a:ext cx="10874520" cy="23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A: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e sezonalitate (verifici: compari cu sept. anul trecut)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B: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un magazin slab trage media (verifici: spargi Revenue pe magazin)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C: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n-a rulat nicio campanie (îl întrebi pe Radu, verifici)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3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3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D:</a:t>
            </a:r>
            <a:r>
              <a:rPr lang="en-US" sz="13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am rămas fără best-sellere (îl întrebi pe Mihai, verifici stocul)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10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APLICARE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Cererea Elenei pe framework — unde ești deja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658440" y="1783080"/>
            <a:ext cx="1087452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Pasul 1 (înțelegi problema): Elena trebuie să decidă dacă/unde intervine ✔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Pasul 2 (clarificare): față de ce? care magazine? categorii? sezon? promoții? stoc? ✔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Pasul 3 (întrebare analitică): ai făcut-o ✔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Pașii 4–10: încă nu — aici intervine restul cursului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6"/>
          <p:cNvSpPr/>
          <p:nvPr/>
        </p:nvSpPr>
        <p:spPr>
          <a:xfrm>
            <a:off x="658440" y="441648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În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15 minute de gândire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fără niciun tool, ai parcurs deja primii 3 pași din 7. Asta e valoarea analistului.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GREȘELI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Greșeli pe care le fac aproape toți juniorii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658440" y="1783080"/>
            <a:ext cx="1087452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Sar direct pe tool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mâna e pe Excel înainte de întrebare (tool-ul dă </a:t>
            </a:r>
            <a:r>
              <a:rPr lang="en-US" sz="1500" b="0" i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senzația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de progres)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Răspund la întrebarea literală, nu la decizia din spate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un grafic care arată </a:t>
            </a:r>
            <a:r>
              <a:rPr lang="en-US" sz="1500" b="0" i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că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a scăzut, nu </a:t>
            </a:r>
            <a:r>
              <a:rPr lang="en-US" sz="1500" b="0" i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unde/de 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„A scăzut” fără „față de ce”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o schimbare fără reper nu înseamnă nimic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5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Confundă o presupunere cu un fapt</a:t>
            </a:r>
            <a:r>
              <a:rPr lang="en-US" sz="15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„e clar sezonalitate”, spus înainte de a verifica → e o </a:t>
            </a:r>
            <a:r>
              <a:rPr lang="en-US" sz="15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ipoteză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12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2"/>
          <p:cNvSpPr/>
          <p:nvPr/>
        </p:nvSpPr>
        <p:spPr>
          <a:xfrm>
            <a:off x="658440" y="457200"/>
            <a:ext cx="932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1150" b="1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RECAP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658440" y="896040"/>
            <a:ext cx="932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Ce reții — în 5 idei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4"/>
          <p:cNvSpPr/>
          <p:nvPr/>
        </p:nvSpPr>
        <p:spPr>
          <a:xfrm>
            <a:off x="658440" y="1664280"/>
            <a:ext cx="822600" cy="37800"/>
          </a:xfrm>
          <a:prstGeom prst="rect">
            <a:avLst/>
          </a:prstGeom>
          <a:solidFill>
            <a:srgbClr val="FF7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658440" y="1783080"/>
            <a:ext cx="1087452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Un analist livrează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răspunsuri care sprijină decizii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nu rapoarte și nu tool-uri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Ordinea e sacră: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decizie → întrebare precisă → ipoteze → date → tool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(tool-ul e ultimul)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„A scăzut” nu înseamnă nimic fără un reper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O explicație neverificată e o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ipoteză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, nu un fapt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00"/>
              </a:spcAft>
            </a:pPr>
            <a:r>
              <a:rPr lang="en-US" sz="140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— 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Stakeholderii cer în business;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traducerea în întrebare analitică e treaba 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6"/>
          <p:cNvSpPr/>
          <p:nvPr/>
        </p:nvSpPr>
        <p:spPr>
          <a:xfrm>
            <a:off x="658440" y="3886200"/>
            <a:ext cx="10874520" cy="1450440"/>
          </a:xfrm>
          <a:prstGeom prst="roundRect">
            <a:avLst>
              <a:gd name="adj" fmla="val 16667"/>
            </a:avLst>
          </a:prstGeom>
          <a:solidFill>
            <a:srgbClr val="1B1B1F"/>
          </a:solidFill>
          <a:ln w="12700">
            <a:solidFill>
              <a:srgbClr val="FF7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182880" bIns="91440" anchor="ctr">
            <a:noAutofit/>
          </a:bodyPr>
          <a:p>
            <a:pPr algn="ctr"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Punte: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L2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cum funcționează RetailHub ca business; </a:t>
            </a:r>
            <a:r>
              <a:rPr lang="en-US" sz="14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L3</a:t>
            </a: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— te întorci la cererea Elenei și transformi orice cerere vagă într-una la care se poate răspunde.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13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" descr="orange_systems_logo_dark.png"/>
          <p:cNvPicPr/>
          <p:nvPr/>
        </p:nvPicPr>
        <p:blipFill>
          <a:blip r:embed="rId1"/>
          <a:stretch/>
        </p:blipFill>
        <p:spPr>
          <a:xfrm>
            <a:off x="10116000" y="311040"/>
            <a:ext cx="1416960" cy="5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Box 2"/>
          <p:cNvSpPr/>
          <p:nvPr/>
        </p:nvSpPr>
        <p:spPr>
          <a:xfrm>
            <a:off x="658440" y="2468880"/>
            <a:ext cx="1087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Q&amp;A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A24E"/>
                </a:solidFill>
                <a:effectLst/>
                <a:uFillTx/>
                <a:latin typeface="Consolas"/>
              </a:rPr>
              <a:t>Întrebări · discuție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658440" y="6382440"/>
            <a:ext cx="1087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7900"/>
                </a:solidFill>
                <a:effectLst/>
                <a:uFillTx/>
                <a:latin typeface="Consolas"/>
              </a:rPr>
              <a:t>● </a:t>
            </a: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Orange Systems  ·  Data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9247320" y="63824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77777C"/>
                </a:solidFill>
                <a:effectLst/>
                <a:uFillTx/>
                <a:latin typeface="Consolas"/>
              </a:rPr>
              <a:t>L1 · Rolul analistului  ·  14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2026-09-21T22:34:58Z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