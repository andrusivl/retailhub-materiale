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lecție «pură de gândire» înainte de date. Ideea unică: o întrebare mare nu se rezolvă frontal — se despică. Ordinea: reper → unde → ce → cum → de 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L2: fiecare tabel are proprietar + KPI; o întrebare atinge mai multe departamente; deține ≠ explică. Puntea: azi metoda de despicare.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Elena frustrată: a primit un grafic care arată CĂ a scăzut. Andrei: n-o rezolvi, o despici.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«De ce a scăzut Revenue?» = o sută de întrebări îndesate în una. Ataci frontal → te oprești la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Exercițiu de reflex: nu-ți trebuie o întrebare deșteaptă, ci ordinea potrivită.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Tabelul ramurilor. Ordinea: reper → unde → ce → cum → de ce. Fiecare ramură se leagă de harta 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1 — intuiția. Medicul taie posibilitățile cu întrebări. «De ce a scăzut Revenue?» = «mă doare burta».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2 — structura. 3 proprietăți + arborele desenat. A tăia = jumătate din meserie.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3 — aplicarea. N-ai datele, dar ai harta drumului. L1+L2+L3 = analist care știe ce are de făcut.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Andrei parcurge arborele ca și cum ar avea datele. N-a rezolvat nimic — dar are un drum. N-a sărit la «e clar campania».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greșeli din §11. Testul fiecărui nod: schimbă răspunsul unde mă uit mai departe?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5 idei + puntea spre L4 (KPI). Trusa completă: traducere + hartă + despicare.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1 · LECȚIA 3 · A TREIA LECȚIE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De la problemă de business la întrebare analitică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Decision Tree — despici o întrebare mare în întrebări mici, verificabile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25 septembrie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traducerea și harta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L1:</a:t>
            </a:r>
            <a:r>
              <a:rPr b="0" sz="1500">
                <a:solidFill>
                  <a:srgbClr val="F2F2F2"/>
                </a:solidFill>
                <a:latin typeface="Arial"/>
              </a:rPr>
              <a:t> traduci o cerere vagă într-o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întrebare analitică</a:t>
            </a:r>
            <a:r>
              <a:rPr b="0" sz="1500">
                <a:solidFill>
                  <a:srgbClr val="F2F2F2"/>
                </a:solidFill>
                <a:latin typeface="Arial"/>
              </a:rPr>
              <a:t> (măsură + reper)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L2:</a:t>
            </a:r>
            <a:r>
              <a:rPr b="0" sz="1500">
                <a:solidFill>
                  <a:srgbClr val="F2F2F2"/>
                </a:solidFill>
                <a:latin typeface="Arial"/>
              </a:rPr>
              <a:t> știi </a:t>
            </a:r>
            <a:r>
              <a:rPr i="1" sz="1500">
                <a:solidFill>
                  <a:srgbClr val="F2F2F2"/>
                </a:solidFill>
                <a:latin typeface="Arial"/>
              </a:rPr>
              <a:t>unde trăiește răspunsul</a:t>
            </a:r>
            <a:r>
              <a:rPr b="0" sz="1500">
                <a:solidFill>
                  <a:srgbClr val="F2F2F2"/>
                </a:solidFill>
                <a:latin typeface="Arial"/>
              </a:rPr>
              <a:t> — ce tabel, ce departament, ce KPI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L2:</a:t>
            </a:r>
            <a:r>
              <a:rPr b="0" sz="1500">
                <a:solidFill>
                  <a:srgbClr val="F2F2F2"/>
                </a:solidFill>
                <a:latin typeface="Arial"/>
              </a:rPr>
              <a:t> cine </a:t>
            </a:r>
            <a:r>
              <a:rPr b="1" sz="1500">
                <a:solidFill>
                  <a:srgbClr val="F2F2F2"/>
                </a:solidFill>
                <a:latin typeface="Arial"/>
              </a:rPr>
              <a:t>deține</a:t>
            </a:r>
            <a:r>
              <a:rPr b="0" sz="1500">
                <a:solidFill>
                  <a:srgbClr val="F2F2F2"/>
                </a:solidFill>
                <a:latin typeface="Arial"/>
              </a:rPr>
              <a:t> un KPI ≠ cine îi poate </a:t>
            </a:r>
            <a:r>
              <a:rPr b="1" sz="1500">
                <a:solidFill>
                  <a:srgbClr val="F2F2F2"/>
                </a:solidFill>
                <a:latin typeface="Arial"/>
              </a:rPr>
              <a:t>explica</a:t>
            </a:r>
            <a:r>
              <a:rPr b="0" sz="1500">
                <a:solidFill>
                  <a:srgbClr val="F2F2F2"/>
                </a:solidFill>
                <a:latin typeface="Arial"/>
              </a:rPr>
              <a:t> schimbarea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legi cele două piese cu instrumentul care face munca grea: </a:t>
            </a:r>
            <a:r>
              <a:rPr b="1" sz="1400">
                <a:solidFill>
                  <a:srgbClr val="F2F2F2"/>
                </a:solidFill>
                <a:latin typeface="Arial"/>
              </a:rPr>
              <a:t>Decision Tree</a:t>
            </a:r>
            <a:r>
              <a:rPr b="0" sz="1400">
                <a:solidFill>
                  <a:srgbClr val="F2F2F2"/>
                </a:solidFill>
                <a:latin typeface="Arial"/>
              </a:rPr>
              <a:t> — cum spargi o întrebare imposibil de mare în întrebări mici la care chiar poți răspunde.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iei o cerere vagă («de ce au scăzut vânzările?») și să n-o mai vezi ca pe un zid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construiești un </a:t>
            </a:r>
            <a:r>
              <a:rPr b="1" sz="1400">
                <a:solidFill>
                  <a:srgbClr val="F2F2F2"/>
                </a:solidFill>
                <a:latin typeface="Arial"/>
              </a:rPr>
              <a:t>Decision Tree</a:t>
            </a:r>
            <a:r>
              <a:rPr b="0" sz="1400">
                <a:solidFill>
                  <a:srgbClr val="F2F2F2"/>
                </a:solidFill>
                <a:latin typeface="Arial"/>
              </a:rPr>
              <a:t>: întrebări mici, fiecare cu răspuns verificabil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tai ramuri</a:t>
            </a:r>
            <a:r>
              <a:rPr b="0" sz="1400">
                <a:solidFill>
                  <a:srgbClr val="F2F2F2"/>
                </a:solidFill>
                <a:latin typeface="Arial"/>
              </a:rPr>
              <a:t> pe care datele le exclud, nu să te oprești la prima explicație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știi, la fiecare ramură, </a:t>
            </a:r>
            <a:r>
              <a:rPr i="1" sz="1400">
                <a:solidFill>
                  <a:srgbClr val="F2F2F2"/>
                </a:solidFill>
                <a:latin typeface="Arial"/>
              </a:rPr>
              <a:t>ce tabel/departament</a:t>
            </a:r>
            <a:r>
              <a:rPr b="0" sz="1400">
                <a:solidFill>
                  <a:srgbClr val="F2F2F2"/>
                </a:solidFill>
                <a:latin typeface="Arial"/>
              </a:rPr>
              <a:t> să verifici (harta din L2)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Tot fără tool — e ultima lecție «pură de gândire» înainte să apară datele.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Elena se întoarce — și nu e mulțumită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Elena: «Am primit un grafic care îmi arată </a:t>
            </a:r>
            <a:r>
              <a:rPr i="1" sz="1400">
                <a:solidFill>
                  <a:srgbClr val="F2F2F2"/>
                </a:solidFill>
                <a:latin typeface="Arial"/>
              </a:rPr>
              <a:t>că</a:t>
            </a:r>
            <a:r>
              <a:rPr b="0" sz="1400">
                <a:solidFill>
                  <a:srgbClr val="F2F2F2"/>
                </a:solidFill>
                <a:latin typeface="Arial"/>
              </a:rPr>
              <a:t> au scăzut vânzările. Asta știam și eu. Am nevoie de ceva pe care să pot </a:t>
            </a:r>
            <a:r>
              <a:rPr b="1" sz="1400">
                <a:solidFill>
                  <a:srgbClr val="F2F2F2"/>
                </a:solidFill>
                <a:latin typeface="Arial"/>
              </a:rPr>
              <a:t>acționa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unde anume s-a rupt, ca să știu unde să intervin.»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Te blochezi: întrebarea «de ce a scăzut Revenue în septembrie?» e </a:t>
            </a:r>
            <a:r>
              <a:rPr b="1" sz="1500">
                <a:solidFill>
                  <a:srgbClr val="F2F2F2"/>
                </a:solidFill>
                <a:latin typeface="Arial"/>
              </a:rPr>
              <a:t>prea mare</a:t>
            </a:r>
            <a:r>
              <a:rPr b="0" sz="1500">
                <a:solidFill>
                  <a:srgbClr val="F2F2F2"/>
                </a:solidFill>
                <a:latin typeface="Arial"/>
              </a:rPr>
              <a:t>. Pe unde începi — magazine? categorii? campanii? stoc? Andrei se așază lângă tine: «Te blochezi pentru că încerci să răspunzi la toată întrebarea dintr-o mișcare. </a:t>
            </a:r>
            <a:r>
              <a:rPr b="1" sz="1500">
                <a:solidFill>
                  <a:srgbClr val="F2F2F2"/>
                </a:solidFill>
                <a:latin typeface="Arial"/>
              </a:rPr>
              <a:t>N-o rezolvi, o despici.</a:t>
            </a:r>
            <a:r>
              <a:rPr b="0" sz="1500">
                <a:solidFill>
                  <a:srgbClr val="F2F2F2"/>
                </a:solidFill>
                <a:latin typeface="Arial"/>
              </a:rPr>
              <a:t>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întrebare prea mare te paralizează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«De ce a scăzut Revenue în septembrie?» pare o întrebare. De fapt e o </a:t>
            </a:r>
            <a:r>
              <a:rPr i="1" sz="1500">
                <a:solidFill>
                  <a:srgbClr val="F2F2F2"/>
                </a:solidFill>
                <a:latin typeface="Arial"/>
              </a:rPr>
              <a:t>sută</a:t>
            </a:r>
            <a:r>
              <a:rPr b="0" sz="1500">
                <a:solidFill>
                  <a:srgbClr val="F2F2F2"/>
                </a:solidFill>
                <a:latin typeface="Arial"/>
              </a:rPr>
              <a:t> de întrebări: a scăzut peste tot sau doar la Cluj? La toate categoriile sau doar la electronice? Din mai puține comenzi sau comenzi mai mici? Din sezon? Din lipsă de campanie? Din stoc?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întrebare mare nu se rezolvă frontal. </a:t>
            </a:r>
            <a:r>
              <a:rPr b="1" sz="1400">
                <a:solidFill>
                  <a:srgbClr val="F2F2F2"/>
                </a:solidFill>
                <a:latin typeface="Arial"/>
              </a:rPr>
              <a:t>Se rezolvă spărgând-o</a:t>
            </a:r>
            <a:r>
              <a:rPr b="0" sz="1400">
                <a:solidFill>
                  <a:srgbClr val="F2F2F2"/>
                </a:solidFill>
                <a:latin typeface="Arial"/>
              </a:rPr>
              <a:t> — până ajungi la întrebări atât de mici încât fiecare are un răspuns clar, verificabil, dintr-un singur loc.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singură întrebare pe rând — care ar fi prima?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Imaginează-ți că poți pune o singură întrebare o dată, iar fiecare răspuns îți spune pe unde să mergi mai departe. Care ar fi </a:t>
            </a:r>
            <a:r>
              <a:rPr b="1" sz="1500">
                <a:solidFill>
                  <a:srgbClr val="F2F2F2"/>
                </a:solidFill>
                <a:latin typeface="Arial"/>
              </a:rPr>
              <a:t>prima</a:t>
            </a:r>
            <a:r>
              <a:rPr b="0" sz="1500">
                <a:solidFill>
                  <a:srgbClr val="F2F2F2"/>
                </a:solidFill>
                <a:latin typeface="Arial"/>
              </a:rPr>
              <a:t>? Aproape sigur: </a:t>
            </a:r>
            <a:r>
              <a:rPr i="1" sz="1500">
                <a:solidFill>
                  <a:srgbClr val="F2F2F2"/>
                </a:solidFill>
                <a:latin typeface="Arial"/>
              </a:rPr>
              <a:t>întâi confirm că a scăzut, față de ce; apoi văd dacă e peste tot sau doar undeva; apoi cobor în «undeva».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Nu-ți trebuie o întrebare deșteaptă — îți trebuie </a:t>
            </a:r>
            <a:r>
              <a:rPr b="1" sz="1400">
                <a:solidFill>
                  <a:srgbClr val="F2F2F2"/>
                </a:solidFill>
                <a:latin typeface="Arial"/>
              </a:rPr>
              <a:t>ordinea</a:t>
            </a:r>
            <a:r>
              <a:rPr b="0" sz="1400">
                <a:solidFill>
                  <a:srgbClr val="F2F2F2"/>
                </a:solidFill>
                <a:latin typeface="Arial"/>
              </a:rPr>
              <a:t> potrivită: fiecare întrebare taie problema în două și te trimite pe ramura care contează. Asta e un Decision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Fiecare ramură = o întrebare mică, verificabilă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Regula fiecărei ramuri: un </a:t>
            </a:r>
            <a:r>
              <a:rPr b="1" sz="1500">
                <a:solidFill>
                  <a:srgbClr val="F2F2F2"/>
                </a:solidFill>
                <a:latin typeface="Arial"/>
              </a:rPr>
              <a:t>răspuns clar din date</a:t>
            </a:r>
            <a:r>
              <a:rPr b="0" sz="1500">
                <a:solidFill>
                  <a:srgbClr val="F2F2F2"/>
                </a:solidFill>
                <a:latin typeface="Arial"/>
              </a:rPr>
              <a:t> și te </a:t>
            </a:r>
            <a:r>
              <a:rPr b="1" sz="1500">
                <a:solidFill>
                  <a:srgbClr val="F2F2F2"/>
                </a:solidFill>
                <a:latin typeface="Arial"/>
              </a:rPr>
              <a:t>trimite mai departe</a:t>
            </a:r>
            <a:r>
              <a:rPr b="0" sz="1500">
                <a:solidFill>
                  <a:srgbClr val="F2F2F2"/>
                </a:solidFill>
                <a:latin typeface="Arial"/>
              </a:rPr>
              <a:t>. Prima ramură nu e despre cauză — e despre </a:t>
            </a:r>
            <a:r>
              <a:rPr i="1" sz="1500">
                <a:solidFill>
                  <a:srgbClr val="F2F2F2"/>
                </a:solidFill>
                <a:latin typeface="Arial"/>
              </a:rPr>
              <a:t>dacă întrebarea are sens</a:t>
            </a:r>
            <a:r>
              <a:rPr b="0" sz="1500">
                <a:solidFill>
                  <a:srgbClr val="F2F2F2"/>
                </a:solidFill>
                <a:latin typeface="Arial"/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30764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Ramura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Întrebarea mică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faci cu răspunsul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Reper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Chiar a scăzut — față de aug și sep 2024?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Dacă nu, poate e sezon. Dacă da, mergi.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Unde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Toate magazinele sau doar unele?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Izolezi magazinul care trage în jos.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Toate categoriile sau doar una?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Izolezi categoria.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Cum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Mai puține comenzi sau comenzi mai mici?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Două cauze, decizii diferite.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De ce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Sezon? Campanie lipsă? Stoc epuizat?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Cauza verificabilă — și la cine (Radu/Mihai).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Analogia: cum gândește un medic bun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Vii la un medic bun cu «mă doare burta». Nu-ți dă imediat un diagnostic. Pune întrebări care </a:t>
            </a:r>
            <a:r>
              <a:rPr b="1" sz="1500">
                <a:solidFill>
                  <a:srgbClr val="F2F2F2"/>
                </a:solidFill>
                <a:latin typeface="Arial"/>
              </a:rPr>
              <a:t>taie</a:t>
            </a:r>
            <a:r>
              <a:rPr b="0" sz="1500">
                <a:solidFill>
                  <a:srgbClr val="F2F2F2"/>
                </a:solidFill>
                <a:latin typeface="Arial"/>
              </a:rPr>
              <a:t> posibilitățile: sus sau jos? de când? după ce-ai mâncat? Fiecare răspuns elimină jumătate din cauze. În câteva întrebări ajunge de la o sută de cauze la două-trei pe care le poate testa.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85841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analist face exact la fel. «De ce a scăzut Revenue?» e «mă doare burta». </a:t>
            </a:r>
            <a:r>
              <a:rPr b="1" sz="1400">
                <a:solidFill>
                  <a:srgbClr val="F2F2F2"/>
                </a:solidFill>
                <a:latin typeface="Arial"/>
              </a:rPr>
              <a:t>Decision Tree-ul e setul de întrebări care taie, pas cu pas, până rămân două-trei cauze verificabile.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Decision Tree bun — trei proprietăți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Fiecare nod</a:t>
            </a:r>
            <a:r>
              <a:rPr b="0" sz="1300">
                <a:solidFill>
                  <a:srgbClr val="F2F2F2"/>
                </a:solidFill>
                <a:latin typeface="Arial"/>
              </a:rPr>
              <a:t> e o întrebare cu </a:t>
            </a:r>
            <a:r>
              <a:rPr b="1" sz="1300">
                <a:solidFill>
                  <a:srgbClr val="F2F2F2"/>
                </a:solidFill>
                <a:latin typeface="Arial"/>
              </a:rPr>
              <a:t>răspuns din date</a:t>
            </a:r>
            <a:r>
              <a:rPr b="0" sz="1300">
                <a:solidFill>
                  <a:srgbClr val="F2F2F2"/>
                </a:solidFill>
                <a:latin typeface="Arial"/>
              </a:rPr>
              <a:t> (nu o părere)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Fiecare ramură îngustează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dacă nu schimbă unde te uiți, arunc-o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Tai ramurile</a:t>
            </a:r>
            <a:r>
              <a:rPr b="0" sz="1300">
                <a:solidFill>
                  <a:srgbClr val="F2F2F2"/>
                </a:solidFill>
                <a:latin typeface="Arial"/>
              </a:rPr>
              <a:t> pe care datele le exclud — a tăia = jumătate din meserie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165506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Revenue a scazut in septembrie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└ Reper: fata de aug 2025 · sep 2024?  → nu: sezon, nu intervii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└ Unde: toate magazinele sau unele?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└ Ce: toate categoriile sau una?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   └ Cum: mai putine comenzi sau mai mici?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      └ De ce: sezon? campanie? stoc?  → cauza + la 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Arborele pe cazul Elenei = planul de atac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Pe cazul Elenei, arborele nu e teorie — e planul tău de atac. Nu ai încă datele (vin în Modulul 2), dar ai deja </a:t>
            </a:r>
            <a:r>
              <a:rPr i="1" sz="1500">
                <a:solidFill>
                  <a:srgbClr val="F2F2F2"/>
                </a:solidFill>
                <a:latin typeface="Arial"/>
              </a:rPr>
              <a:t>harta drumului</a:t>
            </a:r>
            <a:r>
              <a:rPr b="0" sz="1500">
                <a:solidFill>
                  <a:srgbClr val="F2F2F2"/>
                </a:solidFill>
                <a:latin typeface="Arial"/>
              </a:rPr>
              <a:t>: știi ce vei întreba, în ce ordine, și ce tabel îți răspunde. La «campanie lipsă?» → </a:t>
            </a:r>
            <a:r>
              <a:rPr sz="15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500">
                <a:solidFill>
                  <a:srgbClr val="F2F2F2"/>
                </a:solidFill>
                <a:latin typeface="Arial"/>
              </a:rPr>
              <a:t> (Radu). La «stoc?» → </a:t>
            </a:r>
            <a:r>
              <a:rPr sz="15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500">
                <a:solidFill>
                  <a:srgbClr val="F2F2F2"/>
                </a:solidFill>
                <a:latin typeface="Arial"/>
              </a:rPr>
              <a:t> (Mihai).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Decision Tree (L3) + harta (L2) + traducerea (L1) = un analist care știe exact ce are de făcut </a:t>
            </a:r>
            <a:r>
              <a:rPr b="1" sz="14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400">
                <a:solidFill>
                  <a:srgbClr val="F2F2F2"/>
                </a:solidFill>
                <a:latin typeface="Arial"/>
              </a:rPr>
              <a:t> să atingă un singur fișier.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parcurge Andrei arborele, cu voce tare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«Reper: a scăzut real? Da. Unde? Sparg pe magazine — Cluj s-a prăbușit, am tăiat 7 magazine. Ce? Doar electronice, am tăiat restul. Cum? Mai puține comenzi. De ce? Campanie lipsă (</a:t>
            </a:r>
            <a:r>
              <a:rPr sz="14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400">
                <a:solidFill>
                  <a:srgbClr val="F2F2F2"/>
                </a:solidFill>
                <a:latin typeface="Arial"/>
              </a:rPr>
              <a:t>) sau stoc (</a:t>
            </a:r>
            <a:r>
              <a:rPr sz="14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400">
                <a:solidFill>
                  <a:srgbClr val="F2F2F2"/>
                </a:solidFill>
                <a:latin typeface="Arial"/>
              </a:rPr>
              <a:t>).»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subliniază mișcarea: «N-am rezolvat nimic — n-am nicio cifră încă. Dar am un </a:t>
            </a:r>
            <a:r>
              <a:rPr b="1" sz="1500">
                <a:solidFill>
                  <a:srgbClr val="F2F2F2"/>
                </a:solidFill>
                <a:latin typeface="Arial"/>
              </a:rPr>
              <a:t>drum</a:t>
            </a:r>
            <a:r>
              <a:rPr b="0" sz="1500">
                <a:solidFill>
                  <a:srgbClr val="F2F2F2"/>
                </a:solidFill>
                <a:latin typeface="Arial"/>
              </a:rPr>
              <a:t>: cinci întrebări mici în loc de una imposibilă, și fiecare îmi spune ce tabel deschid.» N-a sărit la «e clar campania» — a lăsat arborele să-l ducă acolo, tăind pe drum.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Atacă întrebarea mare frontal</a:t>
            </a:r>
            <a:r>
              <a:rPr b="0" sz="1300">
                <a:solidFill>
                  <a:srgbClr val="F2F2F2"/>
                </a:solidFill>
                <a:latin typeface="Arial"/>
              </a:rPr>
              <a:t> — prima mișcare nu e un răspuns, e o ramură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Sar peste nodul-reper</a:t>
            </a:r>
            <a:r>
              <a:rPr b="0" sz="1300">
                <a:solidFill>
                  <a:srgbClr val="F2F2F2"/>
                </a:solidFill>
                <a:latin typeface="Arial"/>
              </a:rPr>
              <a:t> — «e din cauza campaniei?» fără să confirme scăderea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Se opresc la prima ramură care sună bine</a:t>
            </a:r>
            <a:r>
              <a:rPr b="0" sz="1300">
                <a:solidFill>
                  <a:srgbClr val="F2F2F2"/>
                </a:solidFill>
                <a:latin typeface="Arial"/>
              </a:rPr>
              <a:t> — bias de confirmare; tai pe dovezi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Construiesc noduri care nu îngustează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vagi, nu taie nimic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O întrebare prea mare </a:t>
            </a:r>
            <a:r>
              <a:rPr b="1" sz="1300">
                <a:solidFill>
                  <a:srgbClr val="F2F2F2"/>
                </a:solidFill>
                <a:latin typeface="Arial"/>
              </a:rPr>
              <a:t>nu se rezolvă frontal — se despică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Ordinea narativă: </a:t>
            </a:r>
            <a:r>
              <a:rPr b="1" sz="1300">
                <a:solidFill>
                  <a:srgbClr val="F2F2F2"/>
                </a:solidFill>
                <a:latin typeface="Arial"/>
              </a:rPr>
              <a:t>reper → unde → ce → cum → de ce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Fiecare nod bun are </a:t>
            </a:r>
            <a:r>
              <a:rPr b="1" sz="1300">
                <a:solidFill>
                  <a:srgbClr val="F2F2F2"/>
                </a:solidFill>
                <a:latin typeface="Arial"/>
              </a:rPr>
              <a:t>răspuns din date</a:t>
            </a:r>
            <a:r>
              <a:rPr b="0" sz="1300">
                <a:solidFill>
                  <a:srgbClr val="F2F2F2"/>
                </a:solidFill>
                <a:latin typeface="Arial"/>
              </a:rPr>
              <a:t> și </a:t>
            </a:r>
            <a:r>
              <a:rPr b="1" sz="1300">
                <a:solidFill>
                  <a:srgbClr val="F2F2F2"/>
                </a:solidFill>
                <a:latin typeface="Arial"/>
              </a:rPr>
              <a:t>îngustează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 tăia</a:t>
            </a:r>
            <a:r>
              <a:rPr b="0" sz="1300">
                <a:solidFill>
                  <a:srgbClr val="F2F2F2"/>
                </a:solidFill>
                <a:latin typeface="Arial"/>
              </a:rPr>
              <a:t> o ramură (pe care datele o exclud) e la fel de valoros ca a găsi una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Fiecare frunză se leagă de </a:t>
            </a:r>
            <a:r>
              <a:rPr b="1" sz="1300">
                <a:solidFill>
                  <a:srgbClr val="F2F2F2"/>
                </a:solidFill>
                <a:latin typeface="Arial"/>
              </a:rPr>
              <a:t>harta</a:t>
            </a:r>
            <a:r>
              <a:rPr b="0" sz="1300">
                <a:solidFill>
                  <a:srgbClr val="F2F2F2"/>
                </a:solidFill>
                <a:latin typeface="Arial"/>
              </a:rPr>
              <a:t> din L2: ce tabel/departament verifici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Punte: </a:t>
            </a:r>
            <a:r>
              <a:rPr b="1" sz="1400">
                <a:solidFill>
                  <a:srgbClr val="F2F2F2"/>
                </a:solidFill>
                <a:latin typeface="Arial"/>
              </a:rPr>
              <a:t>L4</a:t>
            </a:r>
            <a:r>
              <a:rPr b="0" sz="1400">
                <a:solidFill>
                  <a:srgbClr val="F2F2F2"/>
                </a:solidFill>
                <a:latin typeface="Arial"/>
              </a:rPr>
              <a:t> — ce e, de fapt, un </a:t>
            </a:r>
            <a:r>
              <a:rPr b="1" sz="1400">
                <a:solidFill>
                  <a:srgbClr val="F2F2F2"/>
                </a:solidFill>
                <a:latin typeface="Arial"/>
              </a:rPr>
              <a:t>KPI</a:t>
            </a:r>
            <a:r>
              <a:rPr b="0" sz="1400">
                <a:solidFill>
                  <a:srgbClr val="F2F2F2"/>
                </a:solidFill>
                <a:latin typeface="Arial"/>
              </a:rPr>
              <a:t>. Ai despicat întrebarea în ramuri; urmează să înțelegi exact ce </a:t>
            </a:r>
            <a:r>
              <a:rPr i="1" sz="1400">
                <a:solidFill>
                  <a:srgbClr val="F2F2F2"/>
                </a:solidFill>
                <a:latin typeface="Arial"/>
              </a:rPr>
              <a:t>măsoară</a:t>
            </a:r>
            <a:r>
              <a:rPr b="0" sz="1400">
                <a:solidFill>
                  <a:srgbClr val="F2F2F2"/>
                </a:solidFill>
                <a:latin typeface="Arial"/>
              </a:rPr>
              <a:t> fiecare frunză.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 · Decision Tree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