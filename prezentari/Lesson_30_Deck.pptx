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La L28 ai construit un dashboard viu; la L29 l-ai făcut să comunice (Findings → Insights → Recommendations). Azi ultimul pas: să-l PREZINȚI board-ului — în 3 minute, cu o sală ocupată și sceptică. Ideea centrală: deschizi cu Bottom Line Up Front — recomandarea și de ce, întâi. E investigația din septembrie, LIVRATĂ. Închide Modulul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L29: dashboard-ul viu (L28) devenit dashboard care comunică — structurat pe Findings → Insights → Recommendations. Puntea: un dashboard bun într-un mail nu e același lucru cu a convinge o sală.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Azi nu mai construiești — livrezi.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îi dă dashboard-ul înapoi cu o veste: vineri prezintă ea, el doar o prezintă. Board-ul are 3 minute, sală ocupată; CEO vrea decizia, Mihai va zice «n-avem date», Radu întreabă de canale.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Ioana a prezentat prima. A pornit cu 3 minute de metodologie (am luat datele, am făcut 12 grafice…), fără să ajungă la punct. CEO-ul s-a uitat pe telefon. La prima obiecție a lui Mihai, a cedat: «mai adun date și revin». Recomandarea a murit acolo. Două greșeli: îngroapă mesajul + cedează la obiecție.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celor 4 mișcări din §5. BLUF · povestea · adaptarea la public · obiecțiile.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Pilotul nu spune «am verificat vremea, trei rapoarte, turnul…» și abia la final «întârziem 20 min». Spune întâi concluzia. O prezentare executivă e la fel: răspunsul întâi (BLUF), apoi drumul — invers față de cum ai descoperit 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 — structura. Tabelul cu cele 5 piese din §6.2, cu exemplul de la noi.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— deschizi cu BLUF, în primele 15 secunde, înainte de orice grafic. Pasul 2 — executive summary de un paragraf: situație → descoperire → recomandare → impact; plasa de siguranță dacă ai 30 de secunde.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— plimbi board-ul prin dashboard în 3 bătăi, exact zonele din L29: Situație (Findings) sus, Complicație (Insights) mijloc, Rezolvare (Recommendations) jos. Un deget pe fiecare zonă; spui povestea, nu citești toate cifrele.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— aceeași poveste, accente diferite. CEO: decizia + impactul. Mihai (Supply Chain): stocul. Radu (Marketing): canalele. Când cineva întreabă, răspunzi pe limba lui. Ai o propoziție pregătită pentru fiecare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5 — trei obiecții probabile, cu răspuns pregătit. Cheia: reîncadrezi (o decizie sub incertitudine + dovada + riscul inacțiunii), nu promiți «mai adun date și revin». Aici e diferența față de Ioana.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greșeli din §11: îngropi mesajul, cedezi la prima obiecție, citești toate graficele, aceeași livrare pentru toți.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idei din §12 + milestone (închide Modulul 5) + puntea spre L31 (Modulul 6, lucrezi singur).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5 · LECȚIA 30 · ÎNCHIDE MODULUL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Prezinți board-ului — Bottom Line Up 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Dashboard → Prezentare care convinge board-ul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13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dashboard-ul care comunică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L28:</a:t>
            </a:r>
            <a:r>
              <a:rPr b="0" sz="1500">
                <a:solidFill>
                  <a:srgbClr val="F2F2F2"/>
                </a:solidFill>
                <a:latin typeface="Arial"/>
              </a:rPr>
              <a:t> un dashboard </a:t>
            </a:r>
            <a:r>
              <a:rPr b="1" sz="1500">
                <a:solidFill>
                  <a:srgbClr val="F2F2F2"/>
                </a:solidFill>
                <a:latin typeface="Arial"/>
              </a:rPr>
              <a:t>viu</a:t>
            </a:r>
            <a:r>
              <a:rPr b="0" sz="1500">
                <a:solidFill>
                  <a:srgbClr val="F2F2F2"/>
                </a:solidFill>
                <a:latin typeface="Arial"/>
              </a:rPr>
              <a:t> — se reîmprospătează singur, de partajat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L29:</a:t>
            </a:r>
            <a:r>
              <a:rPr b="0" sz="1500">
                <a:solidFill>
                  <a:srgbClr val="F2F2F2"/>
                </a:solidFill>
                <a:latin typeface="Arial"/>
              </a:rPr>
              <a:t> l-ai făcut să </a:t>
            </a:r>
            <a:r>
              <a:rPr b="1" sz="1500">
                <a:solidFill>
                  <a:srgbClr val="F2F2F2"/>
                </a:solidFill>
                <a:latin typeface="Arial"/>
              </a:rPr>
              <a:t>comunice</a:t>
            </a:r>
            <a:r>
              <a:rPr b="0" sz="1500">
                <a:solidFill>
                  <a:srgbClr val="F2F2F2"/>
                </a:solidFill>
                <a:latin typeface="Arial"/>
              </a:rPr>
              <a:t> — structurat pe </a:t>
            </a:r>
            <a:r>
              <a:rPr b="1" sz="1500">
                <a:solidFill>
                  <a:srgbClr val="F2F2F2"/>
                </a:solidFill>
                <a:latin typeface="Arial"/>
              </a:rPr>
              <a:t>Findings → Insights → Recommendations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F: septembrie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500">
                <a:solidFill>
                  <a:srgbClr val="F2F2F2"/>
                </a:solidFill>
                <a:latin typeface="Arial"/>
              </a:rPr>
              <a:t> · I: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500">
                <a:solidFill>
                  <a:srgbClr val="F2F2F2"/>
                </a:solidFill>
                <a:latin typeface="Arial"/>
              </a:rPr>
              <a:t>, stoc + zero campanie · R: reaprovizionare + campanie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un dashboard bun într-un mail </a:t>
            </a:r>
            <a:r>
              <a:rPr b="1" sz="1400">
                <a:solidFill>
                  <a:srgbClr val="F2F2F2"/>
                </a:solidFill>
                <a:latin typeface="Arial"/>
              </a:rPr>
              <a:t>nu</a:t>
            </a:r>
            <a:r>
              <a:rPr b="0" sz="1400">
                <a:solidFill>
                  <a:srgbClr val="F2F2F2"/>
                </a:solidFill>
                <a:latin typeface="Arial"/>
              </a:rPr>
              <a:t> e același lucru cu a convinge o sală. Azi înveți ultimul pas: să-ți </a:t>
            </a:r>
            <a:r>
              <a:rPr b="1" sz="1400">
                <a:solidFill>
                  <a:srgbClr val="F2F2F2"/>
                </a:solidFill>
                <a:latin typeface="Arial"/>
              </a:rPr>
              <a:t>prezinți</a:t>
            </a:r>
            <a:r>
              <a:rPr b="0" sz="1400">
                <a:solidFill>
                  <a:srgbClr val="F2F2F2"/>
                </a:solidFill>
                <a:latin typeface="Arial"/>
              </a:rPr>
              <a:t> răspunsul board-ului — în 3 minute, cu o sală ocupată și sceptică.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deschizi cu </a:t>
            </a:r>
            <a:r>
              <a:rPr b="1" sz="1400">
                <a:solidFill>
                  <a:srgbClr val="F2F2F2"/>
                </a:solidFill>
                <a:latin typeface="Arial"/>
              </a:rPr>
              <a:t>Bottom Line Up Front (BLUF)</a:t>
            </a:r>
            <a:r>
              <a:rPr b="0" sz="1400">
                <a:solidFill>
                  <a:srgbClr val="F2F2F2"/>
                </a:solidFill>
                <a:latin typeface="Arial"/>
              </a:rPr>
              <a:t> — recomandarea + de ce, într-o propoziție, </a:t>
            </a:r>
            <a:r>
              <a:rPr b="1" sz="1400">
                <a:solidFill>
                  <a:srgbClr val="F2F2F2"/>
                </a:solidFill>
                <a:latin typeface="Arial"/>
              </a:rPr>
              <a:t>prima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scrii un </a:t>
            </a:r>
            <a:r>
              <a:rPr b="1" sz="1400">
                <a:solidFill>
                  <a:srgbClr val="F2F2F2"/>
                </a:solidFill>
                <a:latin typeface="Arial"/>
              </a:rPr>
              <a:t>executive summary</a:t>
            </a:r>
            <a:r>
              <a:rPr b="0" sz="1400">
                <a:solidFill>
                  <a:srgbClr val="F2F2F2"/>
                </a:solidFill>
                <a:latin typeface="Arial"/>
              </a:rPr>
              <a:t> (un paragraf: situație → descoperire → recomandare → impact)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spui povestea ca un arc: </a:t>
            </a:r>
            <a:r>
              <a:rPr b="1" sz="1400">
                <a:solidFill>
                  <a:srgbClr val="F2F2F2"/>
                </a:solidFill>
                <a:latin typeface="Arial"/>
              </a:rPr>
              <a:t>Situație → Complicație → Rezolvare</a:t>
            </a:r>
            <a:r>
              <a:rPr b="0" sz="1400">
                <a:solidFill>
                  <a:srgbClr val="F2F2F2"/>
                </a:solidFill>
                <a:latin typeface="Arial"/>
              </a:rPr>
              <a:t> (= Findings → Insights → Recommendations)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te </a:t>
            </a:r>
            <a:r>
              <a:rPr b="1" sz="1400">
                <a:solidFill>
                  <a:srgbClr val="F2F2F2"/>
                </a:solidFill>
                <a:latin typeface="Arial"/>
              </a:rPr>
              <a:t>adaptezi la public</a:t>
            </a:r>
            <a:r>
              <a:rPr b="0" sz="1400">
                <a:solidFill>
                  <a:srgbClr val="F2F2F2"/>
                </a:solidFill>
                <a:latin typeface="Arial"/>
              </a:rPr>
              <a:t> și să </a:t>
            </a:r>
            <a:r>
              <a:rPr b="1" sz="1400">
                <a:solidFill>
                  <a:srgbClr val="F2F2F2"/>
                </a:solidFill>
                <a:latin typeface="Arial"/>
              </a:rPr>
              <a:t>gestionezi obiecțiile</a:t>
            </a:r>
            <a:r>
              <a:rPr b="0" sz="1400">
                <a:solidFill>
                  <a:srgbClr val="F2F2F2"/>
                </a:solidFill>
                <a:latin typeface="Arial"/>
              </a:rPr>
              <a:t> — mai ales „nu avem destule date”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nu mai </a:t>
            </a:r>
            <a:r>
              <a:rPr b="1" sz="1400">
                <a:solidFill>
                  <a:srgbClr val="F2F2F2"/>
                </a:solidFill>
                <a:latin typeface="Arial"/>
              </a:rPr>
              <a:t>construiești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b="1" sz="1400">
                <a:solidFill>
                  <a:srgbClr val="F2F2F2"/>
                </a:solidFill>
                <a:latin typeface="Arial"/>
              </a:rPr>
              <a:t>livrezi</a:t>
            </a:r>
            <a:r>
              <a:rPr b="0" sz="1400">
                <a:solidFill>
                  <a:srgbClr val="F2F2F2"/>
                </a:solidFill>
                <a:latin typeface="Arial"/>
              </a:rPr>
              <a:t>. Diferența dintre a </a:t>
            </a:r>
            <a:r>
              <a:rPr b="1" sz="1400">
                <a:solidFill>
                  <a:srgbClr val="F2F2F2"/>
                </a:solidFill>
                <a:latin typeface="Arial"/>
              </a:rPr>
              <a:t>avea</a:t>
            </a:r>
            <a:r>
              <a:rPr b="0" sz="1400">
                <a:solidFill>
                  <a:srgbClr val="F2F2F2"/>
                </a:solidFill>
                <a:latin typeface="Arial"/>
              </a:rPr>
              <a:t> răspunsul și a face </a:t>
            </a:r>
            <a:r>
              <a:rPr b="1" sz="1400">
                <a:solidFill>
                  <a:srgbClr val="F2F2F2"/>
                </a:solidFill>
                <a:latin typeface="Arial"/>
              </a:rPr>
              <a:t>sala să acționeze</a:t>
            </a:r>
            <a:r>
              <a:rPr b="0" sz="1400">
                <a:solidFill>
                  <a:srgbClr val="F2F2F2"/>
                </a:solidFill>
                <a:latin typeface="Arial"/>
              </a:rPr>
              <a:t> pe 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«Vineri prezinți tu — 3 minute și o sală sceptică»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3051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„Dashboard-ul e exact ce trebuie. Dar vineri </a:t>
            </a:r>
            <a:r>
              <a:rPr b="1" sz="1400">
                <a:solidFill>
                  <a:srgbClr val="F2F2F2"/>
                </a:solidFill>
                <a:latin typeface="Arial"/>
              </a:rPr>
              <a:t>prezinți tu</a:t>
            </a:r>
            <a:r>
              <a:rPr b="0" sz="1400">
                <a:solidFill>
                  <a:srgbClr val="F2F2F2"/>
                </a:solidFill>
                <a:latin typeface="Arial"/>
              </a:rPr>
              <a:t> — eu doar te prezint. Board-ul are </a:t>
            </a:r>
            <a:r>
              <a:rPr b="1" sz="1400">
                <a:solidFill>
                  <a:srgbClr val="F2F2F2"/>
                </a:solidFill>
                <a:latin typeface="Arial"/>
              </a:rPr>
              <a:t>3 minute</a:t>
            </a:r>
            <a:r>
              <a:rPr b="0" sz="1400">
                <a:solidFill>
                  <a:srgbClr val="F2F2F2"/>
                </a:solidFill>
                <a:latin typeface="Arial"/>
              </a:rPr>
              <a:t> și e o sală ocupată: CEO-ul vrea decizia și impactul, Mihai o să spună «n-avem destule date», Radu o să întrebe de canale. Nu-ți pierde mesajul în grafice. Spune-le </a:t>
            </a:r>
            <a:r>
              <a:rPr b="1" sz="1400">
                <a:solidFill>
                  <a:srgbClr val="F2F2F2"/>
                </a:solidFill>
                <a:latin typeface="Arial"/>
              </a:rPr>
              <a:t>întâi ce vrei să facă</a:t>
            </a:r>
            <a:r>
              <a:rPr b="0" sz="1400">
                <a:solidFill>
                  <a:srgbClr val="F2F2F2"/>
                </a:solidFill>
                <a:latin typeface="Arial"/>
              </a:rPr>
              <a:t> și de ce — apoi susții cu dashboard-ul. Și când Mihai te împinge, nu te fâstâci.”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71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Deci nu mai construiești — </a:t>
            </a:r>
            <a:r>
              <a:rPr b="1" sz="1500">
                <a:solidFill>
                  <a:srgbClr val="F2F2F2"/>
                </a:solidFill>
                <a:latin typeface="Arial"/>
              </a:rPr>
              <a:t>livrezi</a:t>
            </a:r>
            <a:r>
              <a:rPr b="0" sz="1500">
                <a:solidFill>
                  <a:srgbClr val="F2F2F2"/>
                </a:solidFill>
                <a:latin typeface="Arial"/>
              </a:rPr>
              <a:t>. Ai răspunsul; azi înveți să faci </a:t>
            </a:r>
            <a:r>
              <a:rPr b="1" sz="1500">
                <a:solidFill>
                  <a:srgbClr val="F2F2F2"/>
                </a:solidFill>
                <a:latin typeface="Arial"/>
              </a:rPr>
              <a:t>sala să acționeze</a:t>
            </a:r>
            <a:r>
              <a:rPr b="0" sz="1500">
                <a:solidFill>
                  <a:srgbClr val="F2F2F2"/>
                </a:solidFill>
                <a:latin typeface="Arial"/>
              </a:rPr>
              <a:t> pe 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îngropat mesajul, apoi a cedat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2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început așa: „Am luat datele, le-am curățat, am făcut vreo 12 grafice, m-am uitat pe Revenue pe lună, pe oraș, pe canal…” — </a:t>
            </a:r>
            <a:r>
              <a:rPr b="1" sz="1500">
                <a:solidFill>
                  <a:srgbClr val="F2F2F2"/>
                </a:solidFill>
                <a:latin typeface="Arial"/>
              </a:rPr>
              <a:t>trei minute de metodologie</a:t>
            </a:r>
            <a:r>
              <a:rPr b="0" sz="1500">
                <a:solidFill>
                  <a:srgbClr val="F2F2F2"/>
                </a:solidFill>
                <a:latin typeface="Arial"/>
              </a:rPr>
              <a:t>, fără punct. CEO-ul s-a uitat pe telefon. Când, în fine, a zis „…deci cred că e Accessories”, Mihai a tăiat-o: „N-avem destule date pe stocuri.” Ioana: „Aveți dreptate… mai adun date și revin.” </a:t>
            </a:r>
            <a:r>
              <a:rPr b="1" sz="1500">
                <a:solidFill>
                  <a:srgbClr val="F2F2F2"/>
                </a:solidFill>
                <a:latin typeface="Arial"/>
              </a:rPr>
              <a:t>Recomandarea a murit acolo.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133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Două greșeli: a </a:t>
            </a:r>
            <a:r>
              <a:rPr b="1" sz="1400">
                <a:solidFill>
                  <a:srgbClr val="F2F2F2"/>
                </a:solidFill>
                <a:latin typeface="Arial"/>
              </a:rPr>
              <a:t>îngropat mesajul</a:t>
            </a:r>
            <a:r>
              <a:rPr b="0" sz="1400">
                <a:solidFill>
                  <a:srgbClr val="F2F2F2"/>
                </a:solidFill>
                <a:latin typeface="Arial"/>
              </a:rPr>
              <a:t> (a pornit de la </a:t>
            </a:r>
            <a:r>
              <a:rPr i="1" sz="1400">
                <a:solidFill>
                  <a:srgbClr val="F2F2F2"/>
                </a:solidFill>
                <a:latin typeface="Arial"/>
              </a:rPr>
              <a:t>cum a lucrat</a:t>
            </a:r>
            <a:r>
              <a:rPr b="0" sz="1400">
                <a:solidFill>
                  <a:srgbClr val="F2F2F2"/>
                </a:solidFill>
                <a:latin typeface="Arial"/>
              </a:rPr>
              <a:t>, nu de la </a:t>
            </a:r>
            <a:r>
              <a:rPr i="1" sz="1400">
                <a:solidFill>
                  <a:srgbClr val="F2F2F2"/>
                </a:solidFill>
                <a:latin typeface="Arial"/>
              </a:rPr>
              <a:t>ce trebuie făcut</a:t>
            </a:r>
            <a:r>
              <a:rPr b="0" sz="1400">
                <a:solidFill>
                  <a:srgbClr val="F2F2F2"/>
                </a:solidFill>
                <a:latin typeface="Arial"/>
              </a:rPr>
              <a:t>) și, la prima obiecție, a </a:t>
            </a:r>
            <a:r>
              <a:rPr b="1" sz="1400">
                <a:solidFill>
                  <a:srgbClr val="F2F2F2"/>
                </a:solidFill>
                <a:latin typeface="Arial"/>
              </a:rPr>
              <a:t>cedat</a:t>
            </a:r>
            <a:r>
              <a:rPr b="0" sz="1400">
                <a:solidFill>
                  <a:srgbClr val="F2F2F2"/>
                </a:solidFill>
                <a:latin typeface="Arial"/>
              </a:rPr>
              <a:t> — a confundat „nu avem date perfecte” cu „nu putem decide”.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patru mișcări ale unei prezentări executive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Faci…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prinzi sala din prima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BLUF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recomandarea + „de ce” într-o propoziție, la început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susții recomandarea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Povestea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(Situație → Complicație → Rezolvare = F → I → R), pe dashboard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vorbești pe limba fiecăruia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Adaptezi la public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(CEO: decizia + impact · Supply Chain: stoc · Marketing: canale)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ții recomandarea în picioare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Gestionezi obiecțiile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reîncadrezi „n-avem date” ca decizie sub incertitudine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Bottom Line Up Front:</a:t>
            </a:r>
            <a:r>
              <a:rPr b="0" sz="1300">
                <a:solidFill>
                  <a:srgbClr val="F2F2F2"/>
                </a:solidFill>
                <a:latin typeface="Arial"/>
              </a:rPr>
              <a:t> un board nu vrea suspansul — vrea </a:t>
            </a:r>
            <a:r>
              <a:rPr b="1" sz="1300">
                <a:solidFill>
                  <a:srgbClr val="F2F2F2"/>
                </a:solidFill>
                <a:latin typeface="Arial"/>
              </a:rPr>
              <a:t>concluzia întâi</a:t>
            </a:r>
            <a:r>
              <a:rPr b="0" sz="1300">
                <a:solidFill>
                  <a:srgbClr val="F2F2F2"/>
                </a:solidFill>
                <a:latin typeface="Arial"/>
              </a:rPr>
              <a:t>, apoi dovada. Inversul lui Ioana.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 · STRATUL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Începi cu răspunsul, nu cu drumul (pilotul)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Gândește-te la un pilot care anunță pasagerii.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 spune: „Am verificat vremea, am citit trei rapoarte meteo, am vorbit cu turnul de control…” și abia la final „…deci întârziem 20 de minute.” Spune </a:t>
            </a:r>
            <a:r>
              <a:rPr b="1" sz="1500">
                <a:solidFill>
                  <a:srgbClr val="F2F2F2"/>
                </a:solidFill>
                <a:latin typeface="Arial"/>
              </a:rPr>
              <a:t>întâi</a:t>
            </a:r>
            <a:r>
              <a:rPr b="0" sz="1500">
                <a:solidFill>
                  <a:srgbClr val="F2F2F2"/>
                </a:solidFill>
                <a:latin typeface="Arial"/>
              </a:rPr>
              <a:t> concluzia: „Întârziem 20 de minute din cauza vremii; iată de ce și ce facem.”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prezentare executivă e la fel: </a:t>
            </a:r>
            <a:r>
              <a:rPr b="1" sz="1400">
                <a:solidFill>
                  <a:srgbClr val="F2F2F2"/>
                </a:solidFill>
                <a:latin typeface="Arial"/>
              </a:rPr>
              <a:t>răspunsul întâi (BLUF)</a:t>
            </a:r>
            <a:r>
              <a:rPr b="0" sz="1400">
                <a:solidFill>
                  <a:srgbClr val="F2F2F2"/>
                </a:solidFill>
                <a:latin typeface="Arial"/>
              </a:rPr>
              <a:t>, apoi drumul — </a:t>
            </a:r>
            <a:r>
              <a:rPr b="1" sz="1400">
                <a:solidFill>
                  <a:srgbClr val="F2F2F2"/>
                </a:solidFill>
                <a:latin typeface="Arial"/>
              </a:rPr>
              <a:t>invers</a:t>
            </a:r>
            <a:r>
              <a:rPr b="0" sz="1400">
                <a:solidFill>
                  <a:srgbClr val="F2F2F2"/>
                </a:solidFill>
                <a:latin typeface="Arial"/>
              </a:rPr>
              <a:t> față de cum ai </a:t>
            </a:r>
            <a:r>
              <a:rPr i="1" sz="1400">
                <a:solidFill>
                  <a:srgbClr val="F2F2F2"/>
                </a:solidFill>
                <a:latin typeface="Arial"/>
              </a:rPr>
              <a:t>descoperit</a:t>
            </a:r>
            <a:r>
              <a:rPr b="0" sz="1400">
                <a:solidFill>
                  <a:srgbClr val="F2F2F2"/>
                </a:solidFill>
                <a:latin typeface="Arial"/>
              </a:rPr>
              <a:t> tu (unde drumul a venit primul). Așa vorbește cineva care respectă timpul sălii.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 · STRATUL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Piesele unei prezentări executive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Piesă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Exemplu la noi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BLUF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recomandarea + de ce, într-o frază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„Reaprovizionare Accessories + campanie — a scăzut din stoc epuizat.”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Executive summary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un paragraf: situație → descoperire → recomandare → impact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vezi demonstrația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Povestea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Situație → Complicație → Rezolvare (= F → I → R)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−14,9% → Accessories −55,9% → decizia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Adaptarea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accentuezi pentru fiecare rol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CEO: impact · Mihai: stoc · Radu: canale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Obiecțiile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răspunsuri pregătite, reîncadrate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„n-avem date” → octombrie a dovedit-o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PAȘII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BLUF +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🎯 </a:t>
            </a:r>
            <a:r>
              <a:rPr b="1" sz="1300">
                <a:solidFill>
                  <a:srgbClr val="F2F2F2"/>
                </a:solidFill>
                <a:latin typeface="Arial"/>
              </a:rPr>
              <a:t>BLUF:</a:t>
            </a:r>
            <a:r>
              <a:rPr b="0" sz="1300">
                <a:solidFill>
                  <a:srgbClr val="F2F2F2"/>
                </a:solidFill>
                <a:latin typeface="Arial"/>
              </a:rPr>
              <a:t> „Recomand să reaprovizionăm Accessories premium și să pornim o campanie pe SMS/Google/Facebook. Motivul: septembrie a scăzut </a:t>
            </a:r>
            <a:r>
              <a:rPr b="1" sz="1300">
                <a:solidFill>
                  <a:srgbClr val="F2F2F2"/>
                </a:solidFill>
                <a:latin typeface="Arial"/>
              </a:rPr>
              <a:t>14,9%</a:t>
            </a:r>
            <a:r>
              <a:rPr b="0" sz="1300">
                <a:solidFill>
                  <a:srgbClr val="F2F2F2"/>
                </a:solidFill>
                <a:latin typeface="Arial"/>
              </a:rPr>
              <a:t>, aproape jumătate din cauza unei singure categorii — </a:t>
            </a:r>
            <a:r>
              <a:rPr b="1" sz="1300">
                <a:solidFill>
                  <a:srgbClr val="F2F2F2"/>
                </a:solidFill>
                <a:latin typeface="Arial"/>
              </a:rPr>
              <a:t>Accessories</a:t>
            </a:r>
            <a:r>
              <a:rPr b="0" sz="1300">
                <a:solidFill>
                  <a:srgbClr val="F2F2F2"/>
                </a:solidFill>
                <a:latin typeface="Arial"/>
              </a:rPr>
              <a:t> — care a rămas fără stoc.”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90188"/>
            <a:ext cx="10874959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Executive summary</a:t>
            </a:r>
            <a:r>
              <a:rPr b="0" sz="1250">
                <a:solidFill>
                  <a:srgbClr val="F2F2F2"/>
                </a:solidFill>
                <a:latin typeface="Arial"/>
              </a:rPr>
              <a:t> (un paragraf, cele patru): </a:t>
            </a:r>
            <a:r>
              <a:rPr b="1" sz="1250">
                <a:solidFill>
                  <a:srgbClr val="F2F2F2"/>
                </a:solidFill>
                <a:latin typeface="Arial"/>
              </a:rPr>
              <a:t>Situație</a:t>
            </a:r>
            <a:r>
              <a:rPr b="0" sz="1250">
                <a:solidFill>
                  <a:srgbClr val="F2F2F2"/>
                </a:solidFill>
                <a:latin typeface="Arial"/>
              </a:rPr>
              <a:t> — sept. −14,9% (</a:t>
            </a:r>
            <a:r>
              <a:rPr sz="125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250">
                <a:solidFill>
                  <a:srgbClr val="F2F2F2"/>
                </a:solidFill>
                <a:latin typeface="Arial"/>
              </a:rPr>
              <a:t> vs august </a:t>
            </a:r>
            <a:r>
              <a:rPr sz="125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250">
                <a:solidFill>
                  <a:srgbClr val="F2F2F2"/>
                </a:solidFill>
                <a:latin typeface="Arial"/>
              </a:rPr>
              <a:t>), −31% față de 2024 (anomalie, nu sezon)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Descoperire</a:t>
            </a:r>
            <a:r>
              <a:rPr b="0" sz="1250">
                <a:solidFill>
                  <a:srgbClr val="F2F2F2"/>
                </a:solidFill>
                <a:latin typeface="Arial"/>
              </a:rPr>
              <a:t> — nu un magazin (Cluj </a:t>
            </a:r>
            <a:r>
              <a:rPr b="1" sz="1250">
                <a:solidFill>
                  <a:srgbClr val="F2F2F2"/>
                </a:solidFill>
                <a:latin typeface="Arial"/>
              </a:rPr>
              <a:t>+6,4%</a:t>
            </a:r>
            <a:r>
              <a:rPr b="0" sz="1250">
                <a:solidFill>
                  <a:srgbClr val="F2F2F2"/>
                </a:solidFill>
                <a:latin typeface="Arial"/>
              </a:rPr>
              <a:t>), ci </a:t>
            </a:r>
            <a:r>
              <a:rPr b="1" sz="125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250">
                <a:solidFill>
                  <a:srgbClr val="F2F2F2"/>
                </a:solidFill>
                <a:latin typeface="Arial"/>
              </a:rPr>
              <a:t> (</a:t>
            </a:r>
            <a:r>
              <a:rPr sz="125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250">
                <a:solidFill>
                  <a:srgbClr val="F2F2F2"/>
                </a:solidFill>
                <a:latin typeface="Arial"/>
              </a:rPr>
              <a:t> → </a:t>
            </a:r>
            <a:r>
              <a:rPr sz="125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250">
                <a:solidFill>
                  <a:srgbClr val="F2F2F2"/>
                </a:solidFill>
                <a:latin typeface="Arial"/>
              </a:rPr>
              <a:t>), ~46% din scădere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250">
                <a:solidFill>
                  <a:srgbClr val="F2F2F2"/>
                </a:solidFill>
                <a:latin typeface="Arial"/>
              </a:rPr>
              <a:t> — reaprovizionare + campanie · </a:t>
            </a:r>
            <a:r>
              <a:rPr b="1" sz="1250">
                <a:solidFill>
                  <a:srgbClr val="F2F2F2"/>
                </a:solidFill>
                <a:latin typeface="Arial"/>
              </a:rPr>
              <a:t>Impact</a:t>
            </a:r>
            <a:r>
              <a:rPr b="0" sz="1250">
                <a:solidFill>
                  <a:srgbClr val="F2F2F2"/>
                </a:solidFill>
                <a:latin typeface="Arial"/>
              </a:rPr>
              <a:t> — octombrie </a:t>
            </a:r>
            <a:r>
              <a:rPr b="1" sz="1250">
                <a:solidFill>
                  <a:srgbClr val="F2F2F2"/>
                </a:solidFill>
                <a:latin typeface="Arial"/>
              </a:rPr>
              <a:t>+33,5%</a:t>
            </a:r>
            <a:r>
              <a:rPr b="0" sz="1250">
                <a:solidFill>
                  <a:srgbClr val="F2F2F2"/>
                </a:solidFill>
                <a:latin typeface="Arial"/>
              </a:rPr>
              <a:t> (Accessories +154,4%) când stocul s-a refăcut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Povestea, pe dashboard (Situație → Complicație → Rezolvare)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Situație</a:t>
            </a:r>
            <a:r>
              <a:rPr b="0" sz="1300">
                <a:solidFill>
                  <a:srgbClr val="F2F2F2"/>
                </a:solidFill>
                <a:latin typeface="Arial"/>
              </a:rPr>
              <a:t> (Findings): „Septembrie a scăzut </a:t>
            </a:r>
            <a:r>
              <a:rPr b="1" sz="1300">
                <a:solidFill>
                  <a:srgbClr val="F2F2F2"/>
                </a:solidFill>
                <a:latin typeface="Arial"/>
              </a:rPr>
              <a:t>14,9%</a:t>
            </a:r>
            <a:r>
              <a:rPr b="0" sz="1300">
                <a:solidFill>
                  <a:srgbClr val="F2F2F2"/>
                </a:solidFill>
                <a:latin typeface="Arial"/>
              </a:rPr>
              <a:t> — aici, sus.”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Complicație</a:t>
            </a:r>
            <a:r>
              <a:rPr b="0" sz="1300">
                <a:solidFill>
                  <a:srgbClr val="F2F2F2"/>
                </a:solidFill>
                <a:latin typeface="Arial"/>
              </a:rPr>
              <a:t> (Insights): „De ce? Nu magazinele — Cluj a crescut. O categorie: </a:t>
            </a:r>
            <a:r>
              <a:rPr b="1" sz="130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300">
                <a:solidFill>
                  <a:srgbClr val="F2F2F2"/>
                </a:solidFill>
                <a:latin typeface="Arial"/>
              </a:rPr>
              <a:t>, din stoc + zero campanie — la mijloc.”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Rezolvare</a:t>
            </a:r>
            <a:r>
              <a:rPr b="0" sz="1300">
                <a:solidFill>
                  <a:srgbClr val="F2F2F2"/>
                </a:solidFill>
                <a:latin typeface="Arial"/>
              </a:rPr>
              <a:t> (Recommendations): „Ce facem — reaprovizionare + campanie, jos.”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deget pe fiecare zonă; </a:t>
            </a:r>
            <a:r>
              <a:rPr b="1" sz="1400">
                <a:solidFill>
                  <a:srgbClr val="F2F2F2"/>
                </a:solidFill>
                <a:latin typeface="Arial"/>
              </a:rPr>
              <a:t>nu citești toate cifrele, spui povestea</a:t>
            </a:r>
            <a:r>
              <a:rPr b="0" sz="1400">
                <a:solidFill>
                  <a:srgbClr val="F2F2F2"/>
                </a:solidFill>
                <a:latin typeface="Arial"/>
              </a:rPr>
              <a:t>. ✅ Ai spus dashboard-ul în </a:t>
            </a:r>
            <a:r>
              <a:rPr b="1" sz="1400">
                <a:solidFill>
                  <a:srgbClr val="F2F2F2"/>
                </a:solidFill>
                <a:latin typeface="Arial"/>
              </a:rPr>
              <a:t>3 propoziții</a:t>
            </a:r>
            <a:r>
              <a:rPr b="0" sz="1400">
                <a:solidFill>
                  <a:srgbClr val="F2F2F2"/>
                </a:solidFill>
                <a:latin typeface="Arial"/>
              </a:rPr>
              <a:t> (ecou L29), nu ai citit 10 grafice.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Adaptezi la cine e în sală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B0B0B4"/>
                          </a:solidFill>
                          <a:latin typeface="Consolas"/>
                        </a:rPr>
                        <a:t>Rol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B0B0B4"/>
                          </a:solidFill>
                          <a:latin typeface="Consolas"/>
                        </a:rPr>
                        <a:t>Ce accentuezi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2F2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decizia + impactul (revenire </a:t>
                      </a:r>
                      <a:r>
                        <a:rPr b="1" sz="1300">
                          <a:solidFill>
                            <a:srgbClr val="F2F2F2"/>
                          </a:solidFill>
                          <a:latin typeface="Arial"/>
                        </a:rPr>
                        <a:t>+33,5%</a:t>
                      </a:r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 dacă acționăm)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2F2"/>
                          </a:solidFill>
                          <a:latin typeface="Arial"/>
                        </a:rPr>
                        <a:t>Mihai</a:t>
                      </a:r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 (Supply Chain)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stocul — produsele Accessories premium epuizate, nivelul de reaprovizionare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2F2"/>
                          </a:solidFill>
                          <a:latin typeface="Arial"/>
                        </a:rPr>
                        <a:t>Radu</a:t>
                      </a:r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 (Marketing)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F2F2F2"/>
                          </a:solidFill>
                          <a:latin typeface="Arial"/>
                        </a:rPr>
                        <a:t>canalele — SMS / Google / Facebook, cele care aduc cel mai mult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Aceeași poveste, accente diferite. Când cineva întreabă, răspunzi pe </a:t>
            </a:r>
            <a:r>
              <a:rPr b="1" sz="1300">
                <a:solidFill>
                  <a:srgbClr val="F2F2F2"/>
                </a:solidFill>
                <a:latin typeface="Arial"/>
              </a:rPr>
              <a:t>limba lui</a:t>
            </a:r>
            <a:r>
              <a:rPr b="0" sz="1300">
                <a:solidFill>
                  <a:srgbClr val="F2F2F2"/>
                </a:solidFill>
                <a:latin typeface="Arial"/>
              </a:rPr>
              <a:t> — ai o propoziție pregătită pentru fiecare 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5 (CLIMAX)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Gestionezi obiecțiile — reîncadrezi, nu cedezi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Mihai: „N-avem destule date pe stocuri.”</a:t>
            </a:r>
            <a:r>
              <a:rPr b="0" sz="1250">
                <a:solidFill>
                  <a:srgbClr val="F2F2F2"/>
                </a:solidFill>
                <a:latin typeface="Arial"/>
              </a:rPr>
              <a:t> → „Corect, nu avem date perfecte. Dar </a:t>
            </a:r>
            <a:r>
              <a:rPr b="1" sz="1250">
                <a:solidFill>
                  <a:srgbClr val="F2F2F2"/>
                </a:solidFill>
                <a:latin typeface="Arial"/>
              </a:rPr>
              <a:t>octombrie ne-a dat proba</a:t>
            </a:r>
            <a:r>
              <a:rPr b="0" sz="1250">
                <a:solidFill>
                  <a:srgbClr val="F2F2F2"/>
                </a:solidFill>
                <a:latin typeface="Arial"/>
              </a:rPr>
              <a:t>: Accessories +154,4% când stocul s-a refăcut, </a:t>
            </a:r>
            <a:r>
              <a:rPr b="1" sz="1250">
                <a:solidFill>
                  <a:srgbClr val="F2F2F2"/>
                </a:solidFill>
                <a:latin typeface="Arial"/>
              </a:rPr>
              <a:t>fără nicio campanie</a:t>
            </a:r>
            <a:r>
              <a:rPr b="0" sz="1250">
                <a:solidFill>
                  <a:srgbClr val="F2F2F2"/>
                </a:solidFill>
                <a:latin typeface="Arial"/>
              </a:rPr>
              <a:t>. E o decizie sub incertitudine — riscul dacă </a:t>
            </a:r>
            <a:r>
              <a:rPr b="1" sz="1250">
                <a:solidFill>
                  <a:srgbClr val="F2F2F2"/>
                </a:solidFill>
                <a:latin typeface="Arial"/>
              </a:rPr>
              <a:t>nu</a:t>
            </a:r>
            <a:r>
              <a:rPr b="0" sz="1250">
                <a:solidFill>
                  <a:srgbClr val="F2F2F2"/>
                </a:solidFill>
                <a:latin typeface="Arial"/>
              </a:rPr>
              <a:t> reaprovizionăm e să repetăm septembrie.”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CEO: „Poate e doar sezon.”</a:t>
            </a:r>
            <a:r>
              <a:rPr b="0" sz="1250">
                <a:solidFill>
                  <a:srgbClr val="F2F2F2"/>
                </a:solidFill>
                <a:latin typeface="Arial"/>
              </a:rPr>
              <a:t> → „Nu — septembrie 2024 a fost o lună puternică; 2025 e cu </a:t>
            </a:r>
            <a:r>
              <a:rPr b="1" sz="1250">
                <a:solidFill>
                  <a:srgbClr val="F2F2F2"/>
                </a:solidFill>
                <a:latin typeface="Arial"/>
              </a:rPr>
              <a:t>31%</a:t>
            </a:r>
            <a:r>
              <a:rPr b="0" sz="1250">
                <a:solidFill>
                  <a:srgbClr val="F2F2F2"/>
                </a:solidFill>
                <a:latin typeface="Arial"/>
              </a:rPr>
              <a:t> sub ea. E o anomalie, nu sezon.”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„Poate e Cluj (magazinul slab).”</a:t>
            </a:r>
            <a:r>
              <a:rPr b="0" sz="1250">
                <a:solidFill>
                  <a:srgbClr val="F2F2F2"/>
                </a:solidFill>
                <a:latin typeface="Arial"/>
              </a:rPr>
              <a:t> → „L-am testat: Cluj a </a:t>
            </a:r>
            <a:r>
              <a:rPr b="1" sz="1250">
                <a:solidFill>
                  <a:srgbClr val="F2F2F2"/>
                </a:solidFill>
                <a:latin typeface="Arial"/>
              </a:rPr>
              <a:t>crescut +6,4%</a:t>
            </a:r>
            <a:r>
              <a:rPr b="0" sz="1250">
                <a:solidFill>
                  <a:srgbClr val="F2F2F2"/>
                </a:solidFill>
                <a:latin typeface="Arial"/>
              </a:rPr>
              <a:t>. Nu e un magazin.”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2102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🗣️ Calm, cu date, fără să te aperi. La fiecare obiecție </a:t>
            </a:r>
            <a:r>
              <a:rPr b="1" sz="1300">
                <a:solidFill>
                  <a:srgbClr val="F2F2F2"/>
                </a:solidFill>
                <a:latin typeface="Arial"/>
              </a:rPr>
              <a:t>reîncadrezi</a:t>
            </a:r>
            <a:r>
              <a:rPr b="0" sz="1300">
                <a:solidFill>
                  <a:srgbClr val="F2F2F2"/>
                </a:solidFill>
                <a:latin typeface="Arial"/>
              </a:rPr>
              <a:t> (decizie sub incertitudine), nu promiți „mai adun date și revin”.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Îngropi mesajul</a:t>
            </a:r>
            <a:r>
              <a:rPr b="0" sz="1300">
                <a:solidFill>
                  <a:srgbClr val="F2F2F2"/>
                </a:solidFill>
                <a:latin typeface="Arial"/>
              </a:rPr>
              <a:t> — pornești cu „am luat datele…” și ajungi la concluzie la final (Ioana) → </a:t>
            </a:r>
            <a:r>
              <a:rPr b="1" sz="1300">
                <a:solidFill>
                  <a:srgbClr val="F2F2F2"/>
                </a:solidFill>
                <a:latin typeface="Arial"/>
              </a:rPr>
              <a:t>BLUF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Cedezi la prima obiecție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„n-avem date” → „mai adun și revin” → </a:t>
            </a:r>
            <a:r>
              <a:rPr b="1" sz="1300">
                <a:solidFill>
                  <a:srgbClr val="F2F2F2"/>
                </a:solidFill>
                <a:latin typeface="Arial"/>
              </a:rPr>
              <a:t>reîncadrezi</a:t>
            </a:r>
            <a:r>
              <a:rPr b="0" sz="1300">
                <a:solidFill>
                  <a:srgbClr val="F2F2F2"/>
                </a:solidFill>
                <a:latin typeface="Arial"/>
              </a:rPr>
              <a:t> (decizie sub incertitudine + dovadă + risc)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Citești toate graficele</a:t>
            </a:r>
            <a:r>
              <a:rPr b="0" sz="1300">
                <a:solidFill>
                  <a:srgbClr val="F2F2F2"/>
                </a:solidFill>
                <a:latin typeface="Arial"/>
              </a:rPr>
              <a:t> — cifră cu cifră → spui </a:t>
            </a:r>
            <a:r>
              <a:rPr b="1" sz="1300">
                <a:solidFill>
                  <a:srgbClr val="F2F2F2"/>
                </a:solidFill>
                <a:latin typeface="Arial"/>
              </a:rPr>
              <a:t>povestea</a:t>
            </a:r>
            <a:r>
              <a:rPr b="0" sz="1300">
                <a:solidFill>
                  <a:srgbClr val="F2F2F2"/>
                </a:solidFill>
                <a:latin typeface="Arial"/>
              </a:rPr>
              <a:t> (3 bătăi, F → I → R)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Aceeași livrare pentru toți</a:t>
            </a:r>
            <a:r>
              <a:rPr b="0" sz="1300">
                <a:solidFill>
                  <a:srgbClr val="F2F2F2"/>
                </a:solidFill>
                <a:latin typeface="Arial"/>
              </a:rPr>
              <a:t> — ignori cine e în sală → o propoziție țintită pentru fiecare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4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Bottom Line Up Front</a:t>
            </a:r>
            <a:r>
              <a:rPr b="0" sz="1400">
                <a:solidFill>
                  <a:srgbClr val="F2F2F2"/>
                </a:solidFill>
                <a:latin typeface="Arial"/>
              </a:rPr>
              <a:t> — deschizi cu recomandarea + de ce, nu cu metodologia (inversul lui Ioana)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Spui </a:t>
            </a:r>
            <a:r>
              <a:rPr b="1" sz="1400">
                <a:solidFill>
                  <a:srgbClr val="F2F2F2"/>
                </a:solidFill>
                <a:latin typeface="Arial"/>
              </a:rPr>
              <a:t>povestea</a:t>
            </a:r>
            <a:r>
              <a:rPr b="0" sz="1400">
                <a:solidFill>
                  <a:srgbClr val="F2F2F2"/>
                </a:solidFill>
                <a:latin typeface="Arial"/>
              </a:rPr>
              <a:t> (Situație → Complicație → Rezolvare = Findings → Insights → Recommendations), pe dashboard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Adaptezi la public</a:t>
            </a:r>
            <a:r>
              <a:rPr b="0" sz="1400">
                <a:solidFill>
                  <a:srgbClr val="F2F2F2"/>
                </a:solidFill>
                <a:latin typeface="Arial"/>
              </a:rPr>
              <a:t> — o propoziție pentru CEO (impact), Supply Chain (stoc), Marketing (canale)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La „n-avem date”, </a:t>
            </a:r>
            <a:r>
              <a:rPr b="1" sz="1400">
                <a:solidFill>
                  <a:srgbClr val="F2F2F2"/>
                </a:solidFill>
                <a:latin typeface="Arial"/>
              </a:rPr>
              <a:t>reîncadrezi</a:t>
            </a:r>
            <a:r>
              <a:rPr b="0" sz="1400">
                <a:solidFill>
                  <a:srgbClr val="F2F2F2"/>
                </a:solidFill>
                <a:latin typeface="Arial"/>
              </a:rPr>
              <a:t> (decizie sub incertitudine + dovadă + riscul inacțiunii), nu cedezi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MILESTONE: investigația din septembrie, </a:t>
            </a:r>
            <a:r>
              <a:rPr b="1" sz="1400">
                <a:solidFill>
                  <a:srgbClr val="F2F2F2"/>
                </a:solidFill>
                <a:latin typeface="Arial"/>
              </a:rPr>
              <a:t>prezentată</a:t>
            </a:r>
            <a:r>
              <a:rPr b="0" sz="1400">
                <a:solidFill>
                  <a:srgbClr val="F2F2F2"/>
                </a:solidFill>
                <a:latin typeface="Arial"/>
              </a:rPr>
              <a:t> board-ului — cu asta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5 e complet</a:t>
            </a:r>
            <a:r>
              <a:rPr b="0" sz="1400">
                <a:solidFill>
                  <a:srgbClr val="F2F2F2"/>
                </a:solidFill>
                <a:latin typeface="Arial"/>
              </a:rPr>
              <a:t>. 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L31</a:t>
            </a:r>
            <a:r>
              <a:rPr b="0" sz="1400">
                <a:solidFill>
                  <a:srgbClr val="F2F2F2"/>
                </a:solidFill>
                <a:latin typeface="Arial"/>
              </a:rPr>
              <a:t> — din Modulul 6 lucrezi </a:t>
            </a:r>
            <a:r>
              <a:rPr b="1" sz="1400">
                <a:solidFill>
                  <a:srgbClr val="F2F2F2"/>
                </a:solidFill>
                <a:latin typeface="Arial"/>
              </a:rPr>
              <a:t>singur</a:t>
            </a:r>
            <a:r>
              <a:rPr b="0" sz="1400">
                <a:solidFill>
                  <a:srgbClr val="F2F2F2"/>
                </a:solidFill>
                <a:latin typeface="Arial"/>
              </a:rPr>
              <a:t>, cap-coadă: primești o problemă nouă și decizi tot, începând cu </a:t>
            </a:r>
            <a:r>
              <a:rPr b="1" sz="1400">
                <a:solidFill>
                  <a:srgbClr val="F2F2F2"/>
                </a:solidFill>
                <a:latin typeface="Arial"/>
              </a:rPr>
              <a:t>framing-ul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L30 · BLUF &amp; prezentare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