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 treia zi de SQL. Ai învățat să ceri (L20) și să filtrezi fin (L21), dar rezultatele au ieșit în ordinea din tabel — nu-ți spun care e cel mai mare. Azi le sortezi cu ORDER BY și scoți «primele N» cu LIMIT: cele mai mari comenzi, cele mai scumpe produse. Tiparul zilei: WHERE → ORDER BY → LIMIT. Capcana: LIMIT fără ORDER BY dă «oricare N», nu «primele N». Baza RetailHub e deja încărcată.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Construiești peste L20–L21. Știi să ceri și să filtrezi fin. Dar un WHERE îți dă rândurile potrivite, nu în ordine. Pentru «cele mai mari» îți trebuie sortare plus o limită.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obiectivele. Ideea mare: un teanc neordonat nu-ți spune «care contează»; sortarea face un clasament, iar LIMIT ia primele N. Ordinea contează — tai după ce sortezi.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Foaie de referință: coloanele pe care le sortezi azi. Cheia: sortezi o cantitate (bani, preț), nu un cod. «Cel mai mare cod» n-are legătură cu «cea mai mare comandă».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Contextul. Elena vrea clasamente: cele mai mari comenzi, cele mai scumpe produse, cea mai mare comandă din septembrie. Andrei aruncă întrebarea care duce la reveal-ul de la final: cât valorau produsele epuizate?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Cârligul. Fără ORDER BY, primele 5 sunt «oricare 5», nu «cele mai mari 5». LIMIT taie rezultatul, dar nu-l ordonează. Ioana a raportat comenzi mici drept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unică. Sortarea e ce transformă un teanc într-un clasament. LIMIT ia podiumul. Dar întâi sortezi tot, apoi tai vârful — nu invers.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Miezul de referință. ORDER BY sortează (ASC implicit, DESC pentru cel mai mare primul), LIMIT ia primele N după sortare, iar o a doua coloană departajează egalitățile. Ordinea clauzelor e obligatorie: WHERE → ORDER BY →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demonstrație. ORDER BY TotalAmount DESC pune cel mai mare primul; LIMIT 5 ia vârful. Cea mai mare comandă din toată baza: 9141, 34.299,40 lei.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doilea clasament: cele mai scumpe produse. Primul e Giga ACCE-282, 5.845,71 lei. Sortezi prețul (o cantitate), nu ProductID (un cod).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Vârful lecției — tiparul complet WHERE → ORDER BY → LIMIT. Filtrezi septembrie, sortezi descrescător, iei primele 3. Cea mai mare comandă din septembrie: 11958, 26.948,78. Ăsta e reflexul pe care-l vei folosi zilnic.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Direcția inversă. ASC = crescător, de la mic la mare — cele mai ieftine produse. ASC e implicitul; îl scrii explicit doar pentru claritate.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Reveal-ul pentru investigație. Produsele epuizate în septembrie (ACCE-114, ACCE-101, LAPT-008) erau printre cele mai scumpe, top ~15 din 300. De aceea Accessories a căzut atât de mult: nu s-au epuizat produse ieftine, ci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Elicitează, mai ales prima. Patru greșeli: LIMIT fără ORDER BY, ordinea clauzelor, direcția (uiți DESC), și sortarea unui cod. Fiecare are un antidot simplu.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milestone-ul: ai vârfurile investigației — cea mai mare comandă (9141, 34.299,40), cea din septembrie (11958, 26.948,78), cele mai scumpe produse, și nuanța că produsele epuizate erau premium. Regulile: Top-N = ORDER BY DESC + LIMIT; ordinea clauzelor e fixă; sortezi o cantitate. Salvează scriptul. Urmează L23: agregate.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22 · A TREIA LECȚIE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ORDER BY &amp; Top-N — sortezi și scoți primele 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SQL (ordonează) →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30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(SQL, L20 → L21)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SELECT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FROM</a:t>
            </a:r>
            <a:r>
              <a:rPr b="0" sz="1500">
                <a:solidFill>
                  <a:srgbClr val="F2F2F2"/>
                </a:solidFill>
                <a:latin typeface="Arial"/>
              </a:rPr>
              <a:t>/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— ceri coloanele, tabelul, rândurile (L20)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trusa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BETWEEN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IN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LIKE '%…%'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IS NULL</a:t>
            </a:r>
            <a:r>
              <a:rPr b="0" sz="1500">
                <a:solidFill>
                  <a:srgbClr val="F2F2F2"/>
                </a:solidFill>
                <a:latin typeface="Arial"/>
              </a:rPr>
              <a:t> (L21)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</a:t>
            </a:r>
            <a:r>
              <a:rPr b="1" sz="1500">
                <a:solidFill>
                  <a:srgbClr val="F2F2F2"/>
                </a:solidFill>
                <a:latin typeface="Arial"/>
              </a:rPr>
              <a:t>dovedit</a:t>
            </a:r>
            <a:r>
              <a:rPr b="0" sz="1500">
                <a:solidFill>
                  <a:srgbClr val="F2F2F2"/>
                </a:solidFill>
                <a:latin typeface="Arial"/>
              </a:rPr>
              <a:t> gap-ul de campanie: 0 din 454 de comenzi din septembrie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dar</a:t>
            </a:r>
            <a:r>
              <a:rPr b="0" sz="1500">
                <a:solidFill>
                  <a:srgbClr val="F2F2F2"/>
                </a:solidFill>
                <a:latin typeface="Arial"/>
              </a:rPr>
              <a:t> rezultatele ies în ordinea din tabel — nu-ți spun </a:t>
            </a:r>
            <a:r>
              <a:rPr i="1" sz="1500">
                <a:solidFill>
                  <a:srgbClr val="F2F2F2"/>
                </a:solidFill>
                <a:latin typeface="Arial"/>
              </a:rPr>
              <a:t>care e cel mai mare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treci de la „iată rândurile” la „iată ce contează cel mai mult”: le </a:t>
            </a:r>
            <a:r>
              <a:rPr b="1" sz="1400">
                <a:solidFill>
                  <a:srgbClr val="F2F2F2"/>
                </a:solidFill>
                <a:latin typeface="Arial"/>
              </a:rPr>
              <a:t>sortezi</a:t>
            </a:r>
            <a:r>
              <a:rPr b="0" sz="1400">
                <a:solidFill>
                  <a:srgbClr val="F2F2F2"/>
                </a:solidFill>
                <a:latin typeface="Arial"/>
              </a:rPr>
              <a:t> și scoți </a:t>
            </a:r>
            <a:r>
              <a:rPr b="1" sz="1400">
                <a:solidFill>
                  <a:srgbClr val="F2F2F2"/>
                </a:solidFill>
                <a:latin typeface="Arial"/>
              </a:rPr>
              <a:t>primele N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sortezi rezultatul cu 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500">
                <a:solidFill>
                  <a:srgbClr val="F2F2F2"/>
                </a:solidFill>
                <a:latin typeface="Arial"/>
              </a:rPr>
              <a:t> (crescător implicit) și </a:t>
            </a:r>
            <a:r>
              <a:rPr sz="1500">
                <a:solidFill>
                  <a:srgbClr val="FFA24E"/>
                </a:solidFill>
                <a:latin typeface="Consolas"/>
              </a:rPr>
              <a:t>DESC</a:t>
            </a:r>
            <a:r>
              <a:rPr b="0" sz="1500">
                <a:solidFill>
                  <a:srgbClr val="F2F2F2"/>
                </a:solidFill>
                <a:latin typeface="Arial"/>
              </a:rPr>
              <a:t> (cel mai mare primul)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scoți </a:t>
            </a:r>
            <a:r>
              <a:rPr b="1" sz="1500">
                <a:solidFill>
                  <a:srgbClr val="F2F2F2"/>
                </a:solidFill>
                <a:latin typeface="Arial"/>
              </a:rPr>
              <a:t>Top-N</a:t>
            </a:r>
            <a:r>
              <a:rPr b="0" sz="1500">
                <a:solidFill>
                  <a:srgbClr val="F2F2F2"/>
                </a:solidFill>
                <a:latin typeface="Arial"/>
              </a:rPr>
              <a:t> cu </a:t>
            </a:r>
            <a:r>
              <a:rPr sz="1500">
                <a:solidFill>
                  <a:srgbClr val="FFA24E"/>
                </a:solidFill>
                <a:latin typeface="Consolas"/>
              </a:rPr>
              <a:t>LIMIT N</a:t>
            </a:r>
            <a:r>
              <a:rPr b="0" sz="1500">
                <a:solidFill>
                  <a:srgbClr val="F2F2F2"/>
                </a:solidFill>
                <a:latin typeface="Arial"/>
              </a:rPr>
              <a:t> după 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înlănțui tiparul complet: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LIMIT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eviți capcana: </a:t>
            </a:r>
            <a:r>
              <a:rPr sz="15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b="1" sz="1500">
                <a:solidFill>
                  <a:srgbClr val="F2F2F2"/>
                </a:solidFill>
                <a:latin typeface="Arial"/>
              </a:rPr>
              <a:t>fără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500">
                <a:solidFill>
                  <a:srgbClr val="F2F2F2"/>
                </a:solidFill>
                <a:latin typeface="Arial"/>
              </a:rPr>
              <a:t> dă </a:t>
            </a:r>
            <a:r>
              <a:rPr i="1" sz="1500">
                <a:solidFill>
                  <a:srgbClr val="F2F2F2"/>
                </a:solidFill>
                <a:latin typeface="Arial"/>
              </a:rPr>
              <a:t>niște</a:t>
            </a:r>
            <a:r>
              <a:rPr b="0" sz="1500">
                <a:solidFill>
                  <a:srgbClr val="F2F2F2"/>
                </a:solidFill>
                <a:latin typeface="Arial"/>
              </a:rPr>
              <a:t> rânduri, niciodată </a:t>
            </a:r>
            <a:r>
              <a:rPr i="1" sz="1500">
                <a:solidFill>
                  <a:srgbClr val="F2F2F2"/>
                </a:solidFill>
                <a:latin typeface="Arial"/>
              </a:rPr>
              <a:t>primele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</a:t>
            </a:r>
            <a:r>
              <a:rPr b="1" sz="1400">
                <a:solidFill>
                  <a:srgbClr val="F2F2F2"/>
                </a:solidFill>
                <a:latin typeface="Arial"/>
              </a:rPr>
              <a:t>sortarea transformă „rânduri” în „clasament”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sz="14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400">
                <a:solidFill>
                  <a:srgbClr val="F2F2F2"/>
                </a:solidFill>
                <a:latin typeface="Arial"/>
              </a:rPr>
              <a:t> face teancul un clasament, </a:t>
            </a:r>
            <a:r>
              <a:rPr sz="14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400">
                <a:solidFill>
                  <a:srgbClr val="F2F2F2"/>
                </a:solidFill>
                <a:latin typeface="Arial"/>
              </a:rPr>
              <a:t> ia podiumul.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REFERINȚĂ · COLOANE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sortezi azi (RetailHub)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Coloană / 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Sortezi ca să…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TotalAmount (orders)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suma comenzii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scoți cele mai mari comenzi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Price (products)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prețul produsului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scoți cele mai scumpe produse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OrderDate (orders)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data comenzii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filtrezi felia (ex. septembrie)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Regula de tip (ecou L6/L20): sortezi o </a:t>
            </a:r>
            <a:r>
              <a:rPr b="1" sz="13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Price</a:t>
            </a:r>
            <a:r>
              <a:rPr b="0" sz="1300">
                <a:solidFill>
                  <a:srgbClr val="F2F2F2"/>
                </a:solidFill>
                <a:latin typeface="Arial"/>
              </a:rPr>
              <a:t>) ca să scoți „cele mai mari”; a sorta un </a:t>
            </a:r>
            <a:r>
              <a:rPr b="1" sz="1300">
                <a:solidFill>
                  <a:srgbClr val="F2F2F2"/>
                </a:solidFill>
                <a:latin typeface="Arial"/>
              </a:rPr>
              <a:t>cod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300">
                <a:solidFill>
                  <a:srgbClr val="F2F2F2"/>
                </a:solidFill>
                <a:latin typeface="Arial"/>
              </a:rPr>
              <a:t>) îți dă doar ordinea codurilor.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«Care sunt cele mai mari?» (Elena)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„Dă-mi </a:t>
            </a:r>
            <a:r>
              <a:rPr b="1" sz="1500">
                <a:solidFill>
                  <a:srgbClr val="F2F2F2"/>
                </a:solidFill>
                <a:latin typeface="Arial"/>
              </a:rPr>
              <a:t>cele mai mari 5 comenzi</a:t>
            </a:r>
            <a:r>
              <a:rPr b="0" sz="1500">
                <a:solidFill>
                  <a:srgbClr val="F2F2F2"/>
                </a:solidFill>
                <a:latin typeface="Arial"/>
              </a:rPr>
              <a:t> din toată baza, și </a:t>
            </a:r>
            <a:r>
              <a:rPr b="1" sz="1500">
                <a:solidFill>
                  <a:srgbClr val="F2F2F2"/>
                </a:solidFill>
                <a:latin typeface="Arial"/>
              </a:rPr>
              <a:t>cele mai scumpe 5 produse</a:t>
            </a:r>
            <a:r>
              <a:rPr b="0" sz="1500">
                <a:solidFill>
                  <a:srgbClr val="F2F2F2"/>
                </a:solidFill>
                <a:latin typeface="Arial"/>
              </a:rPr>
              <a:t>. Și pentru septembrie: care a fost </a:t>
            </a:r>
            <a:r>
              <a:rPr b="1" sz="1500">
                <a:solidFill>
                  <a:srgbClr val="F2F2F2"/>
                </a:solidFill>
                <a:latin typeface="Arial"/>
              </a:rPr>
              <a:t>cea mai mare comandă</a:t>
            </a:r>
            <a:r>
              <a:rPr b="0" sz="1500">
                <a:solidFill>
                  <a:srgbClr val="F2F2F2"/>
                </a:solidFill>
                <a:latin typeface="Arial"/>
              </a:rPr>
              <a:t>? Andrei vrea să știe cât valorau produsele care s-au epuizat — să vedem dacă erau ieftine sau scumpe.”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îți dă rândurile potrivite, dar nu ți le pune în ordine. Pentru „cele mai mari” îți trebuie </a:t>
            </a:r>
            <a:r>
              <a:rPr b="1" sz="1500">
                <a:solidFill>
                  <a:srgbClr val="F2F2F2"/>
                </a:solidFill>
                <a:latin typeface="Arial"/>
              </a:rPr>
              <a:t>sortare</a:t>
            </a:r>
            <a:r>
              <a:rPr b="0" sz="1500">
                <a:solidFill>
                  <a:srgbClr val="F2F2F2"/>
                </a:solidFill>
                <a:latin typeface="Arial"/>
              </a:rPr>
              <a:t> plus o </a:t>
            </a:r>
            <a:r>
              <a:rPr b="1" sz="1500">
                <a:solidFill>
                  <a:srgbClr val="F2F2F2"/>
                </a:solidFill>
                <a:latin typeface="Arial"/>
              </a:rPr>
              <a:t>limită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LIMIT 5 fără ORDER BY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crede că are «top 5», are «primele 5 din tabel»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* FROM orders LIMIT 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 primit 5 rânduri — dar erau primele din tabel (OrderID 1–5), </a:t>
            </a:r>
            <a:r>
              <a:rPr b="1" sz="1500">
                <a:solidFill>
                  <a:srgbClr val="F2F2F2"/>
                </a:solidFill>
                <a:latin typeface="Arial"/>
              </a:rPr>
              <a:t>nu</a:t>
            </a:r>
            <a:r>
              <a:rPr b="0" sz="1500">
                <a:solidFill>
                  <a:srgbClr val="F2F2F2"/>
                </a:solidFill>
                <a:latin typeface="Arial"/>
              </a:rPr>
              <a:t> cele mai mari. </a:t>
            </a:r>
            <a:r>
              <a:rPr sz="15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b="1" sz="1500">
                <a:solidFill>
                  <a:srgbClr val="F2F2F2"/>
                </a:solidFill>
                <a:latin typeface="Arial"/>
              </a:rPr>
              <a:t>taie</a:t>
            </a:r>
            <a:r>
              <a:rPr b="0" sz="1500">
                <a:solidFill>
                  <a:srgbClr val="F2F2F2"/>
                </a:solidFill>
                <a:latin typeface="Arial"/>
              </a:rPr>
              <a:t>, dar nu </a:t>
            </a:r>
            <a:r>
              <a:rPr b="1" sz="1500">
                <a:solidFill>
                  <a:srgbClr val="F2F2F2"/>
                </a:solidFill>
                <a:latin typeface="Arial"/>
              </a:rPr>
              <a:t>ordonează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 raportat niște comenzi mici drept „top”, convinsă că </a:t>
            </a:r>
            <a:r>
              <a:rPr sz="14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400">
                <a:solidFill>
                  <a:srgbClr val="F2F2F2"/>
                </a:solidFill>
                <a:latin typeface="Arial"/>
              </a:rPr>
              <a:t> înseamnă „cele mai importante”. Antidotul: </a:t>
            </a:r>
            <a:r>
              <a:rPr sz="1400">
                <a:solidFill>
                  <a:srgbClr val="FFA24E"/>
                </a:solidFill>
                <a:latin typeface="Consolas"/>
              </a:rPr>
              <a:t>ORDER BY … DESC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b="1" sz="14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400">
                <a:solidFill>
                  <a:srgbClr val="F2F2F2"/>
                </a:solidFill>
                <a:latin typeface="Arial"/>
              </a:rPr>
              <a:t> de </a:t>
            </a:r>
            <a:r>
              <a:rPr sz="14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Sortarea transformă „rânduri” în „clasament”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teanc de comenzi neordonat nu-ți spune nimic despre „care contează”. Le pui în ordine descrescătoare după valoare și, dintr-o privire, vezi vârful. Apoi iei doar primele câteva — restul nu te interesează acum.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4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400">
                <a:solidFill>
                  <a:srgbClr val="F2F2F2"/>
                </a:solidFill>
                <a:latin typeface="Arial"/>
              </a:rPr>
              <a:t> face teancul un </a:t>
            </a:r>
            <a:r>
              <a:rPr b="1" sz="1400">
                <a:solidFill>
                  <a:srgbClr val="F2F2F2"/>
                </a:solidFill>
                <a:latin typeface="Arial"/>
              </a:rPr>
              <a:t>clasament</a:t>
            </a:r>
            <a:r>
              <a:rPr b="0" sz="1400">
                <a:solidFill>
                  <a:srgbClr val="F2F2F2"/>
                </a:solidFill>
                <a:latin typeface="Arial"/>
              </a:rPr>
              <a:t>; </a:t>
            </a:r>
            <a:r>
              <a:rPr sz="14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400">
                <a:solidFill>
                  <a:srgbClr val="F2F2F2"/>
                </a:solidFill>
                <a:latin typeface="Arial"/>
              </a:rPr>
              <a:t> ia </a:t>
            </a:r>
            <a:r>
              <a:rPr b="1" sz="1400">
                <a:solidFill>
                  <a:srgbClr val="F2F2F2"/>
                </a:solidFill>
                <a:latin typeface="Arial"/>
              </a:rPr>
              <a:t>podiumul</a:t>
            </a:r>
            <a:r>
              <a:rPr b="0" sz="1400">
                <a:solidFill>
                  <a:srgbClr val="F2F2F2"/>
                </a:solidFill>
                <a:latin typeface="Arial"/>
              </a:rPr>
              <a:t>. Dar ordinea contează: dacă tai (</a:t>
            </a:r>
            <a:r>
              <a:rPr sz="14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400">
                <a:solidFill>
                  <a:srgbClr val="F2F2F2"/>
                </a:solidFill>
                <a:latin typeface="Arial"/>
              </a:rPr>
              <a:t>) înainte să sortezi, iei „niște” din teanc, nu vârful — greșeala Ioanei.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Sortează, apoi taie — ordinea clauzelor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Clauza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Sortezi crescător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 BY col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(ASC)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 BY Price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(ieftin → scump)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Sortezi descrescător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 BY col DESC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 BY TotalAmount DESC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Păstrezi primele 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LIMIT N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(după sortare)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… ORDER BY … DESC LIMIT 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Departajezi egalitățile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 BY a DESC, b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întâi după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a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, apoi după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b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Ordinea clauzelor e </a:t>
            </a:r>
            <a:r>
              <a:rPr b="1" sz="1300">
                <a:solidFill>
                  <a:srgbClr val="F2F2F2"/>
                </a:solidFill>
                <a:latin typeface="Arial"/>
              </a:rPr>
              <a:t>fixă</a:t>
            </a:r>
            <a:r>
              <a:rPr b="0" sz="1300">
                <a:solidFill>
                  <a:srgbClr val="F2F2F2"/>
                </a:solidFill>
                <a:latin typeface="Arial"/>
              </a:rPr>
              <a:t>: </a:t>
            </a:r>
            <a:r>
              <a:rPr sz="1300">
                <a:solidFill>
                  <a:srgbClr val="FFA24E"/>
                </a:solidFill>
                <a:latin typeface="Consolas"/>
              </a:rPr>
              <a:t>SELECT … FROM … WHERE … ORDER BY … LIMIT …</a:t>
            </a:r>
            <a:r>
              <a:rPr b="0" sz="1300">
                <a:solidFill>
                  <a:srgbClr val="F2F2F2"/>
                </a:solidFill>
                <a:latin typeface="Arial"/>
              </a:rPr>
              <a:t>. Filtrezi, </a:t>
            </a:r>
            <a:r>
              <a:rPr b="1" sz="1300">
                <a:solidFill>
                  <a:srgbClr val="F2F2F2"/>
                </a:solidFill>
                <a:latin typeface="Arial"/>
              </a:rPr>
              <a:t>sortezi</a:t>
            </a:r>
            <a:r>
              <a:rPr b="0" sz="1300">
                <a:solidFill>
                  <a:srgbClr val="F2F2F2"/>
                </a:solidFill>
                <a:latin typeface="Arial"/>
              </a:rPr>
              <a:t>, și abia apoi tai primele 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EXEMPLU · TOP-N COMENZI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mai mari 5 comenzi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OrderDate, StoreID, TotalAmount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TotalAmount DESC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LIMIT 5;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Cele mai mari 5 comenzi. În frunte </a:t>
            </a:r>
            <a:r>
              <a:rPr b="1" sz="1400">
                <a:solidFill>
                  <a:srgbClr val="F2F2F2"/>
                </a:solidFill>
                <a:latin typeface="Arial"/>
              </a:rPr>
              <a:t>OrderID 9141</a:t>
            </a:r>
            <a:r>
              <a:rPr b="0" sz="1400">
                <a:solidFill>
                  <a:srgbClr val="F2F2F2"/>
                </a:solidFill>
                <a:latin typeface="Arial"/>
              </a:rPr>
              <a:t>, cu </a:t>
            </a:r>
            <a:r>
              <a:rPr b="1" sz="1400">
                <a:solidFill>
                  <a:srgbClr val="F2F2F2"/>
                </a:solidFill>
                <a:latin typeface="Arial"/>
              </a:rPr>
              <a:t>34.299,40</a:t>
            </a:r>
            <a:r>
              <a:rPr b="0" sz="1400">
                <a:solidFill>
                  <a:srgbClr val="F2F2F2"/>
                </a:solidFill>
                <a:latin typeface="Arial"/>
              </a:rPr>
              <a:t> lei (Brașov, 2025-04-13). </a:t>
            </a:r>
            <a:r>
              <a:rPr sz="1400">
                <a:solidFill>
                  <a:srgbClr val="FFA24E"/>
                </a:solidFill>
                <a:latin typeface="Consolas"/>
              </a:rPr>
              <a:t>DESC</a:t>
            </a:r>
            <a:r>
              <a:rPr b="0" sz="1400">
                <a:solidFill>
                  <a:srgbClr val="F2F2F2"/>
                </a:solidFill>
                <a:latin typeface="Arial"/>
              </a:rPr>
              <a:t> = cel mai mare primul; </a:t>
            </a:r>
            <a:r>
              <a:rPr sz="1400">
                <a:solidFill>
                  <a:srgbClr val="FFA24E"/>
                </a:solidFill>
                <a:latin typeface="Consolas"/>
              </a:rPr>
              <a:t>LIMIT 5</a:t>
            </a:r>
            <a:r>
              <a:rPr b="0" sz="1400">
                <a:solidFill>
                  <a:srgbClr val="F2F2F2"/>
                </a:solidFill>
                <a:latin typeface="Arial"/>
              </a:rPr>
              <a:t> = podiumul lărgit.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TOP-N PRODUSE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mai scumpe 5 produse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ProductID, ProductName, Price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products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Price DESC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LIMIT 5;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0896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Produs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Preț (lei)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Giga ACCE-282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5.845,71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Apto TABL-249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5.452,59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Vero LAPT-178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5.451,07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727448"/>
            <a:ext cx="10874959" cy="8793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Sortezi o </a:t>
            </a:r>
            <a:r>
              <a:rPr b="1" sz="13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Price</a:t>
            </a:r>
            <a:r>
              <a:rPr b="0" sz="1300">
                <a:solidFill>
                  <a:srgbClr val="F2F2F2"/>
                </a:solidFill>
                <a:latin typeface="Arial"/>
              </a:rPr>
              <a:t>), nu un cod — de aceea „cel mai scump” are sens.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TIPARUL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Cea mai mare comandă din septembrie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OrderDate, TotalAmount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OrderDate &gt;= '2025-09-01' AND OrderDate &lt; '2025-10-01'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TotalAmount DESC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LIMIT 3;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42132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Cele mai mari 3 din septembrie: </a:t>
            </a:r>
            <a:r>
              <a:rPr b="1" sz="1500">
                <a:solidFill>
                  <a:srgbClr val="F2F2F2"/>
                </a:solidFill>
                <a:latin typeface="Arial"/>
              </a:rPr>
              <a:t>OrderID 11958 (26.948,78)</a:t>
            </a:r>
            <a:r>
              <a:rPr b="0" sz="1500">
                <a:solidFill>
                  <a:srgbClr val="F2F2F2"/>
                </a:solidFill>
                <a:latin typeface="Arial"/>
              </a:rPr>
              <a:t> — cea mai mare —, apoi 12014 (18.437,63) și 12213 (17.055,15).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8981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MILESTONE: tiparul de zi cu zi — </a:t>
            </a:r>
            <a:r>
              <a:rPr b="1" sz="1400">
                <a:solidFill>
                  <a:srgbClr val="F2F2F2"/>
                </a:solidFill>
                <a:latin typeface="Arial"/>
              </a:rPr>
              <a:t>filtrezi</a:t>
            </a:r>
            <a:r>
              <a:rPr b="0" sz="1400">
                <a:solidFill>
                  <a:srgbClr val="F2F2F2"/>
                </a:solidFill>
                <a:latin typeface="Arial"/>
              </a:rPr>
              <a:t> felia (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400">
                <a:solidFill>
                  <a:srgbClr val="F2F2F2"/>
                </a:solidFill>
                <a:latin typeface="Arial"/>
              </a:rPr>
              <a:t>), o </a:t>
            </a:r>
            <a:r>
              <a:rPr b="1" sz="1400">
                <a:solidFill>
                  <a:srgbClr val="F2F2F2"/>
                </a:solidFill>
                <a:latin typeface="Arial"/>
              </a:rPr>
              <a:t>sortezi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400">
                <a:solidFill>
                  <a:srgbClr val="F2F2F2"/>
                </a:solidFill>
                <a:latin typeface="Arial"/>
              </a:rPr>
              <a:t>), iei </a:t>
            </a:r>
            <a:r>
              <a:rPr b="1" sz="1400">
                <a:solidFill>
                  <a:srgbClr val="F2F2F2"/>
                </a:solidFill>
                <a:latin typeface="Arial"/>
              </a:rPr>
              <a:t>vârful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4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INVERS (ASC)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mai ieftine 3 produse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188720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ProductID, ProductName, Price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products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Price ASC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LIMIT 3;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sz="1500">
                <a:solidFill>
                  <a:srgbClr val="FFA24E"/>
                </a:solidFill>
                <a:latin typeface="Consolas"/>
              </a:rPr>
              <a:t>Apto COFF-095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b="1" sz="1500">
                <a:solidFill>
                  <a:srgbClr val="F2F2F2"/>
                </a:solidFill>
                <a:latin typeface="Arial"/>
              </a:rPr>
              <a:t>5,10</a:t>
            </a:r>
            <a:r>
              <a:rPr b="0" sz="1500">
                <a:solidFill>
                  <a:srgbClr val="F2F2F2"/>
                </a:solidFill>
                <a:latin typeface="Arial"/>
              </a:rPr>
              <a:t>), </a:t>
            </a:r>
            <a:r>
              <a:rPr sz="1500">
                <a:solidFill>
                  <a:srgbClr val="FFA24E"/>
                </a:solidFill>
                <a:latin typeface="Consolas"/>
              </a:rPr>
              <a:t>Miro COFF-176</a:t>
            </a:r>
            <a:r>
              <a:rPr b="0" sz="1500">
                <a:solidFill>
                  <a:srgbClr val="F2F2F2"/>
                </a:solidFill>
                <a:latin typeface="Arial"/>
              </a:rPr>
              <a:t> (5,15), </a:t>
            </a:r>
            <a:r>
              <a:rPr sz="1500">
                <a:solidFill>
                  <a:srgbClr val="FFA24E"/>
                </a:solidFill>
                <a:latin typeface="Consolas"/>
              </a:rPr>
              <a:t>Astra COFF-090</a:t>
            </a:r>
            <a:r>
              <a:rPr b="0" sz="1500">
                <a:solidFill>
                  <a:srgbClr val="F2F2F2"/>
                </a:solidFill>
                <a:latin typeface="Arial"/>
              </a:rPr>
              <a:t> (5,20).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29106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ASC</a:t>
            </a:r>
            <a:r>
              <a:rPr b="0" sz="1300">
                <a:solidFill>
                  <a:srgbClr val="F2F2F2"/>
                </a:solidFill>
                <a:latin typeface="Arial"/>
              </a:rPr>
              <a:t> (crescător) e </a:t>
            </a:r>
            <a:r>
              <a:rPr b="1" sz="1300">
                <a:solidFill>
                  <a:srgbClr val="F2F2F2"/>
                </a:solidFill>
                <a:latin typeface="Arial"/>
              </a:rPr>
              <a:t>implicit</a:t>
            </a:r>
            <a:r>
              <a:rPr b="0" sz="1300">
                <a:solidFill>
                  <a:srgbClr val="F2F2F2"/>
                </a:solidFill>
                <a:latin typeface="Arial"/>
              </a:rPr>
              <a:t> — l-ai scris explicit doar ca să fie clar. „Cel mai mic primul” = </a:t>
            </a:r>
            <a:r>
              <a:rPr sz="1300">
                <a:solidFill>
                  <a:srgbClr val="FFA24E"/>
                </a:solidFill>
                <a:latin typeface="Consolas"/>
              </a:rPr>
              <a:t>ASC</a:t>
            </a:r>
            <a:r>
              <a:rPr b="0" sz="1300">
                <a:solidFill>
                  <a:srgbClr val="F2F2F2"/>
                </a:solidFill>
                <a:latin typeface="Arial"/>
              </a:rPr>
              <a:t>; „cel mai mare primul” = </a:t>
            </a:r>
            <a:r>
              <a:rPr sz="1300">
                <a:solidFill>
                  <a:srgbClr val="FFA24E"/>
                </a:solidFill>
                <a:latin typeface="Consolas"/>
              </a:rPr>
              <a:t>DESC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Produsele epuizate erau premium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ProductID, ProductName, Price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products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ProductName LIKE '%ACCE-114%' OR ProductName LIKE '%ACCE-101%'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OR ProductName LIKE '%LAPT-008%'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ORDER BY Price DESC;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342132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Produs epuizat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Preț (lei)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Pulse ACCE-114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3.421,21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Apto ACCE-101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3.230,15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Miro LAPT-008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2.954,88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960620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Toate </a:t>
            </a:r>
            <a:r>
              <a:rPr b="1" sz="1300">
                <a:solidFill>
                  <a:srgbClr val="F2F2F2"/>
                </a:solidFill>
                <a:latin typeface="Arial"/>
              </a:rPr>
              <a:t>în top ~15 din 300</a:t>
            </a:r>
            <a:r>
              <a:rPr b="0" sz="1300">
                <a:solidFill>
                  <a:srgbClr val="F2F2F2"/>
                </a:solidFill>
                <a:latin typeface="Arial"/>
              </a:rPr>
              <a:t> la preț: erau </a:t>
            </a:r>
            <a:r>
              <a:rPr b="1" sz="1300">
                <a:solidFill>
                  <a:srgbClr val="F2F2F2"/>
                </a:solidFill>
                <a:latin typeface="Arial"/>
              </a:rPr>
              <a:t>premium</a:t>
            </a:r>
            <a:r>
              <a:rPr b="0" sz="1300">
                <a:solidFill>
                  <a:srgbClr val="F2F2F2"/>
                </a:solidFill>
                <a:latin typeface="Arial"/>
              </a:rPr>
              <a:t>. Pierderea lor a lovit Revenue-ul mai tare decât ar fi lovit niște produse ieftine.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`LIMIT` fără `ORDER BY`</a:t>
            </a:r>
            <a:r>
              <a:rPr b="0" sz="1400">
                <a:solidFill>
                  <a:srgbClr val="F2F2F2"/>
                </a:solidFill>
                <a:latin typeface="Arial"/>
              </a:rPr>
              <a:t> → „oricare N”, nu „primele N” (greșeala Ioanei)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ordinea clauzelor greșită</a:t>
            </a:r>
            <a:r>
              <a:rPr b="0" sz="1400">
                <a:solidFill>
                  <a:srgbClr val="F2F2F2"/>
                </a:solidFill>
                <a:latin typeface="Arial"/>
              </a:rPr>
              <a:t> → fixă: </a:t>
            </a:r>
            <a:r>
              <a:rPr sz="1400">
                <a:solidFill>
                  <a:srgbClr val="FFA24E"/>
                </a:solidFill>
                <a:latin typeface="Consolas"/>
              </a:rPr>
              <a:t>SELECT → FROM → WHERE → ORDER BY → LIMIT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direcția inversă</a:t>
            </a:r>
            <a:r>
              <a:rPr b="0" sz="1400">
                <a:solidFill>
                  <a:srgbClr val="F2F2F2"/>
                </a:solidFill>
                <a:latin typeface="Arial"/>
              </a:rPr>
              <a:t> → „cel mai mare primul” = </a:t>
            </a:r>
            <a:r>
              <a:rPr sz="1400">
                <a:solidFill>
                  <a:srgbClr val="FFA24E"/>
                </a:solidFill>
                <a:latin typeface="Consolas"/>
              </a:rPr>
              <a:t>DESC</a:t>
            </a:r>
            <a:r>
              <a:rPr b="0" sz="1400">
                <a:solidFill>
                  <a:srgbClr val="F2F2F2"/>
                </a:solidFill>
                <a:latin typeface="Arial"/>
              </a:rPr>
              <a:t>; </a:t>
            </a:r>
            <a:r>
              <a:rPr sz="1400">
                <a:solidFill>
                  <a:srgbClr val="FFA24E"/>
                </a:solidFill>
                <a:latin typeface="Consolas"/>
              </a:rPr>
              <a:t>ASC</a:t>
            </a:r>
            <a:r>
              <a:rPr b="0" sz="1400">
                <a:solidFill>
                  <a:srgbClr val="F2F2F2"/>
                </a:solidFill>
                <a:latin typeface="Arial"/>
              </a:rPr>
              <a:t> e implicit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sortezi un cod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ORDER BY 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) → sortezi o </a:t>
            </a:r>
            <a:r>
              <a:rPr b="1" sz="14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Price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clasamentele investigației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ORDER BY col</a:t>
            </a:r>
            <a:r>
              <a:rPr b="0" sz="1400">
                <a:solidFill>
                  <a:srgbClr val="F2F2F2"/>
                </a:solidFill>
                <a:latin typeface="Arial"/>
              </a:rPr>
              <a:t> sortează (crescător implicit); </a:t>
            </a:r>
            <a:r>
              <a:rPr sz="1400">
                <a:solidFill>
                  <a:srgbClr val="FFA24E"/>
                </a:solidFill>
                <a:latin typeface="Consolas"/>
              </a:rPr>
              <a:t>DESC</a:t>
            </a:r>
            <a:r>
              <a:rPr b="0" sz="1400">
                <a:solidFill>
                  <a:srgbClr val="F2F2F2"/>
                </a:solidFill>
                <a:latin typeface="Arial"/>
              </a:rPr>
              <a:t> = cel mai mare primul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Top-N</a:t>
            </a:r>
            <a:r>
              <a:rPr b="0" sz="1400">
                <a:solidFill>
                  <a:srgbClr val="F2F2F2"/>
                </a:solidFill>
                <a:latin typeface="Arial"/>
              </a:rPr>
              <a:t> = </a:t>
            </a:r>
            <a:r>
              <a:rPr sz="1400">
                <a:solidFill>
                  <a:srgbClr val="FFA24E"/>
                </a:solidFill>
                <a:latin typeface="Consolas"/>
              </a:rPr>
              <a:t>ORDER BY … DESC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sz="1400">
                <a:solidFill>
                  <a:srgbClr val="FFA24E"/>
                </a:solidFill>
                <a:latin typeface="Consolas"/>
              </a:rPr>
              <a:t>LIMIT N</a:t>
            </a:r>
            <a:r>
              <a:rPr b="0" sz="1400">
                <a:solidFill>
                  <a:srgbClr val="F2F2F2"/>
                </a:solidFill>
                <a:latin typeface="Arial"/>
              </a:rPr>
              <a:t>; fără </a:t>
            </a:r>
            <a:r>
              <a:rPr sz="1400">
                <a:solidFill>
                  <a:srgbClr val="FFA24E"/>
                </a:solidFill>
                <a:latin typeface="Consolas"/>
              </a:rPr>
              <a:t>ORDER BY</a:t>
            </a:r>
            <a:r>
              <a:rPr b="0" sz="1400">
                <a:solidFill>
                  <a:srgbClr val="F2F2F2"/>
                </a:solidFill>
                <a:latin typeface="Arial"/>
              </a:rPr>
              <a:t> = „oricare N”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ordinea clauzelor e fixă: </a:t>
            </a:r>
            <a:r>
              <a:rPr sz="1400">
                <a:solidFill>
                  <a:srgbClr val="FFA24E"/>
                </a:solidFill>
                <a:latin typeface="Consolas"/>
              </a:rPr>
              <a:t>WHERE → ORDER BY → LIMIT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sortezi o </a:t>
            </a:r>
            <a:r>
              <a:rPr b="1" sz="14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 cod — produsele epuizate erau </a:t>
            </a:r>
            <a:r>
              <a:rPr b="1" sz="1400">
                <a:solidFill>
                  <a:srgbClr val="F2F2F2"/>
                </a:solidFill>
                <a:latin typeface="Arial"/>
              </a:rPr>
              <a:t>premium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L23: agregate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300">
                <a:solidFill>
                  <a:srgbClr val="F2F2F2"/>
                </a:solidFill>
                <a:latin typeface="Arial"/>
              </a:rPr>
              <a:t>/</a:t>
            </a:r>
            <a:r>
              <a:rPr sz="1300">
                <a:solidFill>
                  <a:srgbClr val="FFA24E"/>
                </a:solidFill>
                <a:latin typeface="Consolas"/>
              </a:rPr>
              <a:t>SUM</a:t>
            </a:r>
            <a:r>
              <a:rPr b="0" sz="1300">
                <a:solidFill>
                  <a:srgbClr val="F2F2F2"/>
                </a:solidFill>
                <a:latin typeface="Arial"/>
              </a:rPr>
              <a:t>/</a:t>
            </a:r>
            <a:r>
              <a:rPr sz="1300">
                <a:solidFill>
                  <a:srgbClr val="FFA24E"/>
                </a:solidFill>
                <a:latin typeface="Consolas"/>
              </a:rPr>
              <a:t>AVG</a:t>
            </a:r>
            <a:r>
              <a:rPr b="0" sz="1300">
                <a:solidFill>
                  <a:srgbClr val="F2F2F2"/>
                </a:solidFill>
                <a:latin typeface="Arial"/>
              </a:rPr>
              <a:t>) — calculezi Revenue-ul total, numărul de comenzi, media; apoi le grupezi (L24).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L22 · ORDER BY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