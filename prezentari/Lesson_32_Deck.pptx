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La L31 ai făcut planul (framing-ul cazului de profit). Azi îl EXECUȚI — singur. Un plan bun face execuția aproape mecanică. Dar «rulează» nu înseamnă «corect»: piesa care desparte un analist bun de unul care raportează cifre greșite e RECONCILIEREA — verifici un total pe care îl știi deja (Revenue = 39.810.596,57, din L25) înainte de a te încrede în defalcare. Reveal-ul: liderul de vânzări (Laptops, 10% marjă) NU e liderul de profit (Fitness Equipment). Baza RetailHub e deja încărcată.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L31: ai framat cazul de profit — întrebare ascuțită, sub-întrebări, măsura profit (nu revenue), datele order_items ⋈ products ⋈ categories, tool SQL + dashboard. Azi îl execuți. Puntea: un plan bun face execuția aproape mecanică — dar «rulează» ≠ «corect».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obiective din §1: traduci planul în SQL, reconciliezi (Revenue = 39.810.596,57), citești reveal-ul, asamblezi dashboard-ul.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Data-setup: cele 3 tabele din plan. Costul (Cost) trăiește în products, nu în order_items — de-aia planul cere JOIN. Grain = per categorie.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Andrei citește fișa de framing, o dă înapoi: planul e bun; execută-l, dar înainte să-mi aduci orice cifră, reconciliaz-o. Ancora: Revenue total = 39.810.596,57 (L25). Dacă interogarea nu dă asta, e o greșeală, nu un rezultat.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Ioana a scris COGS ca SUM(Cost) — fără × Quantity. Costul ieșise prea mic, profitul prea mare: a raportat 21M profit, marjă 53%, dintr-un Revenue de 39,8. Interogarea rula perfect; rezultatul era greșit. Fiindcă n-a verificat cu nicio ancoră, n-avea de unde să știe.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1 — intuiția. Framing-ul e rețeta; execuția e gătitul. Dar niciun bucătar bun nu servește fără să guste. Reconcilierea e gustatul: înainte să duci farfuria, verifici că nu e prea sărată. Ioana a servit fără să guste — 21M care «rula» frumos, dar era stricat.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2 — structura. Tabelul celor 5 pași din §5/§6.2: traduci → rulezi → reconciliezi → citești → vizualizezi.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1 — înainte de defalcare, scoți ancora: totalul pe care îl știi. Revenue 39.810.596,57 (exact ca L25), COGS 29.233.070,15, GrossProfit 10.577.526,42. Cost = Quantity × Cost, nu Cost — aici a greșit Ioana.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2 — defalci pe categorie, sortezi după profit. Vârf: Fitness Equipment 1.498.020,95 (41,9%), Home Decor 882.868,00 (39,8%), Accessories 766.246,65 (14,3%). Suma coloanei Revenue = 39.810.596,57 (aceeași ancoră). 30 de categorii.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3 — sortezi în celălalt fel (după revenue). Vârf la revenue: Laptops 5.631.962,64 — dar marja doar 10,0% (profit 564.829,20, ~locul 10). Accessories 5.345.068,64 la 14,3%. Gaming marja 7,0%, cea mai mică. Reveal: cine vinde cel mai mult câștigă puțin; Fitness Equipment (#3 la vânzări) e #1 la profit. Revenue ≠ profit, dovedit cu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Marja diferă enorm între categorii. Electronicele de volum (Laptops 10%, Accessories 14%, Gaming 7%) au marje subțiri — vând mult, câștigă puțin. Fitness Equipment, Home Decor, Beauty (Cosmetics 60,3%) au marje mari. Board-ul, uitându-se doar la revenue, credea că Laptops e vedeta. Atenție: profit absolut = marjă × volum — Cosmetics 60,3% dar volum mic → profit modest.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4 — duci rezultatul în Data Studio. Sursa = order_items_profit_flat.csv (nivel-articol, cu Revenue, COGS, GrossProfit — flat-urile din M5 n-aveau cost). O bară de Gross Profit per categorie (Fitness Equipment în vârf) + Revenue alături, ca să se vadă divergența; scorecards (Profit brut 10.577.526,42, marjă 26,6%); titlu-insight «Cine vinde mult ≠ cine câștigă mult».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greșeli din §11: rulezi fără să reconciliezi (Ioana), uiți × Quantity, citești un singur clasament, confunzi marja mare cu profit mare.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idei din §12 + milestone (cazul executat) + puntea spre L33 (Recommendation). Profit brut total 10.577.526,42 (26,6%); Laptops vinde cel mai mult (5.631.962,64) dar 10%; Fitness Equipment #1 la profit (1.498.020,95, 41,9%).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6 · LECȚIA 32 ·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Cazul end-to-end —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Framing (L31) → Execution →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18 noiembrie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planul (framing-ul)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L31:</a:t>
            </a:r>
            <a:r>
              <a:rPr b="0" sz="1500">
                <a:solidFill>
                  <a:srgbClr val="F2F2F2"/>
                </a:solidFill>
                <a:latin typeface="Arial"/>
              </a:rPr>
              <a:t> ai </a:t>
            </a:r>
            <a:r>
              <a:rPr b="1" sz="1500">
                <a:solidFill>
                  <a:srgbClr val="F2F2F2"/>
                </a:solidFill>
                <a:latin typeface="Arial"/>
              </a:rPr>
              <a:t>framat</a:t>
            </a:r>
            <a:r>
              <a:rPr b="0" sz="1500">
                <a:solidFill>
                  <a:srgbClr val="F2F2F2"/>
                </a:solidFill>
                <a:latin typeface="Arial"/>
              </a:rPr>
              <a:t> cazul de profit — din întrebare vagă, un plan (5 mișcări)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Măsura aleasă: </a:t>
            </a:r>
            <a:r>
              <a:rPr b="1" sz="1500">
                <a:solidFill>
                  <a:srgbClr val="F2F2F2"/>
                </a:solidFill>
                <a:latin typeface="Arial"/>
              </a:rPr>
              <a:t>profit brut = Revenue − COGS</a:t>
            </a:r>
            <a:r>
              <a:rPr b="0" sz="1500">
                <a:solidFill>
                  <a:srgbClr val="F2F2F2"/>
                </a:solidFill>
                <a:latin typeface="Arial"/>
              </a:rPr>
              <a:t>; marja % = Profit / Revenue (nu revenue!)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Datele: </a:t>
            </a:r>
            <a:r>
              <a:rPr sz="1500">
                <a:solidFill>
                  <a:srgbClr val="FFA24E"/>
                </a:solidFill>
                <a:latin typeface="Consolas"/>
              </a:rPr>
              <a:t>order_items ⋈ products ⋈ categories</a:t>
            </a:r>
            <a:r>
              <a:rPr b="0" sz="1500">
                <a:solidFill>
                  <a:srgbClr val="F2F2F2"/>
                </a:solidFill>
                <a:latin typeface="Arial"/>
              </a:rPr>
              <a:t>; grain = per categorie; </a:t>
            </a:r>
            <a:r>
              <a:rPr sz="1500">
                <a:solidFill>
                  <a:srgbClr val="FFA24E"/>
                </a:solidFill>
                <a:latin typeface="Consolas"/>
              </a:rPr>
              <a:t>Cost</a:t>
            </a:r>
            <a:r>
              <a:rPr b="0" sz="1500">
                <a:solidFill>
                  <a:srgbClr val="F2F2F2"/>
                </a:solidFill>
                <a:latin typeface="Arial"/>
              </a:rPr>
              <a:t> din </a:t>
            </a:r>
            <a:r>
              <a:rPr sz="1500">
                <a:solidFill>
                  <a:srgbClr val="FFA24E"/>
                </a:solidFill>
                <a:latin typeface="Consolas"/>
              </a:rPr>
              <a:t>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Azi </a:t>
            </a:r>
            <a:r>
              <a:rPr b="1" sz="1400">
                <a:solidFill>
                  <a:srgbClr val="F2F2F2"/>
                </a:solidFill>
                <a:latin typeface="Arial"/>
              </a:rPr>
              <a:t>execuți</a:t>
            </a:r>
            <a:r>
              <a:rPr b="0" sz="1400">
                <a:solidFill>
                  <a:srgbClr val="F2F2F2"/>
                </a:solidFill>
                <a:latin typeface="Arial"/>
              </a:rPr>
              <a:t> planul — singur. Un plan bun face execuția aproape mecanică. Dar „rulează” </a:t>
            </a:r>
            <a:r>
              <a:rPr b="1" sz="1400">
                <a:solidFill>
                  <a:srgbClr val="F2F2F2"/>
                </a:solidFill>
                <a:latin typeface="Arial"/>
              </a:rPr>
              <a:t>nu</a:t>
            </a:r>
            <a:r>
              <a:rPr b="0" sz="1400">
                <a:solidFill>
                  <a:srgbClr val="F2F2F2"/>
                </a:solidFill>
                <a:latin typeface="Arial"/>
              </a:rPr>
              <a:t> înseamnă „corect”: azi înveți piesa care le desparte — </a:t>
            </a:r>
            <a:r>
              <a:rPr b="1" sz="1400">
                <a:solidFill>
                  <a:srgbClr val="F2F2F2"/>
                </a:solidFill>
                <a:latin typeface="Arial"/>
              </a:rPr>
              <a:t>reconcilierea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</a:t>
            </a:r>
            <a:r>
              <a:rPr b="1" sz="1400">
                <a:solidFill>
                  <a:srgbClr val="F2F2F2"/>
                </a:solidFill>
                <a:latin typeface="Arial"/>
              </a:rPr>
              <a:t>traduci</a:t>
            </a:r>
            <a:r>
              <a:rPr b="0" sz="1400">
                <a:solidFill>
                  <a:srgbClr val="F2F2F2"/>
                </a:solidFill>
                <a:latin typeface="Arial"/>
              </a:rPr>
              <a:t> planul într-un SQL de profitabilitate (Revenue, COGS, Gross Profit, Margin % per categorie)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</a:t>
            </a:r>
            <a:r>
              <a:rPr b="1" sz="1400">
                <a:solidFill>
                  <a:srgbClr val="F2F2F2"/>
                </a:solidFill>
                <a:latin typeface="Arial"/>
              </a:rPr>
              <a:t>reconciliezi</a:t>
            </a:r>
            <a:r>
              <a:rPr b="0" sz="1400">
                <a:solidFill>
                  <a:srgbClr val="F2F2F2"/>
                </a:solidFill>
                <a:latin typeface="Arial"/>
              </a:rPr>
              <a:t> rezultatul (Revenue total = </a:t>
            </a:r>
            <a:r>
              <a:rPr sz="1400">
                <a:solidFill>
                  <a:srgbClr val="FFA24E"/>
                </a:solidFill>
                <a:latin typeface="Consolas"/>
              </a:rPr>
              <a:t>39.810.596,57</a:t>
            </a:r>
            <a:r>
              <a:rPr b="0" sz="1400">
                <a:solidFill>
                  <a:srgbClr val="F2F2F2"/>
                </a:solidFill>
                <a:latin typeface="Arial"/>
              </a:rPr>
              <a:t>, ca în L25) înainte de a-l crede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</a:t>
            </a:r>
            <a:r>
              <a:rPr b="1" sz="1400">
                <a:solidFill>
                  <a:srgbClr val="F2F2F2"/>
                </a:solidFill>
                <a:latin typeface="Arial"/>
              </a:rPr>
              <a:t>citești reveal-ul</a:t>
            </a:r>
            <a:r>
              <a:rPr b="0" sz="1400">
                <a:solidFill>
                  <a:srgbClr val="F2F2F2"/>
                </a:solidFill>
                <a:latin typeface="Arial"/>
              </a:rPr>
              <a:t> — cine câștigă de fapt la profit (surpriza: nu cine credeai)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</a:t>
            </a:r>
            <a:r>
              <a:rPr b="1" sz="1400">
                <a:solidFill>
                  <a:srgbClr val="F2F2F2"/>
                </a:solidFill>
                <a:latin typeface="Arial"/>
              </a:rPr>
              <a:t>asamblezi</a:t>
            </a:r>
            <a:r>
              <a:rPr b="0" sz="1400">
                <a:solidFill>
                  <a:srgbClr val="F2F2F2"/>
                </a:solidFill>
                <a:latin typeface="Arial"/>
              </a:rPr>
              <a:t> rezultatul într-un </a:t>
            </a:r>
            <a:r>
              <a:rPr b="1" sz="1400">
                <a:solidFill>
                  <a:srgbClr val="F2F2F2"/>
                </a:solidFill>
                <a:latin typeface="Arial"/>
              </a:rPr>
              <a:t>dashboard de profitabilitate</a:t>
            </a:r>
            <a:r>
              <a:rPr b="0" sz="1400">
                <a:solidFill>
                  <a:srgbClr val="F2F2F2"/>
                </a:solidFill>
                <a:latin typeface="Arial"/>
              </a:rPr>
              <a:t> (profit + marjă, nu doar revenue)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Piesa care desparte un analist bun de unul care raportează cifre greșite: </a:t>
            </a:r>
            <a:r>
              <a:rPr b="1" sz="1400">
                <a:solidFill>
                  <a:srgbClr val="F2F2F2"/>
                </a:solidFill>
                <a:latin typeface="Arial"/>
              </a:rPr>
              <a:t>reconcilierea</a:t>
            </a:r>
            <a:r>
              <a:rPr b="0" sz="1400">
                <a:solidFill>
                  <a:srgbClr val="F2F2F2"/>
                </a:solidFill>
                <a:latin typeface="Arial"/>
              </a:rPr>
              <a:t> — verifici un total pe care îl </a:t>
            </a:r>
            <a:r>
              <a:rPr b="1" sz="1400">
                <a:solidFill>
                  <a:srgbClr val="F2F2F2"/>
                </a:solidFill>
                <a:latin typeface="Arial"/>
              </a:rPr>
              <a:t>știi deja</a:t>
            </a:r>
            <a:r>
              <a:rPr b="0" sz="1400">
                <a:solidFill>
                  <a:srgbClr val="F2F2F2"/>
                </a:solidFill>
                <a:latin typeface="Arial"/>
              </a:rPr>
              <a:t> înainte să te încrezi în defalcare.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DATE · RETAILHUB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Tabelele planului + costul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033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Tabel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Ce conține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Cheie / câmp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order_items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liniile comenzii (Quantity, UnitPrice)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OrderID, ProductID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products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produsele + </a:t>
                      </a:r>
                      <a:r>
                        <a:rPr b="1" sz="1100">
                          <a:solidFill>
                            <a:srgbClr val="F2F2F2"/>
                          </a:solidFill>
                          <a:latin typeface="Arial"/>
                        </a:rPr>
                        <a:t>costul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(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Cost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ProductID → CategoryID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categories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categoriile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CategoryID → CategoryName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401568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Cost</a:t>
            </a:r>
            <a:r>
              <a:rPr b="0" sz="1300">
                <a:solidFill>
                  <a:srgbClr val="F2F2F2"/>
                </a:solidFill>
                <a:latin typeface="Arial"/>
              </a:rPr>
              <a:t>-ul trăiește în </a:t>
            </a:r>
            <a:r>
              <a:rPr sz="13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300">
                <a:solidFill>
                  <a:srgbClr val="F2F2F2"/>
                </a:solidFill>
                <a:latin typeface="Arial"/>
              </a:rPr>
              <a:t>, nu în </a:t>
            </a:r>
            <a:r>
              <a:rPr sz="13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300">
                <a:solidFill>
                  <a:srgbClr val="F2F2F2"/>
                </a:solidFill>
                <a:latin typeface="Arial"/>
              </a:rPr>
              <a:t> — de-aia planul cere un </a:t>
            </a:r>
            <a:r>
              <a:rPr b="1" sz="1300">
                <a:solidFill>
                  <a:srgbClr val="F2F2F2"/>
                </a:solidFill>
                <a:latin typeface="Arial"/>
              </a:rPr>
              <a:t>JOIN</a:t>
            </a:r>
            <a:r>
              <a:rPr b="0" sz="1300">
                <a:solidFill>
                  <a:srgbClr val="F2F2F2"/>
                </a:solidFill>
                <a:latin typeface="Arial"/>
              </a:rPr>
              <a:t>. Grain-ul: </a:t>
            </a:r>
            <a:r>
              <a:rPr b="1" sz="1300">
                <a:solidFill>
                  <a:srgbClr val="F2F2F2"/>
                </a:solidFill>
                <a:latin typeface="Arial"/>
              </a:rPr>
              <a:t>per categorie</a:t>
            </a:r>
            <a:r>
              <a:rPr b="0" sz="1300">
                <a:solidFill>
                  <a:srgbClr val="F2F2F2"/>
                </a:solidFill>
                <a:latin typeface="Arial"/>
              </a:rPr>
              <a:t> (un rând / categorie). Ancora de reconciliere: Revenue = </a:t>
            </a:r>
            <a:r>
              <a:rPr sz="1300">
                <a:solidFill>
                  <a:srgbClr val="FFA24E"/>
                </a:solidFill>
                <a:latin typeface="Consolas"/>
              </a:rPr>
              <a:t>39.810.596,57</a:t>
            </a:r>
            <a:r>
              <a:rPr b="0" sz="1300">
                <a:solidFill>
                  <a:srgbClr val="F2F2F2"/>
                </a:solidFill>
                <a:latin typeface="Arial"/>
              </a:rPr>
              <a:t> (L25).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«Execută-l — dar reconciliază»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5176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„Planul e bun — măsura corectă (profit, nu revenue), JOIN-ul la </a:t>
            </a:r>
            <a:r>
              <a:rPr sz="14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400">
                <a:solidFill>
                  <a:srgbClr val="F2F2F2"/>
                </a:solidFill>
                <a:latin typeface="Arial"/>
              </a:rPr>
              <a:t> pentru cost. Acum </a:t>
            </a:r>
            <a:r>
              <a:rPr b="1" sz="1400">
                <a:solidFill>
                  <a:srgbClr val="F2F2F2"/>
                </a:solidFill>
                <a:latin typeface="Arial"/>
              </a:rPr>
              <a:t>execută-l</a:t>
            </a:r>
            <a:r>
              <a:rPr b="0" sz="1400">
                <a:solidFill>
                  <a:srgbClr val="F2F2F2"/>
                </a:solidFill>
                <a:latin typeface="Arial"/>
              </a:rPr>
              <a:t>. Dar o regulă: </a:t>
            </a:r>
            <a:r>
              <a:rPr b="1" sz="1400">
                <a:solidFill>
                  <a:srgbClr val="F2F2F2"/>
                </a:solidFill>
                <a:latin typeface="Arial"/>
              </a:rPr>
              <a:t>înainte să-mi aduci orice cifră, reconciliaz-o.</a:t>
            </a:r>
            <a:r>
              <a:rPr b="0" sz="1400">
                <a:solidFill>
                  <a:srgbClr val="F2F2F2"/>
                </a:solidFill>
                <a:latin typeface="Arial"/>
              </a:rPr>
              <a:t> Ai o ancoră — Revenue-ul total e </a:t>
            </a:r>
            <a:r>
              <a:rPr sz="1400">
                <a:solidFill>
                  <a:srgbClr val="FFA24E"/>
                </a:solidFill>
                <a:latin typeface="Consolas"/>
              </a:rPr>
              <a:t>39.810.596,57</a:t>
            </a:r>
            <a:r>
              <a:rPr b="0" sz="1400">
                <a:solidFill>
                  <a:srgbClr val="F2F2F2"/>
                </a:solidFill>
                <a:latin typeface="Arial"/>
              </a:rPr>
              <a:t> (îl știm din L25). Dacă interogarea ta nu dă asta, ai o </a:t>
            </a:r>
            <a:r>
              <a:rPr b="1" sz="1400">
                <a:solidFill>
                  <a:srgbClr val="F2F2F2"/>
                </a:solidFill>
                <a:latin typeface="Arial"/>
              </a:rPr>
              <a:t>greșeală</a:t>
            </a:r>
            <a:r>
              <a:rPr b="0" sz="1400">
                <a:solidFill>
                  <a:srgbClr val="F2F2F2"/>
                </a:solidFill>
                <a:latin typeface="Arial"/>
              </a:rPr>
              <a:t>, nu un rezultat.”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37888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Deci execuția are două părți: rulezi </a:t>
            </a:r>
            <a:r>
              <a:rPr b="1" sz="1500">
                <a:solidFill>
                  <a:srgbClr val="F2F2F2"/>
                </a:solidFill>
                <a:latin typeface="Arial"/>
              </a:rPr>
              <a:t>și</a:t>
            </a:r>
            <a:r>
              <a:rPr b="0" sz="1500">
                <a:solidFill>
                  <a:srgbClr val="F2F2F2"/>
                </a:solidFill>
                <a:latin typeface="Arial"/>
              </a:rPr>
              <a:t> reconciliezi. A doua e cea pe care juniorii o sar.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a rulat, dar n-a reconciliat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29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Ioana și-a executat planul repede și i-a dus lui Andrei: „Gata — profitul total e </a:t>
            </a:r>
            <a:r>
              <a:rPr sz="1500">
                <a:solidFill>
                  <a:srgbClr val="FFA24E"/>
                </a:solidFill>
                <a:latin typeface="Consolas"/>
              </a:rPr>
              <a:t>21 de milioane</a:t>
            </a:r>
            <a:r>
              <a:rPr b="0" sz="1500">
                <a:solidFill>
                  <a:srgbClr val="F2F2F2"/>
                </a:solidFill>
                <a:latin typeface="Arial"/>
              </a:rPr>
              <a:t>, marja 53%. Suntem foarte profitabili.” Andrei: „</a:t>
            </a:r>
            <a:r>
              <a:rPr sz="1500">
                <a:solidFill>
                  <a:srgbClr val="FFA24E"/>
                </a:solidFill>
                <a:latin typeface="Consolas"/>
              </a:rPr>
              <a:t>21 de milioane</a:t>
            </a:r>
            <a:r>
              <a:rPr b="0" sz="1500">
                <a:solidFill>
                  <a:srgbClr val="F2F2F2"/>
                </a:solidFill>
                <a:latin typeface="Arial"/>
              </a:rPr>
              <a:t> dintr-un Revenue de </a:t>
            </a:r>
            <a:r>
              <a:rPr sz="1500">
                <a:solidFill>
                  <a:srgbClr val="FFA24E"/>
                </a:solidFill>
                <a:latin typeface="Consolas"/>
              </a:rPr>
              <a:t>39,8</a:t>
            </a:r>
            <a:r>
              <a:rPr b="0" sz="1500">
                <a:solidFill>
                  <a:srgbClr val="F2F2F2"/>
                </a:solidFill>
                <a:latin typeface="Arial"/>
              </a:rPr>
              <a:t>? Marjă 53%? Sună prea frumos. Ai reconciliat?” Ioana scrisese COGS-ul ca </a:t>
            </a:r>
            <a:r>
              <a:rPr sz="1500">
                <a:solidFill>
                  <a:srgbClr val="FFA24E"/>
                </a:solidFill>
                <a:latin typeface="Consolas"/>
              </a:rPr>
              <a:t>SUM(Cost)</a:t>
            </a:r>
            <a:r>
              <a:rPr b="0" sz="1500">
                <a:solidFill>
                  <a:srgbClr val="F2F2F2"/>
                </a:solidFill>
                <a:latin typeface="Arial"/>
              </a:rPr>
              <a:t> — </a:t>
            </a:r>
            <a:r>
              <a:rPr b="1" sz="1500">
                <a:solidFill>
                  <a:srgbClr val="F2F2F2"/>
                </a:solidFill>
                <a:latin typeface="Arial"/>
              </a:rPr>
              <a:t>fără `× Quantity`</a:t>
            </a:r>
            <a:r>
              <a:rPr b="0" sz="1500">
                <a:solidFill>
                  <a:srgbClr val="F2F2F2"/>
                </a:solidFill>
                <a:latin typeface="Arial"/>
              </a:rPr>
              <a:t>. Costul ieșise mult prea mic, deci profitul mult prea mare.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85841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Interogarea </a:t>
            </a:r>
            <a:r>
              <a:rPr b="1" sz="1400">
                <a:solidFill>
                  <a:srgbClr val="F2F2F2"/>
                </a:solidFill>
                <a:latin typeface="Arial"/>
              </a:rPr>
              <a:t>rula</a:t>
            </a:r>
            <a:r>
              <a:rPr b="0" sz="1400">
                <a:solidFill>
                  <a:srgbClr val="F2F2F2"/>
                </a:solidFill>
                <a:latin typeface="Arial"/>
              </a:rPr>
              <a:t> perfect; rezultatul era </a:t>
            </a:r>
            <a:r>
              <a:rPr b="1" sz="1400">
                <a:solidFill>
                  <a:srgbClr val="F2F2F2"/>
                </a:solidFill>
                <a:latin typeface="Arial"/>
              </a:rPr>
              <a:t>greșit</a:t>
            </a:r>
            <a:r>
              <a:rPr b="0" sz="1400">
                <a:solidFill>
                  <a:srgbClr val="F2F2F2"/>
                </a:solidFill>
                <a:latin typeface="Arial"/>
              </a:rPr>
              <a:t>. Și fiindcă nu-l verificase cu nicio ancoră, n-avea de unde să știe. Un total care nu se potrivește cu ce știi e o </a:t>
            </a:r>
            <a:r>
              <a:rPr b="1" sz="1400">
                <a:solidFill>
                  <a:srgbClr val="F2F2F2"/>
                </a:solidFill>
                <a:latin typeface="Arial"/>
              </a:rPr>
              <a:t>alarmă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dacă te uiți la 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Rulezi, reconciliezi, apoi te încrezi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Framing-ul e </a:t>
            </a:r>
            <a:r>
              <a:rPr b="1" sz="1500">
                <a:solidFill>
                  <a:srgbClr val="F2F2F2"/>
                </a:solidFill>
                <a:latin typeface="Arial"/>
              </a:rPr>
              <a:t>rețeta</a:t>
            </a:r>
            <a:r>
              <a:rPr b="0" sz="1500">
                <a:solidFill>
                  <a:srgbClr val="F2F2F2"/>
                </a:solidFill>
                <a:latin typeface="Arial"/>
              </a:rPr>
              <a:t>; execuția e </a:t>
            </a:r>
            <a:r>
              <a:rPr b="1" sz="1500">
                <a:solidFill>
                  <a:srgbClr val="F2F2F2"/>
                </a:solidFill>
                <a:latin typeface="Arial"/>
              </a:rPr>
              <a:t>gătitul</a:t>
            </a:r>
            <a:r>
              <a:rPr b="0" sz="1500">
                <a:solidFill>
                  <a:srgbClr val="F2F2F2"/>
                </a:solidFill>
                <a:latin typeface="Arial"/>
              </a:rPr>
              <a:t>. Dar niciun bucătar bun nu servește fără să </a:t>
            </a:r>
            <a:r>
              <a:rPr b="1" sz="1500">
                <a:solidFill>
                  <a:srgbClr val="F2F2F2"/>
                </a:solidFill>
                <a:latin typeface="Arial"/>
              </a:rPr>
              <a:t>guste</a:t>
            </a:r>
            <a:r>
              <a:rPr b="0" sz="1500">
                <a:solidFill>
                  <a:srgbClr val="F2F2F2"/>
                </a:solidFill>
                <a:latin typeface="Arial"/>
              </a:rPr>
              <a:t>. Reconcilierea e gustatul: înainte să duci farfuria la masă, verifici că nu e prea sărată.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Ioana a servit fără să guste — a dus un profit de 21 de milioane care „rula” frumos, dar era stricat. Gustul (Revenue = </a:t>
            </a:r>
            <a:r>
              <a:rPr sz="1400">
                <a:solidFill>
                  <a:srgbClr val="FFA24E"/>
                </a:solidFill>
                <a:latin typeface="Consolas"/>
              </a:rPr>
              <a:t>39,8M</a:t>
            </a:r>
            <a:r>
              <a:rPr b="0" sz="1400">
                <a:solidFill>
                  <a:srgbClr val="F2F2F2"/>
                </a:solidFill>
                <a:latin typeface="Arial"/>
              </a:rPr>
              <a:t>?) i-ar fi spus în 2 secunde. </a:t>
            </a:r>
            <a:r>
              <a:rPr b="1" sz="1400">
                <a:solidFill>
                  <a:srgbClr val="F2F2F2"/>
                </a:solidFill>
                <a:latin typeface="Arial"/>
              </a:rPr>
              <a:t>Un rezultat care „rulează” nu e neapărat „corect”.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Cei cinci pași ai execuției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880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Pasul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Ce faci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1. Traduci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plan → SQL (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GROUP BY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,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JOIN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, măsurile cu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× Quantity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2. Rulezi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pe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RetailHub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vezi 30 de rânduri (o categorie fiecare)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3. Reconciliezi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totalul = ancora?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SUM(Revenue)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=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39.810.596,57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4. Citești reveal-ul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sortezi în două feluri (după profit; după revenue) și compari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5. Vizualizezi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dashboard de profitabilitate (profit + marjă)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RECONCILIEREA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Ancora întâi (Revenue = 39.810.596,57)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21892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ROUND(SUM(oi.Quantity*oi.UnitPrice),2)          AS Revenue,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ROUND(SUM(oi.Quantity*p.Cost),2)                AS COGS,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ROUND(SUM(oi.Quantity*(oi.UnitPrice-p.Cost)),2) AS GrossProfit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order_items oi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products p ON oi.ProductID = p.ProductID;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42132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🖥️ Revenue </a:t>
            </a:r>
            <a:r>
              <a:rPr sz="1300">
                <a:solidFill>
                  <a:srgbClr val="FFA24E"/>
                </a:solidFill>
                <a:latin typeface="Consolas"/>
              </a:rPr>
              <a:t>39.810.596,57</a:t>
            </a:r>
            <a:r>
              <a:rPr b="0" sz="1300">
                <a:solidFill>
                  <a:srgbClr val="F2F2F2"/>
                </a:solidFill>
                <a:latin typeface="Arial"/>
              </a:rPr>
              <a:t>, COGS </a:t>
            </a:r>
            <a:r>
              <a:rPr sz="1300">
                <a:solidFill>
                  <a:srgbClr val="FFA24E"/>
                </a:solidFill>
                <a:latin typeface="Consolas"/>
              </a:rPr>
              <a:t>29.233.070,15</a:t>
            </a:r>
            <a:r>
              <a:rPr b="0" sz="1300">
                <a:solidFill>
                  <a:srgbClr val="F2F2F2"/>
                </a:solidFill>
                <a:latin typeface="Arial"/>
              </a:rPr>
              <a:t>, GrossProfit </a:t>
            </a:r>
            <a:r>
              <a:rPr sz="1300">
                <a:solidFill>
                  <a:srgbClr val="FFA24E"/>
                </a:solidFill>
                <a:latin typeface="Consolas"/>
              </a:rPr>
              <a:t>10.577.526,42</a:t>
            </a:r>
            <a:r>
              <a:rPr b="0" sz="1300">
                <a:solidFill>
                  <a:srgbClr val="F2F2F2"/>
                </a:solidFill>
                <a:latin typeface="Arial"/>
              </a:rPr>
              <a:t>. ✅ Revenue = </a:t>
            </a:r>
            <a:r>
              <a:rPr sz="1300">
                <a:solidFill>
                  <a:srgbClr val="FFA24E"/>
                </a:solidFill>
                <a:latin typeface="Consolas"/>
              </a:rPr>
              <a:t>39.810.596,57</a:t>
            </a:r>
            <a:r>
              <a:rPr b="0" sz="1300">
                <a:solidFill>
                  <a:srgbClr val="F2F2F2"/>
                </a:solidFill>
                <a:latin typeface="Arial"/>
              </a:rPr>
              <a:t> — </a:t>
            </a:r>
            <a:r>
              <a:rPr b="1" sz="1300">
                <a:solidFill>
                  <a:srgbClr val="F2F2F2"/>
                </a:solidFill>
                <a:latin typeface="Arial"/>
              </a:rPr>
              <a:t>exact ca în L25</a:t>
            </a:r>
            <a:r>
              <a:rPr b="0" sz="1300">
                <a:solidFill>
                  <a:srgbClr val="F2F2F2"/>
                </a:solidFill>
                <a:latin typeface="Arial"/>
              </a:rPr>
              <a:t>. Ancora se potrivește → ai voie mai departe. (Cost = </a:t>
            </a:r>
            <a:r>
              <a:rPr sz="1300">
                <a:solidFill>
                  <a:srgbClr val="FFA24E"/>
                </a:solidFill>
                <a:latin typeface="Consolas"/>
              </a:rPr>
              <a:t>Quantity × Cost</a:t>
            </a:r>
            <a:r>
              <a:rPr b="0" sz="1300">
                <a:solidFill>
                  <a:srgbClr val="F2F2F2"/>
                </a:solidFill>
                <a:latin typeface="Arial"/>
              </a:rPr>
              <a:t>, nu </a:t>
            </a:r>
            <a:r>
              <a:rPr sz="1300">
                <a:solidFill>
                  <a:srgbClr val="FFA24E"/>
                </a:solidFill>
                <a:latin typeface="Consolas"/>
              </a:rPr>
              <a:t>Cost</a:t>
            </a:r>
            <a:r>
              <a:rPr b="0" sz="1300">
                <a:solidFill>
                  <a:srgbClr val="F2F2F2"/>
                </a:solidFill>
                <a:latin typeface="Arial"/>
              </a:rPr>
              <a:t> — aici a greșit Ioana.)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DEFALCAREA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Profit per categorie (sortat după profit)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121408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cat.CategoryName,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ROUND(SUM(oi.Quantity*(oi.UnitPrice-p.Cost)),2) AS GrossProfit,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ROUND(SUM(oi.Quantity*(oi.UnitPrice-p.Cost))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       /SUM(oi.Quantity*oi.UnitPrice)*100,1)     AS MarginPct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order_items oi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products   p   ON oi.ProductID = p.ProductID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JOIN categories cat ON p.CategoryID = cat.CategoryID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GROUP BY cat.CategoryName ORDER BY GrossProfit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041648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🖥️ 30 de categorii. În vârf: </a:t>
            </a:r>
            <a:r>
              <a:rPr b="1" sz="1300">
                <a:solidFill>
                  <a:srgbClr val="F2F2F2"/>
                </a:solidFill>
                <a:latin typeface="Arial"/>
              </a:rPr>
              <a:t>Fitness Equipment `1.498.020,95` (41,9%)</a:t>
            </a:r>
            <a:r>
              <a:rPr b="0" sz="1300">
                <a:solidFill>
                  <a:srgbClr val="F2F2F2"/>
                </a:solidFill>
                <a:latin typeface="Arial"/>
              </a:rPr>
              <a:t>, Home Decor </a:t>
            </a:r>
            <a:r>
              <a:rPr sz="1300">
                <a:solidFill>
                  <a:srgbClr val="FFA24E"/>
                </a:solidFill>
                <a:latin typeface="Consolas"/>
              </a:rPr>
              <a:t>882.868,00</a:t>
            </a:r>
            <a:r>
              <a:rPr b="0" sz="1300">
                <a:solidFill>
                  <a:srgbClr val="F2F2F2"/>
                </a:solidFill>
                <a:latin typeface="Arial"/>
              </a:rPr>
              <a:t> (39,8%), Accessories </a:t>
            </a:r>
            <a:r>
              <a:rPr sz="1300">
                <a:solidFill>
                  <a:srgbClr val="FFA24E"/>
                </a:solidFill>
                <a:latin typeface="Consolas"/>
              </a:rPr>
              <a:t>766.246,65</a:t>
            </a:r>
            <a:r>
              <a:rPr b="0" sz="1300">
                <a:solidFill>
                  <a:srgbClr val="F2F2F2"/>
                </a:solidFill>
                <a:latin typeface="Arial"/>
              </a:rPr>
              <a:t> (14,3%). ✅ Suma Revenue peste toate = </a:t>
            </a:r>
            <a:r>
              <a:rPr sz="1300">
                <a:solidFill>
                  <a:srgbClr val="FFA24E"/>
                </a:solidFill>
                <a:latin typeface="Consolas"/>
              </a:rPr>
              <a:t>39.810.596,57</a:t>
            </a:r>
            <a:r>
              <a:rPr b="0" sz="1300">
                <a:solidFill>
                  <a:srgbClr val="F2F2F2"/>
                </a:solidFill>
                <a:latin typeface="Arial"/>
              </a:rPr>
              <a:t> — se potrivește.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Liderul de vânzări ≠ liderul de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71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Aceeași interogare, dar </a:t>
            </a:r>
            <a:r>
              <a:rPr sz="1500">
                <a:solidFill>
                  <a:srgbClr val="FFA24E"/>
                </a:solidFill>
                <a:latin typeface="Consolas"/>
              </a:rPr>
              <a:t>ORDER BY Revenue DESC</a:t>
            </a:r>
            <a:r>
              <a:rPr b="0" sz="1500">
                <a:solidFill>
                  <a:srgbClr val="F2F2F2"/>
                </a:solidFill>
                <a:latin typeface="Arial"/>
              </a:rPr>
              <a:t> — și compari clasamentele: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603226"/>
          <a:ext cx="1087495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8739"/>
                <a:gridCol w="2718739"/>
                <a:gridCol w="2718739"/>
                <a:gridCol w="2718742"/>
              </a:tblGrid>
              <a:tr h="37033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Top revenue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Revenue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Marjă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Profit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Laptops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5.631.962,64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564.829,20 (~#10)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Accessories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5.345.068,64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766.246,65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Gaming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cea mai mică marjă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4221714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✅ REVEAL: liderul de </a:t>
            </a:r>
            <a:r>
              <a:rPr b="1" sz="1300">
                <a:solidFill>
                  <a:srgbClr val="F2F2F2"/>
                </a:solidFill>
                <a:latin typeface="Arial"/>
              </a:rPr>
              <a:t>vânzări</a:t>
            </a:r>
            <a:r>
              <a:rPr b="0" sz="1300">
                <a:solidFill>
                  <a:srgbClr val="F2F2F2"/>
                </a:solidFill>
                <a:latin typeface="Arial"/>
              </a:rPr>
              <a:t> (Laptops) NU e liderul de </a:t>
            </a:r>
            <a:r>
              <a:rPr b="1" sz="1300">
                <a:solidFill>
                  <a:srgbClr val="F2F2F2"/>
                </a:solidFill>
                <a:latin typeface="Arial"/>
              </a:rPr>
              <a:t>profit</a:t>
            </a:r>
            <a:r>
              <a:rPr b="0" sz="1300">
                <a:solidFill>
                  <a:srgbClr val="F2F2F2"/>
                </a:solidFill>
                <a:latin typeface="Arial"/>
              </a:rPr>
              <a:t> (Fitness Equipment, </a:t>
            </a:r>
            <a:r>
              <a:rPr sz="1300">
                <a:solidFill>
                  <a:srgbClr val="FFA24E"/>
                </a:solidFill>
                <a:latin typeface="Consolas"/>
              </a:rPr>
              <a:t>1,50M</a:t>
            </a:r>
            <a:r>
              <a:rPr b="0" sz="1300">
                <a:solidFill>
                  <a:srgbClr val="F2F2F2"/>
                </a:solidFill>
                <a:latin typeface="Arial"/>
              </a:rPr>
              <a:t> @ 41,9%). </a:t>
            </a:r>
            <a:r>
              <a:rPr b="1" sz="1300">
                <a:solidFill>
                  <a:srgbClr val="F2F2F2"/>
                </a:solidFill>
                <a:latin typeface="Arial"/>
              </a:rPr>
              <a:t>Revenue ≠ profit — dovedit cu 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SE ÎNTÂMPLĂ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Marja diferă enorm · profit = marjă × volum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Electronicele de volum</a:t>
            </a:r>
            <a:r>
              <a:rPr b="0" sz="1300">
                <a:solidFill>
                  <a:srgbClr val="F2F2F2"/>
                </a:solidFill>
                <a:latin typeface="Arial"/>
              </a:rPr>
              <a:t> — Laptops 10%, Accessories 14%, Gaming </a:t>
            </a:r>
            <a:r>
              <a:rPr b="1" sz="1300">
                <a:solidFill>
                  <a:srgbClr val="F2F2F2"/>
                </a:solidFill>
                <a:latin typeface="Arial"/>
              </a:rPr>
              <a:t>7%</a:t>
            </a:r>
            <a:r>
              <a:rPr b="0" sz="1300">
                <a:solidFill>
                  <a:srgbClr val="F2F2F2"/>
                </a:solidFill>
                <a:latin typeface="Arial"/>
              </a:rPr>
              <a:t> — au marje subțiri: vând mult, câștigă puțin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Fitness Equipment, Home Decor, Beauty</a:t>
            </a:r>
            <a:r>
              <a:rPr b="0" sz="1300">
                <a:solidFill>
                  <a:srgbClr val="F2F2F2"/>
                </a:solidFill>
                <a:latin typeface="Arial"/>
              </a:rPr>
              <a:t> au marje mari (Cosmetics </a:t>
            </a:r>
            <a:r>
              <a:rPr b="1" sz="1300">
                <a:solidFill>
                  <a:srgbClr val="F2F2F2"/>
                </a:solidFill>
                <a:latin typeface="Arial"/>
              </a:rPr>
              <a:t>60,3%</a:t>
            </a:r>
            <a:r>
              <a:rPr b="0" sz="13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Board-ul, uitându-se doar la revenue, credea că „Laptops e vedeta”. La profit, e </a:t>
            </a:r>
            <a:r>
              <a:rPr b="1" sz="1300">
                <a:solidFill>
                  <a:srgbClr val="F2F2F2"/>
                </a:solidFill>
                <a:latin typeface="Arial"/>
              </a:rPr>
              <a:t>Fitness Equipment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66744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Capcană: </a:t>
            </a:r>
            <a:r>
              <a:rPr b="1" sz="1300">
                <a:solidFill>
                  <a:srgbClr val="F2F2F2"/>
                </a:solidFill>
                <a:latin typeface="Arial"/>
              </a:rPr>
              <a:t>profit absolut = marjă × volum.</a:t>
            </a:r>
            <a:r>
              <a:rPr b="0" sz="1300">
                <a:solidFill>
                  <a:srgbClr val="F2F2F2"/>
                </a:solidFill>
                <a:latin typeface="Arial"/>
              </a:rPr>
              <a:t> Cosmetics are marja cea mai mare (60,3%) dar volum mic → profit modest. Marja mare ≠ profit mare.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Dashboard-ul de profitabilitate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Sursa: </a:t>
            </a:r>
            <a:r>
              <a:rPr sz="1300">
                <a:solidFill>
                  <a:srgbClr val="FFA24E"/>
                </a:solidFill>
                <a:latin typeface="Consolas"/>
              </a:rPr>
              <a:t>order_items_profit_flat.csv</a:t>
            </a:r>
            <a:r>
              <a:rPr b="0" sz="1300">
                <a:solidFill>
                  <a:srgbClr val="F2F2F2"/>
                </a:solidFill>
                <a:latin typeface="Arial"/>
              </a:rPr>
              <a:t> (nivel-articol, cu </a:t>
            </a:r>
            <a:r>
              <a:rPr sz="1300">
                <a:solidFill>
                  <a:srgbClr val="FFA24E"/>
                </a:solidFill>
                <a:latin typeface="Consolas"/>
              </a:rPr>
              <a:t>Revenue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COGS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GrossProfit</a:t>
            </a:r>
            <a:r>
              <a:rPr b="0" sz="13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O bară de </a:t>
            </a:r>
            <a:r>
              <a:rPr b="1" sz="1300">
                <a:solidFill>
                  <a:srgbClr val="F2F2F2"/>
                </a:solidFill>
                <a:latin typeface="Arial"/>
              </a:rPr>
              <a:t>Gross Profit per categorie</a:t>
            </a:r>
            <a:r>
              <a:rPr b="0" sz="1300">
                <a:solidFill>
                  <a:srgbClr val="F2F2F2"/>
                </a:solidFill>
                <a:latin typeface="Arial"/>
              </a:rPr>
              <a:t> (Fitness Equipment în vârf) + </a:t>
            </a:r>
            <a:r>
              <a:rPr b="1" sz="1300">
                <a:solidFill>
                  <a:srgbClr val="F2F2F2"/>
                </a:solidFill>
                <a:latin typeface="Arial"/>
              </a:rPr>
              <a:t>Revenue</a:t>
            </a:r>
            <a:r>
              <a:rPr b="0" sz="1300">
                <a:solidFill>
                  <a:srgbClr val="F2F2F2"/>
                </a:solidFill>
                <a:latin typeface="Arial"/>
              </a:rPr>
              <a:t> alături, ca să se vadă divergența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Scorecards: </a:t>
            </a:r>
            <a:r>
              <a:rPr b="1" sz="1300">
                <a:solidFill>
                  <a:srgbClr val="F2F2F2"/>
                </a:solidFill>
                <a:latin typeface="Arial"/>
              </a:rPr>
              <a:t>Profit brut `10.577.526,42`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b="1" sz="1300">
                <a:solidFill>
                  <a:srgbClr val="F2F2F2"/>
                </a:solidFill>
                <a:latin typeface="Arial"/>
              </a:rPr>
              <a:t>marjă 26,6%</a:t>
            </a:r>
            <a:r>
              <a:rPr b="0" sz="1300">
                <a:solidFill>
                  <a:srgbClr val="F2F2F2"/>
                </a:solidFill>
                <a:latin typeface="Arial"/>
              </a:rPr>
              <a:t>; titlu-insight: „Cine vinde mult ≠ cine câștigă mult”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66744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✅ Pe dashboard, bara de profit are </a:t>
            </a:r>
            <a:r>
              <a:rPr b="1" sz="1300">
                <a:solidFill>
                  <a:srgbClr val="F2F2F2"/>
                </a:solidFill>
                <a:latin typeface="Arial"/>
              </a:rPr>
              <a:t>alt lider</a:t>
            </a:r>
            <a:r>
              <a:rPr b="0" sz="1300">
                <a:solidFill>
                  <a:srgbClr val="F2F2F2"/>
                </a:solidFill>
                <a:latin typeface="Arial"/>
              </a:rPr>
              <a:t> decât bara de revenue — reveal-ul, făcut vizibil.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de junior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2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>
                <a:solidFill>
                  <a:srgbClr val="FF7900"/>
                </a:solidFill>
                <a:latin typeface="Consolas"/>
              </a:rPr>
              <a:t>— </a:t>
            </a:r>
            <a:r>
              <a:rPr b="1" sz="1250">
                <a:solidFill>
                  <a:srgbClr val="F2F2F2"/>
                </a:solidFill>
                <a:latin typeface="Arial"/>
              </a:rPr>
              <a:t>Rulezi fără să reconciliezi</a:t>
            </a:r>
            <a:r>
              <a:rPr b="0" sz="1250">
                <a:solidFill>
                  <a:srgbClr val="F2F2F2"/>
                </a:solidFill>
                <a:latin typeface="Arial"/>
              </a:rPr>
              <a:t> (Ioana) → verifică un total cunoscut (Revenue </a:t>
            </a:r>
            <a:r>
              <a:rPr sz="1250">
                <a:solidFill>
                  <a:srgbClr val="FFA24E"/>
                </a:solidFill>
                <a:latin typeface="Consolas"/>
              </a:rPr>
              <a:t>39.810.596,57</a:t>
            </a:r>
            <a:r>
              <a:rPr b="0" sz="1250">
                <a:solidFill>
                  <a:srgbClr val="F2F2F2"/>
                </a:solidFill>
                <a:latin typeface="Arial"/>
              </a:rPr>
              <a:t>) înainte de defalcare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>
                <a:solidFill>
                  <a:srgbClr val="FF7900"/>
                </a:solidFill>
                <a:latin typeface="Consolas"/>
              </a:rPr>
              <a:t>— </a:t>
            </a:r>
            <a:r>
              <a:rPr b="1" sz="1250">
                <a:solidFill>
                  <a:srgbClr val="F2F2F2"/>
                </a:solidFill>
                <a:latin typeface="Arial"/>
              </a:rPr>
              <a:t>Uiți `× Quantity`</a:t>
            </a:r>
            <a:r>
              <a:rPr b="0" sz="1250">
                <a:solidFill>
                  <a:srgbClr val="F2F2F2"/>
                </a:solidFill>
                <a:latin typeface="Arial"/>
              </a:rPr>
              <a:t> — </a:t>
            </a:r>
            <a:r>
              <a:rPr sz="1250">
                <a:solidFill>
                  <a:srgbClr val="FFA24E"/>
                </a:solidFill>
                <a:latin typeface="Consolas"/>
              </a:rPr>
              <a:t>SUM(Cost)</a:t>
            </a:r>
            <a:r>
              <a:rPr b="0" sz="1250">
                <a:solidFill>
                  <a:srgbClr val="F2F2F2"/>
                </a:solidFill>
                <a:latin typeface="Arial"/>
              </a:rPr>
              <a:t> în loc de </a:t>
            </a:r>
            <a:r>
              <a:rPr sz="1250">
                <a:solidFill>
                  <a:srgbClr val="FFA24E"/>
                </a:solidFill>
                <a:latin typeface="Consolas"/>
              </a:rPr>
              <a:t>SUM(Quantity × Cost)</a:t>
            </a:r>
            <a:r>
              <a:rPr b="0" sz="1250">
                <a:solidFill>
                  <a:srgbClr val="F2F2F2"/>
                </a:solidFill>
                <a:latin typeface="Arial"/>
              </a:rPr>
              <a:t> → cost prea mic, profit umflat (21M/53%)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>
                <a:solidFill>
                  <a:srgbClr val="FF7900"/>
                </a:solidFill>
                <a:latin typeface="Consolas"/>
              </a:rPr>
              <a:t>— </a:t>
            </a:r>
            <a:r>
              <a:rPr b="1" sz="1250">
                <a:solidFill>
                  <a:srgbClr val="F2F2F2"/>
                </a:solidFill>
                <a:latin typeface="Arial"/>
              </a:rPr>
              <a:t>Citești un singur clasament</a:t>
            </a:r>
            <a:r>
              <a:rPr b="0" sz="1250">
                <a:solidFill>
                  <a:srgbClr val="F2F2F2"/>
                </a:solidFill>
                <a:latin typeface="Arial"/>
              </a:rPr>
              <a:t> — sortezi doar după revenue, declari „Laptops e vedeta” → sortează în </a:t>
            </a:r>
            <a:r>
              <a:rPr b="1" sz="1250">
                <a:solidFill>
                  <a:srgbClr val="F2F2F2"/>
                </a:solidFill>
                <a:latin typeface="Arial"/>
              </a:rPr>
              <a:t>două</a:t>
            </a:r>
            <a:r>
              <a:rPr b="0" sz="1250">
                <a:solidFill>
                  <a:srgbClr val="F2F2F2"/>
                </a:solidFill>
                <a:latin typeface="Arial"/>
              </a:rPr>
              <a:t> feluri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>
                <a:solidFill>
                  <a:srgbClr val="FF7900"/>
                </a:solidFill>
                <a:latin typeface="Consolas"/>
              </a:rPr>
              <a:t>— </a:t>
            </a:r>
            <a:r>
              <a:rPr b="1" sz="1250">
                <a:solidFill>
                  <a:srgbClr val="F2F2F2"/>
                </a:solidFill>
                <a:latin typeface="Arial"/>
              </a:rPr>
              <a:t>Confunzi marja mare cu profit mare</a:t>
            </a:r>
            <a:r>
              <a:rPr b="0" sz="1250">
                <a:solidFill>
                  <a:srgbClr val="F2F2F2"/>
                </a:solidFill>
                <a:latin typeface="Arial"/>
              </a:rPr>
              <a:t> — „Cosmetics 60,3% → cea mai profitabilă” → profit = marjă </a:t>
            </a:r>
            <a:r>
              <a:rPr b="1" sz="1250">
                <a:solidFill>
                  <a:srgbClr val="F2F2F2"/>
                </a:solidFill>
                <a:latin typeface="Arial"/>
              </a:rPr>
              <a:t>×</a:t>
            </a:r>
            <a:r>
              <a:rPr b="0" sz="1250">
                <a:solidFill>
                  <a:srgbClr val="F2F2F2"/>
                </a:solidFill>
                <a:latin typeface="Arial"/>
              </a:rPr>
              <a:t> volum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reții — în 4 idei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Execuția = traduci + rulezi + RECONCILIEZI + citești + vizualizezi.</a:t>
            </a:r>
            <a:r>
              <a:rPr b="0" sz="1300">
                <a:solidFill>
                  <a:srgbClr val="F2F2F2"/>
                </a:solidFill>
                <a:latin typeface="Arial"/>
              </a:rPr>
              <a:t> „Rulează” ≠ „corect”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Reconciliezi</a:t>
            </a:r>
            <a:r>
              <a:rPr b="0" sz="1300">
                <a:solidFill>
                  <a:srgbClr val="F2F2F2"/>
                </a:solidFill>
                <a:latin typeface="Arial"/>
              </a:rPr>
              <a:t> cu un total cunoscut (Revenue </a:t>
            </a:r>
            <a:r>
              <a:rPr sz="1300">
                <a:solidFill>
                  <a:srgbClr val="FFA24E"/>
                </a:solidFill>
                <a:latin typeface="Consolas"/>
              </a:rPr>
              <a:t>39.810.596,57</a:t>
            </a:r>
            <a:r>
              <a:rPr b="0" sz="1300">
                <a:solidFill>
                  <a:srgbClr val="F2F2F2"/>
                </a:solidFill>
                <a:latin typeface="Arial"/>
              </a:rPr>
              <a:t>, L25) înainte să te încrezi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Reveal: revenue ≠ profit</a:t>
            </a:r>
            <a:r>
              <a:rPr b="0" sz="1300">
                <a:solidFill>
                  <a:srgbClr val="F2F2F2"/>
                </a:solidFill>
                <a:latin typeface="Arial"/>
              </a:rPr>
              <a:t> — Laptops vinde cel mai mult (10% marjă); Fitness Equipment câștigă cel mai mult (</a:t>
            </a:r>
            <a:r>
              <a:rPr sz="1300">
                <a:solidFill>
                  <a:srgbClr val="FFA24E"/>
                </a:solidFill>
                <a:latin typeface="Consolas"/>
              </a:rPr>
              <a:t>1.498.020,95</a:t>
            </a:r>
            <a:r>
              <a:rPr b="0" sz="1300">
                <a:solidFill>
                  <a:srgbClr val="F2F2F2"/>
                </a:solidFill>
                <a:latin typeface="Arial"/>
              </a:rPr>
              <a:t>, 41,9%)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Profit absolut = marjă </a:t>
            </a:r>
            <a:r>
              <a:rPr b="1" sz="1300">
                <a:solidFill>
                  <a:srgbClr val="F2F2F2"/>
                </a:solidFill>
                <a:latin typeface="Arial"/>
              </a:rPr>
              <a:t>×</a:t>
            </a:r>
            <a:r>
              <a:rPr b="0" sz="1300">
                <a:solidFill>
                  <a:srgbClr val="F2F2F2"/>
                </a:solidFill>
                <a:latin typeface="Arial"/>
              </a:rPr>
              <a:t> volum; nu confunzi marja mare (Cosmetics 60,3%) cu profit mare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72712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MILESTONE: cazul de profit, </a:t>
            </a:r>
            <a:r>
              <a:rPr b="1" sz="1300">
                <a:solidFill>
                  <a:srgbClr val="F2F2F2"/>
                </a:solidFill>
                <a:latin typeface="Arial"/>
              </a:rPr>
              <a:t>executat</a:t>
            </a:r>
            <a:r>
              <a:rPr b="0" sz="1300">
                <a:solidFill>
                  <a:srgbClr val="F2F2F2"/>
                </a:solidFill>
                <a:latin typeface="Arial"/>
              </a:rPr>
              <a:t> — Profit brut total </a:t>
            </a:r>
            <a:r>
              <a:rPr sz="1300">
                <a:solidFill>
                  <a:srgbClr val="FFA24E"/>
                </a:solidFill>
                <a:latin typeface="Consolas"/>
              </a:rPr>
              <a:t>10.577.526,42</a:t>
            </a:r>
            <a:r>
              <a:rPr b="0" sz="1300">
                <a:solidFill>
                  <a:srgbClr val="F2F2F2"/>
                </a:solidFill>
                <a:latin typeface="Arial"/>
              </a:rPr>
              <a:t> (marjă 26,6%). Punte: </a:t>
            </a:r>
            <a:r>
              <a:rPr b="1" sz="1300">
                <a:solidFill>
                  <a:srgbClr val="F2F2F2"/>
                </a:solidFill>
                <a:latin typeface="Arial"/>
              </a:rPr>
              <a:t>L33 (Recommendation)</a:t>
            </a:r>
            <a:r>
              <a:rPr b="0" sz="1300">
                <a:solidFill>
                  <a:srgbClr val="F2F2F2"/>
                </a:solidFill>
                <a:latin typeface="Arial"/>
              </a:rPr>
              <a:t> — interpretezi reveal-ul și recomanzi ce facem. Tot singur, spre capstone.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L32 · Execution  ·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