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Lecție de gândire, nu de tool. Ideea unică: business-ul e cauza, datele sunt urma. Ținta: la final, studenții «văd» o companie când deschid folderul cu fișiere.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Scurt hook, nu recap lung: L1 a fost intro. Reamintește ordinea sacră și pasul 4 din framework, apoi pivotează spre «de unde vin datele».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cele 4 obiective din §1. Subliniază că azi tot nu se atinge niciun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Momentul declanșator: 9 fișiere, nicio hartă. Andrei pune întrebarea lecției.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Miezul: un rând e fotografia unui eveniment real. Datele nu vorbesc singure.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Reflexul: te uiți la origine, nu la coloane. Aceleași reflexe ca L1, un pas mai adânc.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Fă precis ce sună pufos: harta leagă activitate → departament → KPI. O întrebare, trei departamente.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Ordinea în lume: întâi activitatea, apoi datele. Business = cauza; date = 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 — structura. CEO + 9 directori. Tu ești în D&amp;A. Fluxul activitate → sistem → rând → KPI.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3 — aplicarea. Primele 5 tabele. Nu memora, reține logica: fiecare fișier are un om și o activitate.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Ultimele 4 tabele. Reflexul de dus acasă: când vezi campaigns «vezi» Marketingul lui Radu; când vezi inventory «vezi» depozitul lui Mihai.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traduce un rând înapoi în realitate; apoi leagă de cererea Elenei: o întrebare, trei departamente. N-a calculat nimic.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Elicitează: care vi se pare cea mai probabilă la voi? Prima e cea mai comună. Ultima e cea mai subtilă: deține ≠ explică.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5 idei din §12 + puntea spre L3 (Decision Tree).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1 · LECȚIA 2 · A DOUA LECȚIE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Business vs Date: de unde vin, de fapt, datele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Datele sunt urma activității de business — întâi se întâmplă, apoi 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23 septembrie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și ce faci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Un analist livrează </a:t>
            </a:r>
            <a:r>
              <a:rPr b="1" sz="1500">
                <a:solidFill>
                  <a:srgbClr val="F2F2F2"/>
                </a:solidFill>
                <a:latin typeface="Arial"/>
              </a:rPr>
              <a:t>răspunsuri care sprijină decizii</a:t>
            </a:r>
            <a:r>
              <a:rPr b="0" sz="1500">
                <a:solidFill>
                  <a:srgbClr val="F2F2F2"/>
                </a:solidFill>
                <a:latin typeface="Arial"/>
              </a:rPr>
              <a:t>, nu rapoarte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Ordinea: </a:t>
            </a:r>
            <a:r>
              <a:rPr b="1" sz="1500">
                <a:solidFill>
                  <a:srgbClr val="F2F2F2"/>
                </a:solidFill>
                <a:latin typeface="Arial"/>
              </a:rPr>
              <a:t>decizie → întrebare precisă → date → tool</a:t>
            </a:r>
            <a:r>
              <a:rPr b="0" sz="1500">
                <a:solidFill>
                  <a:srgbClr val="F2F2F2"/>
                </a:solidFill>
                <a:latin typeface="Arial"/>
              </a:rPr>
              <a:t> (tool-ul e ultimul)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Pasul 4 din framework: </a:t>
            </a:r>
            <a:r>
              <a:rPr b="1" sz="1500">
                <a:solidFill>
                  <a:srgbClr val="F2F2F2"/>
                </a:solidFill>
                <a:latin typeface="Arial"/>
              </a:rPr>
              <a:t>«identifici datele necesare»</a:t>
            </a:r>
            <a:r>
              <a:rPr b="0" sz="1500">
                <a:solidFill>
                  <a:srgbClr val="F2F2F2"/>
                </a:solidFill>
                <a:latin typeface="Arial"/>
              </a:rPr>
              <a:t> — azi îl faci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L1 ai văzut </a:t>
            </a:r>
            <a:r>
              <a:rPr i="1" sz="1400">
                <a:solidFill>
                  <a:srgbClr val="F2F2F2"/>
                </a:solidFill>
                <a:latin typeface="Arial"/>
              </a:rPr>
              <a:t>ce</a:t>
            </a:r>
            <a:r>
              <a:rPr b="0" sz="1400">
                <a:solidFill>
                  <a:srgbClr val="F2F2F2"/>
                </a:solidFill>
                <a:latin typeface="Arial"/>
              </a:rPr>
              <a:t> face un analist. Azi vezi </a:t>
            </a:r>
            <a:r>
              <a:rPr i="1" sz="1400">
                <a:solidFill>
                  <a:srgbClr val="F2F2F2"/>
                </a:solidFill>
                <a:latin typeface="Arial"/>
              </a:rPr>
              <a:t>unde</a:t>
            </a:r>
            <a:r>
              <a:rPr b="0" sz="1400">
                <a:solidFill>
                  <a:srgbClr val="F2F2F2"/>
                </a:solidFill>
                <a:latin typeface="Arial"/>
              </a:rPr>
              <a:t> lucrează și </a:t>
            </a:r>
            <a:r>
              <a:rPr b="1" sz="1400">
                <a:solidFill>
                  <a:srgbClr val="F2F2F2"/>
                </a:solidFill>
                <a:latin typeface="Arial"/>
              </a:rPr>
              <a:t>de unde vin, de fapt, datele</a:t>
            </a:r>
            <a:r>
              <a:rPr b="0" sz="1400">
                <a:solidFill>
                  <a:srgbClr val="F2F2F2"/>
                </a:solidFill>
                <a:latin typeface="Arial"/>
              </a:rPr>
              <a:t> pe care le folosește.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explici cum e organizată o companie de retail — </a:t>
            </a:r>
            <a:r>
              <a:rPr b="1" sz="1400">
                <a:solidFill>
                  <a:srgbClr val="F2F2F2"/>
                </a:solidFill>
                <a:latin typeface="Arial"/>
              </a:rPr>
              <a:t>cine ce urmărește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înțelegi de unde vine un dataset: ce </a:t>
            </a:r>
            <a:r>
              <a:rPr b="1" sz="1400">
                <a:solidFill>
                  <a:srgbClr val="F2F2F2"/>
                </a:solidFill>
                <a:latin typeface="Arial"/>
              </a:rPr>
              <a:t>activitate reală</a:t>
            </a:r>
            <a:r>
              <a:rPr b="0" sz="1400">
                <a:solidFill>
                  <a:srgbClr val="F2F2F2"/>
                </a:solidFill>
                <a:latin typeface="Arial"/>
              </a:rPr>
              <a:t> îl produce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mapezi cele </a:t>
            </a:r>
            <a:r>
              <a:rPr b="1" sz="1400">
                <a:solidFill>
                  <a:srgbClr val="F2F2F2"/>
                </a:solidFill>
                <a:latin typeface="Arial"/>
              </a:rPr>
              <a:t>9 tabele</a:t>
            </a:r>
            <a:r>
              <a:rPr b="0" sz="1400">
                <a:solidFill>
                  <a:srgbClr val="F2F2F2"/>
                </a:solidFill>
                <a:latin typeface="Arial"/>
              </a:rPr>
              <a:t> RetailHub la departament și la KPI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vezi de ce o singură întrebare atinge </a:t>
            </a:r>
            <a:r>
              <a:rPr b="1" sz="1400">
                <a:solidFill>
                  <a:srgbClr val="F2F2F2"/>
                </a:solidFill>
                <a:latin typeface="Arial"/>
              </a:rPr>
              <a:t>mai multe</a:t>
            </a:r>
            <a:r>
              <a:rPr b="0" sz="1400">
                <a:solidFill>
                  <a:srgbClr val="F2F2F2"/>
                </a:solidFill>
                <a:latin typeface="Arial"/>
              </a:rPr>
              <a:t> departamente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Tot </a:t>
            </a:r>
            <a:r>
              <a:rPr b="1" sz="1400">
                <a:solidFill>
                  <a:srgbClr val="F2F2F2"/>
                </a:solidFill>
                <a:latin typeface="Arial"/>
              </a:rPr>
              <a:t>nu</a:t>
            </a:r>
            <a:r>
              <a:rPr b="0" sz="1400">
                <a:solidFill>
                  <a:srgbClr val="F2F2F2"/>
                </a:solidFill>
                <a:latin typeface="Arial"/>
              </a:rPr>
              <a:t> atingem niciun tool — încă gândim. Azi punem harta de business peste 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Ziua a patra: deschizi folderul cu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Ai deschis folderul RetailHub și te-ai oprit. Sunt </a:t>
            </a:r>
            <a:r>
              <a:rPr b="1" sz="1500">
                <a:solidFill>
                  <a:srgbClr val="F2F2F2"/>
                </a:solidFill>
                <a:latin typeface="Arial"/>
              </a:rPr>
              <a:t>nouă fișiere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order_items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customers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categories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employees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500">
                <a:solidFill>
                  <a:srgbClr val="F2F2F2"/>
                </a:solidFill>
                <a:latin typeface="Arial"/>
              </a:rPr>
              <a:t>. Sute de rânduri, coloane ca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500">
                <a:solidFill>
                  <a:srgbClr val="F2F2F2"/>
                </a:solidFill>
                <a:latin typeface="Arial"/>
              </a:rPr>
              <a:t> — dar </a:t>
            </a:r>
            <a:r>
              <a:rPr b="1" sz="1500">
                <a:solidFill>
                  <a:srgbClr val="F2F2F2"/>
                </a:solidFill>
                <a:latin typeface="Arial"/>
              </a:rPr>
              <a:t>n-ai o hartă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«Înainte să te uiți în vreun fișier — știi de unde vine fiecare? Cine îl produce, ce eveniment real e în spatele fiecărui rând, pentru ce decizie există?»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TotalAmount nu e un număr — e o urmă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 singură celulă din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: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 = 487,50</a:t>
            </a:r>
            <a:r>
              <a:rPr b="0" sz="1500">
                <a:solidFill>
                  <a:srgbClr val="F2F2F2"/>
                </a:solidFill>
                <a:latin typeface="Arial"/>
              </a:rPr>
              <a:t>. Nu e doar un număr — e </a:t>
            </a:r>
            <a:r>
              <a:rPr b="1" sz="1500">
                <a:solidFill>
                  <a:srgbClr val="F2F2F2"/>
                </a:solidFill>
                <a:latin typeface="Arial"/>
              </a:rPr>
              <a:t>urma unei întâmplări reale</a:t>
            </a:r>
            <a:r>
              <a:rPr b="0" sz="1500">
                <a:solidFill>
                  <a:srgbClr val="F2F2F2"/>
                </a:solidFill>
                <a:latin typeface="Arial"/>
              </a:rPr>
              <a:t>: un client a intrat marțea trecută în magazinul din Cluj-Napoca, a pus 3 produse în coș, a plătit 487,50 lei, iar un angajat a procesat comanda.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mai mic în septembrie nu e «un număr mai mic» — e semnul că </a:t>
            </a:r>
            <a:r>
              <a:rPr i="1" sz="1400">
                <a:solidFill>
                  <a:srgbClr val="F2F2F2"/>
                </a:solidFill>
                <a:latin typeface="Arial"/>
              </a:rPr>
              <a:t>s-au întâmplat mai puține lucruri, sau mai mici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b="1" sz="1400">
                <a:solidFill>
                  <a:srgbClr val="F2F2F2"/>
                </a:solidFill>
                <a:latin typeface="Arial"/>
              </a:rPr>
              <a:t>Datele nu mint, dar nici nu vorbesc singure.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Trei întrebări despre fiecare fișier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analist bun, când vede un dataset nou, nu se uită întâi la coloane. Se uită la </a:t>
            </a:r>
            <a:r>
              <a:rPr b="1" sz="1500">
                <a:solidFill>
                  <a:srgbClr val="F2F2F2"/>
                </a:solidFill>
                <a:latin typeface="Arial"/>
              </a:rPr>
              <a:t>origine</a:t>
            </a:r>
            <a:r>
              <a:rPr b="0" sz="1500">
                <a:solidFill>
                  <a:srgbClr val="F2F2F2"/>
                </a:solidFill>
                <a:latin typeface="Arial"/>
              </a:rPr>
              <a:t>. Pentru fiecare tabel își pune exact trei întrebări: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130764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Ce activitate reală îl produce?</a:t>
            </a:r>
            <a:r>
              <a:rPr b="0" sz="1400">
                <a:solidFill>
                  <a:srgbClr val="F2F2F2"/>
                </a:solidFill>
                <a:latin typeface="Arial"/>
              </a:rPr>
              <a:t> (o comandă? o campanie? o zi de stoc?)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Cine îl deține în companie?</a:t>
            </a:r>
            <a:r>
              <a:rPr b="0" sz="1400">
                <a:solidFill>
                  <a:srgbClr val="F2F2F2"/>
                </a:solidFill>
                <a:latin typeface="Arial"/>
              </a:rPr>
              <a:t> (ce departament, ce stakeholder?)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Ce KPI hrănește?</a:t>
            </a:r>
            <a:r>
              <a:rPr b="0" sz="1400">
                <a:solidFill>
                  <a:srgbClr val="F2F2F2"/>
                </a:solidFill>
                <a:latin typeface="Arial"/>
              </a:rPr>
              <a:t> (Revenue? ROAS? Out-of-Stock Rate?)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105868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Aceleași reflexe ca în L1 — întrebi </a:t>
            </a:r>
            <a:r>
              <a:rPr i="1" sz="14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400">
                <a:solidFill>
                  <a:srgbClr val="F2F2F2"/>
                </a:solidFill>
                <a:latin typeface="Arial"/>
              </a:rPr>
              <a:t> să te uiți la valori.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«Înțelege compania» se traduce într-o hartă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 înțelege RetailHub înseamnă să poți completa o hartă: </a:t>
            </a:r>
            <a:r>
              <a:rPr b="1" sz="1400">
                <a:solidFill>
                  <a:srgbClr val="F2F2F2"/>
                </a:solidFill>
                <a:latin typeface="Arial"/>
              </a:rPr>
              <a:t>activitatea reală → departamentul care o produce → KPI-ul pe care îl hrănește.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710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Cererea Elenei — «de ce au scăzut vânzările?» — devine clară cu harta: </a:t>
            </a:r>
            <a:r>
              <a:rPr i="1" sz="1500">
                <a:solidFill>
                  <a:srgbClr val="F2F2F2"/>
                </a:solidFill>
                <a:latin typeface="Arial"/>
              </a:rPr>
              <a:t>vânzările</a:t>
            </a:r>
            <a:r>
              <a:rPr b="0" sz="1500">
                <a:solidFill>
                  <a:srgbClr val="F2F2F2"/>
                </a:solidFill>
                <a:latin typeface="Arial"/>
              </a:rPr>
              <a:t> = Revenue, trăiește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, produs de </a:t>
            </a:r>
            <a:r>
              <a:rPr b="1" sz="1500">
                <a:solidFill>
                  <a:srgbClr val="F2F2F2"/>
                </a:solidFill>
                <a:latin typeface="Arial"/>
              </a:rPr>
              <a:t>Sales</a:t>
            </a:r>
            <a:r>
              <a:rPr b="0" sz="1500">
                <a:solidFill>
                  <a:srgbClr val="F2F2F2"/>
                </a:solidFill>
                <a:latin typeface="Arial"/>
              </a:rPr>
              <a:t>. Dar ca s-o </a:t>
            </a:r>
            <a:r>
              <a:rPr i="1" sz="1500">
                <a:solidFill>
                  <a:srgbClr val="F2F2F2"/>
                </a:solidFill>
                <a:latin typeface="Arial"/>
              </a:rPr>
              <a:t>explici</a:t>
            </a:r>
            <a:r>
              <a:rPr b="0" sz="1500">
                <a:solidFill>
                  <a:srgbClr val="F2F2F2"/>
                </a:solidFill>
                <a:latin typeface="Arial"/>
              </a:rPr>
              <a:t>, ai nevoie și de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 (Marketing) și </a:t>
            </a:r>
            <a:r>
              <a:rPr sz="15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500">
                <a:solidFill>
                  <a:srgbClr val="F2F2F2"/>
                </a:solidFill>
                <a:latin typeface="Arial"/>
              </a:rPr>
              <a:t> (Supply Chain). </a:t>
            </a:r>
            <a:r>
              <a:rPr b="1" sz="1500">
                <a:solidFill>
                  <a:srgbClr val="F2F2F2"/>
                </a:solidFill>
                <a:latin typeface="Arial"/>
              </a:rPr>
              <a:t>O întrebare, trei departamente.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Datele sunt urma activității de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O companie nu e o bază de date. E </a:t>
            </a:r>
            <a:r>
              <a:rPr b="1" sz="1500">
                <a:solidFill>
                  <a:srgbClr val="F2F2F2"/>
                </a:solidFill>
                <a:latin typeface="Arial"/>
              </a:rPr>
              <a:t>oameni care iau decizii și fac lucruri</a:t>
            </a:r>
            <a:r>
              <a:rPr b="0" sz="1500">
                <a:solidFill>
                  <a:srgbClr val="F2F2F2"/>
                </a:solidFill>
                <a:latin typeface="Arial"/>
              </a:rPr>
              <a:t>: vând, cumpără stoc, lansează campanii. De fiecare dată când se întâmplă ceva, un sistem îl înregistrează — iar acel rând e </a:t>
            </a:r>
            <a:r>
              <a:rPr b="1" sz="1500">
                <a:solidFill>
                  <a:srgbClr val="F2F2F2"/>
                </a:solidFill>
                <a:latin typeface="Arial"/>
              </a:rPr>
              <a:t>urma digitală</a:t>
            </a:r>
            <a:r>
              <a:rPr b="0" sz="1500">
                <a:solidFill>
                  <a:srgbClr val="F2F2F2"/>
                </a:solidFill>
                <a:latin typeface="Arial"/>
              </a:rPr>
              <a:t> a unei activități reale.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Ordinea în lume: </a:t>
            </a:r>
            <a:r>
              <a:rPr i="1" sz="1400">
                <a:solidFill>
                  <a:srgbClr val="F2F2F2"/>
                </a:solidFill>
                <a:latin typeface="Arial"/>
              </a:rPr>
              <a:t>întâi se întâmplă activitatea, apoi apar datele.</a:t>
            </a:r>
            <a:r>
              <a:rPr b="0" sz="1400">
                <a:solidFill>
                  <a:srgbClr val="F2F2F2"/>
                </a:solidFill>
                <a:latin typeface="Arial"/>
              </a:rPr>
              <a:t> «Business vs Date» nu e o luptă — e o </a:t>
            </a:r>
            <a:r>
              <a:rPr b="1" sz="1400">
                <a:solidFill>
                  <a:srgbClr val="F2F2F2"/>
                </a:solidFill>
                <a:latin typeface="Arial"/>
              </a:rPr>
              <a:t>ordine</a:t>
            </a:r>
            <a:r>
              <a:rPr b="0" sz="1400">
                <a:solidFill>
                  <a:srgbClr val="F2F2F2"/>
                </a:solidFill>
                <a:latin typeface="Arial"/>
              </a:rPr>
              <a:t>. Business-ul e cauza; datele sunt urma.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e organizat RetailHub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CEO</a:t>
            </a:r>
            <a:r>
              <a:rPr b="0" sz="1400">
                <a:solidFill>
                  <a:srgbClr val="F2F2F2"/>
                </a:solidFill>
                <a:latin typeface="Arial"/>
              </a:rPr>
              <a:t>, apoi </a:t>
            </a:r>
            <a:r>
              <a:rPr b="1" sz="1400">
                <a:solidFill>
                  <a:srgbClr val="F2F2F2"/>
                </a:solidFill>
                <a:latin typeface="Arial"/>
              </a:rPr>
              <a:t>nouă directori</a:t>
            </a:r>
            <a:r>
              <a:rPr b="0" sz="1400">
                <a:solidFill>
                  <a:srgbClr val="F2F2F2"/>
                </a:solidFill>
                <a:latin typeface="Arial"/>
              </a:rPr>
              <a:t> — câte unul pe departament (Sales, Marketing, Supply Chain…)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Tu: </a:t>
            </a:r>
            <a:r>
              <a:rPr b="1" sz="1400">
                <a:solidFill>
                  <a:srgbClr val="F2F2F2"/>
                </a:solidFill>
                <a:latin typeface="Arial"/>
              </a:rPr>
              <a:t>Junior Data Analyst</a:t>
            </a:r>
            <a:r>
              <a:rPr b="0" sz="1400">
                <a:solidFill>
                  <a:srgbClr val="F2F2F2"/>
                </a:solidFill>
                <a:latin typeface="Arial"/>
              </a:rPr>
              <a:t> în </a:t>
            </a:r>
            <a:r>
              <a:rPr b="1" sz="1400">
                <a:solidFill>
                  <a:srgbClr val="F2F2F2"/>
                </a:solidFill>
                <a:latin typeface="Arial"/>
              </a:rPr>
              <a:t>Data &amp; Analytics</a:t>
            </a:r>
            <a:r>
              <a:rPr b="0" sz="1400">
                <a:solidFill>
                  <a:srgbClr val="F2F2F2"/>
                </a:solidFill>
                <a:latin typeface="Arial"/>
              </a:rPr>
              <a:t> (Andrei) — ajuți toate departamentele cu datele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2173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Fluxul: </a:t>
            </a:r>
            <a:r>
              <a:rPr b="1" sz="1400">
                <a:solidFill>
                  <a:srgbClr val="F2F2F2"/>
                </a:solidFill>
                <a:latin typeface="Arial"/>
              </a:rPr>
              <a:t>activitate reală → sistemul o înregistrează (POS/site/app) → un rând într-un tabel → un KPI.</a:t>
            </a:r>
            <a:r>
              <a:rPr b="0" sz="1400">
                <a:solidFill>
                  <a:srgbClr val="F2F2F2"/>
                </a:solidFill>
                <a:latin typeface="Arial"/>
              </a:rPr>
              <a:t> Ex.: un client cumpără →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 →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HARTA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Harta celor 9 tabele RetailHub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Documentul pe care un analist îl are în cap tot timpul — fiecare fișier are în spate </a:t>
            </a:r>
            <a:r>
              <a:rPr b="1" sz="1500">
                <a:solidFill>
                  <a:srgbClr val="F2F2F2"/>
                </a:solidFill>
                <a:latin typeface="Arial"/>
              </a:rPr>
              <a:t>un om</a:t>
            </a:r>
            <a:r>
              <a:rPr b="0" sz="1500">
                <a:solidFill>
                  <a:srgbClr val="F2F2F2"/>
                </a:solidFill>
                <a:latin typeface="Arial"/>
              </a:rPr>
              <a:t> și </a:t>
            </a:r>
            <a:r>
              <a:rPr b="1" sz="1500">
                <a:solidFill>
                  <a:srgbClr val="F2F2F2"/>
                </a:solidFill>
                <a:latin typeface="Arial"/>
              </a:rPr>
              <a:t>o activitate</a:t>
            </a:r>
            <a:r>
              <a:rPr b="0" sz="1500">
                <a:solidFill>
                  <a:srgbClr val="F2F2F2"/>
                </a:solidFill>
                <a:latin typeface="Arial"/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130764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Un rând =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Produce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KPI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comandă finalizată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Revenue, AOV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order_items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produs în comandă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Units Sold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customers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client înregistrat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CX / Marketing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Retention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products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produs din catalog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Merchandising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referință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categories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categorie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Merchandising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referință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HARTA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Harta celor 9 tabele RetailHub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Un rând =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Produce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KPI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stores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magazin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Operations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perf. magazin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employees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angajat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HR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referință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campaigns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campanie lansată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Marketing · Radu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ROAS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inventory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stoc produs/magazin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Supply Chain · Mihai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Out-of-Stock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Nu memora tabelul — reține </a:t>
            </a:r>
            <a:r>
              <a:rPr b="1" sz="1400">
                <a:solidFill>
                  <a:srgbClr val="F2F2F2"/>
                </a:solidFill>
                <a:latin typeface="Arial"/>
              </a:rPr>
              <a:t>logica</a:t>
            </a:r>
            <a:r>
              <a:rPr b="0" sz="1400">
                <a:solidFill>
                  <a:srgbClr val="F2F2F2"/>
                </a:solidFill>
                <a:latin typeface="Arial"/>
              </a:rPr>
              <a:t>: când vezi </a:t>
            </a:r>
            <a:r>
              <a:rPr sz="14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400">
                <a:solidFill>
                  <a:srgbClr val="F2F2F2"/>
                </a:solidFill>
                <a:latin typeface="Arial"/>
              </a:rPr>
              <a:t>, «vezi» Marketingul lui Radu; când vezi </a:t>
            </a:r>
            <a:r>
              <a:rPr sz="14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400">
                <a:solidFill>
                  <a:srgbClr val="F2F2F2"/>
                </a:solidFill>
                <a:latin typeface="Arial"/>
              </a:rPr>
              <a:t>, depozitul lui Mihai. Datele devin o companie, nu o foaie.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Cum citește Andrei un rând — «ca un business»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«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 10428,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= Cluj-Napoca, un client care mai cumpărase, </a:t>
            </a:r>
            <a:r>
              <a:rPr sz="1400">
                <a:solidFill>
                  <a:srgbClr val="FFA24E"/>
                </a:solidFill>
                <a:latin typeface="Consolas"/>
              </a:rPr>
              <a:t>CampaignID</a:t>
            </a:r>
            <a:r>
              <a:rPr b="0" sz="1400">
                <a:solidFill>
                  <a:srgbClr val="F2F2F2"/>
                </a:solidFill>
                <a:latin typeface="Arial"/>
              </a:rPr>
              <a:t> gol — a venit fără campanie —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487,50. Ăsta nu e un rând. E o marți din viața magazinului din Cluj.»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9044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Apoi leagă de cererea Elenei: «De ce a scăzut Revenue» pornește din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(Elena). O campanie lipsă? → </a:t>
            </a:r>
            <a:r>
              <a:rPr sz="1500">
                <a:solidFill>
                  <a:srgbClr val="FFA24E"/>
                </a:solidFill>
                <a:latin typeface="Consolas"/>
              </a:rPr>
              <a:t>campaigns</a:t>
            </a:r>
            <a:r>
              <a:rPr b="0" sz="1500">
                <a:solidFill>
                  <a:srgbClr val="F2F2F2"/>
                </a:solidFill>
                <a:latin typeface="Arial"/>
              </a:rPr>
              <a:t> (Radu). Stoc epuizat? → </a:t>
            </a:r>
            <a:r>
              <a:rPr sz="1500">
                <a:solidFill>
                  <a:srgbClr val="FFA24E"/>
                </a:solidFill>
                <a:latin typeface="Consolas"/>
              </a:rPr>
              <a:t>inventory</a:t>
            </a:r>
            <a:r>
              <a:rPr b="0" sz="1500">
                <a:solidFill>
                  <a:srgbClr val="F2F2F2"/>
                </a:solidFill>
                <a:latin typeface="Arial"/>
              </a:rPr>
              <a:t> (Mihai). </a:t>
            </a:r>
            <a:r>
              <a:rPr b="1" sz="1500">
                <a:solidFill>
                  <a:srgbClr val="F2F2F2"/>
                </a:solidFill>
                <a:latin typeface="Arial"/>
              </a:rPr>
              <a:t>O întrebare, trei departamente.</a:t>
            </a:r>
            <a:r>
              <a:rPr b="0" sz="1500">
                <a:solidFill>
                  <a:srgbClr val="F2F2F2"/>
                </a:solidFill>
                <a:latin typeface="Arial"/>
              </a:rPr>
              <a:t> Andrei n-a calculat nimic — a </a:t>
            </a:r>
            <a:r>
              <a:rPr i="1" sz="1500">
                <a:solidFill>
                  <a:srgbClr val="F2F2F2"/>
                </a:solidFill>
                <a:latin typeface="Arial"/>
              </a:rPr>
              <a:t>tradus datele înapoi în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Tratează datele ca </a:t>
            </a:r>
            <a:r>
              <a:rPr b="1" sz="1300">
                <a:solidFill>
                  <a:srgbClr val="F2F2F2"/>
                </a:solidFill>
                <a:latin typeface="Arial"/>
              </a:rPr>
              <a:t>numere apărute din neant</a:t>
            </a:r>
            <a:r>
              <a:rPr b="0" sz="1300">
                <a:solidFill>
                  <a:srgbClr val="F2F2F2"/>
                </a:solidFill>
                <a:latin typeface="Arial"/>
              </a:rPr>
              <a:t> — văd coloane, nu activitate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Nu știu </a:t>
            </a:r>
            <a:r>
              <a:rPr b="1" sz="1300">
                <a:solidFill>
                  <a:srgbClr val="F2F2F2"/>
                </a:solidFill>
                <a:latin typeface="Arial"/>
              </a:rPr>
              <a:t>cine deține un KPI</a:t>
            </a:r>
            <a:r>
              <a:rPr b="0" sz="1300">
                <a:solidFill>
                  <a:srgbClr val="F2F2F2"/>
                </a:solidFill>
                <a:latin typeface="Arial"/>
              </a:rPr>
              <a:t> → întreabă omul greșit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Cred că </a:t>
            </a:r>
            <a:r>
              <a:rPr b="1" sz="1300">
                <a:solidFill>
                  <a:srgbClr val="F2F2F2"/>
                </a:solidFill>
                <a:latin typeface="Arial"/>
              </a:rPr>
              <a:t>un singur tabel</a:t>
            </a:r>
            <a:r>
              <a:rPr b="0" sz="1300">
                <a:solidFill>
                  <a:srgbClr val="F2F2F2"/>
                </a:solidFill>
                <a:latin typeface="Arial"/>
              </a:rPr>
              <a:t> răspunde la orice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Confundă cine </a:t>
            </a:r>
            <a:r>
              <a:rPr b="1" sz="1300">
                <a:solidFill>
                  <a:srgbClr val="F2F2F2"/>
                </a:solidFill>
                <a:latin typeface="Arial"/>
              </a:rPr>
              <a:t>deține</a:t>
            </a:r>
            <a:r>
              <a:rPr b="0" sz="1300">
                <a:solidFill>
                  <a:srgbClr val="F2F2F2"/>
                </a:solidFill>
                <a:latin typeface="Arial"/>
              </a:rPr>
              <a:t> un KPI cu cine îl poate </a:t>
            </a:r>
            <a:r>
              <a:rPr b="1" sz="1300">
                <a:solidFill>
                  <a:srgbClr val="F2F2F2"/>
                </a:solidFill>
                <a:latin typeface="Arial"/>
              </a:rPr>
              <a:t>explica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172712"/>
            <a:ext cx="10874959" cy="9174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Antidotul: pentru fiecare tabel, spune cu voce tare </a:t>
            </a:r>
            <a:r>
              <a:rPr i="1" sz="1400">
                <a:solidFill>
                  <a:srgbClr val="F2F2F2"/>
                </a:solidFill>
                <a:latin typeface="Arial"/>
              </a:rPr>
              <a:t>ce eveniment real creează un rând.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5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9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Întâi </a:t>
            </a:r>
            <a:r>
              <a:rPr b="1" sz="1300">
                <a:solidFill>
                  <a:srgbClr val="F2F2F2"/>
                </a:solidFill>
                <a:latin typeface="Arial"/>
              </a:rPr>
              <a:t>activitatea de business</a:t>
            </a:r>
            <a:r>
              <a:rPr b="0" sz="1300">
                <a:solidFill>
                  <a:srgbClr val="F2F2F2"/>
                </a:solidFill>
                <a:latin typeface="Arial"/>
              </a:rPr>
              <a:t>, apoi </a:t>
            </a:r>
            <a:r>
              <a:rPr b="1" sz="1300">
                <a:solidFill>
                  <a:srgbClr val="F2F2F2"/>
                </a:solidFill>
                <a:latin typeface="Arial"/>
              </a:rPr>
              <a:t>datele</a:t>
            </a:r>
            <a:r>
              <a:rPr b="0" sz="1300">
                <a:solidFill>
                  <a:srgbClr val="F2F2F2"/>
                </a:solidFill>
                <a:latin typeface="Arial"/>
              </a:rPr>
              <a:t> ca urmă a 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Un rând nu e un număr — e </a:t>
            </a:r>
            <a:r>
              <a:rPr b="1" sz="1300">
                <a:solidFill>
                  <a:srgbClr val="F2F2F2"/>
                </a:solidFill>
                <a:latin typeface="Arial"/>
              </a:rPr>
              <a:t>fotografia unui eveniment real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Fiecare dataset are un </a:t>
            </a:r>
            <a:r>
              <a:rPr b="1" sz="1300">
                <a:solidFill>
                  <a:srgbClr val="F2F2F2"/>
                </a:solidFill>
                <a:latin typeface="Arial"/>
              </a:rPr>
              <a:t>proprietar</a:t>
            </a:r>
            <a:r>
              <a:rPr b="0" sz="1300">
                <a:solidFill>
                  <a:srgbClr val="F2F2F2"/>
                </a:solidFill>
                <a:latin typeface="Arial"/>
              </a:rPr>
              <a:t> (departament + stakeholder) și un </a:t>
            </a:r>
            <a:r>
              <a:rPr b="1" sz="1300">
                <a:solidFill>
                  <a:srgbClr val="F2F2F2"/>
                </a:solidFill>
                <a:latin typeface="Arial"/>
              </a:rPr>
              <a:t>KPI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 întrebare atinge, de obicei, </a:t>
            </a:r>
            <a:r>
              <a:rPr b="1" sz="1300">
                <a:solidFill>
                  <a:srgbClr val="F2F2F2"/>
                </a:solidFill>
                <a:latin typeface="Arial"/>
              </a:rPr>
              <a:t>mai multe</a:t>
            </a:r>
            <a:r>
              <a:rPr b="0" sz="1300">
                <a:solidFill>
                  <a:srgbClr val="F2F2F2"/>
                </a:solidFill>
                <a:latin typeface="Arial"/>
              </a:rPr>
              <a:t> tabele/departamente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Cine </a:t>
            </a:r>
            <a:r>
              <a:rPr b="1" sz="1300">
                <a:solidFill>
                  <a:srgbClr val="F2F2F2"/>
                </a:solidFill>
                <a:latin typeface="Arial"/>
              </a:rPr>
              <a:t>deține</a:t>
            </a:r>
            <a:r>
              <a:rPr b="0" sz="1300">
                <a:solidFill>
                  <a:srgbClr val="F2F2F2"/>
                </a:solidFill>
                <a:latin typeface="Arial"/>
              </a:rPr>
              <a:t> un KPI ≠ cine îi poate </a:t>
            </a:r>
            <a:r>
              <a:rPr b="1" sz="1300">
                <a:solidFill>
                  <a:srgbClr val="F2F2F2"/>
                </a:solidFill>
                <a:latin typeface="Arial"/>
              </a:rPr>
              <a:t>explica</a:t>
            </a:r>
            <a:r>
              <a:rPr b="0" sz="1300">
                <a:solidFill>
                  <a:srgbClr val="F2F2F2"/>
                </a:solidFill>
                <a:latin typeface="Arial"/>
              </a:rPr>
              <a:t> schimbarea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67868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L3</a:t>
            </a:r>
            <a:r>
              <a:rPr b="0" sz="1400">
                <a:solidFill>
                  <a:srgbClr val="F2F2F2"/>
                </a:solidFill>
                <a:latin typeface="Arial"/>
              </a:rPr>
              <a:t> — te întorci la cererea Elenei și transformi orice cerere vagă într-una la care se poate răspunde (</a:t>
            </a:r>
            <a:r>
              <a:rPr b="1" sz="1400">
                <a:solidFill>
                  <a:srgbClr val="F2F2F2"/>
                </a:solidFill>
                <a:latin typeface="Arial"/>
              </a:rPr>
              <a:t>Decision Tree</a:t>
            </a:r>
            <a:r>
              <a:rPr b="0" sz="14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 · Business vs Date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