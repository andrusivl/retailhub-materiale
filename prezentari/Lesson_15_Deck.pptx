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Ai găsit că Cluj e magazinul slab (L14) — dar în date scrie StoreID = 2, nu «Cluj». Și nu poți tăia scăderea pe categorie, fiindcă în comenzi nu scrie categoria. Ambele se rezolvă cu un lookup: aduci numele de lângă cod, dintr-un alt tabel. E ideea «cheile leagă tabele» (L8), acum în Excel. Fișierul L15_lookups.xlsx are orders cu o coloană goală City, products cu una goală Categorie, plus tabelele-sursă stores și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Legăm de L14. Ai calculat scăderea reală din septembrie cu SUMIFS: 1.126.418,50 vs august 1.324.375,59 = −14,9%. Și ai văzut că magazinul slab e StoreID 2. Dar «StoreID 2» nu se prezintă. Azi îl faci nume: Cluj-Napoca. Și aduci categoria, ca să poți tăia pe categorie.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Obiectivele din §1. Să folosești XLOOKUP (cauți o cheie, aduci valoarea); VLOOKUP cu potrivire exactă (FALSE) și capcanele lui; să înțelegi #N/A ca semnal; să îmbogățești un tabel cu nume, ca să analizezi pe dimensiuni cu nume.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(§2, §5, §6). Deschizi L15_lookups.xlsx: orders are o coloană goală City, products una goală Categorie; alături ai tabelele-sursă stores și categories. Un lookup e ca un dicționar: ai cuvântul (StoreID = 2) și vrei definiția (Cluj-Napoca) — o cauți în dicționar (tabelul-sursă), de fiecare dată exact. Automat, pentru fiecare rând.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Citatul Elenei (§2). Ai trimis finding-ul #1: septembrie −14,9%, cel mai slab e StoreID 2. Elena răspunde pe chat: «StoreID 2» nu-mi spune nimic — care oraș e? Și, ca să înțeleg de ce a scăzut, vreau pe categorie: ce s-a vândut mai prost? Un raport cu «StoreID 2» nu se prezintă.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Cârligul (§3). Ioana a vrut orașul lângă comenzi. A început să scrie de mână: se uita la StoreID, apoi tasta orașul... La rândul 40 din 14.968 a renunțat. Apoi a încercat un VLOOKUP, dar a pus indexul de coloană greșit (2 în loc de 3) și a adus StoreName în loc de City — și nici n-a observat, fiindcă «arăta a text plauzibil».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Orientare (§5). XLOOKUP(ce_cauți; unde_cauți; ce_aduci) — modern, citibil. VLOOKUP(ce_cauți; tabelul; nr_coloană; FALSE) — clasic; FALSE = potrivire exactă (obligatoriu pentru coduri). #N/A = n-am găsit cheia — cod lipsă sau greșit, de investigat. De ce XLOOKUP &gt; VLOOKUP: nu cere index de coloană (deci nu-l greșești ca Ioana), nu cere ca cheia să fie prima, nu se strică dacă inserezi o coloană.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Ideea centrală (§6). Trei lucruri, mereu aceleași: ce cauți (cheia din rândul tău) = primul argument; unde cauți (cheia în sursă) = coloana-cheie din sursă; ce aduci (valoarea) = coloana de rezultat din sursă. VLOOKUP face la fel, dar «ce aduci» e un număr de coloană (fragil), iar cheia trebuie să fie prima coloană. De-aia, când poți, folosești XLOOKUP.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1 (§7). În fila orders, coloana goală City (J2): =XLOOKUP([@StoreID]; tblStores[StoreID]; tblStores[City]) → Enter. Fiind Table, se umple singură pe toate rândurile. Filtrezi City și cauți comenzile din Cluj-Napoca — sunt exact cele cu StoreID 2. Finding-ul e citibil: magazinul slab e Cluj-Napoca, nu StoreID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2 (§7). =VLOOKUP([@StoreID]; tblStores; 3; FALSE) → dă tot orașul. 3 = City e a treia coloană în stores. Capcana lui Ioana: dacă pui 2 în loc de 3, primești StoreName — greșit, dar plauzibil. Și dacă cineva inserează o coloană în stores, 3 devine greșit peste noapte. XLOOKUP n-are problema asta: ceri direct coloana City, pe nume.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3 (§7). În fila products, coloana goală Categorie (H2): =XLOOKUP([@CategoryID]; tblCategories[CategoryID]; tblCategories[CategoryName]) → Enter. Fiecare produs are acum categoria cu nume (School Supplies, Audio, Toys), nu doar CategoryID. Produsele sunt gata de grupat pe categorie.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4 (§7). Dacă un StoreID n-ar exista în stores, XLOOKUP dă #N/A. Nu-l ascunzi cu un truc — îl investighezi (cod greșit? magazin nou neadăugat?). Poți da un mesaj clar cu al patrulea argument: =XLOOKUP([@StoreID]; tblStores[StoreID]; tblStores[City]; "magazin necunoscut").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patru greșeli (§11). Index de coloană greșit la VLOOKUP — aduci tăcut altă valoare; folosește XLOOKUP (pe nume). Potrivire aproximativă pe coduri — pe coduri mereu exactă (FALSE). Ascunzi #N/A — e un semnal, îl investighezi. Atașezi nume de mână — pe mii de rânduri e imposibil; un lookup o face o dată, corect.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milestone-ul (§12/§14). Un lookup urmează o cheie în alt tabel și aduce valoarea potrivită — codul devine nume (L8, în Excel). XLOOKUP (pe nume de coloană) e mai sigur decât VLOOKUP (index fragil); pe coduri, potrivire exactă. #N/A = cheie negăsită, de investigat. Ai făcut finding-ul citibil (StoreID 2 = Cluj-Napoca) și ai pregătit categoria pentru L16. Urmează pivot: sumarizezi scăderea pe categorie și magazin.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3 · LECȚIA 15 · A CINCEA LECȚIE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Lookups — combini tabele (VLOOKUP / XLOOKUP)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Excel (leagă tabele) → Answer. Azi transformi codurile în nume.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Vineri, 16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L15 · Lookups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 (L14)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Scăderea reală din septembrie: </a:t>
            </a:r>
            <a:r>
              <a:rPr sz="1500">
                <a:solidFill>
                  <a:srgbClr val="FFA24E"/>
                </a:solidFill>
                <a:latin typeface="Consolas"/>
              </a:rPr>
              <a:t>1.126.418,50</a:t>
            </a:r>
            <a:r>
              <a:rPr b="0" sz="1500">
                <a:solidFill>
                  <a:srgbClr val="F2F2F2"/>
                </a:solidFill>
                <a:latin typeface="Arial"/>
              </a:rPr>
              <a:t> vs august </a:t>
            </a:r>
            <a:r>
              <a:rPr sz="1500">
                <a:solidFill>
                  <a:srgbClr val="FFA24E"/>
                </a:solidFill>
                <a:latin typeface="Consolas"/>
              </a:rPr>
              <a:t>1.324.375,59</a:t>
            </a:r>
            <a:r>
              <a:rPr b="0" sz="1500">
                <a:solidFill>
                  <a:srgbClr val="F2F2F2"/>
                </a:solidFill>
                <a:latin typeface="Arial"/>
              </a:rPr>
              <a:t> = </a:t>
            </a:r>
            <a:r>
              <a:rPr b="1" sz="1500">
                <a:solidFill>
                  <a:srgbClr val="F2F2F2"/>
                </a:solidFill>
                <a:latin typeface="Arial"/>
              </a:rPr>
              <a:t>−14,9%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Magazinul slab e </a:t>
            </a:r>
            <a:r>
              <a:rPr b="1" sz="1500">
                <a:solidFill>
                  <a:srgbClr val="F2F2F2"/>
                </a:solidFill>
                <a:latin typeface="Arial"/>
              </a:rPr>
              <a:t>`StoreID 2`</a:t>
            </a:r>
            <a:r>
              <a:rPr b="0" sz="1500">
                <a:solidFill>
                  <a:srgbClr val="F2F2F2"/>
                </a:solidFill>
                <a:latin typeface="Arial"/>
              </a:rPr>
              <a:t> — dar în date e un </a:t>
            </a:r>
            <a:r>
              <a:rPr b="1" sz="1500">
                <a:solidFill>
                  <a:srgbClr val="F2F2F2"/>
                </a:solidFill>
                <a:latin typeface="Arial"/>
              </a:rPr>
              <a:t>cod</a:t>
            </a:r>
            <a:r>
              <a:rPr b="0" sz="1500">
                <a:solidFill>
                  <a:srgbClr val="F2F2F2"/>
                </a:solidFill>
                <a:latin typeface="Arial"/>
              </a:rPr>
              <a:t>, nu un nume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Și nu poți încă tăia scăderea </a:t>
            </a:r>
            <a:r>
              <a:rPr i="1" sz="1500">
                <a:solidFill>
                  <a:srgbClr val="F2F2F2"/>
                </a:solidFill>
                <a:latin typeface="Arial"/>
              </a:rPr>
              <a:t>pe categorie</a:t>
            </a:r>
            <a:r>
              <a:rPr b="0" sz="1500">
                <a:solidFill>
                  <a:srgbClr val="F2F2F2"/>
                </a:solidFill>
                <a:latin typeface="Arial"/>
              </a:rPr>
              <a:t> — în comenzi nu scrie categoria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Ambele se rezolvă cu un </a:t>
            </a:r>
            <a:r>
              <a:rPr b="1" sz="1400">
                <a:solidFill>
                  <a:srgbClr val="F2F2F2"/>
                </a:solidFill>
                <a:latin typeface="Arial"/>
              </a:rPr>
              <a:t>lookup</a:t>
            </a:r>
            <a:r>
              <a:rPr b="0" sz="1400">
                <a:solidFill>
                  <a:srgbClr val="F2F2F2"/>
                </a:solidFill>
                <a:latin typeface="Arial"/>
              </a:rPr>
              <a:t>: aduci numele de lângă cod, dintr-un alt tabel. E „cheile leagă tabele” (L8), acum în Excel.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L15 · Lookups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folosești </a:t>
            </a:r>
            <a:r>
              <a:rPr b="1" sz="1400">
                <a:solidFill>
                  <a:srgbClr val="F2F2F2"/>
                </a:solidFill>
                <a:latin typeface="Arial"/>
              </a:rPr>
              <a:t>`XLOOKUP`</a:t>
            </a:r>
            <a:r>
              <a:rPr b="0" sz="1400">
                <a:solidFill>
                  <a:srgbClr val="F2F2F2"/>
                </a:solidFill>
                <a:latin typeface="Arial"/>
              </a:rPr>
              <a:t> — cauți o cheie într-un alt tabel și aduci valoarea potrivită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folosești </a:t>
            </a:r>
            <a:r>
              <a:rPr b="1" sz="1400">
                <a:solidFill>
                  <a:srgbClr val="F2F2F2"/>
                </a:solidFill>
                <a:latin typeface="Arial"/>
              </a:rPr>
              <a:t>`VLOOKUP`</a:t>
            </a:r>
            <a:r>
              <a:rPr b="0" sz="1400">
                <a:solidFill>
                  <a:srgbClr val="F2F2F2"/>
                </a:solidFill>
                <a:latin typeface="Arial"/>
              </a:rPr>
              <a:t> cu potrivire </a:t>
            </a:r>
            <a:r>
              <a:rPr b="1" sz="1400">
                <a:solidFill>
                  <a:srgbClr val="F2F2F2"/>
                </a:solidFill>
                <a:latin typeface="Arial"/>
              </a:rPr>
              <a:t>exactă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FALSE</a:t>
            </a:r>
            <a:r>
              <a:rPr b="0" sz="1400">
                <a:solidFill>
                  <a:srgbClr val="F2F2F2"/>
                </a:solidFill>
                <a:latin typeface="Arial"/>
              </a:rPr>
              <a:t>) — și să-i cunoști capcanele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înțelegi </a:t>
            </a:r>
            <a:r>
              <a:rPr b="1" sz="1400">
                <a:solidFill>
                  <a:srgbClr val="F2F2F2"/>
                </a:solidFill>
                <a:latin typeface="Arial"/>
              </a:rPr>
              <a:t>`#N/A`</a:t>
            </a:r>
            <a:r>
              <a:rPr b="0" sz="1400">
                <a:solidFill>
                  <a:srgbClr val="F2F2F2"/>
                </a:solidFill>
                <a:latin typeface="Arial"/>
              </a:rPr>
              <a:t> — un cod negăsit e un </a:t>
            </a:r>
            <a:r>
              <a:rPr b="1" sz="1400">
                <a:solidFill>
                  <a:srgbClr val="F2F2F2"/>
                </a:solidFill>
                <a:latin typeface="Arial"/>
              </a:rPr>
              <a:t>semnal</a:t>
            </a:r>
            <a:r>
              <a:rPr b="0" sz="1400">
                <a:solidFill>
                  <a:srgbClr val="F2F2F2"/>
                </a:solidFill>
                <a:latin typeface="Arial"/>
              </a:rPr>
              <a:t>, nu ceva de ascuns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</a:t>
            </a:r>
            <a:r>
              <a:rPr b="1" sz="1400">
                <a:solidFill>
                  <a:srgbClr val="F2F2F2"/>
                </a:solidFill>
                <a:latin typeface="Arial"/>
              </a:rPr>
              <a:t>îmbogățești</a:t>
            </a:r>
            <a:r>
              <a:rPr b="0" sz="1400">
                <a:solidFill>
                  <a:srgbClr val="F2F2F2"/>
                </a:solidFill>
                <a:latin typeface="Arial"/>
              </a:rPr>
              <a:t> un tabel cu nume (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 + </a:t>
            </a:r>
            <a:r>
              <a:rPr sz="1400">
                <a:solidFill>
                  <a:srgbClr val="FFA24E"/>
                </a:solidFill>
                <a:latin typeface="Consolas"/>
              </a:rPr>
              <a:t>City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products</a:t>
            </a:r>
            <a:r>
              <a:rPr b="0" sz="1400">
                <a:solidFill>
                  <a:srgbClr val="F2F2F2"/>
                </a:solidFill>
                <a:latin typeface="Arial"/>
              </a:rPr>
              <a:t> + </a:t>
            </a:r>
            <a:r>
              <a:rPr sz="1400">
                <a:solidFill>
                  <a:srgbClr val="FFA24E"/>
                </a:solidFill>
                <a:latin typeface="Consolas"/>
              </a:rPr>
              <a:t>Categorie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L15 · Lookups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SETUP · CUM FUNCȚIONEAZĂ UN 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Fișierul și ideea de dicționar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Deschizi 📎 </a:t>
            </a:r>
            <a:r>
              <a:rPr sz="1500">
                <a:solidFill>
                  <a:srgbClr val="FFA24E"/>
                </a:solidFill>
                <a:latin typeface="Consolas"/>
              </a:rPr>
              <a:t>L15_lookups.xlsx</a:t>
            </a:r>
            <a:r>
              <a:rPr b="0" sz="1500">
                <a:solidFill>
                  <a:srgbClr val="F2F2F2"/>
                </a:solidFill>
                <a:latin typeface="Arial"/>
              </a:rPr>
              <a:t>: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 are o coloană goală </a:t>
            </a:r>
            <a:r>
              <a:rPr sz="1500">
                <a:solidFill>
                  <a:srgbClr val="FFA24E"/>
                </a:solidFill>
                <a:latin typeface="Consolas"/>
              </a:rPr>
              <a:t>City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products</a:t>
            </a:r>
            <a:r>
              <a:rPr b="0" sz="1500">
                <a:solidFill>
                  <a:srgbClr val="F2F2F2"/>
                </a:solidFill>
                <a:latin typeface="Arial"/>
              </a:rPr>
              <a:t> una goală </a:t>
            </a:r>
            <a:r>
              <a:rPr sz="1500">
                <a:solidFill>
                  <a:srgbClr val="FFA24E"/>
                </a:solidFill>
                <a:latin typeface="Consolas"/>
              </a:rPr>
              <a:t>Categorie</a:t>
            </a:r>
            <a:r>
              <a:rPr b="0" sz="1500">
                <a:solidFill>
                  <a:srgbClr val="F2F2F2"/>
                </a:solidFill>
                <a:latin typeface="Arial"/>
              </a:rPr>
              <a:t>; alături, tabelele-sursă </a:t>
            </a:r>
            <a:r>
              <a:rPr sz="1500">
                <a:solidFill>
                  <a:srgbClr val="FFA24E"/>
                </a:solidFill>
                <a:latin typeface="Consolas"/>
              </a:rPr>
              <a:t>stores</a:t>
            </a:r>
            <a:r>
              <a:rPr b="0" sz="1500">
                <a:solidFill>
                  <a:srgbClr val="F2F2F2"/>
                </a:solidFill>
                <a:latin typeface="Arial"/>
              </a:rPr>
              <a:t> și </a:t>
            </a:r>
            <a:r>
              <a:rPr sz="1500">
                <a:solidFill>
                  <a:srgbClr val="FFA24E"/>
                </a:solidFill>
                <a:latin typeface="Consolas"/>
              </a:rPr>
              <a:t>categories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0764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lookup e ca un </a:t>
            </a:r>
            <a:r>
              <a:rPr b="1" sz="1400">
                <a:solidFill>
                  <a:srgbClr val="F2F2F2"/>
                </a:solidFill>
                <a:latin typeface="Arial"/>
              </a:rPr>
              <a:t>dicționar</a:t>
            </a:r>
            <a:r>
              <a:rPr b="0" sz="1400">
                <a:solidFill>
                  <a:srgbClr val="F2F2F2"/>
                </a:solidFill>
                <a:latin typeface="Arial"/>
              </a:rPr>
              <a:t>: ai cuvântul (</a:t>
            </a:r>
            <a:r>
              <a:rPr sz="1400">
                <a:solidFill>
                  <a:srgbClr val="FFA24E"/>
                </a:solidFill>
                <a:latin typeface="Consolas"/>
              </a:rPr>
              <a:t>StoreID = 2</a:t>
            </a:r>
            <a:r>
              <a:rPr b="0" sz="1400">
                <a:solidFill>
                  <a:srgbClr val="F2F2F2"/>
                </a:solidFill>
                <a:latin typeface="Arial"/>
              </a:rPr>
              <a:t>), vrei definiția (</a:t>
            </a:r>
            <a:r>
              <a:rPr sz="1400">
                <a:solidFill>
                  <a:srgbClr val="FFA24E"/>
                </a:solidFill>
                <a:latin typeface="Consolas"/>
              </a:rPr>
              <a:t>Cluj-Napoca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Nu ții minte toate definițiile — le cauți în </a:t>
            </a:r>
            <a:r>
              <a:rPr b="1" sz="1400">
                <a:solidFill>
                  <a:srgbClr val="F2F2F2"/>
                </a:solidFill>
                <a:latin typeface="Arial"/>
              </a:rPr>
              <a:t>dicționar</a:t>
            </a:r>
            <a:r>
              <a:rPr b="0" sz="1400">
                <a:solidFill>
                  <a:srgbClr val="F2F2F2"/>
                </a:solidFill>
                <a:latin typeface="Arial"/>
              </a:rPr>
              <a:t> (tabelul-sursă), de fiecare dată exact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lookup e căutarea asta, făcută </a:t>
            </a:r>
            <a:r>
              <a:rPr b="1" sz="1400">
                <a:solidFill>
                  <a:srgbClr val="F2F2F2"/>
                </a:solidFill>
                <a:latin typeface="Arial"/>
              </a:rPr>
              <a:t>automat</a:t>
            </a:r>
            <a:r>
              <a:rPr b="0" sz="1400">
                <a:solidFill>
                  <a:srgbClr val="F2F2F2"/>
                </a:solidFill>
                <a:latin typeface="Arial"/>
              </a:rPr>
              <a:t> pentru fiecare rând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L15 · Lookups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„Dă-mi numele, nu codul” (Elena)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5270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„«StoreID 2» nu-mi spune nimic — care oraș e? Și, ca să înțeleg </a:t>
            </a:r>
            <a:r>
              <a:rPr i="1" sz="1500">
                <a:solidFill>
                  <a:srgbClr val="F2F2F2"/>
                </a:solidFill>
                <a:latin typeface="Arial"/>
              </a:rPr>
              <a:t>de ce</a:t>
            </a:r>
            <a:r>
              <a:rPr b="0" sz="1500">
                <a:solidFill>
                  <a:srgbClr val="F2F2F2"/>
                </a:solidFill>
                <a:latin typeface="Arial"/>
              </a:rPr>
              <a:t> a scăzut, vreau pe </a:t>
            </a:r>
            <a:r>
              <a:rPr b="1" sz="1500">
                <a:solidFill>
                  <a:srgbClr val="F2F2F2"/>
                </a:solidFill>
                <a:latin typeface="Arial"/>
              </a:rPr>
              <a:t>categorie</a:t>
            </a:r>
            <a:r>
              <a:rPr b="0" sz="1500">
                <a:solidFill>
                  <a:srgbClr val="F2F2F2"/>
                </a:solidFill>
                <a:latin typeface="Arial"/>
              </a:rPr>
              <a:t>: ce s-a vândut mai prost? Adu-mi numele lângă date, ca să pot citi.”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472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Are dreptate — un raport cu „StoreID 2” nu se prezintă. Dar mai întâi, o poveste despre cum să </a:t>
            </a:r>
            <a:r>
              <a:rPr b="1" sz="1500">
                <a:solidFill>
                  <a:srgbClr val="F2F2F2"/>
                </a:solidFill>
                <a:latin typeface="Arial"/>
              </a:rPr>
              <a:t>nu</a:t>
            </a:r>
            <a:r>
              <a:rPr b="0" sz="1500">
                <a:solidFill>
                  <a:srgbClr val="F2F2F2"/>
                </a:solidFill>
                <a:latin typeface="Arial"/>
              </a:rPr>
              <a:t> aduci numele.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L15 · Lookups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Ioana: a scris orașele de mână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 scris orașele </a:t>
            </a:r>
            <a:r>
              <a:rPr b="1" sz="1400">
                <a:solidFill>
                  <a:srgbClr val="F2F2F2"/>
                </a:solidFill>
                <a:latin typeface="Arial"/>
              </a:rPr>
              <a:t>de mână</a:t>
            </a:r>
            <a:r>
              <a:rPr b="0" sz="1400">
                <a:solidFill>
                  <a:srgbClr val="F2F2F2"/>
                </a:solidFill>
                <a:latin typeface="Arial"/>
              </a:rPr>
              <a:t>: se uita la </a:t>
            </a:r>
            <a:r>
              <a:rPr sz="14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, tasta orașul... La </a:t>
            </a:r>
            <a:r>
              <a:rPr b="1" sz="1400">
                <a:solidFill>
                  <a:srgbClr val="F2F2F2"/>
                </a:solidFill>
                <a:latin typeface="Arial"/>
              </a:rPr>
              <a:t>rândul 40 din 14.968</a:t>
            </a:r>
            <a:r>
              <a:rPr b="0" sz="1400">
                <a:solidFill>
                  <a:srgbClr val="F2F2F2"/>
                </a:solidFill>
                <a:latin typeface="Arial"/>
              </a:rPr>
              <a:t> a renunțat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Apoi </a:t>
            </a:r>
            <a:r>
              <a:rPr sz="1400">
                <a:solidFill>
                  <a:srgbClr val="FFA24E"/>
                </a:solidFill>
                <a:latin typeface="Consolas"/>
              </a:rPr>
              <a:t>VLOOKUP</a:t>
            </a:r>
            <a:r>
              <a:rPr b="0" sz="1400">
                <a:solidFill>
                  <a:srgbClr val="F2F2F2"/>
                </a:solidFill>
                <a:latin typeface="Arial"/>
              </a:rPr>
              <a:t> cu index de coloană </a:t>
            </a:r>
            <a:r>
              <a:rPr b="1" sz="1400">
                <a:solidFill>
                  <a:srgbClr val="F2F2F2"/>
                </a:solidFill>
                <a:latin typeface="Arial"/>
              </a:rPr>
              <a:t>greșit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2</a:t>
            </a:r>
            <a:r>
              <a:rPr b="0" sz="1400">
                <a:solidFill>
                  <a:srgbClr val="F2F2F2"/>
                </a:solidFill>
                <a:latin typeface="Arial"/>
              </a:rPr>
              <a:t> în loc de </a:t>
            </a:r>
            <a:r>
              <a:rPr sz="1400">
                <a:solidFill>
                  <a:srgbClr val="FFA24E"/>
                </a:solidFill>
                <a:latin typeface="Consolas"/>
              </a:rPr>
              <a:t>3</a:t>
            </a:r>
            <a:r>
              <a:rPr b="0" sz="1400">
                <a:solidFill>
                  <a:srgbClr val="F2F2F2"/>
                </a:solidFill>
                <a:latin typeface="Arial"/>
              </a:rPr>
              <a:t>) → a adus </a:t>
            </a:r>
            <a:r>
              <a:rPr sz="1400">
                <a:solidFill>
                  <a:srgbClr val="FFA24E"/>
                </a:solidFill>
                <a:latin typeface="Consolas"/>
              </a:rPr>
              <a:t>StoreName</a:t>
            </a:r>
            <a:r>
              <a:rPr b="0" sz="1400">
                <a:solidFill>
                  <a:srgbClr val="F2F2F2"/>
                </a:solidFill>
                <a:latin typeface="Arial"/>
              </a:rPr>
              <a:t>, nu </a:t>
            </a:r>
            <a:r>
              <a:rPr sz="1400">
                <a:solidFill>
                  <a:srgbClr val="FFA24E"/>
                </a:solidFill>
                <a:latin typeface="Consolas"/>
              </a:rPr>
              <a:t>City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Nici n-a observat — „arăta a text plauzibil”. O greșeală </a:t>
            </a:r>
            <a:r>
              <a:rPr b="1" sz="1400">
                <a:solidFill>
                  <a:srgbClr val="F2F2F2"/>
                </a:solidFill>
                <a:latin typeface="Arial"/>
              </a:rPr>
              <a:t>tăcută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5818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Curiozitatea de azi: cum aduci numele corect, pentru fiecare cod, dintr-un alt tabel — cu o formulă pe care n-o greșești </a:t>
            </a:r>
            <a:r>
              <a:rPr b="1" sz="1400">
                <a:solidFill>
                  <a:srgbClr val="F2F2F2"/>
                </a:solidFill>
                <a:latin typeface="Arial"/>
              </a:rPr>
              <a:t>tăcut</a:t>
            </a:r>
            <a:r>
              <a:rPr b="0" sz="1400">
                <a:solidFill>
                  <a:srgbClr val="F2F2F2"/>
                </a:solidFill>
                <a:latin typeface="Arial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L15 · Lookups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ORIENTARE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XLOOKUP vs VLOOKUP; și </a:t>
            </a:r>
            <a:r>
              <a:rPr sz="3000">
                <a:solidFill>
                  <a:srgbClr val="FFA24E"/>
                </a:solidFill>
                <a:latin typeface="Consolas"/>
              </a:rPr>
              <a:t>#N/A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`XLOOKUP(ce_cauți; unde_cauți; ce_aduci)`</a:t>
            </a:r>
            <a:r>
              <a:rPr b="0" sz="1400">
                <a:solidFill>
                  <a:srgbClr val="F2F2F2"/>
                </a:solidFill>
                <a:latin typeface="Arial"/>
              </a:rPr>
              <a:t> — modern, ceri coloana </a:t>
            </a:r>
            <a:r>
              <a:rPr b="1" sz="1400">
                <a:solidFill>
                  <a:srgbClr val="F2F2F2"/>
                </a:solidFill>
                <a:latin typeface="Arial"/>
              </a:rPr>
              <a:t>pe nume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`VLOOKUP(ce_cauți; tabelul; nr_coloană; FALSE)`</a:t>
            </a:r>
            <a:r>
              <a:rPr b="0" sz="1400">
                <a:solidFill>
                  <a:srgbClr val="F2F2F2"/>
                </a:solidFill>
                <a:latin typeface="Arial"/>
              </a:rPr>
              <a:t> — clasic; </a:t>
            </a:r>
            <a:r>
              <a:rPr sz="1400">
                <a:solidFill>
                  <a:srgbClr val="FFA24E"/>
                </a:solidFill>
                <a:latin typeface="Consolas"/>
              </a:rPr>
              <a:t>FALSE</a:t>
            </a:r>
            <a:r>
              <a:rPr b="0" sz="1400">
                <a:solidFill>
                  <a:srgbClr val="F2F2F2"/>
                </a:solidFill>
                <a:latin typeface="Arial"/>
              </a:rPr>
              <a:t> = potrivire </a:t>
            </a:r>
            <a:r>
              <a:rPr b="1" sz="1400">
                <a:solidFill>
                  <a:srgbClr val="F2F2F2"/>
                </a:solidFill>
                <a:latin typeface="Arial"/>
              </a:rPr>
              <a:t>exactă</a:t>
            </a:r>
            <a:r>
              <a:rPr b="0" sz="1400">
                <a:solidFill>
                  <a:srgbClr val="F2F2F2"/>
                </a:solidFill>
                <a:latin typeface="Arial"/>
              </a:rPr>
              <a:t> (coduri)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`#N/A`</a:t>
            </a:r>
            <a:r>
              <a:rPr b="0" sz="1400">
                <a:solidFill>
                  <a:srgbClr val="F2F2F2"/>
                </a:solidFill>
                <a:latin typeface="Arial"/>
              </a:rPr>
              <a:t> = „n-am găsit cheia” — cod lipsă/greșit, de </a:t>
            </a:r>
            <a:r>
              <a:rPr b="1" sz="1400">
                <a:solidFill>
                  <a:srgbClr val="F2F2F2"/>
                </a:solidFill>
                <a:latin typeface="Arial"/>
              </a:rPr>
              <a:t>investigat</a:t>
            </a:r>
            <a:r>
              <a:rPr b="0" sz="1400">
                <a:solidFill>
                  <a:srgbClr val="F2F2F2"/>
                </a:solidFill>
                <a:latin typeface="Arial"/>
              </a:rPr>
              <a:t>, nu de ascuns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58183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De ce </a:t>
            </a:r>
            <a:r>
              <a:rPr sz="1300">
                <a:solidFill>
                  <a:srgbClr val="FFA24E"/>
                </a:solidFill>
                <a:latin typeface="Consolas"/>
              </a:rPr>
              <a:t>XLOOKUP</a:t>
            </a:r>
            <a:r>
              <a:rPr b="0" sz="1300">
                <a:solidFill>
                  <a:srgbClr val="F2F2F2"/>
                </a:solidFill>
                <a:latin typeface="Arial"/>
              </a:rPr>
              <a:t> &gt; </a:t>
            </a:r>
            <a:r>
              <a:rPr sz="1300">
                <a:solidFill>
                  <a:srgbClr val="FFA24E"/>
                </a:solidFill>
                <a:latin typeface="Consolas"/>
              </a:rPr>
              <a:t>VLOOKUP</a:t>
            </a:r>
            <a:r>
              <a:rPr b="0" sz="1300">
                <a:solidFill>
                  <a:srgbClr val="F2F2F2"/>
                </a:solidFill>
                <a:latin typeface="Arial"/>
              </a:rPr>
              <a:t>: nu cere index de coloană (nu-l greșești ca Ioana), nu cere cheia prima, nu se strică dacă inserezi o coloană.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L15 · Lookups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 lookup e o cheie urmată în alt tabel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033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Ai nevoie de…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În lookup e…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Exemplu (orașul)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Ce cauți (cheia ta)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primul argument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[@StoreID]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Unde cauți (cheia în sursă)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coloana-cheie din sursă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tblStores[StoreID]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Ce aduci (valoarea dorită)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coloana de rezultat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tblStores[City]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40156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VLOOKUP</a:t>
            </a:r>
            <a:r>
              <a:rPr b="0" sz="1300">
                <a:solidFill>
                  <a:srgbClr val="F2F2F2"/>
                </a:solidFill>
                <a:latin typeface="Arial"/>
              </a:rPr>
              <a:t> face la fel, dar „ce aduci” e un </a:t>
            </a:r>
            <a:r>
              <a:rPr b="1" sz="1300">
                <a:solidFill>
                  <a:srgbClr val="F2F2F2"/>
                </a:solidFill>
                <a:latin typeface="Arial"/>
              </a:rPr>
              <a:t>număr de coloană</a:t>
            </a:r>
            <a:r>
              <a:rPr b="0" sz="1300">
                <a:solidFill>
                  <a:srgbClr val="F2F2F2"/>
                </a:solidFill>
                <a:latin typeface="Arial"/>
              </a:rPr>
              <a:t> (fragil), iar cheia trebuie să fie </a:t>
            </a:r>
            <a:r>
              <a:rPr b="1" sz="1300">
                <a:solidFill>
                  <a:srgbClr val="F2F2F2"/>
                </a:solidFill>
                <a:latin typeface="Arial"/>
              </a:rPr>
              <a:t>prima</a:t>
            </a:r>
            <a:r>
              <a:rPr b="0" sz="1300">
                <a:solidFill>
                  <a:srgbClr val="F2F2F2"/>
                </a:solidFill>
                <a:latin typeface="Arial"/>
              </a:rPr>
              <a:t>. De-aia, când poți, </a:t>
            </a:r>
            <a:r>
              <a:rPr sz="1300">
                <a:solidFill>
                  <a:srgbClr val="FFA24E"/>
                </a:solidFill>
                <a:latin typeface="Consolas"/>
              </a:rPr>
              <a:t>XLOOKUP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L15 · Lookups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XLOOKUP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Adu orașul în </a:t>
            </a:r>
            <a:r>
              <a:rPr sz="3000">
                <a:solidFill>
                  <a:srgbClr val="FFA24E"/>
                </a:solidFill>
                <a:latin typeface="Consolas"/>
              </a:rPr>
              <a:t>orders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48920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J2:  =XLOOKUP([@StoreID]; tblStores[StoreID]; tblStores[City])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0944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🖥️ Fiecare comandă are acum orașul. Filtrezi </a:t>
            </a:r>
            <a:r>
              <a:rPr sz="1400">
                <a:solidFill>
                  <a:srgbClr val="FFA24E"/>
                </a:solidFill>
                <a:latin typeface="Consolas"/>
              </a:rPr>
              <a:t>City</a:t>
            </a:r>
            <a:r>
              <a:rPr b="0" sz="1400">
                <a:solidFill>
                  <a:srgbClr val="F2F2F2"/>
                </a:solidFill>
                <a:latin typeface="Arial"/>
              </a:rPr>
              <a:t> = </a:t>
            </a:r>
            <a:r>
              <a:rPr b="1" sz="1400">
                <a:solidFill>
                  <a:srgbClr val="F2F2F2"/>
                </a:solidFill>
                <a:latin typeface="Arial"/>
              </a:rPr>
              <a:t>Cluj-Napoca</a:t>
            </a:r>
            <a:r>
              <a:rPr b="0" sz="1400">
                <a:solidFill>
                  <a:srgbClr val="F2F2F2"/>
                </a:solidFill>
                <a:latin typeface="Arial"/>
              </a:rPr>
              <a:t> → exact comenzile cu </a:t>
            </a:r>
            <a:r>
              <a:rPr sz="1400">
                <a:solidFill>
                  <a:srgbClr val="FFA24E"/>
                </a:solidFill>
                <a:latin typeface="Consolas"/>
              </a:rPr>
              <a:t>StoreID 2</a:t>
            </a:r>
            <a:r>
              <a:rPr b="0" sz="1400">
                <a:solidFill>
                  <a:srgbClr val="F2F2F2"/>
                </a:solidFill>
                <a:latin typeface="Arial"/>
              </a:rPr>
              <a:t>. Finding-ul e citibil: magazinul slab e </a:t>
            </a:r>
            <a:r>
              <a:rPr b="1" sz="1400">
                <a:solidFill>
                  <a:srgbClr val="F2F2F2"/>
                </a:solidFill>
                <a:latin typeface="Arial"/>
              </a:rPr>
              <a:t>Cluj-Napoca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L15 · Lookups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VLOOKUP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Același lucru cu </a:t>
            </a:r>
            <a:r>
              <a:rPr sz="3000">
                <a:solidFill>
                  <a:srgbClr val="FFA24E"/>
                </a:solidFill>
                <a:latin typeface="Consolas"/>
              </a:rPr>
              <a:t>VLOOKUP</a:t>
            </a:r>
            <a:r>
              <a:rPr b="1" sz="3000">
                <a:solidFill>
                  <a:srgbClr val="F2F2F2"/>
                </a:solidFill>
                <a:latin typeface="Arial"/>
              </a:rPr>
              <a:t> — și capcana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=VLOOKUP([@StoreID]; tblStores; 3; FALSE)     → orașul (City e a 3-a coloană)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=VLOOKUP([@StoreID]; tblStores; 2; FALSE)     → StoreName  (capcana Ioanei!)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42616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⚠️ Cu </a:t>
            </a:r>
            <a:r>
              <a:rPr sz="1400">
                <a:solidFill>
                  <a:srgbClr val="FFA24E"/>
                </a:solidFill>
                <a:latin typeface="Consolas"/>
              </a:rPr>
              <a:t>2</a:t>
            </a:r>
            <a:r>
              <a:rPr b="0" sz="1400">
                <a:solidFill>
                  <a:srgbClr val="F2F2F2"/>
                </a:solidFill>
                <a:latin typeface="Arial"/>
              </a:rPr>
              <a:t> în loc de </a:t>
            </a:r>
            <a:r>
              <a:rPr sz="1400">
                <a:solidFill>
                  <a:srgbClr val="FFA24E"/>
                </a:solidFill>
                <a:latin typeface="Consolas"/>
              </a:rPr>
              <a:t>3</a:t>
            </a:r>
            <a:r>
              <a:rPr b="0" sz="1400">
                <a:solidFill>
                  <a:srgbClr val="F2F2F2"/>
                </a:solidFill>
                <a:latin typeface="Arial"/>
              </a:rPr>
              <a:t> primești </a:t>
            </a:r>
            <a:r>
              <a:rPr sz="1400">
                <a:solidFill>
                  <a:srgbClr val="FFA24E"/>
                </a:solidFill>
                <a:latin typeface="Consolas"/>
              </a:rPr>
              <a:t>StoreName</a:t>
            </a:r>
            <a:r>
              <a:rPr b="0" sz="1400">
                <a:solidFill>
                  <a:srgbClr val="F2F2F2"/>
                </a:solidFill>
                <a:latin typeface="Arial"/>
              </a:rPr>
              <a:t> — greșit, dar „plauzibil”. Dacă cineva inserează o coloană, </a:t>
            </a:r>
            <a:r>
              <a:rPr sz="1400">
                <a:solidFill>
                  <a:srgbClr val="FFA24E"/>
                </a:solidFill>
                <a:latin typeface="Consolas"/>
              </a:rPr>
              <a:t>3</a:t>
            </a:r>
            <a:r>
              <a:rPr b="0" sz="1400">
                <a:solidFill>
                  <a:srgbClr val="F2F2F2"/>
                </a:solidFill>
                <a:latin typeface="Arial"/>
              </a:rPr>
              <a:t> se strică peste noapte. </a:t>
            </a:r>
            <a:r>
              <a:rPr sz="1400">
                <a:solidFill>
                  <a:srgbClr val="FFA24E"/>
                </a:solidFill>
                <a:latin typeface="Consolas"/>
              </a:rPr>
              <a:t>XLOOKUP</a:t>
            </a:r>
            <a:r>
              <a:rPr b="0" sz="1400">
                <a:solidFill>
                  <a:srgbClr val="F2F2F2"/>
                </a:solidFill>
                <a:latin typeface="Arial"/>
              </a:rPr>
              <a:t> ceri </a:t>
            </a:r>
            <a:r>
              <a:rPr sz="1400">
                <a:solidFill>
                  <a:srgbClr val="FFA24E"/>
                </a:solidFill>
                <a:latin typeface="Consolas"/>
              </a:rPr>
              <a:t>City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b="1" sz="1400">
                <a:solidFill>
                  <a:srgbClr val="F2F2F2"/>
                </a:solidFill>
                <a:latin typeface="Arial"/>
              </a:rPr>
              <a:t>pe nume</a:t>
            </a:r>
            <a:r>
              <a:rPr b="0" sz="1400">
                <a:solidFill>
                  <a:srgbClr val="F2F2F2"/>
                </a:solidFill>
                <a:latin typeface="Arial"/>
              </a:rPr>
              <a:t> — fără capcană.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L15 · Lookups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CATEGORIA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Adu categoria în </a:t>
            </a:r>
            <a:r>
              <a:rPr sz="3000">
                <a:solidFill>
                  <a:srgbClr val="FFA24E"/>
                </a:solidFill>
                <a:latin typeface="Consolas"/>
              </a:rPr>
              <a:t>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48920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H2:  =XLOOKUP([@CategoryID]; tblCategories[CategoryID]; tblCategories[CategoryName])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0944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🖥️ Fiecare produs are acum categoria </a:t>
            </a:r>
            <a:r>
              <a:rPr b="1" sz="1400">
                <a:solidFill>
                  <a:srgbClr val="F2F2F2"/>
                </a:solidFill>
                <a:latin typeface="Arial"/>
              </a:rPr>
              <a:t>cu nume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School Supplies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Audio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Toys</a:t>
            </a:r>
            <a:r>
              <a:rPr b="0" sz="1400">
                <a:solidFill>
                  <a:srgbClr val="F2F2F2"/>
                </a:solidFill>
                <a:latin typeface="Arial"/>
              </a:rPr>
              <a:t>), nu doar </a:t>
            </a:r>
            <a:r>
              <a:rPr sz="1400">
                <a:solidFill>
                  <a:srgbClr val="FFA24E"/>
                </a:solidFill>
                <a:latin typeface="Consolas"/>
              </a:rPr>
              <a:t>CategoryID</a:t>
            </a:r>
            <a:r>
              <a:rPr b="0" sz="1400">
                <a:solidFill>
                  <a:srgbClr val="F2F2F2"/>
                </a:solidFill>
                <a:latin typeface="Arial"/>
              </a:rPr>
              <a:t>. Produsele-s gata de grupat pe categorie (pivot, L16).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L15 · Lookups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4 · `#N/A`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Când o cheie nu se găsește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48920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=XLOOKUP([@StoreID]; tblStores[StoreID]; tblStores[City]; "magazin necunoscut")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0944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🖥️ </a:t>
            </a:r>
            <a:r>
              <a:rPr sz="1400">
                <a:solidFill>
                  <a:srgbClr val="FFA24E"/>
                </a:solidFill>
                <a:latin typeface="Consolas"/>
              </a:rPr>
              <a:t>#N/A</a:t>
            </a:r>
            <a:r>
              <a:rPr b="0" sz="1400">
                <a:solidFill>
                  <a:srgbClr val="F2F2F2"/>
                </a:solidFill>
                <a:latin typeface="Arial"/>
              </a:rPr>
              <a:t> = „cheia asta nu există în sursă” — un </a:t>
            </a:r>
            <a:r>
              <a:rPr b="1" sz="1400">
                <a:solidFill>
                  <a:srgbClr val="F2F2F2"/>
                </a:solidFill>
                <a:latin typeface="Arial"/>
              </a:rPr>
              <a:t>semnal</a:t>
            </a:r>
            <a:r>
              <a:rPr b="0" sz="1400">
                <a:solidFill>
                  <a:srgbClr val="F2F2F2"/>
                </a:solidFill>
                <a:latin typeface="Arial"/>
              </a:rPr>
              <a:t> (cod greșit, magazin neadăugat). Îl </a:t>
            </a:r>
            <a:r>
              <a:rPr b="1" sz="1400">
                <a:solidFill>
                  <a:srgbClr val="F2F2F2"/>
                </a:solidFill>
                <a:latin typeface="Arial"/>
              </a:rPr>
              <a:t>investighezi</a:t>
            </a:r>
            <a:r>
              <a:rPr b="0" sz="1400">
                <a:solidFill>
                  <a:srgbClr val="F2F2F2"/>
                </a:solidFill>
                <a:latin typeface="Arial"/>
              </a:rPr>
              <a:t>, nu-l ascunzi. Al 4-lea argument dă un mesaj clar.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L15 · Lookups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Index de coloană greșit</a:t>
            </a:r>
            <a:r>
              <a:rPr b="0" sz="1400">
                <a:solidFill>
                  <a:srgbClr val="F2F2F2"/>
                </a:solidFill>
                <a:latin typeface="Arial"/>
              </a:rPr>
              <a:t> la </a:t>
            </a:r>
            <a:r>
              <a:rPr sz="1400">
                <a:solidFill>
                  <a:srgbClr val="FFA24E"/>
                </a:solidFill>
                <a:latin typeface="Consolas"/>
              </a:rPr>
              <a:t>VLOOKUP</a:t>
            </a:r>
            <a:r>
              <a:rPr b="0" sz="1400">
                <a:solidFill>
                  <a:srgbClr val="F2F2F2"/>
                </a:solidFill>
                <a:latin typeface="Arial"/>
              </a:rPr>
              <a:t> → aduci tăcut altă valoare; folosește </a:t>
            </a:r>
            <a:r>
              <a:rPr sz="1400">
                <a:solidFill>
                  <a:srgbClr val="FFA24E"/>
                </a:solidFill>
                <a:latin typeface="Consolas"/>
              </a:rPr>
              <a:t>XLOOKUP</a:t>
            </a:r>
            <a:r>
              <a:rPr b="0" sz="1400">
                <a:solidFill>
                  <a:srgbClr val="F2F2F2"/>
                </a:solidFill>
                <a:latin typeface="Arial"/>
              </a:rPr>
              <a:t> (pe nume)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Potrivire aproximativă pe coduri</a:t>
            </a:r>
            <a:r>
              <a:rPr b="0" sz="1400">
                <a:solidFill>
                  <a:srgbClr val="F2F2F2"/>
                </a:solidFill>
                <a:latin typeface="Arial"/>
              </a:rPr>
              <a:t> → pe coduri, mereu </a:t>
            </a:r>
            <a:r>
              <a:rPr b="1" sz="1400">
                <a:solidFill>
                  <a:srgbClr val="F2F2F2"/>
                </a:solidFill>
                <a:latin typeface="Arial"/>
              </a:rPr>
              <a:t>exactă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FALSE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Ascunzi `#N/A`</a:t>
            </a:r>
            <a:r>
              <a:rPr b="0" sz="1400">
                <a:solidFill>
                  <a:srgbClr val="F2F2F2"/>
                </a:solidFill>
                <a:latin typeface="Arial"/>
              </a:rPr>
              <a:t> → e un </a:t>
            </a:r>
            <a:r>
              <a:rPr b="1" sz="1400">
                <a:solidFill>
                  <a:srgbClr val="F2F2F2"/>
                </a:solidFill>
                <a:latin typeface="Arial"/>
              </a:rPr>
              <a:t>semnal</a:t>
            </a:r>
            <a:r>
              <a:rPr b="0" sz="1400">
                <a:solidFill>
                  <a:srgbClr val="F2F2F2"/>
                </a:solidFill>
                <a:latin typeface="Arial"/>
              </a:rPr>
              <a:t> (cheie lipsă), îl investighezi, nu-l maschezi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Atașezi nume de mână</a:t>
            </a:r>
            <a:r>
              <a:rPr b="0" sz="1400">
                <a:solidFill>
                  <a:srgbClr val="F2F2F2"/>
                </a:solidFill>
                <a:latin typeface="Arial"/>
              </a:rPr>
              <a:t> → pe mii de rânduri e imposibil; un lookup o face </a:t>
            </a:r>
            <a:r>
              <a:rPr b="1" sz="1400">
                <a:solidFill>
                  <a:srgbClr val="F2F2F2"/>
                </a:solidFill>
                <a:latin typeface="Arial"/>
              </a:rPr>
              <a:t>o dată</a:t>
            </a:r>
            <a:r>
              <a:rPr b="0" sz="1400">
                <a:solidFill>
                  <a:srgbClr val="F2F2F2"/>
                </a:solidFill>
                <a:latin typeface="Arial"/>
              </a:rPr>
              <a:t>, corect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L15 · Lookups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codurile au devenit nume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</a:t>
            </a:r>
            <a:r>
              <a:rPr b="1" sz="1400">
                <a:solidFill>
                  <a:srgbClr val="F2F2F2"/>
                </a:solidFill>
                <a:latin typeface="Arial"/>
              </a:rPr>
              <a:t>lookup</a:t>
            </a:r>
            <a:r>
              <a:rPr b="0" sz="1400">
                <a:solidFill>
                  <a:srgbClr val="F2F2F2"/>
                </a:solidFill>
                <a:latin typeface="Arial"/>
              </a:rPr>
              <a:t> urmează o cheie în alt tabel și aduce valoarea — codul devine </a:t>
            </a:r>
            <a:r>
              <a:rPr b="1" sz="1400">
                <a:solidFill>
                  <a:srgbClr val="F2F2F2"/>
                </a:solidFill>
                <a:latin typeface="Arial"/>
              </a:rPr>
              <a:t>nume</a:t>
            </a:r>
            <a:r>
              <a:rPr b="0" sz="1400">
                <a:solidFill>
                  <a:srgbClr val="F2F2F2"/>
                </a:solidFill>
                <a:latin typeface="Arial"/>
              </a:rPr>
              <a:t> (L8, în Excel)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`XLOOKUP`</a:t>
            </a:r>
            <a:r>
              <a:rPr b="0" sz="1400">
                <a:solidFill>
                  <a:srgbClr val="F2F2F2"/>
                </a:solidFill>
                <a:latin typeface="Arial"/>
              </a:rPr>
              <a:t> (pe nume de coloană) e mai sigur decât </a:t>
            </a:r>
            <a:r>
              <a:rPr b="1" sz="1400">
                <a:solidFill>
                  <a:srgbClr val="F2F2F2"/>
                </a:solidFill>
                <a:latin typeface="Arial"/>
              </a:rPr>
              <a:t>`VLOOKUP`</a:t>
            </a:r>
            <a:r>
              <a:rPr b="0" sz="1400">
                <a:solidFill>
                  <a:srgbClr val="F2F2F2"/>
                </a:solidFill>
                <a:latin typeface="Arial"/>
              </a:rPr>
              <a:t> (index fragil); pe coduri, exact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`#N/A`</a:t>
            </a:r>
            <a:r>
              <a:rPr b="0" sz="1400">
                <a:solidFill>
                  <a:srgbClr val="F2F2F2"/>
                </a:solidFill>
                <a:latin typeface="Arial"/>
              </a:rPr>
              <a:t> = cheie negăsită — un </a:t>
            </a:r>
            <a:r>
              <a:rPr b="1" sz="1400">
                <a:solidFill>
                  <a:srgbClr val="F2F2F2"/>
                </a:solidFill>
                <a:latin typeface="Arial"/>
              </a:rPr>
              <a:t>semnal</a:t>
            </a:r>
            <a:r>
              <a:rPr b="0" sz="1400">
                <a:solidFill>
                  <a:srgbClr val="F2F2F2"/>
                </a:solidFill>
                <a:latin typeface="Arial"/>
              </a:rPr>
              <a:t> de investigat, nu de ascuns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Finding-ul e citibil: </a:t>
            </a:r>
            <a:r>
              <a:rPr sz="1400">
                <a:solidFill>
                  <a:srgbClr val="FFA24E"/>
                </a:solidFill>
                <a:latin typeface="Consolas"/>
              </a:rPr>
              <a:t>StoreID 2</a:t>
            </a:r>
            <a:r>
              <a:rPr b="0" sz="1400">
                <a:solidFill>
                  <a:srgbClr val="F2F2F2"/>
                </a:solidFill>
                <a:latin typeface="Arial"/>
              </a:rPr>
              <a:t> = </a:t>
            </a:r>
            <a:r>
              <a:rPr b="1" sz="1400">
                <a:solidFill>
                  <a:srgbClr val="F2F2F2"/>
                </a:solidFill>
                <a:latin typeface="Arial"/>
              </a:rPr>
              <a:t>Cluj-Napoca</a:t>
            </a:r>
            <a:r>
              <a:rPr b="0" sz="1400">
                <a:solidFill>
                  <a:srgbClr val="F2F2F2"/>
                </a:solidFill>
                <a:latin typeface="Arial"/>
              </a:rPr>
              <a:t>; </a:t>
            </a:r>
            <a:r>
              <a:rPr sz="1400">
                <a:solidFill>
                  <a:srgbClr val="FFA24E"/>
                </a:solidFill>
                <a:latin typeface="Consolas"/>
              </a:rPr>
              <a:t>products</a:t>
            </a:r>
            <a:r>
              <a:rPr b="0" sz="1400">
                <a:solidFill>
                  <a:srgbClr val="F2F2F2"/>
                </a:solidFill>
                <a:latin typeface="Arial"/>
              </a:rPr>
              <a:t> are acum </a:t>
            </a:r>
            <a:r>
              <a:rPr b="1" sz="1400">
                <a:solidFill>
                  <a:srgbClr val="F2F2F2"/>
                </a:solidFill>
                <a:latin typeface="Arial"/>
              </a:rPr>
              <a:t>Categorie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MILESTONE de proiect: </a:t>
            </a:r>
            <a:r>
              <a:rPr b="1" sz="1400">
                <a:solidFill>
                  <a:srgbClr val="F2F2F2"/>
                </a:solidFill>
                <a:latin typeface="Arial"/>
              </a:rPr>
              <a:t>codurile au devenit nume.</a:t>
            </a:r>
            <a:r>
              <a:rPr b="0" sz="1400">
                <a:solidFill>
                  <a:srgbClr val="F2F2F2"/>
                </a:solidFill>
                <a:latin typeface="Arial"/>
              </a:rPr>
              <a:t> Punte → </a:t>
            </a:r>
            <a:r>
              <a:rPr b="1" sz="1400">
                <a:solidFill>
                  <a:srgbClr val="F2F2F2"/>
                </a:solidFill>
                <a:latin typeface="Arial"/>
              </a:rPr>
              <a:t>L16: Pivot Tables</a:t>
            </a:r>
            <a:r>
              <a:rPr b="0" sz="1400">
                <a:solidFill>
                  <a:srgbClr val="F2F2F2"/>
                </a:solidFill>
                <a:latin typeface="Arial"/>
              </a:rPr>
              <a:t> — sumarizezi mii de rânduri pe dimensiuni cu nume, dintr-o mișcare.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L15 · Lookups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L15 · Lookups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