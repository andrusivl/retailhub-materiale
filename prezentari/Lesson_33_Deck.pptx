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lecție a Modulului 6 — lucrezi singur. Ideea unică: constatarea nu e recomandarea; o decizie ancorată, cu impact și compromis onest. Capcana de evitat: «taie marja mică». Ținta: la final, studentul închide cazul de profit cu o recomandare și asamblează analiza completă (gata de capstone).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scurt L32: ai executat și reconciliat; reveal-ul revenue ≠ profit. Azi faci ultimul pas — decizia.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Azi nu mai calculezi — decizi. Închizi Modulul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validează reveal-ul, apoi cere decizia — și avertizează să nu supra-reacționezi. Ultimul pas nu e o cifră, e o decizie.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Recomandarea naivă a Ioanei. Greșeala: supra-reacție la o singură metrică (marja %). Curiozitatea de azi: cum transformi «revenue ≠ profit» într-o decizie care chiar îmbunătățește.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(Andrei) vs pentru recomandare (azi). Răspunsul nu e «taie marja mică», ci rebalansezi în trei mișcări.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de orientare din §5: ce vrei → ce faci. O recomandare = constatare → decizie → impact → compromis 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două noțiuni-cheie: rebalansezi (profit = marjă × volum) și traffic driver. O categorie o judeci în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Analogia doctorului: constatare → ce schimbi → ce rezultat → compromis. Doctorul prost «scoate inima» (Ioana taie Accessories).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 — structura din §6. Fiecare mișcare legată de o cifră verificată. Asta e o recomandare, nu o observație.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§7, mișcările 1-2. M1: raportează profit+marjă lângă revenue. M2: crește câștigătorii cu marjă mare unde e 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§7, mișcările 3-4. M3: ține volumul, crește-i marja (cost/preț/add-on-uri). M4: onestitatea — ce NU faci și de 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greșeli din §11. Antidotul: mai fă un pas, ancorează, spune ce NU faci.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idei din §12/§14 + puntea spre capstone. Închide Modulul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6 · LECȚIA 33 · ÎNCHIDE MODULUL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Recommendation: din reveal, o decizie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O constatare nu schimbă nimic; o decizie da — rebalansezi, nu amputezi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18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reveal-ul din cazul de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În L32 ai executat cazul de profit și l-ai </a:t>
            </a:r>
            <a:r>
              <a:rPr b="1" sz="1500">
                <a:solidFill>
                  <a:srgbClr val="F2F2F2"/>
                </a:solidFill>
                <a:latin typeface="Arial"/>
              </a:rPr>
              <a:t>reconciliat</a:t>
            </a:r>
            <a:r>
              <a:rPr b="0" sz="1500">
                <a:solidFill>
                  <a:srgbClr val="F2F2F2"/>
                </a:solidFill>
                <a:latin typeface="Arial"/>
              </a:rPr>
              <a:t> — cifrele verificate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Reveal-ul: </a:t>
            </a:r>
            <a:r>
              <a:rPr b="1" sz="1500">
                <a:solidFill>
                  <a:srgbClr val="F2F2F2"/>
                </a:solidFill>
                <a:latin typeface="Arial"/>
              </a:rPr>
              <a:t>vindem cel mai mult unde câștigăm cel mai puțin</a:t>
            </a:r>
            <a:r>
              <a:rPr b="0" sz="1500">
                <a:solidFill>
                  <a:srgbClr val="F2F2F2"/>
                </a:solidFill>
                <a:latin typeface="Arial"/>
              </a:rPr>
              <a:t> (Laptops @ 10% marjă)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Profitul real e altundeva: </a:t>
            </a:r>
            <a:r>
              <a:rPr b="1" sz="1500">
                <a:solidFill>
                  <a:srgbClr val="F2F2F2"/>
                </a:solidFill>
                <a:latin typeface="Arial"/>
              </a:rPr>
              <a:t>Fitness Equipment @ 41,9%</a:t>
            </a:r>
            <a:r>
              <a:rPr b="0" sz="1500">
                <a:solidFill>
                  <a:srgbClr val="F2F2F2"/>
                </a:solidFill>
                <a:latin typeface="Arial"/>
              </a:rPr>
              <a:t> marjă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Profit absolut = marjă × volum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marja singură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L32 ai aflat </a:t>
            </a:r>
            <a:r>
              <a:rPr i="1" sz="1400">
                <a:solidFill>
                  <a:srgbClr val="F2F2F2"/>
                </a:solidFill>
                <a:latin typeface="Arial"/>
              </a:rPr>
              <a:t>ce e adevărat</a:t>
            </a:r>
            <a:r>
              <a:rPr b="0" sz="1400">
                <a:solidFill>
                  <a:srgbClr val="F2F2F2"/>
                </a:solidFill>
                <a:latin typeface="Arial"/>
              </a:rPr>
              <a:t>. Azi faci ultimul pas: din constatare, o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ce FACEM cu asta.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transformi o </a:t>
            </a:r>
            <a:r>
              <a:rPr b="1" sz="1400">
                <a:solidFill>
                  <a:srgbClr val="F2F2F2"/>
                </a:solidFill>
                <a:latin typeface="Arial"/>
              </a:rPr>
              <a:t>constatare</a:t>
            </a:r>
            <a:r>
              <a:rPr b="0" sz="1400">
                <a:solidFill>
                  <a:srgbClr val="F2F2F2"/>
                </a:solidFill>
                <a:latin typeface="Arial"/>
              </a:rPr>
              <a:t> (revenue ≠ profit) într-o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ancorată în date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adaugi un </a:t>
            </a:r>
            <a:r>
              <a:rPr b="1" sz="1400">
                <a:solidFill>
                  <a:srgbClr val="F2F2F2"/>
                </a:solidFill>
                <a:latin typeface="Arial"/>
              </a:rPr>
              <a:t>impact așteptat</a:t>
            </a:r>
            <a:r>
              <a:rPr b="0" sz="1400">
                <a:solidFill>
                  <a:srgbClr val="F2F2F2"/>
                </a:solidFill>
                <a:latin typeface="Arial"/>
              </a:rPr>
              <a:t> și să fii </a:t>
            </a:r>
            <a:r>
              <a:rPr b="1" sz="1400">
                <a:solidFill>
                  <a:srgbClr val="F2F2F2"/>
                </a:solidFill>
                <a:latin typeface="Arial"/>
              </a:rPr>
              <a:t>onest</a:t>
            </a:r>
            <a:r>
              <a:rPr b="0" sz="1400">
                <a:solidFill>
                  <a:srgbClr val="F2F2F2"/>
                </a:solidFill>
                <a:latin typeface="Arial"/>
              </a:rPr>
              <a:t> cu compromisurile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eviți capcana „</a:t>
            </a:r>
            <a:r>
              <a:rPr b="1" sz="1400">
                <a:solidFill>
                  <a:srgbClr val="F2F2F2"/>
                </a:solidFill>
                <a:latin typeface="Arial"/>
              </a:rPr>
              <a:t>taie categoriile cu marjă mică</a:t>
            </a:r>
            <a:r>
              <a:rPr b="0" sz="1400">
                <a:solidFill>
                  <a:srgbClr val="F2F2F2"/>
                </a:solidFill>
                <a:latin typeface="Arial"/>
              </a:rPr>
              <a:t>” (profit = marjă × volum)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asamblezi analiza completă</a:t>
            </a:r>
            <a:r>
              <a:rPr b="0" sz="1400">
                <a:solidFill>
                  <a:srgbClr val="F2F2F2"/>
                </a:solidFill>
                <a:latin typeface="Arial"/>
              </a:rPr>
              <a:t> (framing + execuție + recomandare) — gata de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nu mai calculezi —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</a:t>
            </a:r>
            <a:r>
              <a:rPr b="0" sz="1400">
                <a:solidFill>
                  <a:srgbClr val="F2F2F2"/>
                </a:solidFill>
                <a:latin typeface="Arial"/>
              </a:rPr>
              <a:t>. Închizi cazul de profit și, cu el,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6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„Frumos că ai aflat — dar ce FACEM?”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„Vindem cel mai mult unde câștigăm cel mai puțin — Laptops la 10% marjă. Frumos că ai aflat. </a:t>
            </a:r>
            <a:r>
              <a:rPr b="1" sz="1400">
                <a:solidFill>
                  <a:srgbClr val="F2F2F2"/>
                </a:solidFill>
                <a:latin typeface="Arial"/>
              </a:rPr>
              <a:t>Dar ce FACEM cu asta?</a:t>
            </a:r>
            <a:r>
              <a:rPr b="0" sz="1400">
                <a:solidFill>
                  <a:srgbClr val="F2F2F2"/>
                </a:solidFill>
                <a:latin typeface="Arial"/>
              </a:rPr>
              <a:t> O constatare nu schimbă nimic; o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da.”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Și te avertizează: „Nu-mi veni cu «taie Laptops, ține doar Cosmetics». O recomandare proastă face mai mult rău decât lipsa ei. Vreau decizia, impactul, și ce riscăm.” Deci ultimul pas nu e o cifră — e o </a:t>
            </a:r>
            <a:r>
              <a:rPr b="1" sz="1500">
                <a:solidFill>
                  <a:srgbClr val="F2F2F2"/>
                </a:solidFill>
                <a:latin typeface="Arial"/>
              </a:rPr>
              <a:t>decizie</a:t>
            </a:r>
            <a:r>
              <a:rPr b="0" sz="1500">
                <a:solidFill>
                  <a:srgbClr val="F2F2F2"/>
                </a:solidFill>
                <a:latin typeface="Arial"/>
              </a:rPr>
              <a:t> ancorată, cu compromisurile pe față.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CAUTIONARY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 — „taie ce are marjă mică”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sărit prima cu o recomandare: „Laptops și Accessories au marjă mică (10–14%) — le </a:t>
            </a:r>
            <a:r>
              <a:rPr b="1" sz="1500">
                <a:solidFill>
                  <a:srgbClr val="F2F2F2"/>
                </a:solidFill>
                <a:latin typeface="Arial"/>
              </a:rPr>
              <a:t>tăiem</a:t>
            </a:r>
            <a:r>
              <a:rPr b="0" sz="1500">
                <a:solidFill>
                  <a:srgbClr val="F2F2F2"/>
                </a:solidFill>
                <a:latin typeface="Arial"/>
              </a:rPr>
              <a:t> și ne concentrăm pe </a:t>
            </a:r>
            <a:r>
              <a:rPr b="1" sz="1500">
                <a:solidFill>
                  <a:srgbClr val="F2F2F2"/>
                </a:solidFill>
                <a:latin typeface="Arial"/>
              </a:rPr>
              <a:t>Cosmetics</a:t>
            </a:r>
            <a:r>
              <a:rPr b="0" sz="1500">
                <a:solidFill>
                  <a:srgbClr val="F2F2F2"/>
                </a:solidFill>
                <a:latin typeface="Arial"/>
              </a:rPr>
              <a:t>, 60% marjă. Maximizăm marja.”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„Accessories aduce </a:t>
            </a:r>
            <a:r>
              <a:rPr sz="1400">
                <a:solidFill>
                  <a:srgbClr val="FFA24E"/>
                </a:solidFill>
                <a:latin typeface="Consolas"/>
              </a:rPr>
              <a:t>766.246,65</a:t>
            </a:r>
            <a:r>
              <a:rPr b="0" sz="1400">
                <a:solidFill>
                  <a:srgbClr val="F2F2F2"/>
                </a:solidFill>
                <a:latin typeface="Arial"/>
              </a:rPr>
              <a:t> profit — </a:t>
            </a:r>
            <a:r>
              <a:rPr b="1" sz="1400">
                <a:solidFill>
                  <a:srgbClr val="F2F2F2"/>
                </a:solidFill>
                <a:latin typeface="Arial"/>
              </a:rPr>
              <a:t>al treilea cel mai mare din firmă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plus al doilea flux de clienți. Dacă-l tai, pierzi bani reali și trafic. Cosmetics (</a:t>
            </a:r>
            <a:r>
              <a:rPr sz="1400">
                <a:solidFill>
                  <a:srgbClr val="FFA24E"/>
                </a:solidFill>
                <a:latin typeface="Consolas"/>
              </a:rPr>
              <a:t>1,07M</a:t>
            </a:r>
            <a:r>
              <a:rPr b="0" sz="1400">
                <a:solidFill>
                  <a:srgbClr val="F2F2F2"/>
                </a:solidFill>
                <a:latin typeface="Arial"/>
              </a:rPr>
              <a:t>) nu-l poate înlocui.”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5217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 singură greșeală, dezastruoasă: a </a:t>
            </a:r>
            <a:r>
              <a:rPr b="1" sz="1500">
                <a:solidFill>
                  <a:srgbClr val="F2F2F2"/>
                </a:solidFill>
                <a:latin typeface="Arial"/>
              </a:rPr>
              <a:t>supra-reacționat la o singură metrică</a:t>
            </a:r>
            <a:r>
              <a:rPr b="0" sz="1500">
                <a:solidFill>
                  <a:srgbClr val="F2F2F2"/>
                </a:solidFill>
                <a:latin typeface="Arial"/>
              </a:rPr>
              <a:t> (marja %), uitând că </a:t>
            </a:r>
            <a:r>
              <a:rPr b="1" sz="1500">
                <a:solidFill>
                  <a:srgbClr val="F2F2F2"/>
                </a:solidFill>
                <a:latin typeface="Arial"/>
              </a:rPr>
              <a:t>profit absolut = marjă × volum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 · ÎNTREBAREA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Din constatare → recomandarea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Business (Andrei): „Ce facem cu descoperirea că vindem cel mai mult unde câștigăm cel mai puțin?”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Răspuns: nu „taie marja mică”, ci </a:t>
            </a:r>
            <a:r>
              <a:rPr b="1" sz="1500">
                <a:solidFill>
                  <a:srgbClr val="F2F2F2"/>
                </a:solidFill>
                <a:latin typeface="Arial"/>
              </a:rPr>
              <a:t>rebalansezi</a:t>
            </a:r>
            <a:r>
              <a:rPr b="0" sz="1500">
                <a:solidFill>
                  <a:srgbClr val="F2F2F2"/>
                </a:solidFill>
                <a:latin typeface="Arial"/>
              </a:rPr>
              <a:t> — (1) schimbi ce </a:t>
            </a:r>
            <a:r>
              <a:rPr b="1" sz="1500">
                <a:solidFill>
                  <a:srgbClr val="F2F2F2"/>
                </a:solidFill>
                <a:latin typeface="Arial"/>
              </a:rPr>
              <a:t>măsori</a:t>
            </a:r>
            <a:r>
              <a:rPr b="0" sz="1500">
                <a:solidFill>
                  <a:srgbClr val="F2F2F2"/>
                </a:solidFill>
                <a:latin typeface="Arial"/>
              </a:rPr>
              <a:t> (profit + marjă, nu doar revenue); (2) </a:t>
            </a:r>
            <a:r>
              <a:rPr b="1" sz="1500">
                <a:solidFill>
                  <a:srgbClr val="F2F2F2"/>
                </a:solidFill>
                <a:latin typeface="Arial"/>
              </a:rPr>
              <a:t>crești</a:t>
            </a:r>
            <a:r>
              <a:rPr b="0" sz="1500">
                <a:solidFill>
                  <a:srgbClr val="F2F2F2"/>
                </a:solidFill>
                <a:latin typeface="Arial"/>
              </a:rPr>
              <a:t> câștigătorii cu marjă mare unde e loc; (3) </a:t>
            </a:r>
            <a:r>
              <a:rPr b="1" sz="1500">
                <a:solidFill>
                  <a:srgbClr val="F2F2F2"/>
                </a:solidFill>
                <a:latin typeface="Arial"/>
              </a:rPr>
              <a:t>îmbunătățești marja</a:t>
            </a:r>
            <a:r>
              <a:rPr b="0" sz="1500">
                <a:solidFill>
                  <a:srgbClr val="F2F2F2"/>
                </a:solidFill>
                <a:latin typeface="Arial"/>
              </a:rPr>
              <a:t> categoriilor de volum, </a:t>
            </a:r>
            <a:r>
              <a:rPr b="1" sz="1500">
                <a:solidFill>
                  <a:srgbClr val="F2F2F2"/>
                </a:solidFill>
                <a:latin typeface="Arial"/>
              </a:rPr>
              <a:t>ținându-le</a:t>
            </a:r>
            <a:r>
              <a:rPr b="0" sz="1500">
                <a:solidFill>
                  <a:srgbClr val="F2F2F2"/>
                </a:solidFill>
                <a:latin typeface="Arial"/>
              </a:rPr>
              <a:t> pentru volum și profit absolut.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patru mișcări ale unei recomandări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Faci...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decizie, nu o observație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Constatare → decizie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o acțiune concretă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convingă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Ancorezi în date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fiecare acțiune, o cifră verificată (L32)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merite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Impact așteptat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ce se schimbă dacă acționăm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fie credibilă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Compromis onest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ce riscăm, ce NU facem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recomandare = constatare → decizie → impact → compromis onest. Fiecare pas, ancorat.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 · DOUĂ NOȚIUNI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Rebalansezi, nu amputezi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Rebalansezi, nu amputezi.</a:t>
            </a:r>
            <a:r>
              <a:rPr b="0" sz="1400">
                <a:solidFill>
                  <a:srgbClr val="F2F2F2"/>
                </a:solidFill>
                <a:latin typeface="Arial"/>
              </a:rPr>
              <a:t> Profit absolut = </a:t>
            </a:r>
            <a:r>
              <a:rPr b="1" sz="1400">
                <a:solidFill>
                  <a:srgbClr val="F2F2F2"/>
                </a:solidFill>
                <a:latin typeface="Arial"/>
              </a:rPr>
              <a:t>marjă × volum</a:t>
            </a:r>
            <a:r>
              <a:rPr b="0" sz="1400">
                <a:solidFill>
                  <a:srgbClr val="F2F2F2"/>
                </a:solidFill>
                <a:latin typeface="Arial"/>
              </a:rPr>
              <a:t>. Accessories (14%) aduce </a:t>
            </a:r>
            <a:r>
              <a:rPr sz="1400">
                <a:solidFill>
                  <a:srgbClr val="FFA24E"/>
                </a:solidFill>
                <a:latin typeface="Consolas"/>
              </a:rPr>
              <a:t>766.246,65</a:t>
            </a:r>
            <a:r>
              <a:rPr b="0" sz="1400">
                <a:solidFill>
                  <a:srgbClr val="F2F2F2"/>
                </a:solidFill>
                <a:latin typeface="Arial"/>
              </a:rPr>
              <a:t> profit (#3) + trafic — o tai, pierzi bani și clienți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Traffic driver.</a:t>
            </a:r>
            <a:r>
              <a:rPr b="0" sz="1400">
                <a:solidFill>
                  <a:srgbClr val="F2F2F2"/>
                </a:solidFill>
                <a:latin typeface="Arial"/>
              </a:rPr>
              <a:t> O categorie de volum cu marjă subțire (Laptops, Accessories) aduce </a:t>
            </a:r>
            <a:r>
              <a:rPr b="1" sz="1400">
                <a:solidFill>
                  <a:srgbClr val="F2F2F2"/>
                </a:solidFill>
                <a:latin typeface="Arial"/>
              </a:rPr>
              <a:t>clienți</a:t>
            </a:r>
            <a:r>
              <a:rPr b="0" sz="1400">
                <a:solidFill>
                  <a:srgbClr val="F2F2F2"/>
                </a:solidFill>
                <a:latin typeface="Arial"/>
              </a:rPr>
              <a:t> — cărora le vinzi apoi produse cu marjă mare (add-on-uri)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2173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recomandare bună </a:t>
            </a:r>
            <a:r>
              <a:rPr b="1" sz="1400">
                <a:solidFill>
                  <a:srgbClr val="F2F2F2"/>
                </a:solidFill>
                <a:latin typeface="Arial"/>
              </a:rPr>
              <a:t>mută greutatea</a:t>
            </a:r>
            <a:r>
              <a:rPr b="0" sz="1400">
                <a:solidFill>
                  <a:srgbClr val="F2F2F2"/>
                </a:solidFill>
                <a:latin typeface="Arial"/>
              </a:rPr>
              <a:t>, nu taie membre. Judeci o categorie în context, nu izolat pe marja 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constatare nu schimbă nimic; o decizie 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doctor bun nu-ți spune doar „ai colesterolul mare” (constatare) și te trimite acasă. Îți spune </a:t>
            </a:r>
            <a:r>
              <a:rPr b="1" sz="1500">
                <a:solidFill>
                  <a:srgbClr val="F2F2F2"/>
                </a:solidFill>
                <a:latin typeface="Arial"/>
              </a:rPr>
              <a:t>ce să schimbi</a:t>
            </a:r>
            <a:r>
              <a:rPr b="0" sz="1500">
                <a:solidFill>
                  <a:srgbClr val="F2F2F2"/>
                </a:solidFill>
                <a:latin typeface="Arial"/>
              </a:rPr>
              <a:t> (dietă, mișcare), </a:t>
            </a:r>
            <a:r>
              <a:rPr b="1" sz="1500">
                <a:solidFill>
                  <a:srgbClr val="F2F2F2"/>
                </a:solidFill>
                <a:latin typeface="Arial"/>
              </a:rPr>
              <a:t>ce rezultat</a:t>
            </a:r>
            <a:r>
              <a:rPr b="0" sz="1500">
                <a:solidFill>
                  <a:srgbClr val="F2F2F2"/>
                </a:solidFill>
                <a:latin typeface="Arial"/>
              </a:rPr>
              <a:t> să aștepți, și </a:t>
            </a:r>
            <a:r>
              <a:rPr b="1" sz="1500">
                <a:solidFill>
                  <a:srgbClr val="F2F2F2"/>
                </a:solidFill>
                <a:latin typeface="Arial"/>
              </a:rPr>
              <a:t>compromisul</a:t>
            </a:r>
            <a:r>
              <a:rPr b="0" sz="1500">
                <a:solidFill>
                  <a:srgbClr val="F2F2F2"/>
                </a:solidFill>
                <a:latin typeface="Arial"/>
              </a:rPr>
              <a:t> (renunți la ceva).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doctor prost zice „scoate-ți inima, ea pompează colesterolul” — o supra-reacție care te omoară. Exact asta a vrut Ioana: să „scoată inima” (taie Accessories).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46311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Recomandarea e la fel: </a:t>
            </a:r>
            <a:r>
              <a:rPr b="1" sz="1500">
                <a:solidFill>
                  <a:srgbClr val="F2F2F2"/>
                </a:solidFill>
                <a:latin typeface="Arial"/>
              </a:rPr>
              <a:t>constatare → decizie → impact → compromis onest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Recomandarea, pe cazul nostru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Mișcarea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La cazul nostru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Constatare → decizie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„raportează profit + marjă lângă revenue”; „crește Fitness Equipment”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Ancorezi în date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Fitness Equipment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1.498.020,95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(41,9%); Accessories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766.246,65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(#3 profit)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marjă combinată mai bună; profit protejat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Compromis onest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NU tăiem volumul (Accessories #3 profit + trafic); Cosmetics nu-l înlocuiește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Fiecare mișcare, legată de o cifră verificată. </a:t>
            </a:r>
            <a:r>
              <a:rPr b="1" sz="1400">
                <a:solidFill>
                  <a:srgbClr val="F2F2F2"/>
                </a:solidFill>
                <a:latin typeface="Arial"/>
              </a:rPr>
              <a:t>Asta</a:t>
            </a:r>
            <a:r>
              <a:rPr b="0" sz="1400">
                <a:solidFill>
                  <a:srgbClr val="F2F2F2"/>
                </a:solidFill>
                <a:latin typeface="Arial"/>
              </a:rPr>
              <a:t> e o recomandare, nu o observație.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MIȘCĂRILE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Schimbă ce măsori · Crește câștigătorii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M1 — schimbă ce măsori:</a:t>
            </a:r>
            <a:r>
              <a:rPr b="0" sz="1300">
                <a:solidFill>
                  <a:srgbClr val="F2F2F2"/>
                </a:solidFill>
                <a:latin typeface="Arial"/>
              </a:rPr>
              <a:t> „Raportăm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 + marjă lângă 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, per categorie. Clasamentul de revenue ne-a mințit.”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M2 — crește câștigătorii cu marjă mare:</a:t>
            </a:r>
            <a:r>
              <a:rPr b="0" sz="1300">
                <a:solidFill>
                  <a:srgbClr val="F2F2F2"/>
                </a:solidFill>
                <a:latin typeface="Arial"/>
              </a:rPr>
              <a:t> mai mult </a:t>
            </a:r>
            <a:r>
              <a:rPr b="1" sz="1300">
                <a:solidFill>
                  <a:srgbClr val="F2F2F2"/>
                </a:solidFill>
                <a:latin typeface="Arial"/>
              </a:rPr>
              <a:t>spațiu, stoc, campanie</a:t>
            </a:r>
            <a:r>
              <a:rPr b="0" sz="1300">
                <a:solidFill>
                  <a:srgbClr val="F2F2F2"/>
                </a:solidFill>
                <a:latin typeface="Arial"/>
              </a:rPr>
              <a:t> pentru Fitness Equipment (41,9%), Home Decor (</a:t>
            </a:r>
            <a:r>
              <a:rPr sz="1300">
                <a:solidFill>
                  <a:srgbClr val="FFA24E"/>
                </a:solidFill>
                <a:latin typeface="Consolas"/>
              </a:rPr>
              <a:t>882.868,00</a:t>
            </a:r>
            <a:r>
              <a:rPr b="0" sz="1300">
                <a:solidFill>
                  <a:srgbClr val="F2F2F2"/>
                </a:solidFill>
                <a:latin typeface="Arial"/>
              </a:rPr>
              <a:t>, 39,8%), Beauty (Cosmetics 60,3%)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6077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Impact M2: fiecare leu mutat spre ele aduce </a:t>
            </a:r>
            <a:r>
              <a:rPr b="1" sz="1400">
                <a:solidFill>
                  <a:srgbClr val="F2F2F2"/>
                </a:solidFill>
                <a:latin typeface="Arial"/>
              </a:rPr>
              <a:t>40–60 de bani</a:t>
            </a:r>
            <a:r>
              <a:rPr b="0" sz="1400">
                <a:solidFill>
                  <a:srgbClr val="F2F2F2"/>
                </a:solidFill>
                <a:latin typeface="Arial"/>
              </a:rPr>
              <a:t> profit, față de </a:t>
            </a:r>
            <a:r>
              <a:rPr b="1" sz="1400">
                <a:solidFill>
                  <a:srgbClr val="F2F2F2"/>
                </a:solidFill>
                <a:latin typeface="Arial"/>
              </a:rPr>
              <a:t>7–14</a:t>
            </a:r>
            <a:r>
              <a:rPr b="0" sz="1400">
                <a:solidFill>
                  <a:srgbClr val="F2F2F2"/>
                </a:solidFill>
                <a:latin typeface="Arial"/>
              </a:rPr>
              <a:t> la electronicele de volum.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MIȘCĂRILE 3–4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Îmbunătățește (nu tăia) · Compromisul 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M3 — îmbunătățește marja volumului:</a:t>
            </a:r>
            <a:r>
              <a:rPr b="0" sz="1300">
                <a:solidFill>
                  <a:srgbClr val="F2F2F2"/>
                </a:solidFill>
                <a:latin typeface="Arial"/>
              </a:rPr>
              <a:t> ține Laptops (10%), Accessories (14%), Gaming (7%), dar crește-le marja — renegociezi </a:t>
            </a:r>
            <a:r>
              <a:rPr sz="1300">
                <a:solidFill>
                  <a:srgbClr val="FFA24E"/>
                </a:solidFill>
                <a:latin typeface="Consolas"/>
              </a:rPr>
              <a:t>Cost</a:t>
            </a:r>
            <a:r>
              <a:rPr b="0" sz="1300">
                <a:solidFill>
                  <a:srgbClr val="F2F2F2"/>
                </a:solidFill>
                <a:latin typeface="Arial"/>
              </a:rPr>
              <a:t>-ul, revizuiești prețul, atașezi add-on-uri (</a:t>
            </a:r>
            <a:r>
              <a:rPr b="1" sz="1300">
                <a:solidFill>
                  <a:srgbClr val="F2F2F2"/>
                </a:solidFill>
                <a:latin typeface="Arial"/>
              </a:rPr>
              <a:t>traffic drivers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M4 — compromisul onest:</a:t>
            </a:r>
            <a:r>
              <a:rPr b="0" sz="1300">
                <a:solidFill>
                  <a:srgbClr val="F2F2F2"/>
                </a:solidFill>
                <a:latin typeface="Arial"/>
              </a:rPr>
              <a:t> </a:t>
            </a:r>
            <a:r>
              <a:rPr b="1" sz="1300">
                <a:solidFill>
                  <a:srgbClr val="F2F2F2"/>
                </a:solidFill>
                <a:latin typeface="Arial"/>
              </a:rPr>
              <a:t>NU</a:t>
            </a:r>
            <a:r>
              <a:rPr b="0" sz="1300">
                <a:solidFill>
                  <a:srgbClr val="F2F2F2"/>
                </a:solidFill>
                <a:latin typeface="Arial"/>
              </a:rPr>
              <a:t> tăiem volumul. Accessories = #3 la profit (</a:t>
            </a:r>
            <a:r>
              <a:rPr sz="1300">
                <a:solidFill>
                  <a:srgbClr val="FFA24E"/>
                </a:solidFill>
                <a:latin typeface="Consolas"/>
              </a:rPr>
              <a:t>766.246,65</a:t>
            </a:r>
            <a:r>
              <a:rPr b="0" sz="1300">
                <a:solidFill>
                  <a:srgbClr val="F2F2F2"/>
                </a:solidFill>
                <a:latin typeface="Arial"/>
              </a:rPr>
              <a:t>) + #2 la revenue. Cosmetics (</a:t>
            </a:r>
            <a:r>
              <a:rPr sz="1300">
                <a:solidFill>
                  <a:srgbClr val="FFA24E"/>
                </a:solidFill>
                <a:latin typeface="Consolas"/>
              </a:rPr>
              <a:t>1,07M</a:t>
            </a:r>
            <a:r>
              <a:rPr b="0" sz="1300">
                <a:solidFill>
                  <a:srgbClr val="F2F2F2"/>
                </a:solidFill>
                <a:latin typeface="Arial"/>
              </a:rPr>
              <a:t>) nu-l poate înlocui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6077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Riscul dacă supra-reacționăm: </a:t>
            </a:r>
            <a:r>
              <a:rPr b="1" sz="1400">
                <a:solidFill>
                  <a:srgbClr val="F2F2F2"/>
                </a:solidFill>
                <a:latin typeface="Arial"/>
              </a:rPr>
              <a:t>amputăm jumătate din firmă ca să creștem un procent.</a:t>
            </a:r>
            <a:r>
              <a:rPr b="0" sz="1400">
                <a:solidFill>
                  <a:srgbClr val="F2F2F2"/>
                </a:solidFill>
                <a:latin typeface="Arial"/>
              </a:rPr>
              <a:t> Ai spus explicit ce NU faci.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Livrezi o constatare, nu o decizie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„revenue ≠ profit” și te oprești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Supra-reacționezi la o metrică (Ioana)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„marjă mică → taie”; uiți profit = marjă × volum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Recomandare fără ancoră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„ar trebui să ne concentrăm pe profit” (sună bine, nu costă nimic)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Ascunzi compromisul</a:t>
            </a:r>
            <a:r>
              <a:rPr b="0" sz="1300">
                <a:solidFill>
                  <a:srgbClr val="F2F2F2"/>
                </a:solidFill>
                <a:latin typeface="Arial"/>
              </a:rPr>
              <a:t> — prezinți doar partea bună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Antidotul: mai fă un pas (</a:t>
            </a:r>
            <a:r>
              <a:rPr b="1" sz="1400">
                <a:solidFill>
                  <a:srgbClr val="F2F2F2"/>
                </a:solidFill>
                <a:latin typeface="Arial"/>
              </a:rPr>
              <a:t>ce facem?</a:t>
            </a:r>
            <a:r>
              <a:rPr b="0" sz="1400">
                <a:solidFill>
                  <a:srgbClr val="F2F2F2"/>
                </a:solidFill>
                <a:latin typeface="Arial"/>
              </a:rPr>
              <a:t>), ancorează fiecare acțiune, și spune ce NU faci.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4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recomandare = </a:t>
            </a:r>
            <a:r>
              <a:rPr b="1" sz="1400">
                <a:solidFill>
                  <a:srgbClr val="F2F2F2"/>
                </a:solidFill>
                <a:latin typeface="Arial"/>
              </a:rPr>
              <a:t>constatare → decizie → impact → compromis onest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Rebalansezi, nu amputezi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profit absolut = marjă × volum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Ancorezi fiecare acțiune</a:t>
            </a:r>
            <a:r>
              <a:rPr b="0" sz="1400">
                <a:solidFill>
                  <a:srgbClr val="F2F2F2"/>
                </a:solidFill>
                <a:latin typeface="Arial"/>
              </a:rPr>
              <a:t> într-o cifră verificată; spui </a:t>
            </a:r>
            <a:r>
              <a:rPr b="1" sz="1400">
                <a:solidFill>
                  <a:srgbClr val="F2F2F2"/>
                </a:solidFill>
                <a:latin typeface="Arial"/>
              </a:rPr>
              <a:t>ce NU faci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închis cazul solo, cap-coadă (framing + execuție + recomandare) — gata de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Cu asta,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6 e complet.</a:t>
            </a:r>
            <a:r>
              <a:rPr b="0" sz="1400">
                <a:solidFill>
                  <a:srgbClr val="F2F2F2"/>
                </a:solidFill>
                <a:latin typeface="Arial"/>
              </a:rPr>
              <a:t> Urmează </a:t>
            </a:r>
            <a:r>
              <a:rPr b="1" sz="1400">
                <a:solidFill>
                  <a:srgbClr val="F2F2F2"/>
                </a:solidFill>
                <a:latin typeface="Arial"/>
              </a:rPr>
              <a:t>capstone-ul (L34–L35)</a:t>
            </a:r>
            <a:r>
              <a:rPr b="0" sz="1400">
                <a:solidFill>
                  <a:srgbClr val="F2F2F2"/>
                </a:solidFill>
                <a:latin typeface="Arial"/>
              </a:rPr>
              <a:t>: un caz nou, rezolvat și apărat singur.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L33 · Recomandare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