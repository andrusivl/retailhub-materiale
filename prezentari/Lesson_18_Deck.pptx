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Ai toată analiza: scăderea (−14,9%, L14), vinovatul (Accessories −55,9%, L17), magazinul disculpat (Cluj a crescut). Azi o faci vizibilă: un grafic pe care Andrei îl pune în fața conducerii și care se înțelege fără un rând de explicație. Ideea centrală: graficul urmează întrebarea — linie=timp, coloane/bare=comparație, pie=pondere (puține felii). Fișierul L18_charts.xlsx are în fila chart-data trei tabele mici, gata de transformat.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Legăm de L17. Acolo ai descompus septembrie pe categorie × lună, un crosstab cu Rows + Columns. Vinovatul: Accessories, 194.213,42 la 85.585,05, minus 55,9%, aproape jumătate din toată scăderea. Cu % of Column Total ai văzut ponderea, 14% la 8%; cu un Slicer ai testat a fost Cluj și ai respins ipoteza, Cluj a crescut plus 6,4%. Ai analiza completă și cauza. Azi o faci vizibilă.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Inserezi un grafic și alegi tipul potrivit întrebării: linie pentru timp, coloane/bare pentru comparație, pie doar pentru câteva felii. Arăți valea din septembrie cu o linie (2024 vs 2025) și prăbușirea Accessories cu coloane. Dai un titlu care spune insight-ul și ții axa Y cinstită.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(§2, §7). Deschizi L18_charts.xlsx, fila chart-data. Ai trei tabele mici, gata de transformat: RevByMonth (Luna, Revenue 2024, Revenue 2025) pentru linie; TopFallers (Categorie, Aug 2025, Sep 2025) pentru coloane; și plățile, patru metode aproape egale, pentru un pie corect. Azi nu mai construiești pivotul, te concentrezi pe ce grafic alegi și cum îl faci curat și cinstit.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Citatul lui Andrei (§2). Ai finding-ul complet și cauza. Andrei trebuie să-l ducă mai sus, prezintă conducerii în trei minute. Nu poate citi un tabel cu 30 de rânduri. Cere două imagini: una care arată când am scăzut, una care arată ce a scăzut, să se înțeleagă dintr-o privire.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 (§3). Ioana a vrut să arate structura vânzărilor pe categorie și a făcut un pie cu toate cele 30 de categorii. Rezultatul: un cerc cu 30 de feliuțe, jumătate prea mici ca să aibă etichetă, imposibil de citit care e a doua sau a cincea. Arată colorat, dar nu spune nimic, ochiul nu poate compara 30 de unghiuri. Curiozitatea de azi: cum alegi graficul care răspunde la întrebare, nu unul care umple slide-ul.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Orientare (§5). Trei tipuri acoperă 90% din nevoile unui junior. Cum evoluează în timp? Linie. Care e mai mare/mic între X? Coloane sau bare. Ce pondere din întreg? Pie, dar doar 2-5 felii. Și două reguli: titlul spune insight-ul, nu obiectul; axa Y pornește de la 0 la coloane/bare, altfel o diferență mică pare uriașă.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centrală (§6). Un tabel îți dă cifrele; un grafic îți dă forma. Ochiul nu compară numere, dar compară instant lungimi (bare) și pante (linii). Când Andrei se uită la o linie care coboară brusc în septembrie, vede scăderea înainte s-o citească. Graficul potrivit face munca ta de o oră evidentă într-o secundă; cel greșit ascunde exact ce ai găsit.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1 (§7). Selectează tabelul RevByMonth (Luna, Revenue 2024, Revenue 2025), Insert &gt; Charts &gt; Line (cu markeri e ok). Ce vezi: două linii peste cele 12 luni. Merg aproape împreună până în august, apoi linia 2025 se prăbușește în septembrie, 1.126.418,50, mult sub 2024, 1.633.662,67. O vale clară. Ochiul vede scăderea înainte s-o citească.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2 (§7). Septembrie 2025 scade cu minus 14,9% față de august (finding 1) și cu minus 31% față de septembrie 2024. Contează al doilea: septembrie 2024 fusese o lună puternică, deci scăderea din 2025 nu e sezon, e o anomalie. Ianuarie e mic în ambii ani, sezon post-sărbători, normal; septembrie nu are scuza asta. Titlu bun: dublu-click pe titlu, scrie insight-ul, nu Revenue pe lună.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3 (§7). Selectează tabelul TopFallers (Categorie, Aug 2025, Sep 2025), Insert &gt; Charts &gt; Clustered Column. Ce vezi: pentru fiecare categorie, două coloane alăturate, august și septembrie. La Accessories, coloana din septembrie, 85.585,05, e aproape jumătate din cea din august, 194.213,42, prăbușirea se vede din prima. Audio, Laptops, Sports Accessories și Cosmetics scad și ele, dar Accessories iese cel mai clar. Titlu: Accessories a dus scăderea din septembrie, minus 55,9%.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(§7). Verifică: axa Y pornește de la 0. Dacă Excel a pornit-o de la, să zicem, 80.000, prăbușirea Accessories ar părea și mai dramatică decât e, un grafic care exagerează. Click dreapta pe axa Y, Format Axis, Minimum egal 0. La comparații (coloane/bare), axa de la zero e regula de onestitate. Opțional, un PivotChart legat de pivotul de la L17 se schimbă când dai click pe Slicer, util pentru explorare.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patru greșeli (§11). Pie cu prea multe felii: 30 de categorii, ilizibil; pentru comparație, bară sortată. Tipul nu urmează întrebarea: întreabă-te timp (linie) sau comparație (coloane) înainte. Axa Y tăiată: la coloane/bare, minimum 0, onestitatea înainte de dramatism. Titlu leneș sau cod pe axă: titlu cu insight, pe axă nume, nu StoreID.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 (§12/§14). Graficul urmează întrebarea: linie egal timp, coloane/bare egal comparație, pie egal pondere cu puține felii. Linia arată valea (minus 14,9% vs august, minus 31% vs septembrie 2024, nu e sezon). Coloanele arată Accessories înjumătățindu-se, minus 55,9%. Titlul spune insight-ul; axa Y de la 0. Milestone: investigația devine vizibilă, două poze pe care Andrei le pune în fața conducerii. Din L19 le pui într-un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3 · LECȚIA 18 · A OPTA LECȚIE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Charts — fă analiza să se vadă dintr-o privire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Excel (arată) → Answer. Transformi cifrele într-o imagine.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21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(L17)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La </a:t>
            </a:r>
            <a:r>
              <a:rPr b="1" sz="1400">
                <a:solidFill>
                  <a:srgbClr val="F2F2F2"/>
                </a:solidFill>
                <a:latin typeface="Arial"/>
              </a:rPr>
              <a:t>L17</a:t>
            </a:r>
            <a:r>
              <a:rPr b="0" sz="1400">
                <a:solidFill>
                  <a:srgbClr val="F2F2F2"/>
                </a:solidFill>
                <a:latin typeface="Arial"/>
              </a:rPr>
              <a:t> ai descompus septembrie pe </a:t>
            </a:r>
            <a:r>
              <a:rPr b="1" sz="1400">
                <a:solidFill>
                  <a:srgbClr val="F2F2F2"/>
                </a:solidFill>
                <a:latin typeface="Arial"/>
              </a:rPr>
              <a:t>categorie × lună</a:t>
            </a:r>
            <a:r>
              <a:rPr b="0" sz="1400">
                <a:solidFill>
                  <a:srgbClr val="F2F2F2"/>
                </a:solidFill>
                <a:latin typeface="Arial"/>
              </a:rPr>
              <a:t> (crosstab, Rows + Columns)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Vinovatul: </a:t>
            </a:r>
            <a:r>
              <a:rPr b="1" sz="1400">
                <a:solidFill>
                  <a:srgbClr val="F2F2F2"/>
                </a:solidFill>
                <a:latin typeface="Arial"/>
              </a:rPr>
              <a:t>Accessories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sz="1400">
                <a:solidFill>
                  <a:srgbClr val="FFA24E"/>
                </a:solidFill>
                <a:latin typeface="Consolas"/>
              </a:rPr>
              <a:t>194.213,42 → 85.585,05</a:t>
            </a:r>
            <a:r>
              <a:rPr b="0" sz="1400">
                <a:solidFill>
                  <a:srgbClr val="F2F2F2"/>
                </a:solidFill>
                <a:latin typeface="Arial"/>
              </a:rPr>
              <a:t> = </a:t>
            </a:r>
            <a:r>
              <a:rPr b="1" sz="1400">
                <a:solidFill>
                  <a:srgbClr val="F2F2F2"/>
                </a:solidFill>
                <a:latin typeface="Arial"/>
              </a:rPr>
              <a:t>−55,9%</a:t>
            </a:r>
            <a:r>
              <a:rPr b="0" sz="1400">
                <a:solidFill>
                  <a:srgbClr val="F2F2F2"/>
                </a:solidFill>
                <a:latin typeface="Arial"/>
              </a:rPr>
              <a:t> (~46% din toată scăderea)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Cu </a:t>
            </a:r>
            <a:r>
              <a:rPr sz="1400">
                <a:solidFill>
                  <a:srgbClr val="FFA24E"/>
                </a:solidFill>
                <a:latin typeface="Consolas"/>
              </a:rPr>
              <a:t>% of Column Total</a:t>
            </a:r>
            <a:r>
              <a:rPr b="0" sz="1400">
                <a:solidFill>
                  <a:srgbClr val="F2F2F2"/>
                </a:solidFill>
                <a:latin typeface="Arial"/>
              </a:rPr>
              <a:t> ai văzut ponderea (14% → 8%); cu </a:t>
            </a:r>
            <a:r>
              <a:rPr b="1" sz="1400">
                <a:solidFill>
                  <a:srgbClr val="F2F2F2"/>
                </a:solidFill>
                <a:latin typeface="Arial"/>
              </a:rPr>
              <a:t>Slicer</a:t>
            </a:r>
            <a:r>
              <a:rPr b="0" sz="1400">
                <a:solidFill>
                  <a:srgbClr val="F2F2F2"/>
                </a:solidFill>
                <a:latin typeface="Arial"/>
              </a:rPr>
              <a:t> ai testat „a fost Cluj?”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Ipoteza „Cluj” — </a:t>
            </a:r>
            <a:r>
              <a:rPr b="1" sz="1400">
                <a:solidFill>
                  <a:srgbClr val="F2F2F2"/>
                </a:solidFill>
                <a:latin typeface="Arial"/>
              </a:rPr>
              <a:t>respinsă</a:t>
            </a:r>
            <a:r>
              <a:rPr b="0" sz="1400">
                <a:solidFill>
                  <a:srgbClr val="F2F2F2"/>
                </a:solidFill>
                <a:latin typeface="Arial"/>
              </a:rPr>
              <a:t>: Cluj a </a:t>
            </a:r>
            <a:r>
              <a:rPr b="1" sz="1400">
                <a:solidFill>
                  <a:srgbClr val="F2F2F2"/>
                </a:solidFill>
                <a:latin typeface="Arial"/>
              </a:rPr>
              <a:t>crescut</a:t>
            </a:r>
            <a:r>
              <a:rPr b="0" sz="1400">
                <a:solidFill>
                  <a:srgbClr val="F2F2F2"/>
                </a:solidFill>
                <a:latin typeface="Arial"/>
              </a:rPr>
              <a:t> (+6,4%); scăderea e în toată rețeaua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 analiza completă și cauza. Acum o faci </a:t>
            </a:r>
            <a:r>
              <a:rPr b="1" sz="1400">
                <a:solidFill>
                  <a:srgbClr val="F2F2F2"/>
                </a:solidFill>
                <a:latin typeface="Arial"/>
              </a:rPr>
              <a:t>vizibilă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 grafic pe care Andrei îl pune în fața conducerii.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inserezi un </a:t>
            </a:r>
            <a:r>
              <a:rPr b="1" sz="1400">
                <a:solidFill>
                  <a:srgbClr val="F2F2F2"/>
                </a:solidFill>
                <a:latin typeface="Arial"/>
              </a:rPr>
              <a:t>grafic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Insert &gt; Chart</a:t>
            </a:r>
            <a:r>
              <a:rPr b="0" sz="1400">
                <a:solidFill>
                  <a:srgbClr val="F2F2F2"/>
                </a:solidFill>
                <a:latin typeface="Arial"/>
              </a:rPr>
              <a:t>) și să alegi </a:t>
            </a:r>
            <a:r>
              <a:rPr b="1" sz="1400">
                <a:solidFill>
                  <a:srgbClr val="F2F2F2"/>
                </a:solidFill>
                <a:latin typeface="Arial"/>
              </a:rPr>
              <a:t>tipul potrivit întrebării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Linie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timp (valea din septembrie, 2024 vs 2025);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coloane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comparație (categorii)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dai graficului un </a:t>
            </a:r>
            <a:r>
              <a:rPr b="1" sz="1400">
                <a:solidFill>
                  <a:srgbClr val="F2F2F2"/>
                </a:solidFill>
                <a:latin typeface="Arial"/>
              </a:rPr>
              <a:t>titlu care spune insight-ul</a:t>
            </a:r>
            <a:r>
              <a:rPr b="0" sz="1400">
                <a:solidFill>
                  <a:srgbClr val="F2F2F2"/>
                </a:solidFill>
                <a:latin typeface="Arial"/>
              </a:rPr>
              <a:t> (nu „Chart 1”)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ții </a:t>
            </a:r>
            <a:r>
              <a:rPr b="1" sz="1400">
                <a:solidFill>
                  <a:srgbClr val="F2F2F2"/>
                </a:solidFill>
                <a:latin typeface="Arial"/>
              </a:rPr>
              <a:t>axa Y cinstită</a:t>
            </a:r>
            <a:r>
              <a:rPr b="0" sz="1400">
                <a:solidFill>
                  <a:srgbClr val="F2F2F2"/>
                </a:solidFill>
                <a:latin typeface="Arial"/>
              </a:rPr>
              <a:t> (de la 0) și să eviți pie-ul cu 30 de felii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DATELE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Fișierul — trei tabele gata de desenat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📎 </a:t>
            </a:r>
            <a:r>
              <a:rPr sz="1500">
                <a:solidFill>
                  <a:srgbClr val="FFA24E"/>
                </a:solidFill>
                <a:latin typeface="Consolas"/>
              </a:rPr>
              <a:t>L18_charts.xlsx</a:t>
            </a:r>
            <a:r>
              <a:rPr b="0" sz="1500">
                <a:solidFill>
                  <a:srgbClr val="F2F2F2"/>
                </a:solidFill>
                <a:latin typeface="Arial"/>
              </a:rPr>
              <a:t>, fila </a:t>
            </a:r>
            <a:r>
              <a:rPr sz="1500">
                <a:solidFill>
                  <a:srgbClr val="FFA24E"/>
                </a:solidFill>
                <a:latin typeface="Consolas"/>
              </a:rPr>
              <a:t>chart-data</a:t>
            </a:r>
            <a:r>
              <a:rPr b="0" sz="1500">
                <a:solidFill>
                  <a:srgbClr val="F2F2F2"/>
                </a:solidFill>
                <a:latin typeface="Arial"/>
              </a:rPr>
              <a:t>. Ai trei tabele mici, gata de transformat în grafice.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RevByMonth</a:t>
            </a:r>
            <a:r>
              <a:rPr b="0" sz="1400">
                <a:solidFill>
                  <a:srgbClr val="F2F2F2"/>
                </a:solidFill>
                <a:latin typeface="Arial"/>
              </a:rPr>
              <a:t> — Luna, Revenue 2024, Revenue 2025 (pentru </a:t>
            </a:r>
            <a:r>
              <a:rPr b="1" sz="1400">
                <a:solidFill>
                  <a:srgbClr val="F2F2F2"/>
                </a:solidFill>
                <a:latin typeface="Arial"/>
              </a:rPr>
              <a:t>linie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TopFallers</a:t>
            </a:r>
            <a:r>
              <a:rPr b="0" sz="1400">
                <a:solidFill>
                  <a:srgbClr val="F2F2F2"/>
                </a:solidFill>
                <a:latin typeface="Arial"/>
              </a:rPr>
              <a:t> — Categorie, Aug 2025, Sep 2025 (pentru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coloane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plățile — 4 metode ~egale (pentru un </a:t>
            </a:r>
            <a:r>
              <a:rPr b="1" sz="1400">
                <a:solidFill>
                  <a:srgbClr val="F2F2F2"/>
                </a:solidFill>
                <a:latin typeface="Arial"/>
              </a:rPr>
              <a:t>pie</a:t>
            </a:r>
            <a:r>
              <a:rPr b="0" sz="1400">
                <a:solidFill>
                  <a:srgbClr val="F2F2F2"/>
                </a:solidFill>
                <a:latin typeface="Arial"/>
              </a:rPr>
              <a:t> corect, cu puține felii)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058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Azi nu mai construiești pivotul (aia a fost L16–L17) — te concentrezi pe </a:t>
            </a:r>
            <a:r>
              <a:rPr b="1" sz="1300">
                <a:solidFill>
                  <a:srgbClr val="F2F2F2"/>
                </a:solidFill>
                <a:latin typeface="Arial"/>
              </a:rPr>
              <a:t>ce grafic</a:t>
            </a:r>
            <a:r>
              <a:rPr b="0" sz="1300">
                <a:solidFill>
                  <a:srgbClr val="F2F2F2"/>
                </a:solidFill>
                <a:latin typeface="Arial"/>
              </a:rPr>
              <a:t> alegi și cum îl faci </a:t>
            </a:r>
            <a:r>
              <a:rPr b="1" sz="1300">
                <a:solidFill>
                  <a:srgbClr val="F2F2F2"/>
                </a:solidFill>
                <a:latin typeface="Arial"/>
              </a:rPr>
              <a:t>curat și cinstit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„Nu-mi citi tabelul, arată-mi”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„E o analiză bună, dar eu o prezint conducerii în trei minute. Nu pot citi un tabel cu 30 de rânduri. Dă-mi </a:t>
            </a:r>
            <a:r>
              <a:rPr b="1" sz="1500">
                <a:solidFill>
                  <a:srgbClr val="F2F2F2"/>
                </a:solidFill>
                <a:latin typeface="Arial"/>
              </a:rPr>
              <a:t>două imagini</a:t>
            </a:r>
            <a:r>
              <a:rPr b="0" sz="1500">
                <a:solidFill>
                  <a:srgbClr val="F2F2F2"/>
                </a:solidFill>
                <a:latin typeface="Arial"/>
              </a:rPr>
              <a:t>: una care arată </a:t>
            </a:r>
            <a:r>
              <a:rPr i="1" sz="1500">
                <a:solidFill>
                  <a:srgbClr val="F2F2F2"/>
                </a:solidFill>
                <a:latin typeface="Arial"/>
              </a:rPr>
              <a:t>când</a:t>
            </a:r>
            <a:r>
              <a:rPr b="0" sz="1500">
                <a:solidFill>
                  <a:srgbClr val="F2F2F2"/>
                </a:solidFill>
                <a:latin typeface="Arial"/>
              </a:rPr>
              <a:t> am scăzut, una care arată </a:t>
            </a:r>
            <a:r>
              <a:rPr i="1" sz="1500">
                <a:solidFill>
                  <a:srgbClr val="F2F2F2"/>
                </a:solidFill>
                <a:latin typeface="Arial"/>
              </a:rPr>
              <a:t>ce</a:t>
            </a:r>
            <a:r>
              <a:rPr b="0" sz="1500">
                <a:solidFill>
                  <a:srgbClr val="F2F2F2"/>
                </a:solidFill>
                <a:latin typeface="Arial"/>
              </a:rPr>
              <a:t> a scăzut. Să se înțeleagă dintr-o privire.” — </a:t>
            </a:r>
            <a:r>
              <a:rPr b="1" sz="1500">
                <a:solidFill>
                  <a:srgbClr val="F2F2F2"/>
                </a:solidFill>
                <a:latin typeface="Arial"/>
              </a:rPr>
              <a:t>Andrei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Două poze: </a:t>
            </a:r>
            <a:r>
              <a:rPr i="1" sz="1500">
                <a:solidFill>
                  <a:srgbClr val="F2F2F2"/>
                </a:solidFill>
                <a:latin typeface="Arial"/>
              </a:rPr>
              <a:t>când</a:t>
            </a:r>
            <a:r>
              <a:rPr b="0" sz="1500">
                <a:solidFill>
                  <a:srgbClr val="F2F2F2"/>
                </a:solidFill>
                <a:latin typeface="Arial"/>
              </a:rPr>
              <a:t> (linia pe lună) și </a:t>
            </a:r>
            <a:r>
              <a:rPr i="1" sz="1500">
                <a:solidFill>
                  <a:srgbClr val="F2F2F2"/>
                </a:solidFill>
                <a:latin typeface="Arial"/>
              </a:rPr>
              <a:t>ce</a:t>
            </a:r>
            <a:r>
              <a:rPr b="0" sz="1500">
                <a:solidFill>
                  <a:srgbClr val="F2F2F2"/>
                </a:solidFill>
                <a:latin typeface="Arial"/>
              </a:rPr>
              <a:t> (coloanele pe categorie). Restul e curățenie — titlu, axe, sortare.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făcut Ioana: pie-ul cu 30 de felii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vrut „structura vânzărilor pe categorie” și a făcut un </a:t>
            </a:r>
            <a:r>
              <a:rPr b="1" sz="1500">
                <a:solidFill>
                  <a:srgbClr val="F2F2F2"/>
                </a:solidFill>
                <a:latin typeface="Arial"/>
              </a:rPr>
              <a:t>pie cu toate cele 30 de categorii</a:t>
            </a:r>
            <a:r>
              <a:rPr b="0" sz="1500">
                <a:solidFill>
                  <a:srgbClr val="F2F2F2"/>
                </a:solidFill>
                <a:latin typeface="Arial"/>
              </a:rPr>
              <a:t>: un cerc cu 30 de feliuțe, jumătate prea mici ca să aibă etichetă.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„Arată colorat”, dar nu spune </a:t>
            </a:r>
            <a:r>
              <a:rPr b="1" sz="1400">
                <a:solidFill>
                  <a:srgbClr val="F2F2F2"/>
                </a:solidFill>
                <a:latin typeface="Arial"/>
              </a:rPr>
              <a:t>nimic</a:t>
            </a:r>
            <a:r>
              <a:rPr b="0" sz="1400">
                <a:solidFill>
                  <a:srgbClr val="F2F2F2"/>
                </a:solidFill>
                <a:latin typeface="Arial"/>
              </a:rPr>
              <a:t> — ochiul nu poate compara 30 de unghiuri.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8537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Curiozitatea de azi: cum alegi graficul care </a:t>
            </a:r>
            <a:r>
              <a:rPr b="1" sz="1500">
                <a:solidFill>
                  <a:srgbClr val="F2F2F2"/>
                </a:solidFill>
                <a:latin typeface="Arial"/>
              </a:rPr>
              <a:t>răspunde la întrebare</a:t>
            </a:r>
            <a:r>
              <a:rPr b="0" sz="1500">
                <a:solidFill>
                  <a:srgbClr val="F2F2F2"/>
                </a:solidFill>
                <a:latin typeface="Arial"/>
              </a:rPr>
              <a:t>, nu unul care doar „umple slide-ul”?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grafic, pentru ce întrebare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Întrebarea sună a…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Tip de grafic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Exemplu la noi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„cum evoluează în timp?”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Linie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Revenue pe lună (valea din septembrie)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„care e mai mare între X?”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Coloane / Bare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Revenue pe magazin; căderea pe categorie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„ce pondere din întreg?”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Pie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(2–5 felii)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plățile: 4 metode ~egale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401568"/>
            <a:ext cx="10874959" cy="137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Titlul spune insight-ul</a:t>
            </a:r>
            <a:r>
              <a:rPr b="0" sz="1300">
                <a:solidFill>
                  <a:srgbClr val="F2F2F2"/>
                </a:solidFill>
                <a:latin typeface="Arial"/>
              </a:rPr>
              <a:t>, nu obiectul: nu „Revenue pe lună”, ci „Septembrie 2025: −14,9% vs august”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Axa Y pornește de la 0</a:t>
            </a:r>
            <a:r>
              <a:rPr b="0" sz="1300">
                <a:solidFill>
                  <a:srgbClr val="F2F2F2"/>
                </a:solidFill>
                <a:latin typeface="Arial"/>
              </a:rPr>
              <a:t> (la coloane/bare) — dacă o tai, o diferență mică pare uriașă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grafic e un argument, nu o decorație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tabel îți dă cifrele; un grafic îți dă </a:t>
            </a:r>
            <a:r>
              <a:rPr b="1" sz="1500">
                <a:solidFill>
                  <a:srgbClr val="F2F2F2"/>
                </a:solidFill>
                <a:latin typeface="Arial"/>
              </a:rPr>
              <a:t>forma</a:t>
            </a:r>
            <a:r>
              <a:rPr b="0" sz="1500">
                <a:solidFill>
                  <a:srgbClr val="F2F2F2"/>
                </a:solidFill>
                <a:latin typeface="Arial"/>
              </a:rPr>
              <a:t>. Ochiul nu compară numere, dar compară instant lungimi (bare) și pante (linii).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grafic e un </a:t>
            </a:r>
            <a:r>
              <a:rPr b="1" sz="1400">
                <a:solidFill>
                  <a:srgbClr val="F2F2F2"/>
                </a:solidFill>
                <a:latin typeface="Arial"/>
              </a:rPr>
              <a:t>argument</a:t>
            </a:r>
            <a:r>
              <a:rPr b="0" sz="1400">
                <a:solidFill>
                  <a:srgbClr val="F2F2F2"/>
                </a:solidFill>
                <a:latin typeface="Arial"/>
              </a:rPr>
              <a:t>, nu o decorație: cel potrivit face munca ta de o oră evidentă într-o secundă; cel greșit (pie cu 30 de felii) ascunde exact ce ai găsit.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LINIE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Când am scăzut (2024 vs 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Selectează RevByMonth (Luna, Revenue 2024, Revenue 2025)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Insert &gt; Charts &gt; Line (cu markeri)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Ce vezi:</a:t>
            </a:r>
            <a:r>
              <a:rPr b="0" sz="1500">
                <a:solidFill>
                  <a:srgbClr val="F2F2F2"/>
                </a:solidFill>
                <a:latin typeface="Arial"/>
              </a:rPr>
              <a:t> două linii peste 12 luni. Merg aproape împreună până în august, apoi </a:t>
            </a:r>
            <a:r>
              <a:rPr b="1" sz="1500">
                <a:solidFill>
                  <a:srgbClr val="F2F2F2"/>
                </a:solidFill>
                <a:latin typeface="Arial"/>
              </a:rPr>
              <a:t>2025 se prăbușește în septembrie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500">
                <a:solidFill>
                  <a:srgbClr val="F2F2F2"/>
                </a:solidFill>
                <a:latin typeface="Arial"/>
              </a:rPr>
              <a:t>), mult sub 2024 (</a:t>
            </a:r>
            <a:r>
              <a:rPr sz="1500">
                <a:solidFill>
                  <a:srgbClr val="FFA24E"/>
                </a:solidFill>
                <a:latin typeface="Consolas"/>
              </a:rPr>
              <a:t>1.633.662,67</a:t>
            </a:r>
            <a:r>
              <a:rPr b="0" sz="15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</a:t>
            </a:r>
            <a:r>
              <a:rPr b="1" sz="1400">
                <a:solidFill>
                  <a:srgbClr val="F2F2F2"/>
                </a:solidFill>
                <a:latin typeface="Arial"/>
              </a:rPr>
              <a:t>vale</a:t>
            </a:r>
            <a:r>
              <a:rPr b="0" sz="1400">
                <a:solidFill>
                  <a:srgbClr val="F2F2F2"/>
                </a:solidFill>
                <a:latin typeface="Arial"/>
              </a:rPr>
              <a:t> clară — ochiul „vede” scăderea înainte s-o citească.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CITEȘTE VALEA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−14,9% vs august, −31% vs anul trecut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Septembrie 2025 scade </a:t>
            </a:r>
            <a:r>
              <a:rPr b="1" sz="15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500">
                <a:solidFill>
                  <a:srgbClr val="F2F2F2"/>
                </a:solidFill>
                <a:latin typeface="Arial"/>
              </a:rPr>
              <a:t> vs august (finding #1) </a:t>
            </a:r>
            <a:r>
              <a:rPr b="1" sz="1500">
                <a:solidFill>
                  <a:srgbClr val="F2F2F2"/>
                </a:solidFill>
                <a:latin typeface="Arial"/>
              </a:rPr>
              <a:t>și −31%</a:t>
            </a:r>
            <a:r>
              <a:rPr b="0" sz="1500">
                <a:solidFill>
                  <a:srgbClr val="F2F2F2"/>
                </a:solidFill>
                <a:latin typeface="Arial"/>
              </a:rPr>
              <a:t> vs septembrie 2024.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0322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Contează al doilea: septembrie 2024 fusese </a:t>
            </a:r>
            <a:r>
              <a:rPr b="1" sz="1400">
                <a:solidFill>
                  <a:srgbClr val="F2F2F2"/>
                </a:solidFill>
                <a:latin typeface="Arial"/>
              </a:rPr>
              <a:t>puternic</a:t>
            </a:r>
            <a:r>
              <a:rPr b="0" sz="1400">
                <a:solidFill>
                  <a:srgbClr val="F2F2F2"/>
                </a:solidFill>
                <a:latin typeface="Arial"/>
              </a:rPr>
              <a:t>, deci scăderea din 2025 </a:t>
            </a:r>
            <a:r>
              <a:rPr b="1" sz="1400">
                <a:solidFill>
                  <a:srgbClr val="F2F2F2"/>
                </a:solidFill>
                <a:latin typeface="Arial"/>
              </a:rPr>
              <a:t>nu e sezon</a:t>
            </a:r>
            <a:r>
              <a:rPr b="0" sz="1400">
                <a:solidFill>
                  <a:srgbClr val="F2F2F2"/>
                </a:solidFill>
                <a:latin typeface="Arial"/>
              </a:rPr>
              <a:t> — e o anomalie. (Ianuarie e mic în ambii ani = sezon; septembrie nu are scuza asta.)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191234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Dublu-click pe titlu →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„Septembrie 2025: −14,9% vs august, −31% vs septembrie 2024”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COLOANE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scăzut — Accessories se înjumătățește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Selectează TopFallers (Categorie, Aug 2025, Sep 2025)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Insert &gt; Charts &gt; Clustered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Ce vezi:</a:t>
            </a:r>
            <a:r>
              <a:rPr b="0" sz="1500">
                <a:solidFill>
                  <a:srgbClr val="F2F2F2"/>
                </a:solidFill>
                <a:latin typeface="Arial"/>
              </a:rPr>
              <a:t> pentru fiecare categorie, două coloane (aug, sep). La </a:t>
            </a:r>
            <a:r>
              <a:rPr b="1" sz="1500">
                <a:solidFill>
                  <a:srgbClr val="F2F2F2"/>
                </a:solidFill>
                <a:latin typeface="Arial"/>
              </a:rPr>
              <a:t>Accessories</a:t>
            </a:r>
            <a:r>
              <a:rPr b="0" sz="1500">
                <a:solidFill>
                  <a:srgbClr val="F2F2F2"/>
                </a:solidFill>
                <a:latin typeface="Arial"/>
              </a:rPr>
              <a:t>, septembrie (</a:t>
            </a:r>
            <a:r>
              <a:rPr sz="1500">
                <a:solidFill>
                  <a:srgbClr val="FFA24E"/>
                </a:solidFill>
                <a:latin typeface="Consolas"/>
              </a:rPr>
              <a:t>85.585,05</a:t>
            </a:r>
            <a:r>
              <a:rPr b="0" sz="1500">
                <a:solidFill>
                  <a:srgbClr val="F2F2F2"/>
                </a:solidFill>
                <a:latin typeface="Arial"/>
              </a:rPr>
              <a:t>) e aproape </a:t>
            </a:r>
            <a:r>
              <a:rPr b="1" sz="1500">
                <a:solidFill>
                  <a:srgbClr val="F2F2F2"/>
                </a:solidFill>
                <a:latin typeface="Arial"/>
              </a:rPr>
              <a:t>jumătate</a:t>
            </a:r>
            <a:r>
              <a:rPr b="0" sz="1500">
                <a:solidFill>
                  <a:srgbClr val="F2F2F2"/>
                </a:solidFill>
                <a:latin typeface="Arial"/>
              </a:rPr>
              <a:t> din august (</a:t>
            </a:r>
            <a:r>
              <a:rPr sz="1500">
                <a:solidFill>
                  <a:srgbClr val="FFA24E"/>
                </a:solidFill>
                <a:latin typeface="Consolas"/>
              </a:rPr>
              <a:t>194.213,42</a:t>
            </a:r>
            <a:r>
              <a:rPr b="0" sz="15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Prăbușirea se vede din prima. Titlu: „Accessories a dus scăderea din septembrie (−55,9%)”.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AXA CINSTITĂ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Axa Y de la 0 (fără trunchiere)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Verifică: axa Y pornește de la </a:t>
            </a:r>
            <a:r>
              <a:rPr b="1" sz="1500">
                <a:solidFill>
                  <a:srgbClr val="F2F2F2"/>
                </a:solidFill>
                <a:latin typeface="Arial"/>
              </a:rPr>
              <a:t>0</a:t>
            </a:r>
            <a:r>
              <a:rPr b="0" sz="1500">
                <a:solidFill>
                  <a:srgbClr val="F2F2F2"/>
                </a:solidFill>
                <a:latin typeface="Arial"/>
              </a:rPr>
              <a:t>. Dacă Excel a pornit-o de la </a:t>
            </a:r>
            <a:r>
              <a:rPr sz="1500">
                <a:solidFill>
                  <a:srgbClr val="FFA24E"/>
                </a:solidFill>
                <a:latin typeface="Consolas"/>
              </a:rPr>
              <a:t>80.000</a:t>
            </a:r>
            <a:r>
              <a:rPr b="0" sz="1500">
                <a:solidFill>
                  <a:srgbClr val="F2F2F2"/>
                </a:solidFill>
                <a:latin typeface="Arial"/>
              </a:rPr>
              <a:t>, prăbușirea ar părea și mai dramatică decât 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Click dreapta pe axa Y → Format Axis &gt; Minimum 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571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La comparații (coloane/bare), axa de la zero e </a:t>
            </a:r>
            <a:r>
              <a:rPr b="1" sz="1300">
                <a:solidFill>
                  <a:srgbClr val="F2F2F2"/>
                </a:solidFill>
                <a:latin typeface="Arial"/>
              </a:rPr>
              <a:t>regula de onestitate</a:t>
            </a:r>
            <a:r>
              <a:rPr b="0" sz="1300">
                <a:solidFill>
                  <a:srgbClr val="F2F2F2"/>
                </a:solidFill>
                <a:latin typeface="Arial"/>
              </a:rPr>
              <a:t>. (Opțional: un </a:t>
            </a:r>
            <a:r>
              <a:rPr sz="1300">
                <a:solidFill>
                  <a:srgbClr val="FFA24E"/>
                </a:solidFill>
                <a:latin typeface="Consolas"/>
              </a:rPr>
              <a:t>PivotChart</a:t>
            </a:r>
            <a:r>
              <a:rPr b="0" sz="1300">
                <a:solidFill>
                  <a:srgbClr val="F2F2F2"/>
                </a:solidFill>
                <a:latin typeface="Arial"/>
              </a:rPr>
              <a:t> legat de pivot se schimbă când dai click pe Slicer — bun pentru explorare.)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Pie cu prea multe felii</a:t>
            </a:r>
            <a:r>
              <a:rPr b="0" sz="1400">
                <a:solidFill>
                  <a:srgbClr val="F2F2F2"/>
                </a:solidFill>
                <a:latin typeface="Arial"/>
              </a:rPr>
              <a:t> — 30 de categorii = ilizibil; pentru comparație, </a:t>
            </a:r>
            <a:r>
              <a:rPr b="1" sz="1400">
                <a:solidFill>
                  <a:srgbClr val="F2F2F2"/>
                </a:solidFill>
                <a:latin typeface="Arial"/>
              </a:rPr>
              <a:t>bară sortată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Tipul nu urmează întrebarea</a:t>
            </a:r>
            <a:r>
              <a:rPr b="0" sz="1400">
                <a:solidFill>
                  <a:srgbClr val="F2F2F2"/>
                </a:solidFill>
                <a:latin typeface="Arial"/>
              </a:rPr>
              <a:t> — întreabă-te „e </a:t>
            </a:r>
            <a:r>
              <a:rPr b="1" sz="1400">
                <a:solidFill>
                  <a:srgbClr val="F2F2F2"/>
                </a:solidFill>
                <a:latin typeface="Arial"/>
              </a:rPr>
              <a:t>timp</a:t>
            </a:r>
            <a:r>
              <a:rPr b="0" sz="1400">
                <a:solidFill>
                  <a:srgbClr val="F2F2F2"/>
                </a:solidFill>
                <a:latin typeface="Arial"/>
              </a:rPr>
              <a:t> (linie) sau </a:t>
            </a:r>
            <a:r>
              <a:rPr b="1" sz="1400">
                <a:solidFill>
                  <a:srgbClr val="F2F2F2"/>
                </a:solidFill>
                <a:latin typeface="Arial"/>
              </a:rPr>
              <a:t>comparație</a:t>
            </a:r>
            <a:r>
              <a:rPr b="0" sz="1400">
                <a:solidFill>
                  <a:srgbClr val="F2F2F2"/>
                </a:solidFill>
                <a:latin typeface="Arial"/>
              </a:rPr>
              <a:t> (coloane)?” înainte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Axa Y tăiată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la coloane/bare, </a:t>
            </a:r>
            <a:r>
              <a:rPr sz="1400">
                <a:solidFill>
                  <a:srgbClr val="FFA24E"/>
                </a:solidFill>
                <a:latin typeface="Consolas"/>
              </a:rPr>
              <a:t>Format Axis &gt; Minimum = 0</a:t>
            </a:r>
            <a:r>
              <a:rPr b="0" sz="1400">
                <a:solidFill>
                  <a:srgbClr val="F2F2F2"/>
                </a:solidFill>
                <a:latin typeface="Arial"/>
              </a:rPr>
              <a:t>; onestitatea înainte de dramatism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Titlu leneș / cod pe axă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titlu cu insight; pe axă </a:t>
            </a:r>
            <a:r>
              <a:rPr b="1" sz="1400">
                <a:solidFill>
                  <a:srgbClr val="F2F2F2"/>
                </a:solidFill>
                <a:latin typeface="Arial"/>
              </a:rPr>
              <a:t>nume</a:t>
            </a:r>
            <a:r>
              <a:rPr b="0" sz="1400">
                <a:solidFill>
                  <a:srgbClr val="F2F2F2"/>
                </a:solidFill>
                <a:latin typeface="Arial"/>
              </a:rPr>
              <a:t>, nu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 (L15)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investigația devine vizibilă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Graficul urmează întrebarea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b="1" sz="1400">
                <a:solidFill>
                  <a:srgbClr val="F2F2F2"/>
                </a:solidFill>
                <a:latin typeface="Arial"/>
              </a:rPr>
              <a:t>linie</a:t>
            </a:r>
            <a:r>
              <a:rPr b="0" sz="1400">
                <a:solidFill>
                  <a:srgbClr val="F2F2F2"/>
                </a:solidFill>
                <a:latin typeface="Arial"/>
              </a:rPr>
              <a:t> = timp,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coloane/bare</a:t>
            </a:r>
            <a:r>
              <a:rPr b="0" sz="1400">
                <a:solidFill>
                  <a:srgbClr val="F2F2F2"/>
                </a:solidFill>
                <a:latin typeface="Arial"/>
              </a:rPr>
              <a:t> = comparație, </a:t>
            </a:r>
            <a:r>
              <a:rPr b="1" sz="1400">
                <a:solidFill>
                  <a:srgbClr val="F2F2F2"/>
                </a:solidFill>
                <a:latin typeface="Arial"/>
              </a:rPr>
              <a:t>pie</a:t>
            </a:r>
            <a:r>
              <a:rPr b="0" sz="1400">
                <a:solidFill>
                  <a:srgbClr val="F2F2F2"/>
                </a:solidFill>
                <a:latin typeface="Arial"/>
              </a:rPr>
              <a:t> = pondere (2–5 felii)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Linia</a:t>
            </a:r>
            <a:r>
              <a:rPr b="0" sz="1400">
                <a:solidFill>
                  <a:srgbClr val="F2F2F2"/>
                </a:solidFill>
                <a:latin typeface="Arial"/>
              </a:rPr>
              <a:t> arată valea (−14,9% vs august, −31% vs septembrie 2024 = nu e sezon)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Coloanele</a:t>
            </a:r>
            <a:r>
              <a:rPr b="0" sz="1400">
                <a:solidFill>
                  <a:srgbClr val="F2F2F2"/>
                </a:solidFill>
                <a:latin typeface="Arial"/>
              </a:rPr>
              <a:t> arată Accessories înjumătățindu-se (−55,9%)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Titlul spune insight-ul</a:t>
            </a:r>
            <a:r>
              <a:rPr b="0" sz="1400">
                <a:solidFill>
                  <a:srgbClr val="F2F2F2"/>
                </a:solidFill>
                <a:latin typeface="Arial"/>
              </a:rPr>
              <a:t>; </a:t>
            </a:r>
            <a:r>
              <a:rPr b="1" sz="1400">
                <a:solidFill>
                  <a:srgbClr val="F2F2F2"/>
                </a:solidFill>
                <a:latin typeface="Arial"/>
              </a:rPr>
              <a:t>axa Y de la 0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 grafic cinstit nu exagerează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de proiect: investigația devine </a:t>
            </a:r>
            <a:r>
              <a:rPr b="1" sz="1400">
                <a:solidFill>
                  <a:srgbClr val="F2F2F2"/>
                </a:solidFill>
                <a:latin typeface="Arial"/>
              </a:rPr>
              <a:t>vizibilă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două poze pe care Andrei le pune în fața conducerii.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L19: dashboard</a:t>
            </a:r>
            <a:r>
              <a:rPr b="0" sz="1400">
                <a:solidFill>
                  <a:srgbClr val="F2F2F2"/>
                </a:solidFill>
                <a:latin typeface="Arial"/>
              </a:rPr>
              <a:t> (KPI + grafice + concluzie, pe o pagină).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L18 · Charts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