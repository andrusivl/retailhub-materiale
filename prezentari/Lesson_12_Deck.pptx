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Deschidere. În L11 au primit un fișier curat — un cadou. Datele reale nu vin așa. Azi primesc exportul adevărat (orders_raw, ~2.009 rânduri) și învață să-l facă demn de încredere, sistematic, ÎNAINTE să calculeze ceva. Fișierul L12_orders_raw_cleaning.xlsx e deja pregătit.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Legăm de L11. Prima mișcare de analist: Ctrl+T, denumești, Total Row. Ai citit reperele: 14.968 comenzi, 37,88 mil. Revenue. StoreID e un cod (2 = Cluj). DAR — și aici e cârligul — alea erau pe fișierul CURAT de demonstrație. Un cadou. Datele reale nu vin așa.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Obiectivele din §1. Recunoști cele cinci feluri de murdărie din L9, de data asta în Excel. Elimini duplicatele. Cureți textul. Standardizezi datele. Deosebești un gol intenționat de unul real. Ții un jurnal de curățare — pe copie, reversibil.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Deschidem L12_orders_raw_cleaning.xlsx, fila orders_raw — vreo 2.009 comenzi dintr-un extras de lucru. Arată ca un tabel normal. Dar pe rânduri: o dată scrisă 21.02.2025, alta 2025-02-18; un PaymentMethod scris cu spații și majuscule; celule goale; o comandă de 9.999.999,99 lei. E, cuvânt cu cuvânt, Lecția 9 — dar acum trebuie s-o repari, nu doar s-o observi.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Citatul lui Andrei (§2). Ăsta e orders_raw, cum iese din sistem, nefiltrat. Nu-l aduna așa cum e. Uită-te întâi la el, o să găsești de toate. Cureți, notezi ce-ai curățat, și abia pe urmă îmi zici o cifră.</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Cârligul (§3). Ioana a făcut ce părea firesc: a adunat. Total Row, Sum pe TotalAmount → un Revenue care arăta mare. L-a trimis Elenei: extrasul face vreo 10 milioane. Problema: OrderID 13554 cu 9.999.999,99 (eroare de sistem) a umflat totul, plus vreo 9 comenzi apar de două ori. Cifra arăta precisă și era complet falsă.</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Trei principii înainte de orice buton (§5). Nu atingi originalul — lucrezi pe o copie. Reversibil, pas cu pas: un pas = o singură schimbare clară. Notezi ce-ai schimbat, în jurnalul de curățare. Fără jurnal, nimeni (nici tu peste o săptămână) nu poate verifica ce-ai făcut.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Ideea centrală + ordinea (§6). Nu gătești cu legume nespălate. Datele murdare sunt legumele nespălate: o comandă de 10 milioane sau una numărată de două ori strică orice cifră scoți. Curățarea are o ordine care merită respectată — o faci pe copie, o notezi.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Pașii 1–2 (§7). Reflexul din L11: întâi structură. Click A2 → Ctrl+T → tblRaw. Apoi Total Row → Count pe OrderID → 2.009. Ăsta e punctul de plecare, cifra pe care o vei micșora curățând.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Pasul 3 (§7). Cu tabelul selectat: Data &gt; Remove Duplicates → lasă bifat DOAR OrderID (o comandă e duplicată dacă are același OrderID) → OK. Mesaj: 9 duplicate values found and removed; 2.000 unique values remain. Atenție: Remove Duplicates rezolvă duplicarea, nu valorile absurde — 13554 era ȘI duplicată, ȘI avea copia de 9.999.999,99; outlierul îl tratezi la Pasul 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Pasul 4 (§7). Coloana PaymentMethod are ` Card `, CARD, card, ` Cash ` ș.a.m.d. Cea mai simplă cale: Find &amp; Replace (Ctrl+H) — înlocuiești pe rând variantele cu forma corectă. Alternativ, o coloană ajutătoare cu =TRIM(PROPER(...)). Dacă filtrezi coloana, rămân exact 4 valori: Card, Cash, BankTransfer, Voucher.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Pasul 5 (§7). Vreo 33 de rânduri au data scrisă 21.02.2025 sau 28/04/2025 în loc de 2025-02-21. Sunt text, nu date reale — nu poți filtra corect pe lună cu ele. Le aduci la dată reală: Data &gt; Text to Columns &gt; Next &gt; Next &gt; Date: DMY &gt; Finish (îi spui lui Excel că textul e zi-lună-an). Semn că a mers: datele se aliniază la dreapta.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Pasul 6 (§7) — partea de judecată. CampaignID gol pe 1.413 → intenționat (comenzi fără campanie), le lași. CustomerID gol pe 34 → real (client lipsă), nu inventezi un ID, marchezi „necunoscut”. Discount negativ pe 24 (ex. -826,49) → imposibil, investighezi și corectezi/excluzi. TotalAmount 9.999.999,99 (13554) → outlier absurd, îl excluzi/flaghezi.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Jurnalul de curățare (§7) — documentul care face cifrele verificabile. Îl scrii pe măsură ce cureți. Fiecare pas: ce ai făcut și cu ce rezultat. Ăsta e ce transformă „am curățat” într-o muncă reproductibilă. ✅ Verifică-te pe fila solution: 2.000 rânduri, 4 valori PaymentMethod, date standardizate, 34 goluri marcate, 1.413 lăsate, 24 discounturi negative, outlierul 13554 pus deoparte.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Închide cu milestone-ul (§12/§14). Cureți întâi, calculezi după. Ordinea: structură → duplicate → text → formate → goluri → imposibile. Golul se înțelege, nu se șterge/inventează. Cureți pe copie, reversibil, cu jurnal. Milestone de proiect: ai o versiune curățată și documentată. Din L13 începi să calculezi pe datele curate.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9613087" y="502920"/>
            <a:ext cx="1920240" cy="696351"/>
          </a:xfrm>
          <a:prstGeom prst="rect">
            <a:avLst/>
          </a:prstGeom>
        </p:spPr>
      </p:pic>
      <p:sp>
        <p:nvSpPr>
          <p:cNvPr id="3" name="TextBox 2"/>
          <p:cNvSpPr txBox="1"/>
          <p:nvPr/>
        </p:nvSpPr>
        <p:spPr>
          <a:xfrm>
            <a:off x="658368" y="2148840"/>
            <a:ext cx="10874959" cy="457200"/>
          </a:xfrm>
          <a:prstGeom prst="rect">
            <a:avLst/>
          </a:prstGeom>
          <a:noFill/>
        </p:spPr>
        <p:txBody>
          <a:bodyPr wrap="none">
            <a:spAutoFit/>
          </a:bodyPr>
          <a:lstStyle/>
          <a:p>
            <a:r>
              <a:rPr sz="1300">
                <a:solidFill>
                  <a:srgbClr val="FF7900"/>
                </a:solidFill>
                <a:latin typeface="Consolas"/>
              </a:rPr>
              <a:t>● </a:t>
            </a:r>
            <a:r>
              <a:rPr sz="1300" b="1">
                <a:solidFill>
                  <a:srgbClr val="FFA24E"/>
                </a:solidFill>
                <a:latin typeface="Consolas"/>
              </a:rPr>
              <a:t>MODULUL 3 · LECȚIA 12 · A DOUA LECȚIE EXCEL</a:t>
            </a:r>
          </a:p>
        </p:txBody>
      </p:sp>
      <p:sp>
        <p:nvSpPr>
          <p:cNvPr id="4" name="TextBox 3"/>
          <p:cNvSpPr txBox="1"/>
          <p:nvPr/>
        </p:nvSpPr>
        <p:spPr>
          <a:xfrm>
            <a:off x="658368" y="2697480"/>
            <a:ext cx="10874959" cy="1737360"/>
          </a:xfrm>
          <a:prstGeom prst="rect">
            <a:avLst/>
          </a:prstGeom>
          <a:noFill/>
        </p:spPr>
        <p:txBody>
          <a:bodyPr wrap="square">
            <a:spAutoFit/>
          </a:bodyPr>
          <a:lstStyle/>
          <a:p>
            <a:pPr>
              <a:defRPr b="1"/>
            </a:pPr>
            <a:r>
              <a:rPr b="1" sz="4400">
                <a:solidFill>
                  <a:srgbClr val="F2F2F2"/>
                </a:solidFill>
                <a:latin typeface="Arial"/>
              </a:rPr>
              <a:t>Curățarea datelor în Excel — exportul murdar</a:t>
            </a:r>
          </a:p>
        </p:txBody>
      </p:sp>
      <p:sp>
        <p:nvSpPr>
          <p:cNvPr id="5" name="Rectangle 4"/>
          <p:cNvSpPr/>
          <p:nvPr/>
        </p:nvSpPr>
        <p:spPr>
          <a:xfrm>
            <a:off x="658368" y="4297680"/>
            <a:ext cx="1280160" cy="508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4526280"/>
            <a:ext cx="10874959" cy="640080"/>
          </a:xfrm>
          <a:prstGeom prst="rect">
            <a:avLst/>
          </a:prstGeom>
          <a:noFill/>
        </p:spPr>
        <p:txBody>
          <a:bodyPr wrap="none">
            <a:spAutoFit/>
          </a:bodyPr>
          <a:lstStyle/>
          <a:p>
            <a:r>
              <a:rPr b="0" sz="1700">
                <a:solidFill>
                  <a:srgbClr val="B0B0B4"/>
                </a:solidFill>
                <a:latin typeface="Arial"/>
              </a:rPr>
              <a:t>Business Question → Data → Excel (curăță) → Answer. Azi: exportul REAL, așa cum vine.</a:t>
            </a:r>
          </a:p>
        </p:txBody>
      </p:sp>
      <p:sp>
        <p:nvSpPr>
          <p:cNvPr id="7" name="TextBox 6"/>
          <p:cNvSpPr txBox="1"/>
          <p:nvPr/>
        </p:nvSpPr>
        <p:spPr>
          <a:xfrm>
            <a:off x="658368" y="5440680"/>
            <a:ext cx="10874959" cy="822960"/>
          </a:xfrm>
          <a:prstGeom prst="rect">
            <a:avLst/>
          </a:prstGeom>
          <a:noFill/>
        </p:spPr>
        <p:txBody>
          <a:bodyPr wrap="none">
            <a:spAutoFit/>
          </a:bodyPr>
          <a:lstStyle/>
          <a:p>
            <a:r>
              <a:rPr sz="1200">
                <a:solidFill>
                  <a:srgbClr val="77777C"/>
                </a:solidFill>
                <a:latin typeface="Consolas"/>
              </a:rPr>
              <a:t>Vineri, 9 octombrie 2026  ·  Offline, Orange Systems</a:t>
            </a:r>
          </a:p>
          <a:p>
            <a:r>
              <a:rPr sz="1300" b="1">
                <a:solidFill>
                  <a:srgbClr val="F2F2F2"/>
                </a:solidFill>
                <a:latin typeface="Arial"/>
              </a:rPr>
              <a:t>Liliana Spatari — Lead Data Analyst, Orange Systems</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L12 · Curățare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RECAP</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Unde am rămas (L11)</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83080"/>
            <a:ext cx="10874959" cy="2066543"/>
          </a:xfrm>
          <a:prstGeom prst="rect">
            <a:avLst/>
          </a:prstGeom>
          <a:noFill/>
        </p:spPr>
        <p:txBody>
          <a:bodyPr wrap="square">
            <a:spAutoFit/>
          </a:bodyPr>
          <a:lstStyle/>
          <a:p>
            <a:pPr>
              <a:lnSpc>
                <a:spcPct val="110000"/>
              </a:lnSpc>
              <a:spcAft>
                <a:spcPts val="700"/>
              </a:spcAft>
            </a:pPr>
            <a:r>
              <a:rPr sz="1500">
                <a:solidFill>
                  <a:srgbClr val="FF7900"/>
                </a:solidFill>
                <a:latin typeface="Consolas"/>
              </a:rPr>
              <a:t>— </a:t>
            </a:r>
            <a:r>
              <a:rPr b="0" sz="1500">
                <a:solidFill>
                  <a:srgbClr val="F2F2F2"/>
                </a:solidFill>
                <a:latin typeface="Arial"/>
              </a:rPr>
              <a:t>Prima mișcare: </a:t>
            </a:r>
            <a:r>
              <a:rPr sz="1500">
                <a:solidFill>
                  <a:srgbClr val="FFA24E"/>
                </a:solidFill>
                <a:latin typeface="Consolas"/>
              </a:rPr>
              <a:t>Ctrl+T</a:t>
            </a:r>
            <a:r>
              <a:rPr b="0" sz="1500">
                <a:solidFill>
                  <a:srgbClr val="F2F2F2"/>
                </a:solidFill>
                <a:latin typeface="Arial"/>
              </a:rPr>
              <a:t> → Table denumit (</a:t>
            </a:r>
            <a:r>
              <a:rPr sz="1500">
                <a:solidFill>
                  <a:srgbClr val="FFA24E"/>
                </a:solidFill>
                <a:latin typeface="Consolas"/>
              </a:rPr>
              <a:t>tblOrders</a:t>
            </a:r>
            <a:r>
              <a:rPr b="0" sz="1500">
                <a:solidFill>
                  <a:srgbClr val="F2F2F2"/>
                </a:solidFill>
                <a:latin typeface="Arial"/>
              </a:rPr>
              <a:t>), </a:t>
            </a:r>
            <a:r>
              <a:rPr sz="1500">
                <a:solidFill>
                  <a:srgbClr val="FFA24E"/>
                </a:solidFill>
                <a:latin typeface="Consolas"/>
              </a:rPr>
              <a:t>Total Row</a:t>
            </a:r>
          </a:p>
          <a:p>
            <a:pPr>
              <a:lnSpc>
                <a:spcPct val="110000"/>
              </a:lnSpc>
              <a:spcAft>
                <a:spcPts val="700"/>
              </a:spcAft>
            </a:pPr>
            <a:r>
              <a:rPr sz="1500">
                <a:solidFill>
                  <a:srgbClr val="FF7900"/>
                </a:solidFill>
                <a:latin typeface="Consolas"/>
              </a:rPr>
              <a:t>— </a:t>
            </a:r>
            <a:r>
              <a:rPr b="0" sz="1500">
                <a:solidFill>
                  <a:srgbClr val="F2F2F2"/>
                </a:solidFill>
                <a:latin typeface="Arial"/>
              </a:rPr>
              <a:t>Reperele de orientare: </a:t>
            </a:r>
            <a:r>
              <a:rPr b="1" sz="1500">
                <a:solidFill>
                  <a:srgbClr val="F2F2F2"/>
                </a:solidFill>
                <a:latin typeface="Arial"/>
              </a:rPr>
              <a:t>14.968</a:t>
            </a:r>
            <a:r>
              <a:rPr b="0" sz="1500">
                <a:solidFill>
                  <a:srgbClr val="F2F2F2"/>
                </a:solidFill>
                <a:latin typeface="Arial"/>
              </a:rPr>
              <a:t> comenzi, </a:t>
            </a:r>
            <a:r>
              <a:rPr b="1" sz="1500">
                <a:solidFill>
                  <a:srgbClr val="F2F2F2"/>
                </a:solidFill>
                <a:latin typeface="Arial"/>
              </a:rPr>
              <a:t>37,88 mil. lei</a:t>
            </a:r>
            <a:r>
              <a:rPr b="0" sz="1500">
                <a:solidFill>
                  <a:srgbClr val="F2F2F2"/>
                </a:solidFill>
                <a:latin typeface="Arial"/>
              </a:rPr>
              <a:t> Revenue</a:t>
            </a:r>
          </a:p>
          <a:p>
            <a:pPr>
              <a:lnSpc>
                <a:spcPct val="110000"/>
              </a:lnSpc>
              <a:spcAft>
                <a:spcPts val="700"/>
              </a:spcAft>
            </a:pPr>
            <a:r>
              <a:rPr sz="1500">
                <a:solidFill>
                  <a:srgbClr val="FF7900"/>
                </a:solidFill>
                <a:latin typeface="Consolas"/>
              </a:rPr>
              <a:t>— </a:t>
            </a:r>
            <a:r>
              <a:rPr sz="1500">
                <a:solidFill>
                  <a:srgbClr val="FFA24E"/>
                </a:solidFill>
                <a:latin typeface="Consolas"/>
              </a:rPr>
              <a:t>StoreID</a:t>
            </a:r>
            <a:r>
              <a:rPr b="0" sz="1500">
                <a:solidFill>
                  <a:srgbClr val="F2F2F2"/>
                </a:solidFill>
                <a:latin typeface="Arial"/>
              </a:rPr>
              <a:t> e un </a:t>
            </a:r>
            <a:r>
              <a:rPr b="1" sz="1500">
                <a:solidFill>
                  <a:srgbClr val="F2F2F2"/>
                </a:solidFill>
                <a:latin typeface="Arial"/>
              </a:rPr>
              <a:t>cod</a:t>
            </a:r>
            <a:r>
              <a:rPr b="0" sz="1500">
                <a:solidFill>
                  <a:srgbClr val="F2F2F2"/>
                </a:solidFill>
                <a:latin typeface="Arial"/>
              </a:rPr>
              <a:t> (2 = Cluj); orașul stă în </a:t>
            </a:r>
            <a:r>
              <a:rPr sz="1500">
                <a:solidFill>
                  <a:srgbClr val="FFA24E"/>
                </a:solidFill>
                <a:latin typeface="Consolas"/>
              </a:rPr>
              <a:t>stores</a:t>
            </a:r>
          </a:p>
        </p:txBody>
      </p:sp>
      <p:sp>
        <p:nvSpPr>
          <p:cNvPr id="7" name="Rounded Rectangle 6"/>
          <p:cNvSpPr/>
          <p:nvPr/>
        </p:nvSpPr>
        <p:spPr>
          <a:xfrm>
            <a:off x="658368" y="3849624"/>
            <a:ext cx="10874959" cy="1450848"/>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400">
                <a:solidFill>
                  <a:srgbClr val="F2F2F2"/>
                </a:solidFill>
                <a:latin typeface="Arial"/>
              </a:rPr>
              <a:t>Dar acelea erau pe fișierul </a:t>
            </a:r>
            <a:r>
              <a:rPr b="1" sz="1400">
                <a:solidFill>
                  <a:srgbClr val="F2F2F2"/>
                </a:solidFill>
                <a:latin typeface="Arial"/>
              </a:rPr>
              <a:t>curat</a:t>
            </a:r>
            <a:r>
              <a:rPr b="0" sz="1400">
                <a:solidFill>
                  <a:srgbClr val="F2F2F2"/>
                </a:solidFill>
                <a:latin typeface="Arial"/>
              </a:rPr>
              <a:t> de demonstrație — un cadou. </a:t>
            </a:r>
            <a:r>
              <a:rPr b="1" sz="1400">
                <a:solidFill>
                  <a:srgbClr val="F2F2F2"/>
                </a:solidFill>
                <a:latin typeface="Arial"/>
              </a:rPr>
              <a:t>Datele reale nu vin așa.</a:t>
            </a:r>
            <a:r>
              <a:rPr b="0" sz="1400">
                <a:solidFill>
                  <a:srgbClr val="F2F2F2"/>
                </a:solidFill>
                <a:latin typeface="Arial"/>
              </a:rPr>
              <a:t> Azi primești exportul adevărat.</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L12 · Curățare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OBJECTIVES</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Ce vei putea face după lecția asta</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83080"/>
            <a:ext cx="10874959" cy="3048000"/>
          </a:xfrm>
          <a:prstGeom prst="rect">
            <a:avLst/>
          </a:prstGeom>
          <a:noFill/>
        </p:spPr>
        <p:txBody>
          <a:bodyPr wrap="square">
            <a:spAutoFit/>
          </a:bodyPr>
          <a:lstStyle/>
          <a:p>
            <a:pPr>
              <a:lnSpc>
                <a:spcPct val="110000"/>
              </a:lnSpc>
              <a:spcAft>
                <a:spcPts val="700"/>
              </a:spcAft>
            </a:pPr>
            <a:r>
              <a:rPr sz="1400">
                <a:solidFill>
                  <a:srgbClr val="FF7900"/>
                </a:solidFill>
                <a:latin typeface="Consolas"/>
              </a:rPr>
              <a:t>— </a:t>
            </a:r>
            <a:r>
              <a:rPr b="0" sz="1400">
                <a:solidFill>
                  <a:srgbClr val="F2F2F2"/>
                </a:solidFill>
                <a:latin typeface="Arial"/>
              </a:rPr>
              <a:t>Să recunoști, într-un export real, cele </a:t>
            </a:r>
            <a:r>
              <a:rPr b="1" sz="1400">
                <a:solidFill>
                  <a:srgbClr val="F2F2F2"/>
                </a:solidFill>
                <a:latin typeface="Arial"/>
              </a:rPr>
              <a:t>cinci feluri de murdărie</a:t>
            </a:r>
            <a:r>
              <a:rPr b="0" sz="1400">
                <a:solidFill>
                  <a:srgbClr val="F2F2F2"/>
                </a:solidFill>
                <a:latin typeface="Arial"/>
              </a:rPr>
              <a:t> (L9) — acum în Excel</a:t>
            </a:r>
          </a:p>
          <a:p>
            <a:pPr>
              <a:lnSpc>
                <a:spcPct val="110000"/>
              </a:lnSpc>
              <a:spcAft>
                <a:spcPts val="700"/>
              </a:spcAft>
            </a:pPr>
            <a:r>
              <a:rPr sz="1400">
                <a:solidFill>
                  <a:srgbClr val="FF7900"/>
                </a:solidFill>
                <a:latin typeface="Consolas"/>
              </a:rPr>
              <a:t>— </a:t>
            </a:r>
            <a:r>
              <a:rPr b="0" sz="1400">
                <a:solidFill>
                  <a:srgbClr val="F2F2F2"/>
                </a:solidFill>
                <a:latin typeface="Arial"/>
              </a:rPr>
              <a:t>Să </a:t>
            </a:r>
            <a:r>
              <a:rPr b="1" sz="1400">
                <a:solidFill>
                  <a:srgbClr val="F2F2F2"/>
                </a:solidFill>
                <a:latin typeface="Arial"/>
              </a:rPr>
              <a:t>elimini duplicatele</a:t>
            </a:r>
            <a:r>
              <a:rPr b="0" sz="1400">
                <a:solidFill>
                  <a:srgbClr val="F2F2F2"/>
                </a:solidFill>
                <a:latin typeface="Arial"/>
              </a:rPr>
              <a:t> (</a:t>
            </a:r>
            <a:r>
              <a:rPr sz="1400">
                <a:solidFill>
                  <a:srgbClr val="FFA24E"/>
                </a:solidFill>
                <a:latin typeface="Consolas"/>
              </a:rPr>
              <a:t>Data &gt; Remove Duplicates</a:t>
            </a:r>
            <a:r>
              <a:rPr b="0" sz="1400">
                <a:solidFill>
                  <a:srgbClr val="F2F2F2"/>
                </a:solidFill>
                <a:latin typeface="Arial"/>
              </a:rPr>
              <a:t>)</a:t>
            </a:r>
          </a:p>
          <a:p>
            <a:pPr>
              <a:lnSpc>
                <a:spcPct val="110000"/>
              </a:lnSpc>
              <a:spcAft>
                <a:spcPts val="700"/>
              </a:spcAft>
            </a:pPr>
            <a:r>
              <a:rPr sz="1400">
                <a:solidFill>
                  <a:srgbClr val="FF7900"/>
                </a:solidFill>
                <a:latin typeface="Consolas"/>
              </a:rPr>
              <a:t>— </a:t>
            </a:r>
            <a:r>
              <a:rPr b="0" sz="1400">
                <a:solidFill>
                  <a:srgbClr val="F2F2F2"/>
                </a:solidFill>
                <a:latin typeface="Arial"/>
              </a:rPr>
              <a:t>Să </a:t>
            </a:r>
            <a:r>
              <a:rPr b="1" sz="1400">
                <a:solidFill>
                  <a:srgbClr val="F2F2F2"/>
                </a:solidFill>
                <a:latin typeface="Arial"/>
              </a:rPr>
              <a:t>cureți textul</a:t>
            </a:r>
            <a:r>
              <a:rPr b="0" sz="1400">
                <a:solidFill>
                  <a:srgbClr val="F2F2F2"/>
                </a:solidFill>
                <a:latin typeface="Arial"/>
              </a:rPr>
              <a:t> (</a:t>
            </a:r>
            <a:r>
              <a:rPr sz="1400">
                <a:solidFill>
                  <a:srgbClr val="FFA24E"/>
                </a:solidFill>
                <a:latin typeface="Consolas"/>
              </a:rPr>
              <a:t>TRIM</a:t>
            </a:r>
            <a:r>
              <a:rPr b="0" sz="1400">
                <a:solidFill>
                  <a:srgbClr val="F2F2F2"/>
                </a:solidFill>
                <a:latin typeface="Arial"/>
              </a:rPr>
              <a:t> / </a:t>
            </a:r>
            <a:r>
              <a:rPr sz="1400">
                <a:solidFill>
                  <a:srgbClr val="FFA24E"/>
                </a:solidFill>
                <a:latin typeface="Consolas"/>
              </a:rPr>
              <a:t>Find &amp; Replace</a:t>
            </a:r>
            <a:r>
              <a:rPr b="0" sz="1400">
                <a:solidFill>
                  <a:srgbClr val="F2F2F2"/>
                </a:solidFill>
                <a:latin typeface="Arial"/>
              </a:rPr>
              <a:t>) și să </a:t>
            </a:r>
            <a:r>
              <a:rPr b="1" sz="1400">
                <a:solidFill>
                  <a:srgbClr val="F2F2F2"/>
                </a:solidFill>
                <a:latin typeface="Arial"/>
              </a:rPr>
              <a:t>standardizezi datele</a:t>
            </a:r>
          </a:p>
          <a:p>
            <a:pPr>
              <a:lnSpc>
                <a:spcPct val="110000"/>
              </a:lnSpc>
              <a:spcAft>
                <a:spcPts val="700"/>
              </a:spcAft>
            </a:pPr>
            <a:r>
              <a:rPr sz="1400">
                <a:solidFill>
                  <a:srgbClr val="FF7900"/>
                </a:solidFill>
                <a:latin typeface="Consolas"/>
              </a:rPr>
              <a:t>— </a:t>
            </a:r>
            <a:r>
              <a:rPr b="0" sz="1400">
                <a:solidFill>
                  <a:srgbClr val="F2F2F2"/>
                </a:solidFill>
                <a:latin typeface="Arial"/>
              </a:rPr>
              <a:t>Să deosebești un </a:t>
            </a:r>
            <a:r>
              <a:rPr b="1" sz="1400">
                <a:solidFill>
                  <a:srgbClr val="F2F2F2"/>
                </a:solidFill>
                <a:latin typeface="Arial"/>
              </a:rPr>
              <a:t>gol intenționat</a:t>
            </a:r>
            <a:r>
              <a:rPr b="0" sz="1400">
                <a:solidFill>
                  <a:srgbClr val="F2F2F2"/>
                </a:solidFill>
                <a:latin typeface="Arial"/>
              </a:rPr>
              <a:t> (fără campanie) de un </a:t>
            </a:r>
            <a:r>
              <a:rPr b="1" sz="1400">
                <a:solidFill>
                  <a:srgbClr val="F2F2F2"/>
                </a:solidFill>
                <a:latin typeface="Arial"/>
              </a:rPr>
              <a:t>gol real</a:t>
            </a:r>
            <a:r>
              <a:rPr b="0" sz="1400">
                <a:solidFill>
                  <a:srgbClr val="F2F2F2"/>
                </a:solidFill>
                <a:latin typeface="Arial"/>
              </a:rPr>
              <a:t> (client lipsă)</a:t>
            </a:r>
          </a:p>
          <a:p>
            <a:pPr>
              <a:lnSpc>
                <a:spcPct val="110000"/>
              </a:lnSpc>
              <a:spcAft>
                <a:spcPts val="700"/>
              </a:spcAft>
            </a:pPr>
            <a:r>
              <a:rPr sz="1400">
                <a:solidFill>
                  <a:srgbClr val="FF7900"/>
                </a:solidFill>
                <a:latin typeface="Consolas"/>
              </a:rPr>
              <a:t>— </a:t>
            </a:r>
            <a:r>
              <a:rPr b="0" sz="1400">
                <a:solidFill>
                  <a:srgbClr val="F2F2F2"/>
                </a:solidFill>
                <a:latin typeface="Arial"/>
              </a:rPr>
              <a:t>Să ții un </a:t>
            </a:r>
            <a:r>
              <a:rPr b="1" sz="1400">
                <a:solidFill>
                  <a:srgbClr val="F2F2F2"/>
                </a:solidFill>
                <a:latin typeface="Arial"/>
              </a:rPr>
              <a:t>jurnal de curățare</a:t>
            </a:r>
            <a:r>
              <a:rPr b="0" sz="1400">
                <a:solidFill>
                  <a:srgbClr val="F2F2F2"/>
                </a:solidFill>
                <a:latin typeface="Arial"/>
              </a:rPr>
              <a:t>: pe copie, reversibil, notat</a:t>
            </a:r>
          </a:p>
        </p:txBody>
      </p:sp>
      <p:sp>
        <p:nvSpPr>
          <p:cNvPr id="7" name="TextBox 6"/>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8" name="TextBox 7"/>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L12 · Curățare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SETUP · EXPORTUL REAL</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Cum arată </a:t>
            </a:r>
            <a:r>
              <a:rPr sz="3000">
                <a:solidFill>
                  <a:srgbClr val="FFA24E"/>
                </a:solidFill>
                <a:latin typeface="Consolas"/>
              </a:rPr>
              <a:t>orders_raw</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83080"/>
            <a:ext cx="10874959" cy="1237956"/>
          </a:xfrm>
          <a:prstGeom prst="rect">
            <a:avLst/>
          </a:prstGeom>
          <a:noFill/>
        </p:spPr>
        <p:txBody>
          <a:bodyPr wrap="square">
            <a:spAutoFit/>
          </a:bodyPr>
          <a:lstStyle/>
          <a:p>
            <a:pPr>
              <a:lnSpc>
                <a:spcPct val="115000"/>
              </a:lnSpc>
            </a:pPr>
            <a:r>
              <a:rPr b="0" sz="1500">
                <a:solidFill>
                  <a:srgbClr val="F2F2F2"/>
                </a:solidFill>
                <a:latin typeface="Arial"/>
              </a:rPr>
              <a:t>Deschizi 📎 </a:t>
            </a:r>
            <a:r>
              <a:rPr sz="1500">
                <a:solidFill>
                  <a:srgbClr val="FFA24E"/>
                </a:solidFill>
                <a:latin typeface="Consolas"/>
              </a:rPr>
              <a:t>L12_orders_raw_cleaning.xlsx</a:t>
            </a:r>
            <a:r>
              <a:rPr b="0" sz="1500">
                <a:solidFill>
                  <a:srgbClr val="F2F2F2"/>
                </a:solidFill>
                <a:latin typeface="Arial"/>
              </a:rPr>
              <a:t>, fila </a:t>
            </a:r>
            <a:r>
              <a:rPr sz="1500">
                <a:solidFill>
                  <a:srgbClr val="FFA24E"/>
                </a:solidFill>
                <a:latin typeface="Consolas"/>
              </a:rPr>
              <a:t>orders_raw</a:t>
            </a:r>
            <a:r>
              <a:rPr b="0" sz="1500">
                <a:solidFill>
                  <a:srgbClr val="F2F2F2"/>
                </a:solidFill>
                <a:latin typeface="Arial"/>
              </a:rPr>
              <a:t> — ~2.009 comenzi. Arată ca un tabel normal. Dar dacă te uiți pe rânduri:</a:t>
            </a:r>
          </a:p>
        </p:txBody>
      </p:sp>
      <p:sp>
        <p:nvSpPr>
          <p:cNvPr id="7" name="TextBox 6"/>
          <p:cNvSpPr txBox="1"/>
          <p:nvPr/>
        </p:nvSpPr>
        <p:spPr>
          <a:xfrm>
            <a:off x="658368" y="3130764"/>
            <a:ext cx="10874959" cy="2511552"/>
          </a:xfrm>
          <a:prstGeom prst="rect">
            <a:avLst/>
          </a:prstGeom>
          <a:noFill/>
        </p:spPr>
        <p:txBody>
          <a:bodyPr wrap="square">
            <a:spAutoFit/>
          </a:bodyPr>
          <a:lstStyle/>
          <a:p>
            <a:pPr>
              <a:lnSpc>
                <a:spcPct val="110000"/>
              </a:lnSpc>
              <a:spcAft>
                <a:spcPts val="700"/>
              </a:spcAft>
            </a:pPr>
            <a:r>
              <a:rPr sz="1400">
                <a:solidFill>
                  <a:srgbClr val="FF7900"/>
                </a:solidFill>
                <a:latin typeface="Consolas"/>
              </a:rPr>
              <a:t>— </a:t>
            </a:r>
            <a:r>
              <a:rPr b="0" sz="1400">
                <a:solidFill>
                  <a:srgbClr val="F2F2F2"/>
                </a:solidFill>
                <a:latin typeface="Arial"/>
              </a:rPr>
              <a:t>o dată scrisă </a:t>
            </a:r>
            <a:r>
              <a:rPr sz="1400">
                <a:solidFill>
                  <a:srgbClr val="FFA24E"/>
                </a:solidFill>
                <a:latin typeface="Consolas"/>
              </a:rPr>
              <a:t>21.02.2025</a:t>
            </a:r>
            <a:r>
              <a:rPr b="0" sz="1400">
                <a:solidFill>
                  <a:srgbClr val="F2F2F2"/>
                </a:solidFill>
                <a:latin typeface="Arial"/>
              </a:rPr>
              <a:t>, alta </a:t>
            </a:r>
            <a:r>
              <a:rPr sz="1400">
                <a:solidFill>
                  <a:srgbClr val="FFA24E"/>
                </a:solidFill>
                <a:latin typeface="Consolas"/>
              </a:rPr>
              <a:t>2025-02-18</a:t>
            </a:r>
            <a:r>
              <a:rPr b="0" sz="1400">
                <a:solidFill>
                  <a:srgbClr val="F2F2F2"/>
                </a:solidFill>
                <a:latin typeface="Arial"/>
              </a:rPr>
              <a:t> — formate amestecate</a:t>
            </a:r>
          </a:p>
          <a:p>
            <a:pPr>
              <a:lnSpc>
                <a:spcPct val="110000"/>
              </a:lnSpc>
              <a:spcAft>
                <a:spcPts val="700"/>
              </a:spcAft>
            </a:pPr>
            <a:r>
              <a:rPr sz="1400">
                <a:solidFill>
                  <a:srgbClr val="FF7900"/>
                </a:solidFill>
                <a:latin typeface="Consolas"/>
              </a:rPr>
              <a:t>— </a:t>
            </a:r>
            <a:r>
              <a:rPr b="0" sz="1400">
                <a:solidFill>
                  <a:srgbClr val="F2F2F2"/>
                </a:solidFill>
                <a:latin typeface="Arial"/>
              </a:rPr>
              <a:t>un </a:t>
            </a:r>
            <a:r>
              <a:rPr sz="1400">
                <a:solidFill>
                  <a:srgbClr val="FFA24E"/>
                </a:solidFill>
                <a:latin typeface="Consolas"/>
              </a:rPr>
              <a:t>PaymentMethod</a:t>
            </a:r>
            <a:r>
              <a:rPr b="0" sz="1400">
                <a:solidFill>
                  <a:srgbClr val="F2F2F2"/>
                </a:solidFill>
                <a:latin typeface="Arial"/>
              </a:rPr>
              <a:t> scris </a:t>
            </a:r>
            <a:r>
              <a:rPr sz="1400">
                <a:solidFill>
                  <a:srgbClr val="FFA24E"/>
                </a:solidFill>
                <a:latin typeface="Consolas"/>
              </a:rPr>
              <a:t> Card </a:t>
            </a:r>
            <a:r>
              <a:rPr b="0" sz="1400">
                <a:solidFill>
                  <a:srgbClr val="F2F2F2"/>
                </a:solidFill>
                <a:latin typeface="Arial"/>
              </a:rPr>
              <a:t>, altul </a:t>
            </a:r>
            <a:r>
              <a:rPr sz="1400">
                <a:solidFill>
                  <a:srgbClr val="FFA24E"/>
                </a:solidFill>
                <a:latin typeface="Consolas"/>
              </a:rPr>
              <a:t>CARD</a:t>
            </a:r>
            <a:r>
              <a:rPr b="0" sz="1400">
                <a:solidFill>
                  <a:srgbClr val="F2F2F2"/>
                </a:solidFill>
                <a:latin typeface="Arial"/>
              </a:rPr>
              <a:t> — scriere inconsecventă</a:t>
            </a:r>
          </a:p>
          <a:p>
            <a:pPr>
              <a:lnSpc>
                <a:spcPct val="110000"/>
              </a:lnSpc>
              <a:spcAft>
                <a:spcPts val="700"/>
              </a:spcAft>
            </a:pPr>
            <a:r>
              <a:rPr sz="1400">
                <a:solidFill>
                  <a:srgbClr val="FF7900"/>
                </a:solidFill>
                <a:latin typeface="Consolas"/>
              </a:rPr>
              <a:t>— </a:t>
            </a:r>
            <a:r>
              <a:rPr b="0" sz="1400">
                <a:solidFill>
                  <a:srgbClr val="F2F2F2"/>
                </a:solidFill>
                <a:latin typeface="Arial"/>
              </a:rPr>
              <a:t>celule goale (</a:t>
            </a:r>
            <a:r>
              <a:rPr sz="1400">
                <a:solidFill>
                  <a:srgbClr val="FFA24E"/>
                </a:solidFill>
                <a:latin typeface="Consolas"/>
              </a:rPr>
              <a:t>CampaignID</a:t>
            </a:r>
            <a:r>
              <a:rPr b="0" sz="1400">
                <a:solidFill>
                  <a:srgbClr val="F2F2F2"/>
                </a:solidFill>
                <a:latin typeface="Arial"/>
              </a:rPr>
              <a:t>, </a:t>
            </a:r>
            <a:r>
              <a:rPr sz="1400">
                <a:solidFill>
                  <a:srgbClr val="FFA24E"/>
                </a:solidFill>
                <a:latin typeface="Consolas"/>
              </a:rPr>
              <a:t>CustomerID</a:t>
            </a:r>
            <a:r>
              <a:rPr b="0" sz="1400">
                <a:solidFill>
                  <a:srgbClr val="F2F2F2"/>
                </a:solidFill>
                <a:latin typeface="Arial"/>
              </a:rPr>
              <a:t>)</a:t>
            </a:r>
          </a:p>
          <a:p>
            <a:pPr>
              <a:lnSpc>
                <a:spcPct val="110000"/>
              </a:lnSpc>
              <a:spcAft>
                <a:spcPts val="700"/>
              </a:spcAft>
            </a:pPr>
            <a:r>
              <a:rPr sz="1400">
                <a:solidFill>
                  <a:srgbClr val="FF7900"/>
                </a:solidFill>
                <a:latin typeface="Consolas"/>
              </a:rPr>
              <a:t>— </a:t>
            </a:r>
            <a:r>
              <a:rPr b="0" sz="1400">
                <a:solidFill>
                  <a:srgbClr val="F2F2F2"/>
                </a:solidFill>
                <a:latin typeface="Arial"/>
              </a:rPr>
              <a:t>o comandă de </a:t>
            </a:r>
            <a:r>
              <a:rPr b="1" sz="1400">
                <a:solidFill>
                  <a:srgbClr val="F2F2F2"/>
                </a:solidFill>
                <a:latin typeface="Arial"/>
              </a:rPr>
              <a:t>9.999.999,99 lei</a:t>
            </a:r>
            <a:r>
              <a:rPr b="0" sz="1400">
                <a:solidFill>
                  <a:srgbClr val="F2F2F2"/>
                </a:solidFill>
                <a:latin typeface="Arial"/>
              </a:rPr>
              <a:t> — imposibilă</a:t>
            </a:r>
          </a:p>
        </p:txBody>
      </p:sp>
      <p:sp>
        <p:nvSpPr>
          <p:cNvPr id="8" name="Rounded Rectangle 7"/>
          <p:cNvSpPr/>
          <p:nvPr/>
        </p:nvSpPr>
        <p:spPr>
          <a:xfrm>
            <a:off x="658368" y="5642316"/>
            <a:ext cx="10874959" cy="879348"/>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300">
                <a:solidFill>
                  <a:srgbClr val="F2F2F2"/>
                </a:solidFill>
                <a:latin typeface="Arial"/>
              </a:rPr>
              <a:t>E, cuvânt cu cuvânt, </a:t>
            </a:r>
            <a:r>
              <a:rPr b="1" sz="1300">
                <a:solidFill>
                  <a:srgbClr val="F2F2F2"/>
                </a:solidFill>
                <a:latin typeface="Arial"/>
              </a:rPr>
              <a:t>Lecția 9</a:t>
            </a:r>
            <a:r>
              <a:rPr b="0" sz="1300">
                <a:solidFill>
                  <a:srgbClr val="F2F2F2"/>
                </a:solidFill>
                <a:latin typeface="Arial"/>
              </a:rPr>
              <a:t> — dar acum trebuie s-o </a:t>
            </a:r>
            <a:r>
              <a:rPr i="1" sz="1300">
                <a:solidFill>
                  <a:srgbClr val="F2F2F2"/>
                </a:solidFill>
                <a:latin typeface="Arial"/>
              </a:rPr>
              <a:t>repari</a:t>
            </a:r>
            <a:r>
              <a:rPr b="0" sz="1300">
                <a:solidFill>
                  <a:srgbClr val="F2F2F2"/>
                </a:solidFill>
                <a:latin typeface="Arial"/>
              </a:rPr>
              <a:t>, nu doar s-o observi.</a:t>
            </a:r>
          </a:p>
        </p:txBody>
      </p:sp>
      <p:sp>
        <p:nvSpPr>
          <p:cNvPr id="9" name="TextBox 8"/>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10" name="TextBox 9"/>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L12 · Curățare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MOMENTUL</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„Nu-l aduna așa cum e” (Andrei)</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83080"/>
            <a:ext cx="10874959" cy="2098548"/>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500">
                <a:solidFill>
                  <a:srgbClr val="F2F2F2"/>
                </a:solidFill>
                <a:latin typeface="Arial"/>
              </a:rPr>
              <a:t>„Ăsta e </a:t>
            </a:r>
            <a:r>
              <a:rPr sz="1500">
                <a:solidFill>
                  <a:srgbClr val="FFA24E"/>
                </a:solidFill>
                <a:latin typeface="Consolas"/>
              </a:rPr>
              <a:t>orders_raw</a:t>
            </a:r>
            <a:r>
              <a:rPr b="0" sz="1500">
                <a:solidFill>
                  <a:srgbClr val="F2F2F2"/>
                </a:solidFill>
                <a:latin typeface="Arial"/>
              </a:rPr>
              <a:t> — cum iese din sistem, nefiltrat. </a:t>
            </a:r>
            <a:r>
              <a:rPr b="1" sz="1500">
                <a:solidFill>
                  <a:srgbClr val="F2F2F2"/>
                </a:solidFill>
                <a:latin typeface="Arial"/>
              </a:rPr>
              <a:t>Nu-l aduna așa cum e.</a:t>
            </a:r>
            <a:r>
              <a:rPr b="0" sz="1500">
                <a:solidFill>
                  <a:srgbClr val="F2F2F2"/>
                </a:solidFill>
                <a:latin typeface="Arial"/>
              </a:rPr>
              <a:t> Uită-te întâi la el — o să găsești de toate. Cureți, notezi ce-ai curățat, și abia pe urmă îmi zici o cifră.”</a:t>
            </a:r>
          </a:p>
        </p:txBody>
      </p:sp>
      <p:sp>
        <p:nvSpPr>
          <p:cNvPr id="7" name="TextBox 6"/>
          <p:cNvSpPr txBox="1"/>
          <p:nvPr/>
        </p:nvSpPr>
        <p:spPr>
          <a:xfrm>
            <a:off x="658368" y="4018788"/>
            <a:ext cx="10874959" cy="1237956"/>
          </a:xfrm>
          <a:prstGeom prst="rect">
            <a:avLst/>
          </a:prstGeom>
          <a:noFill/>
        </p:spPr>
        <p:txBody>
          <a:bodyPr wrap="square">
            <a:spAutoFit/>
          </a:bodyPr>
          <a:lstStyle/>
          <a:p>
            <a:pPr>
              <a:lnSpc>
                <a:spcPct val="115000"/>
              </a:lnSpc>
            </a:pPr>
            <a:r>
              <a:rPr b="0" sz="1500">
                <a:solidFill>
                  <a:srgbClr val="F2F2F2"/>
                </a:solidFill>
                <a:latin typeface="Arial"/>
              </a:rPr>
              <a:t>Curățarea nu e „frumusețe”; e </a:t>
            </a:r>
            <a:r>
              <a:rPr b="1" sz="1500">
                <a:solidFill>
                  <a:srgbClr val="F2F2F2"/>
                </a:solidFill>
                <a:latin typeface="Arial"/>
              </a:rPr>
              <a:t>condiția</a:t>
            </a:r>
            <a:r>
              <a:rPr b="0" sz="1500">
                <a:solidFill>
                  <a:srgbClr val="F2F2F2"/>
                </a:solidFill>
                <a:latin typeface="Arial"/>
              </a:rPr>
              <a:t> ca orice cifră de după să însemne ceva. Dar mai întâi, o poveste — Ioana, din nou.</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L12 · Curățare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ATENȚIE · ANTI-EXEMPLU</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Ce a pățit Ioana (din nou): a adunat murdăria</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83080"/>
            <a:ext cx="10874959" cy="1237956"/>
          </a:xfrm>
          <a:prstGeom prst="rect">
            <a:avLst/>
          </a:prstGeom>
          <a:noFill/>
        </p:spPr>
        <p:txBody>
          <a:bodyPr wrap="square">
            <a:spAutoFit/>
          </a:bodyPr>
          <a:lstStyle/>
          <a:p>
            <a:pPr>
              <a:lnSpc>
                <a:spcPct val="115000"/>
              </a:lnSpc>
            </a:pPr>
            <a:r>
              <a:rPr b="0" sz="1500">
                <a:solidFill>
                  <a:srgbClr val="F2F2F2"/>
                </a:solidFill>
                <a:latin typeface="Arial"/>
              </a:rPr>
              <a:t>Ioana a făcut ce părea firesc: a adunat. </a:t>
            </a:r>
            <a:r>
              <a:rPr sz="1500">
                <a:solidFill>
                  <a:srgbClr val="FFA24E"/>
                </a:solidFill>
                <a:latin typeface="Consolas"/>
              </a:rPr>
              <a:t>Total Row</a:t>
            </a:r>
            <a:r>
              <a:rPr b="0" sz="1500">
                <a:solidFill>
                  <a:srgbClr val="F2F2F2"/>
                </a:solidFill>
                <a:latin typeface="Arial"/>
              </a:rPr>
              <a:t>, </a:t>
            </a:r>
            <a:r>
              <a:rPr sz="1500">
                <a:solidFill>
                  <a:srgbClr val="FFA24E"/>
                </a:solidFill>
                <a:latin typeface="Consolas"/>
              </a:rPr>
              <a:t>Sum</a:t>
            </a:r>
            <a:r>
              <a:rPr b="0" sz="1500">
                <a:solidFill>
                  <a:srgbClr val="F2F2F2"/>
                </a:solidFill>
                <a:latin typeface="Arial"/>
              </a:rPr>
              <a:t> pe </a:t>
            </a:r>
            <a:r>
              <a:rPr sz="1500">
                <a:solidFill>
                  <a:srgbClr val="FFA24E"/>
                </a:solidFill>
                <a:latin typeface="Consolas"/>
              </a:rPr>
              <a:t>TotalAmount</a:t>
            </a:r>
            <a:r>
              <a:rPr b="0" sz="1500">
                <a:solidFill>
                  <a:srgbClr val="F2F2F2"/>
                </a:solidFill>
                <a:latin typeface="Arial"/>
              </a:rPr>
              <a:t> → un Revenue care „arăta” mare. L-a trimis Elenei: „extrasul face vreo 10 milioane.”</a:t>
            </a:r>
          </a:p>
        </p:txBody>
      </p:sp>
      <p:sp>
        <p:nvSpPr>
          <p:cNvPr id="7" name="Rounded Rectangle 6"/>
          <p:cNvSpPr/>
          <p:nvPr/>
        </p:nvSpPr>
        <p:spPr>
          <a:xfrm>
            <a:off x="658368" y="3130764"/>
            <a:ext cx="10874959" cy="1450848"/>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400">
                <a:solidFill>
                  <a:srgbClr val="F2F2F2"/>
                </a:solidFill>
                <a:latin typeface="Arial"/>
              </a:rPr>
              <a:t>Dar </a:t>
            </a:r>
            <a:r>
              <a:rPr b="1" sz="1400">
                <a:solidFill>
                  <a:srgbClr val="F2F2F2"/>
                </a:solidFill>
                <a:latin typeface="Arial"/>
              </a:rPr>
              <a:t>OrderID 13554</a:t>
            </a:r>
            <a:r>
              <a:rPr b="0" sz="1400">
                <a:solidFill>
                  <a:srgbClr val="F2F2F2"/>
                </a:solidFill>
                <a:latin typeface="Arial"/>
              </a:rPr>
              <a:t>, cu </a:t>
            </a:r>
            <a:r>
              <a:rPr sz="1400">
                <a:solidFill>
                  <a:srgbClr val="FFA24E"/>
                </a:solidFill>
                <a:latin typeface="Consolas"/>
              </a:rPr>
              <a:t>9.999.999,99</a:t>
            </a:r>
            <a:r>
              <a:rPr b="0" sz="1400">
                <a:solidFill>
                  <a:srgbClr val="F2F2F2"/>
                </a:solidFill>
                <a:latin typeface="Arial"/>
              </a:rPr>
              <a:t>, a umflat totul — plus </a:t>
            </a:r>
            <a:r>
              <a:rPr b="1" sz="1400">
                <a:solidFill>
                  <a:srgbClr val="F2F2F2"/>
                </a:solidFill>
                <a:latin typeface="Arial"/>
              </a:rPr>
              <a:t>9 comenzi</a:t>
            </a:r>
            <a:r>
              <a:rPr b="0" sz="1400">
                <a:solidFill>
                  <a:srgbClr val="F2F2F2"/>
                </a:solidFill>
                <a:latin typeface="Arial"/>
              </a:rPr>
              <a:t> apar de două ori. Cifra arăta precisă și era complet falsă: </a:t>
            </a:r>
            <a:r>
              <a:rPr b="1" sz="1400">
                <a:solidFill>
                  <a:srgbClr val="F2F2F2"/>
                </a:solidFill>
                <a:latin typeface="Arial"/>
              </a:rPr>
              <a:t>datele murdare mint cu convingere.</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L12 · Curățare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REGULA DE BAZĂ</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Pe copie, reversibil, notat</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83080"/>
            <a:ext cx="10874959" cy="2066543"/>
          </a:xfrm>
          <a:prstGeom prst="rect">
            <a:avLst/>
          </a:prstGeom>
          <a:noFill/>
        </p:spPr>
        <p:txBody>
          <a:bodyPr wrap="square">
            <a:spAutoFit/>
          </a:bodyPr>
          <a:lstStyle/>
          <a:p>
            <a:pPr>
              <a:lnSpc>
                <a:spcPct val="110000"/>
              </a:lnSpc>
              <a:spcAft>
                <a:spcPts val="700"/>
              </a:spcAft>
            </a:pPr>
            <a:r>
              <a:rPr sz="1500">
                <a:solidFill>
                  <a:srgbClr val="FF7900"/>
                </a:solidFill>
                <a:latin typeface="Consolas"/>
              </a:rPr>
              <a:t>— </a:t>
            </a:r>
            <a:r>
              <a:rPr b="1" sz="1500">
                <a:solidFill>
                  <a:srgbClr val="F2F2F2"/>
                </a:solidFill>
                <a:latin typeface="Arial"/>
              </a:rPr>
              <a:t>Nu atingi originalul</a:t>
            </a:r>
            <a:r>
              <a:rPr b="0" sz="1500">
                <a:solidFill>
                  <a:srgbClr val="F2F2F2"/>
                </a:solidFill>
                <a:latin typeface="Arial"/>
              </a:rPr>
              <a:t> — lucrezi pe o </a:t>
            </a:r>
            <a:r>
              <a:rPr b="1" sz="1500">
                <a:solidFill>
                  <a:srgbClr val="F2F2F2"/>
                </a:solidFill>
                <a:latin typeface="Arial"/>
              </a:rPr>
              <a:t>copie</a:t>
            </a:r>
            <a:r>
              <a:rPr b="0" sz="1500">
                <a:solidFill>
                  <a:srgbClr val="F2F2F2"/>
                </a:solidFill>
                <a:latin typeface="Arial"/>
              </a:rPr>
              <a:t>; dacă greșești un pas, te întorci</a:t>
            </a:r>
          </a:p>
          <a:p>
            <a:pPr>
              <a:lnSpc>
                <a:spcPct val="110000"/>
              </a:lnSpc>
              <a:spcAft>
                <a:spcPts val="700"/>
              </a:spcAft>
            </a:pPr>
            <a:r>
              <a:rPr sz="1500">
                <a:solidFill>
                  <a:srgbClr val="FF7900"/>
                </a:solidFill>
                <a:latin typeface="Consolas"/>
              </a:rPr>
              <a:t>— </a:t>
            </a:r>
            <a:r>
              <a:rPr b="1" sz="1500">
                <a:solidFill>
                  <a:srgbClr val="F2F2F2"/>
                </a:solidFill>
                <a:latin typeface="Arial"/>
              </a:rPr>
              <a:t>Reversibil, pas cu pas</a:t>
            </a:r>
            <a:r>
              <a:rPr b="0" sz="1500">
                <a:solidFill>
                  <a:srgbClr val="F2F2F2"/>
                </a:solidFill>
                <a:latin typeface="Arial"/>
              </a:rPr>
              <a:t> — un pas = o singură schimbare clară, verificabilă</a:t>
            </a:r>
          </a:p>
          <a:p>
            <a:pPr>
              <a:lnSpc>
                <a:spcPct val="110000"/>
              </a:lnSpc>
              <a:spcAft>
                <a:spcPts val="700"/>
              </a:spcAft>
            </a:pPr>
            <a:r>
              <a:rPr sz="1500">
                <a:solidFill>
                  <a:srgbClr val="FF7900"/>
                </a:solidFill>
                <a:latin typeface="Consolas"/>
              </a:rPr>
              <a:t>— </a:t>
            </a:r>
            <a:r>
              <a:rPr b="1" sz="1500">
                <a:solidFill>
                  <a:srgbClr val="F2F2F2"/>
                </a:solidFill>
                <a:latin typeface="Arial"/>
              </a:rPr>
              <a:t>Notezi ce-ai schimbat</a:t>
            </a:r>
            <a:r>
              <a:rPr b="0" sz="1500">
                <a:solidFill>
                  <a:srgbClr val="F2F2F2"/>
                </a:solidFill>
                <a:latin typeface="Arial"/>
              </a:rPr>
              <a:t> (jurnalul): „am scos 9 duplicate”, „am marcat 34 fără client”</a:t>
            </a:r>
          </a:p>
        </p:txBody>
      </p:sp>
      <p:sp>
        <p:nvSpPr>
          <p:cNvPr id="7" name="Rounded Rectangle 6"/>
          <p:cNvSpPr/>
          <p:nvPr/>
        </p:nvSpPr>
        <p:spPr>
          <a:xfrm>
            <a:off x="658368" y="3849624"/>
            <a:ext cx="10874959" cy="1374647"/>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300">
                <a:solidFill>
                  <a:srgbClr val="F2F2F2"/>
                </a:solidFill>
                <a:latin typeface="Arial"/>
              </a:rPr>
              <a:t>Fără jurnal, nimeni — nici tu peste o săptămână — nu poate verifica ce-ai făcut. O cifră necurățată transparent </a:t>
            </a:r>
            <a:r>
              <a:rPr b="1" sz="1300">
                <a:solidFill>
                  <a:srgbClr val="F2F2F2"/>
                </a:solidFill>
                <a:latin typeface="Arial"/>
              </a:rPr>
              <a:t>nu e de încredere</a:t>
            </a:r>
            <a:r>
              <a:rPr b="0" sz="1300">
                <a:solidFill>
                  <a:srgbClr val="F2F2F2"/>
                </a:solidFill>
                <a:latin typeface="Arial"/>
              </a:rPr>
              <a:t>.</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L12 · Curățare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IDEEA CENTRALĂ</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Cureți întâi, calculezi după</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58368" y="1783080"/>
          <a:ext cx="10874959" cy="2578608"/>
        </p:xfrm>
        <a:graphic>
          <a:graphicData uri="http://schemas.openxmlformats.org/drawingml/2006/table">
            <a:tbl>
              <a:tblPr>
                <a:tableStyleId>{5C22544A-7EE6-4342-B048-85BDC9FD1C3A}</a:tableStyleId>
              </a:tblPr>
              <a:tblGrid>
                <a:gridCol w="5437479"/>
                <a:gridCol w="5437480"/>
              </a:tblGrid>
              <a:tr h="368372">
                <a:tc>
                  <a:txBody>
                    <a:bodyPr/>
                    <a:lstStyle/>
                    <a:p>
                      <a:r>
                        <a:rPr b="1" sz="1200">
                          <a:solidFill>
                            <a:srgbClr val="B0B0B4"/>
                          </a:solidFill>
                          <a:latin typeface="Consolas"/>
                        </a:rPr>
                        <a:t>#</a:t>
                      </a:r>
                    </a:p>
                  </a:txBody>
                  <a:tcPr marL="91440" marT="27432" marB="27432" anchor="ctr">
                    <a:solidFill>
                      <a:srgbClr val="1E1E22"/>
                    </a:solidFill>
                  </a:tcPr>
                </a:tc>
                <a:tc>
                  <a:txBody>
                    <a:bodyPr/>
                    <a:lstStyle/>
                    <a:p>
                      <a:r>
                        <a:rPr b="1" sz="1200">
                          <a:solidFill>
                            <a:srgbClr val="B0B0B4"/>
                          </a:solidFill>
                          <a:latin typeface="Consolas"/>
                        </a:rPr>
                        <a:t>Pas de curățare</a:t>
                      </a:r>
                    </a:p>
                  </a:txBody>
                  <a:tcPr marL="91440" marT="27432" marB="27432" anchor="ctr">
                    <a:solidFill>
                      <a:srgbClr val="1E1E22"/>
                    </a:solidFill>
                  </a:tcPr>
                </a:tc>
              </a:tr>
              <a:tr h="368372">
                <a:tc>
                  <a:txBody>
                    <a:bodyPr/>
                    <a:lstStyle/>
                    <a:p>
                      <a:r>
                        <a:rPr b="0" sz="1200">
                          <a:solidFill>
                            <a:srgbClr val="F2F2F2"/>
                          </a:solidFill>
                          <a:latin typeface="Arial"/>
                        </a:rPr>
                        <a:t>1</a:t>
                      </a:r>
                    </a:p>
                  </a:txBody>
                  <a:tcPr marL="91440" marT="27432" marB="27432" anchor="ctr">
                    <a:solidFill>
                      <a:srgbClr val="151517"/>
                    </a:solidFill>
                  </a:tcPr>
                </a:tc>
                <a:tc>
                  <a:txBody>
                    <a:bodyPr/>
                    <a:lstStyle/>
                    <a:p>
                      <a:r>
                        <a:rPr b="0" sz="1200">
                          <a:solidFill>
                            <a:srgbClr val="F2F2F2"/>
                          </a:solidFill>
                          <a:latin typeface="Arial"/>
                        </a:rPr>
                        <a:t>Structură — faci datele un Table</a:t>
                      </a:r>
                    </a:p>
                  </a:txBody>
                  <a:tcPr marL="91440" marT="27432" marB="27432" anchor="ctr">
                    <a:solidFill>
                      <a:srgbClr val="151517"/>
                    </a:solidFill>
                  </a:tcPr>
                </a:tc>
              </a:tr>
              <a:tr h="368372">
                <a:tc>
                  <a:txBody>
                    <a:bodyPr/>
                    <a:lstStyle/>
                    <a:p>
                      <a:r>
                        <a:rPr b="0" sz="1200">
                          <a:solidFill>
                            <a:srgbClr val="F2F2F2"/>
                          </a:solidFill>
                          <a:latin typeface="Arial"/>
                        </a:rPr>
                        <a:t>2</a:t>
                      </a:r>
                    </a:p>
                  </a:txBody>
                  <a:tcPr marL="91440" marT="27432" marB="27432" anchor="ctr">
                    <a:solidFill>
                      <a:srgbClr val="1A1A1E"/>
                    </a:solidFill>
                  </a:tcPr>
                </a:tc>
                <a:tc>
                  <a:txBody>
                    <a:bodyPr/>
                    <a:lstStyle/>
                    <a:p>
                      <a:r>
                        <a:rPr b="0" sz="1200">
                          <a:solidFill>
                            <a:srgbClr val="F2F2F2"/>
                          </a:solidFill>
                          <a:latin typeface="Arial"/>
                        </a:rPr>
                        <a:t>Duplicate — Remove Duplicates (nu numeri de două ori)</a:t>
                      </a:r>
                    </a:p>
                  </a:txBody>
                  <a:tcPr marL="91440" marT="27432" marB="27432" anchor="ctr">
                    <a:solidFill>
                      <a:srgbClr val="1A1A1E"/>
                    </a:solidFill>
                  </a:tcPr>
                </a:tc>
              </a:tr>
              <a:tr h="368372">
                <a:tc>
                  <a:txBody>
                    <a:bodyPr/>
                    <a:lstStyle/>
                    <a:p>
                      <a:r>
                        <a:rPr b="0" sz="1200">
                          <a:solidFill>
                            <a:srgbClr val="F2F2F2"/>
                          </a:solidFill>
                          <a:latin typeface="Arial"/>
                        </a:rPr>
                        <a:t>3</a:t>
                      </a:r>
                    </a:p>
                  </a:txBody>
                  <a:tcPr marL="91440" marT="27432" marB="27432" anchor="ctr">
                    <a:solidFill>
                      <a:srgbClr val="151517"/>
                    </a:solidFill>
                  </a:tcPr>
                </a:tc>
                <a:tc>
                  <a:txBody>
                    <a:bodyPr/>
                    <a:lstStyle/>
                    <a:p>
                      <a:r>
                        <a:rPr b="0" sz="1200">
                          <a:solidFill>
                            <a:srgbClr val="F2F2F2"/>
                          </a:solidFill>
                          <a:latin typeface="Arial"/>
                        </a:rPr>
                        <a:t>Text — TRIM + o singură scriere</a:t>
                      </a:r>
                    </a:p>
                  </a:txBody>
                  <a:tcPr marL="91440" marT="27432" marB="27432" anchor="ctr">
                    <a:solidFill>
                      <a:srgbClr val="151517"/>
                    </a:solidFill>
                  </a:tcPr>
                </a:tc>
              </a:tr>
              <a:tr h="368372">
                <a:tc>
                  <a:txBody>
                    <a:bodyPr/>
                    <a:lstStyle/>
                    <a:p>
                      <a:r>
                        <a:rPr b="0" sz="1200">
                          <a:solidFill>
                            <a:srgbClr val="F2F2F2"/>
                          </a:solidFill>
                          <a:latin typeface="Arial"/>
                        </a:rPr>
                        <a:t>4</a:t>
                      </a:r>
                    </a:p>
                  </a:txBody>
                  <a:tcPr marL="91440" marT="27432" marB="27432" anchor="ctr">
                    <a:solidFill>
                      <a:srgbClr val="1A1A1E"/>
                    </a:solidFill>
                  </a:tcPr>
                </a:tc>
                <a:tc>
                  <a:txBody>
                    <a:bodyPr/>
                    <a:lstStyle/>
                    <a:p>
                      <a:r>
                        <a:rPr b="0" sz="1200">
                          <a:solidFill>
                            <a:srgbClr val="F2F2F2"/>
                          </a:solidFill>
                          <a:latin typeface="Arial"/>
                        </a:rPr>
                        <a:t>Formate — o dată reală, unică</a:t>
                      </a:r>
                    </a:p>
                  </a:txBody>
                  <a:tcPr marL="91440" marT="27432" marB="27432" anchor="ctr">
                    <a:solidFill>
                      <a:srgbClr val="1A1A1E"/>
                    </a:solidFill>
                  </a:tcPr>
                </a:tc>
              </a:tr>
              <a:tr h="368372">
                <a:tc>
                  <a:txBody>
                    <a:bodyPr/>
                    <a:lstStyle/>
                    <a:p>
                      <a:r>
                        <a:rPr b="0" sz="1200">
                          <a:solidFill>
                            <a:srgbClr val="F2F2F2"/>
                          </a:solidFill>
                          <a:latin typeface="Arial"/>
                        </a:rPr>
                        <a:t>5</a:t>
                      </a:r>
                    </a:p>
                  </a:txBody>
                  <a:tcPr marL="91440" marT="27432" marB="27432" anchor="ctr">
                    <a:solidFill>
                      <a:srgbClr val="151517"/>
                    </a:solidFill>
                  </a:tcPr>
                </a:tc>
                <a:tc>
                  <a:txBody>
                    <a:bodyPr/>
                    <a:lstStyle/>
                    <a:p>
                      <a:r>
                        <a:rPr b="0" sz="1200">
                          <a:solidFill>
                            <a:srgbClr val="F2F2F2"/>
                          </a:solidFill>
                          <a:latin typeface="Arial"/>
                        </a:rPr>
                        <a:t>Goluri — intenționat (lași) vs real (marchezi)</a:t>
                      </a:r>
                    </a:p>
                  </a:txBody>
                  <a:tcPr marL="91440" marT="27432" marB="27432" anchor="ctr">
                    <a:solidFill>
                      <a:srgbClr val="151517"/>
                    </a:solidFill>
                  </a:tcPr>
                </a:tc>
              </a:tr>
              <a:tr h="368376">
                <a:tc>
                  <a:txBody>
                    <a:bodyPr/>
                    <a:lstStyle/>
                    <a:p>
                      <a:r>
                        <a:rPr b="0" sz="1200">
                          <a:solidFill>
                            <a:srgbClr val="F2F2F2"/>
                          </a:solidFill>
                          <a:latin typeface="Arial"/>
                        </a:rPr>
                        <a:t>6</a:t>
                      </a:r>
                    </a:p>
                  </a:txBody>
                  <a:tcPr marL="91440" marT="27432" marB="27432" anchor="ctr">
                    <a:solidFill>
                      <a:srgbClr val="1A1A1E"/>
                    </a:solidFill>
                  </a:tcPr>
                </a:tc>
                <a:tc>
                  <a:txBody>
                    <a:bodyPr/>
                    <a:lstStyle/>
                    <a:p>
                      <a:r>
                        <a:rPr b="0" sz="1200">
                          <a:solidFill>
                            <a:srgbClr val="F2F2F2"/>
                          </a:solidFill>
                          <a:latin typeface="Arial"/>
                        </a:rPr>
                        <a:t>Imposibile — negative + outliere → investighezi</a:t>
                      </a:r>
                    </a:p>
                  </a:txBody>
                  <a:tcPr marL="91440" marT="27432" marB="27432" anchor="ctr">
                    <a:solidFill>
                      <a:srgbClr val="1A1A1E"/>
                    </a:solidFill>
                  </a:tcPr>
                </a:tc>
              </a:tr>
            </a:tbl>
          </a:graphicData>
        </a:graphic>
      </p:graphicFrame>
      <p:sp>
        <p:nvSpPr>
          <p:cNvPr id="7" name="Rounded Rectangle 6"/>
          <p:cNvSpPr/>
          <p:nvPr/>
        </p:nvSpPr>
        <p:spPr>
          <a:xfrm>
            <a:off x="658368" y="4498848"/>
            <a:ext cx="10874959" cy="1374647"/>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300">
                <a:solidFill>
                  <a:srgbClr val="F2F2F2"/>
                </a:solidFill>
                <a:latin typeface="Arial"/>
              </a:rPr>
              <a:t>Datele murdare sunt legumele nespălate — o comandă de 10 mil. sau una numărată de două ori </a:t>
            </a:r>
            <a:r>
              <a:rPr b="1" sz="1300">
                <a:solidFill>
                  <a:srgbClr val="F2F2F2"/>
                </a:solidFill>
                <a:latin typeface="Arial"/>
              </a:rPr>
              <a:t>strică orice cifră</a:t>
            </a:r>
            <a:r>
              <a:rPr b="0" sz="1300">
                <a:solidFill>
                  <a:srgbClr val="F2F2F2"/>
                </a:solidFill>
                <a:latin typeface="Arial"/>
              </a:rPr>
              <a:t>.</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L12 · Curățare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PARTEA 1 · STRUCTURĂ + START</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sz="3000">
                <a:solidFill>
                  <a:srgbClr val="FFA24E"/>
                </a:solidFill>
                <a:latin typeface="Consolas"/>
              </a:rPr>
              <a:t>tblRaw</a:t>
            </a:r>
            <a:r>
              <a:rPr b="1" sz="3000">
                <a:solidFill>
                  <a:srgbClr val="F2F2F2"/>
                </a:solidFill>
                <a:latin typeface="Arial"/>
              </a:rPr>
              <a:t> și câte rânduri la start</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83080"/>
            <a:ext cx="10874959" cy="1438656"/>
          </a:xfrm>
          <a:prstGeom prst="rect">
            <a:avLst/>
          </a:prstGeom>
          <a:noFill/>
        </p:spPr>
        <p:txBody>
          <a:bodyPr wrap="square">
            <a:spAutoFit/>
          </a:bodyPr>
          <a:lstStyle/>
          <a:p>
            <a:pPr>
              <a:lnSpc>
                <a:spcPct val="110000"/>
              </a:lnSpc>
              <a:spcAft>
                <a:spcPts val="700"/>
              </a:spcAft>
            </a:pPr>
            <a:r>
              <a:rPr sz="1400">
                <a:solidFill>
                  <a:srgbClr val="FF7900"/>
                </a:solidFill>
                <a:latin typeface="Consolas"/>
              </a:rPr>
              <a:t>— </a:t>
            </a:r>
            <a:r>
              <a:rPr b="1" sz="1400">
                <a:solidFill>
                  <a:srgbClr val="F2F2F2"/>
                </a:solidFill>
                <a:latin typeface="Arial"/>
              </a:rPr>
              <a:t>Pasul 1</a:t>
            </a:r>
            <a:r>
              <a:rPr b="0" sz="1400">
                <a:solidFill>
                  <a:srgbClr val="F2F2F2"/>
                </a:solidFill>
                <a:latin typeface="Arial"/>
              </a:rPr>
              <a:t> — click </a:t>
            </a:r>
            <a:r>
              <a:rPr sz="1400">
                <a:solidFill>
                  <a:srgbClr val="FFA24E"/>
                </a:solidFill>
                <a:latin typeface="Consolas"/>
              </a:rPr>
              <a:t>A2</a:t>
            </a:r>
            <a:r>
              <a:rPr b="0" sz="1400">
                <a:solidFill>
                  <a:srgbClr val="F2F2F2"/>
                </a:solidFill>
                <a:latin typeface="Arial"/>
              </a:rPr>
              <a:t> → </a:t>
            </a:r>
            <a:r>
              <a:rPr sz="1400">
                <a:solidFill>
                  <a:srgbClr val="FFA24E"/>
                </a:solidFill>
                <a:latin typeface="Consolas"/>
              </a:rPr>
              <a:t>Ctrl+T</a:t>
            </a:r>
            <a:r>
              <a:rPr b="0" sz="1400">
                <a:solidFill>
                  <a:srgbClr val="F2F2F2"/>
                </a:solidFill>
                <a:latin typeface="Arial"/>
              </a:rPr>
              <a:t> → denumește </a:t>
            </a:r>
            <a:r>
              <a:rPr sz="1400">
                <a:solidFill>
                  <a:srgbClr val="FFA24E"/>
                </a:solidFill>
                <a:latin typeface="Consolas"/>
              </a:rPr>
              <a:t>tblRaw</a:t>
            </a:r>
            <a:r>
              <a:rPr b="0" sz="1400">
                <a:solidFill>
                  <a:srgbClr val="F2F2F2"/>
                </a:solidFill>
                <a:latin typeface="Arial"/>
              </a:rPr>
              <a:t> (reflexul din L11)</a:t>
            </a:r>
          </a:p>
          <a:p>
            <a:pPr>
              <a:lnSpc>
                <a:spcPct val="110000"/>
              </a:lnSpc>
              <a:spcAft>
                <a:spcPts val="700"/>
              </a:spcAft>
            </a:pPr>
            <a:r>
              <a:rPr sz="1400">
                <a:solidFill>
                  <a:srgbClr val="FF7900"/>
                </a:solidFill>
                <a:latin typeface="Consolas"/>
              </a:rPr>
              <a:t>— </a:t>
            </a:r>
            <a:r>
              <a:rPr b="1" sz="1400">
                <a:solidFill>
                  <a:srgbClr val="F2F2F2"/>
                </a:solidFill>
                <a:latin typeface="Arial"/>
              </a:rPr>
              <a:t>Pasul 2</a:t>
            </a:r>
            <a:r>
              <a:rPr b="0" sz="1400">
                <a:solidFill>
                  <a:srgbClr val="F2F2F2"/>
                </a:solidFill>
                <a:latin typeface="Arial"/>
              </a:rPr>
              <a:t> — </a:t>
            </a:r>
            <a:r>
              <a:rPr sz="1400">
                <a:solidFill>
                  <a:srgbClr val="FFA24E"/>
                </a:solidFill>
                <a:latin typeface="Consolas"/>
              </a:rPr>
              <a:t>Total Row</a:t>
            </a:r>
            <a:r>
              <a:rPr b="0" sz="1400">
                <a:solidFill>
                  <a:srgbClr val="F2F2F2"/>
                </a:solidFill>
                <a:latin typeface="Arial"/>
              </a:rPr>
              <a:t> → </a:t>
            </a:r>
            <a:r>
              <a:rPr sz="1400">
                <a:solidFill>
                  <a:srgbClr val="FFA24E"/>
                </a:solidFill>
                <a:latin typeface="Consolas"/>
              </a:rPr>
              <a:t>Count</a:t>
            </a:r>
            <a:r>
              <a:rPr b="0" sz="1400">
                <a:solidFill>
                  <a:srgbClr val="F2F2F2"/>
                </a:solidFill>
                <a:latin typeface="Arial"/>
              </a:rPr>
              <a:t> pe </a:t>
            </a:r>
            <a:r>
              <a:rPr sz="1400">
                <a:solidFill>
                  <a:srgbClr val="FFA24E"/>
                </a:solidFill>
                <a:latin typeface="Consolas"/>
              </a:rPr>
              <a:t>OrderID</a:t>
            </a:r>
            <a:r>
              <a:rPr b="0" sz="1400">
                <a:solidFill>
                  <a:srgbClr val="F2F2F2"/>
                </a:solidFill>
                <a:latin typeface="Arial"/>
              </a:rPr>
              <a:t> → </a:t>
            </a:r>
            <a:r>
              <a:rPr b="1" sz="1400">
                <a:solidFill>
                  <a:srgbClr val="F2F2F2"/>
                </a:solidFill>
                <a:latin typeface="Arial"/>
              </a:rPr>
              <a:t>2.009</a:t>
            </a:r>
            <a:r>
              <a:rPr b="0" sz="1400">
                <a:solidFill>
                  <a:srgbClr val="F2F2F2"/>
                </a:solidFill>
                <a:latin typeface="Arial"/>
              </a:rPr>
              <a:t>, punctul de plecare</a:t>
            </a:r>
          </a:p>
        </p:txBody>
      </p:sp>
      <p:sp>
        <p:nvSpPr>
          <p:cNvPr id="7" name="Rounded Rectangle 6"/>
          <p:cNvSpPr/>
          <p:nvPr/>
        </p:nvSpPr>
        <p:spPr>
          <a:xfrm>
            <a:off x="658368" y="3221736"/>
            <a:ext cx="10874959" cy="722376"/>
          </a:xfrm>
          <a:prstGeom prst="roundRect">
            <a:avLst/>
          </a:prstGeom>
          <a:solidFill>
            <a:srgbClr val="1E1E22"/>
          </a:solidFill>
          <a:ln w="9525">
            <a:solidFill>
              <a:srgbClr val="2E2E34"/>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109728" bIns="109728"/>
          <a:lstStyle/>
          <a:p>
            <a:pPr algn="ctr">
              <a:lnSpc>
                <a:spcPct val="100000"/>
              </a:lnSpc>
            </a:pPr>
            <a:r>
              <a:rPr sz="1300">
                <a:solidFill>
                  <a:srgbClr val="FFA24E"/>
                </a:solidFill>
                <a:latin typeface="Consolas"/>
              </a:rPr>
              <a:t>Click A2 → Ctrl+T → Table Name: tblRaw</a:t>
            </a:r>
          </a:p>
          <a:p>
            <a:pPr>
              <a:lnSpc>
                <a:spcPct val="100000"/>
              </a:lnSpc>
            </a:pPr>
            <a:r>
              <a:rPr sz="1300">
                <a:solidFill>
                  <a:srgbClr val="FFA24E"/>
                </a:solidFill>
                <a:latin typeface="Consolas"/>
              </a:rPr>
              <a:t>Table Design → ✓ Total Row → Count(OrderID) = 2.009</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L12 · Curățare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PARTEA 2 · DUPLICATE</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sz="3000">
                <a:solidFill>
                  <a:srgbClr val="FFA24E"/>
                </a:solidFill>
                <a:latin typeface="Consolas"/>
              </a:rPr>
              <a:t>Remove Duplicates</a:t>
            </a:r>
            <a:r>
              <a:rPr b="1" sz="3000">
                <a:solidFill>
                  <a:srgbClr val="F2F2F2"/>
                </a:solidFill>
                <a:latin typeface="Arial"/>
              </a:rPr>
              <a:t> pe </a:t>
            </a:r>
            <a:r>
              <a:rPr sz="3000">
                <a:solidFill>
                  <a:srgbClr val="FFA24E"/>
                </a:solidFill>
                <a:latin typeface="Consolas"/>
              </a:rPr>
              <a:t>OrderID</a:t>
            </a:r>
            <a:r>
              <a:rPr b="1" sz="3000">
                <a:solidFill>
                  <a:srgbClr val="F2F2F2"/>
                </a:solidFill>
                <a:latin typeface="Arial"/>
              </a:rPr>
              <a:t> → 2.000</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83080"/>
            <a:ext cx="10874959" cy="489204"/>
          </a:xfrm>
          <a:prstGeom prst="roundRect">
            <a:avLst/>
          </a:prstGeom>
          <a:solidFill>
            <a:srgbClr val="1E1E22"/>
          </a:solidFill>
          <a:ln w="9525">
            <a:solidFill>
              <a:srgbClr val="2E2E34"/>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109728" bIns="109728"/>
          <a:lstStyle/>
          <a:p>
            <a:pPr algn="ctr">
              <a:lnSpc>
                <a:spcPct val="100000"/>
              </a:lnSpc>
            </a:pPr>
            <a:r>
              <a:rPr sz="1300">
                <a:solidFill>
                  <a:srgbClr val="FFA24E"/>
                </a:solidFill>
                <a:latin typeface="Consolas"/>
              </a:rPr>
              <a:t>Data &gt; Remove Duplicates → bifat DOAR OrderID → OK</a:t>
            </a:r>
          </a:p>
        </p:txBody>
      </p:sp>
      <p:sp>
        <p:nvSpPr>
          <p:cNvPr id="7" name="Rounded Rectangle 6"/>
          <p:cNvSpPr/>
          <p:nvPr/>
        </p:nvSpPr>
        <p:spPr>
          <a:xfrm>
            <a:off x="658368" y="2409444"/>
            <a:ext cx="10874959" cy="1450848"/>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400">
                <a:solidFill>
                  <a:srgbClr val="F2F2F2"/>
                </a:solidFill>
                <a:latin typeface="Arial"/>
              </a:rPr>
              <a:t>🖥️ „</a:t>
            </a:r>
            <a:r>
              <a:rPr b="1" sz="1400">
                <a:solidFill>
                  <a:srgbClr val="F2F2F2"/>
                </a:solidFill>
                <a:latin typeface="Arial"/>
              </a:rPr>
              <a:t>9 duplicate values found and removed; 2.000 unique values remain.</a:t>
            </a:r>
            <a:r>
              <a:rPr b="0" sz="1400">
                <a:solidFill>
                  <a:srgbClr val="F2F2F2"/>
                </a:solidFill>
                <a:latin typeface="Arial"/>
              </a:rPr>
              <a:t>” Total Row-ul arată acum </a:t>
            </a:r>
            <a:r>
              <a:rPr b="1" sz="1400">
                <a:solidFill>
                  <a:srgbClr val="F2F2F2"/>
                </a:solidFill>
                <a:latin typeface="Arial"/>
              </a:rPr>
              <a:t>2.000</a:t>
            </a:r>
            <a:r>
              <a:rPr b="0" sz="1400">
                <a:solidFill>
                  <a:srgbClr val="F2F2F2"/>
                </a:solidFill>
                <a:latin typeface="Arial"/>
              </a:rPr>
              <a:t>.</a:t>
            </a:r>
          </a:p>
        </p:txBody>
      </p:sp>
      <p:sp>
        <p:nvSpPr>
          <p:cNvPr id="8" name="TextBox 7"/>
          <p:cNvSpPr txBox="1"/>
          <p:nvPr/>
        </p:nvSpPr>
        <p:spPr>
          <a:xfrm>
            <a:off x="658368" y="3997452"/>
            <a:ext cx="10874959" cy="1237956"/>
          </a:xfrm>
          <a:prstGeom prst="rect">
            <a:avLst/>
          </a:prstGeom>
          <a:noFill/>
        </p:spPr>
        <p:txBody>
          <a:bodyPr wrap="square">
            <a:spAutoFit/>
          </a:bodyPr>
          <a:lstStyle/>
          <a:p>
            <a:pPr>
              <a:lnSpc>
                <a:spcPct val="115000"/>
              </a:lnSpc>
            </a:pPr>
            <a:r>
              <a:rPr b="0" sz="1500">
                <a:solidFill>
                  <a:srgbClr val="F2F2F2"/>
                </a:solidFill>
                <a:latin typeface="Arial"/>
              </a:rPr>
              <a:t>⚠️ </a:t>
            </a:r>
            <a:r>
              <a:rPr sz="1500">
                <a:solidFill>
                  <a:srgbClr val="FFA24E"/>
                </a:solidFill>
                <a:latin typeface="Consolas"/>
              </a:rPr>
              <a:t>Remove Duplicates</a:t>
            </a:r>
            <a:r>
              <a:rPr b="0" sz="1500">
                <a:solidFill>
                  <a:srgbClr val="F2F2F2"/>
                </a:solidFill>
                <a:latin typeface="Arial"/>
              </a:rPr>
              <a:t> rezolvă </a:t>
            </a:r>
            <a:r>
              <a:rPr i="1" sz="1500">
                <a:solidFill>
                  <a:srgbClr val="F2F2F2"/>
                </a:solidFill>
                <a:latin typeface="Arial"/>
              </a:rPr>
              <a:t>duplicarea</a:t>
            </a:r>
            <a:r>
              <a:rPr b="0" sz="1500">
                <a:solidFill>
                  <a:srgbClr val="F2F2F2"/>
                </a:solidFill>
                <a:latin typeface="Arial"/>
              </a:rPr>
              <a:t>, nu valorile absurde. Comanda </a:t>
            </a:r>
            <a:r>
              <a:rPr b="1" sz="1500">
                <a:solidFill>
                  <a:srgbClr val="F2F2F2"/>
                </a:solidFill>
                <a:latin typeface="Arial"/>
              </a:rPr>
              <a:t>13554</a:t>
            </a:r>
            <a:r>
              <a:rPr b="0" sz="1500">
                <a:solidFill>
                  <a:srgbClr val="F2F2F2"/>
                </a:solidFill>
                <a:latin typeface="Arial"/>
              </a:rPr>
              <a:t> era și duplicată, </a:t>
            </a:r>
            <a:r>
              <a:rPr b="1" sz="1500">
                <a:solidFill>
                  <a:srgbClr val="F2F2F2"/>
                </a:solidFill>
                <a:latin typeface="Arial"/>
              </a:rPr>
              <a:t>și</a:t>
            </a:r>
            <a:r>
              <a:rPr b="0" sz="1500">
                <a:solidFill>
                  <a:srgbClr val="F2F2F2"/>
                </a:solidFill>
                <a:latin typeface="Arial"/>
              </a:rPr>
              <a:t> avea copia de </a:t>
            </a:r>
            <a:r>
              <a:rPr sz="1500">
                <a:solidFill>
                  <a:srgbClr val="FFA24E"/>
                </a:solidFill>
                <a:latin typeface="Consolas"/>
              </a:rPr>
              <a:t>9.999.999,99</a:t>
            </a:r>
            <a:r>
              <a:rPr b="0" sz="1500">
                <a:solidFill>
                  <a:srgbClr val="F2F2F2"/>
                </a:solidFill>
                <a:latin typeface="Arial"/>
              </a:rPr>
              <a:t> — outlierul îl tratezi separat, la Pasul 6.</a:t>
            </a:r>
          </a:p>
        </p:txBody>
      </p:sp>
      <p:sp>
        <p:nvSpPr>
          <p:cNvPr id="9" name="TextBox 8"/>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10" name="TextBox 9"/>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L12 · Curățare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PARTEA 3 · TEXT</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sz="3000">
                <a:solidFill>
                  <a:srgbClr val="FFA24E"/>
                </a:solidFill>
                <a:latin typeface="Consolas"/>
              </a:rPr>
              <a:t>TRIM</a:t>
            </a:r>
            <a:r>
              <a:rPr b="1" sz="3000">
                <a:solidFill>
                  <a:srgbClr val="F2F2F2"/>
                </a:solidFill>
                <a:latin typeface="Arial"/>
              </a:rPr>
              <a:t> / </a:t>
            </a:r>
            <a:r>
              <a:rPr sz="3000">
                <a:solidFill>
                  <a:srgbClr val="FFA24E"/>
                </a:solidFill>
                <a:latin typeface="Consolas"/>
              </a:rPr>
              <a:t>Find &amp; Replace</a:t>
            </a:r>
            <a:r>
              <a:rPr b="1" sz="3000">
                <a:solidFill>
                  <a:srgbClr val="F2F2F2"/>
                </a:solidFill>
                <a:latin typeface="Arial"/>
              </a:rPr>
              <a:t> → 4 valori</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83080"/>
            <a:ext cx="10874959" cy="1237956"/>
          </a:xfrm>
          <a:prstGeom prst="rect">
            <a:avLst/>
          </a:prstGeom>
          <a:noFill/>
        </p:spPr>
        <p:txBody>
          <a:bodyPr wrap="square">
            <a:spAutoFit/>
          </a:bodyPr>
          <a:lstStyle/>
          <a:p>
            <a:pPr>
              <a:lnSpc>
                <a:spcPct val="115000"/>
              </a:lnSpc>
            </a:pPr>
            <a:r>
              <a:rPr b="0" sz="1500">
                <a:solidFill>
                  <a:srgbClr val="F2F2F2"/>
                </a:solidFill>
                <a:latin typeface="Arial"/>
              </a:rPr>
              <a:t>Coloana </a:t>
            </a:r>
            <a:r>
              <a:rPr sz="1500">
                <a:solidFill>
                  <a:srgbClr val="FFA24E"/>
                </a:solidFill>
                <a:latin typeface="Consolas"/>
              </a:rPr>
              <a:t>PaymentMethod</a:t>
            </a:r>
            <a:r>
              <a:rPr b="0" sz="1500">
                <a:solidFill>
                  <a:srgbClr val="F2F2F2"/>
                </a:solidFill>
                <a:latin typeface="Arial"/>
              </a:rPr>
              <a:t> are </a:t>
            </a:r>
            <a:r>
              <a:rPr sz="1500">
                <a:solidFill>
                  <a:srgbClr val="FFA24E"/>
                </a:solidFill>
                <a:latin typeface="Consolas"/>
              </a:rPr>
              <a:t> Card </a:t>
            </a:r>
            <a:r>
              <a:rPr b="0" sz="1500">
                <a:solidFill>
                  <a:srgbClr val="F2F2F2"/>
                </a:solidFill>
                <a:latin typeface="Arial"/>
              </a:rPr>
              <a:t>, </a:t>
            </a:r>
            <a:r>
              <a:rPr sz="1500">
                <a:solidFill>
                  <a:srgbClr val="FFA24E"/>
                </a:solidFill>
                <a:latin typeface="Consolas"/>
              </a:rPr>
              <a:t>CARD</a:t>
            </a:r>
            <a:r>
              <a:rPr b="0" sz="1500">
                <a:solidFill>
                  <a:srgbClr val="F2F2F2"/>
                </a:solidFill>
                <a:latin typeface="Arial"/>
              </a:rPr>
              <a:t>, </a:t>
            </a:r>
            <a:r>
              <a:rPr sz="1500">
                <a:solidFill>
                  <a:srgbClr val="FFA24E"/>
                </a:solidFill>
                <a:latin typeface="Consolas"/>
              </a:rPr>
              <a:t>card</a:t>
            </a:r>
            <a:r>
              <a:rPr b="0" sz="1500">
                <a:solidFill>
                  <a:srgbClr val="F2F2F2"/>
                </a:solidFill>
                <a:latin typeface="Arial"/>
              </a:rPr>
              <a:t>, </a:t>
            </a:r>
            <a:r>
              <a:rPr sz="1500">
                <a:solidFill>
                  <a:srgbClr val="FFA24E"/>
                </a:solidFill>
                <a:latin typeface="Consolas"/>
              </a:rPr>
              <a:t> Cash </a:t>
            </a:r>
            <a:r>
              <a:rPr b="0" sz="1500">
                <a:solidFill>
                  <a:srgbClr val="F2F2F2"/>
                </a:solidFill>
                <a:latin typeface="Arial"/>
              </a:rPr>
              <a:t>… — spații și majuscule. Le aduci la o singură formă cu </a:t>
            </a:r>
            <a:r>
              <a:rPr sz="1500">
                <a:solidFill>
                  <a:srgbClr val="FFA24E"/>
                </a:solidFill>
                <a:latin typeface="Consolas"/>
              </a:rPr>
              <a:t>Find &amp; Replace</a:t>
            </a:r>
            <a:r>
              <a:rPr b="0" sz="1500">
                <a:solidFill>
                  <a:srgbClr val="F2F2F2"/>
                </a:solidFill>
                <a:latin typeface="Arial"/>
              </a:rPr>
              <a:t> (</a:t>
            </a:r>
            <a:r>
              <a:rPr sz="1500">
                <a:solidFill>
                  <a:srgbClr val="FFA24E"/>
                </a:solidFill>
                <a:latin typeface="Consolas"/>
              </a:rPr>
              <a:t>Ctrl+H</a:t>
            </a:r>
            <a:r>
              <a:rPr b="0" sz="1500">
                <a:solidFill>
                  <a:srgbClr val="F2F2F2"/>
                </a:solidFill>
                <a:latin typeface="Arial"/>
              </a:rPr>
              <a:t>) sau o coloană ajutătoare.</a:t>
            </a:r>
          </a:p>
        </p:txBody>
      </p:sp>
      <p:sp>
        <p:nvSpPr>
          <p:cNvPr id="7" name="Rounded Rectangle 6"/>
          <p:cNvSpPr/>
          <p:nvPr/>
        </p:nvSpPr>
        <p:spPr>
          <a:xfrm>
            <a:off x="658368" y="3130764"/>
            <a:ext cx="10874959" cy="722376"/>
          </a:xfrm>
          <a:prstGeom prst="roundRect">
            <a:avLst/>
          </a:prstGeom>
          <a:solidFill>
            <a:srgbClr val="1E1E22"/>
          </a:solidFill>
          <a:ln w="9525">
            <a:solidFill>
              <a:srgbClr val="2E2E34"/>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109728" bIns="109728"/>
          <a:lstStyle/>
          <a:p>
            <a:pPr algn="ctr">
              <a:lnSpc>
                <a:spcPct val="100000"/>
              </a:lnSpc>
            </a:pPr>
            <a:r>
              <a:rPr sz="1300">
                <a:solidFill>
                  <a:srgbClr val="FFA24E"/>
                </a:solidFill>
                <a:latin typeface="Consolas"/>
              </a:rPr>
              <a:t>Ctrl+H:  CARD, card, " Card "  →  Card   (idem Cash, BankTransfer, Voucher)</a:t>
            </a:r>
          </a:p>
          <a:p>
            <a:pPr>
              <a:lnSpc>
                <a:spcPct val="100000"/>
              </a:lnSpc>
            </a:pPr>
            <a:r>
              <a:rPr sz="1300">
                <a:solidFill>
                  <a:srgbClr val="FFA24E"/>
                </a:solidFill>
                <a:latin typeface="Consolas"/>
              </a:rPr>
              <a:t>alternativ:  =TRIM(PROPER(PaymentMethod))</a:t>
            </a:r>
          </a:p>
        </p:txBody>
      </p:sp>
      <p:sp>
        <p:nvSpPr>
          <p:cNvPr id="8" name="Rounded Rectangle 7"/>
          <p:cNvSpPr/>
          <p:nvPr/>
        </p:nvSpPr>
        <p:spPr>
          <a:xfrm>
            <a:off x="658368" y="3990300"/>
            <a:ext cx="10874959" cy="1374647"/>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300">
                <a:solidFill>
                  <a:srgbClr val="F2F2F2"/>
                </a:solidFill>
                <a:latin typeface="Arial"/>
              </a:rPr>
              <a:t>🖥️ Dacă filtrezi coloana, rămân </a:t>
            </a:r>
            <a:r>
              <a:rPr b="1" sz="1300">
                <a:solidFill>
                  <a:srgbClr val="F2F2F2"/>
                </a:solidFill>
                <a:latin typeface="Arial"/>
              </a:rPr>
              <a:t>exact 4 valori</a:t>
            </a:r>
            <a:r>
              <a:rPr b="0" sz="1300">
                <a:solidFill>
                  <a:srgbClr val="F2F2F2"/>
                </a:solidFill>
                <a:latin typeface="Arial"/>
              </a:rPr>
              <a:t>: </a:t>
            </a:r>
            <a:r>
              <a:rPr sz="1300">
                <a:solidFill>
                  <a:srgbClr val="FFA24E"/>
                </a:solidFill>
                <a:latin typeface="Consolas"/>
              </a:rPr>
              <a:t>Card</a:t>
            </a:r>
            <a:r>
              <a:rPr b="0" sz="1300">
                <a:solidFill>
                  <a:srgbClr val="F2F2F2"/>
                </a:solidFill>
                <a:latin typeface="Arial"/>
              </a:rPr>
              <a:t>, </a:t>
            </a:r>
            <a:r>
              <a:rPr sz="1300">
                <a:solidFill>
                  <a:srgbClr val="FFA24E"/>
                </a:solidFill>
                <a:latin typeface="Consolas"/>
              </a:rPr>
              <a:t>Cash</a:t>
            </a:r>
            <a:r>
              <a:rPr b="0" sz="1300">
                <a:solidFill>
                  <a:srgbClr val="F2F2F2"/>
                </a:solidFill>
                <a:latin typeface="Arial"/>
              </a:rPr>
              <a:t>, </a:t>
            </a:r>
            <a:r>
              <a:rPr sz="1300">
                <a:solidFill>
                  <a:srgbClr val="FFA24E"/>
                </a:solidFill>
                <a:latin typeface="Consolas"/>
              </a:rPr>
              <a:t>BankTransfer</a:t>
            </a:r>
            <a:r>
              <a:rPr b="0" sz="1300">
                <a:solidFill>
                  <a:srgbClr val="F2F2F2"/>
                </a:solidFill>
                <a:latin typeface="Arial"/>
              </a:rPr>
              <a:t>, </a:t>
            </a:r>
            <a:r>
              <a:rPr sz="1300">
                <a:solidFill>
                  <a:srgbClr val="FFA24E"/>
                </a:solidFill>
                <a:latin typeface="Consolas"/>
              </a:rPr>
              <a:t>Voucher</a:t>
            </a:r>
            <a:r>
              <a:rPr b="0" sz="1300">
                <a:solidFill>
                  <a:srgbClr val="F2F2F2"/>
                </a:solidFill>
                <a:latin typeface="Arial"/>
              </a:rPr>
              <a:t>.</a:t>
            </a:r>
          </a:p>
        </p:txBody>
      </p:sp>
      <p:sp>
        <p:nvSpPr>
          <p:cNvPr id="9" name="TextBox 8"/>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10" name="TextBox 9"/>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L12 · Curățare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PARTEA 4 · FORMATE</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Datele amestecate → o dată reală</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83080"/>
            <a:ext cx="10874959" cy="1237956"/>
          </a:xfrm>
          <a:prstGeom prst="rect">
            <a:avLst/>
          </a:prstGeom>
          <a:noFill/>
        </p:spPr>
        <p:txBody>
          <a:bodyPr wrap="square">
            <a:spAutoFit/>
          </a:bodyPr>
          <a:lstStyle/>
          <a:p>
            <a:pPr>
              <a:lnSpc>
                <a:spcPct val="115000"/>
              </a:lnSpc>
            </a:pPr>
            <a:r>
              <a:rPr b="0" sz="1500">
                <a:solidFill>
                  <a:srgbClr val="F2F2F2"/>
                </a:solidFill>
                <a:latin typeface="Arial"/>
              </a:rPr>
              <a:t>~33 de rânduri au data </a:t>
            </a:r>
            <a:r>
              <a:rPr sz="1500">
                <a:solidFill>
                  <a:srgbClr val="FFA24E"/>
                </a:solidFill>
                <a:latin typeface="Consolas"/>
              </a:rPr>
              <a:t>21.02.2025</a:t>
            </a:r>
            <a:r>
              <a:rPr b="0" sz="1500">
                <a:solidFill>
                  <a:srgbClr val="F2F2F2"/>
                </a:solidFill>
                <a:latin typeface="Arial"/>
              </a:rPr>
              <a:t> sau </a:t>
            </a:r>
            <a:r>
              <a:rPr sz="1500">
                <a:solidFill>
                  <a:srgbClr val="FFA24E"/>
                </a:solidFill>
                <a:latin typeface="Consolas"/>
              </a:rPr>
              <a:t>28/04/2025</a:t>
            </a:r>
            <a:r>
              <a:rPr b="0" sz="1500">
                <a:solidFill>
                  <a:srgbClr val="F2F2F2"/>
                </a:solidFill>
                <a:latin typeface="Arial"/>
              </a:rPr>
              <a:t> în loc de </a:t>
            </a:r>
            <a:r>
              <a:rPr sz="1500">
                <a:solidFill>
                  <a:srgbClr val="FFA24E"/>
                </a:solidFill>
                <a:latin typeface="Consolas"/>
              </a:rPr>
              <a:t>2025-02-21</a:t>
            </a:r>
            <a:r>
              <a:rPr b="0" sz="1500">
                <a:solidFill>
                  <a:srgbClr val="F2F2F2"/>
                </a:solidFill>
                <a:latin typeface="Arial"/>
              </a:rPr>
              <a:t>. Sunt </a:t>
            </a:r>
            <a:r>
              <a:rPr b="1" sz="1500">
                <a:solidFill>
                  <a:srgbClr val="F2F2F2"/>
                </a:solidFill>
                <a:latin typeface="Arial"/>
              </a:rPr>
              <a:t>text</a:t>
            </a:r>
            <a:r>
              <a:rPr b="0" sz="1500">
                <a:solidFill>
                  <a:srgbClr val="F2F2F2"/>
                </a:solidFill>
                <a:latin typeface="Arial"/>
              </a:rPr>
              <a:t>, nu date reale — nu poți filtra corect pe lună cu ele.</a:t>
            </a:r>
          </a:p>
        </p:txBody>
      </p:sp>
      <p:sp>
        <p:nvSpPr>
          <p:cNvPr id="7" name="Rounded Rectangle 6"/>
          <p:cNvSpPr/>
          <p:nvPr/>
        </p:nvSpPr>
        <p:spPr>
          <a:xfrm>
            <a:off x="658368" y="3130764"/>
            <a:ext cx="10874959" cy="489204"/>
          </a:xfrm>
          <a:prstGeom prst="roundRect">
            <a:avLst/>
          </a:prstGeom>
          <a:solidFill>
            <a:srgbClr val="1E1E22"/>
          </a:solidFill>
          <a:ln w="9525">
            <a:solidFill>
              <a:srgbClr val="2E2E34"/>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109728" bIns="109728"/>
          <a:lstStyle/>
          <a:p>
            <a:pPr algn="ctr">
              <a:lnSpc>
                <a:spcPct val="100000"/>
              </a:lnSpc>
            </a:pPr>
            <a:r>
              <a:rPr sz="1300">
                <a:solidFill>
                  <a:srgbClr val="FFA24E"/>
                </a:solidFill>
                <a:latin typeface="Consolas"/>
              </a:rPr>
              <a:t>Data &gt; Text to Columns &gt; Next &gt; Next &gt; Date: DMY &gt; Finish</a:t>
            </a:r>
          </a:p>
        </p:txBody>
      </p:sp>
      <p:sp>
        <p:nvSpPr>
          <p:cNvPr id="8" name="Rounded Rectangle 7"/>
          <p:cNvSpPr/>
          <p:nvPr/>
        </p:nvSpPr>
        <p:spPr>
          <a:xfrm>
            <a:off x="658368" y="3757128"/>
            <a:ext cx="10874959" cy="1374647"/>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300">
                <a:solidFill>
                  <a:srgbClr val="F2F2F2"/>
                </a:solidFill>
                <a:latin typeface="Arial"/>
              </a:rPr>
              <a:t>🖥️ Toate datele </a:t>
            </a:r>
            <a:r>
              <a:rPr b="1" sz="1300">
                <a:solidFill>
                  <a:srgbClr val="F2F2F2"/>
                </a:solidFill>
                <a:latin typeface="Arial"/>
              </a:rPr>
              <a:t>aliniate la dreapta</a:t>
            </a:r>
            <a:r>
              <a:rPr b="0" sz="1300">
                <a:solidFill>
                  <a:srgbClr val="F2F2F2"/>
                </a:solidFill>
                <a:latin typeface="Arial"/>
              </a:rPr>
              <a:t> (semn că-s date reale, nu text) și în același format.</a:t>
            </a:r>
          </a:p>
        </p:txBody>
      </p:sp>
      <p:sp>
        <p:nvSpPr>
          <p:cNvPr id="9" name="TextBox 8"/>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10" name="TextBox 9"/>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L12 · Curățare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PARTEA 5 · GOLURI + IMPOSIBILE</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Judecată, nu doar butoane</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58368" y="1783080"/>
          <a:ext cx="10874959" cy="1847088"/>
        </p:xfrm>
        <a:graphic>
          <a:graphicData uri="http://schemas.openxmlformats.org/drawingml/2006/table">
            <a:tbl>
              <a:tblPr>
                <a:tableStyleId>{5C22544A-7EE6-4342-B048-85BDC9FD1C3A}</a:tableStyleId>
              </a:tblPr>
              <a:tblGrid>
                <a:gridCol w="3624986"/>
                <a:gridCol w="3624986"/>
                <a:gridCol w="3624987"/>
              </a:tblGrid>
              <a:tr h="369417">
                <a:tc>
                  <a:txBody>
                    <a:bodyPr/>
                    <a:lstStyle/>
                    <a:p>
                      <a:r>
                        <a:rPr b="1" sz="1100">
                          <a:solidFill>
                            <a:srgbClr val="B0B0B4"/>
                          </a:solidFill>
                          <a:latin typeface="Consolas"/>
                        </a:rPr>
                        <a:t>Caz</a:t>
                      </a:r>
                    </a:p>
                  </a:txBody>
                  <a:tcPr marL="91440" marT="27432" marB="27432" anchor="ctr">
                    <a:solidFill>
                      <a:srgbClr val="1E1E22"/>
                    </a:solidFill>
                  </a:tcPr>
                </a:tc>
                <a:tc>
                  <a:txBody>
                    <a:bodyPr/>
                    <a:lstStyle/>
                    <a:p>
                      <a:r>
                        <a:rPr b="1" sz="1100">
                          <a:solidFill>
                            <a:srgbClr val="B0B0B4"/>
                          </a:solidFill>
                          <a:latin typeface="Consolas"/>
                        </a:rPr>
                        <a:t>Câte</a:t>
                      </a:r>
                    </a:p>
                  </a:txBody>
                  <a:tcPr marL="91440" marT="27432" marB="27432" anchor="ctr">
                    <a:solidFill>
                      <a:srgbClr val="1E1E22"/>
                    </a:solidFill>
                  </a:tcPr>
                </a:tc>
                <a:tc>
                  <a:txBody>
                    <a:bodyPr/>
                    <a:lstStyle/>
                    <a:p>
                      <a:r>
                        <a:rPr b="1" sz="1100">
                          <a:solidFill>
                            <a:srgbClr val="B0B0B4"/>
                          </a:solidFill>
                          <a:latin typeface="Consolas"/>
                        </a:rPr>
                        <a:t>Ce faci</a:t>
                      </a:r>
                    </a:p>
                  </a:txBody>
                  <a:tcPr marL="91440" marT="27432" marB="27432" anchor="ctr">
                    <a:solidFill>
                      <a:srgbClr val="1E1E22"/>
                    </a:solidFill>
                  </a:tcPr>
                </a:tc>
              </a:tr>
              <a:tr h="369417">
                <a:tc>
                  <a:txBody>
                    <a:bodyPr/>
                    <a:lstStyle/>
                    <a:p>
                      <a:r>
                        <a:rPr b="0" sz="1100">
                          <a:solidFill>
                            <a:srgbClr val="F2F2F2"/>
                          </a:solidFill>
                          <a:latin typeface="Arial"/>
                        </a:rPr>
                        <a:t>CampaignID gol</a:t>
                      </a:r>
                    </a:p>
                  </a:txBody>
                  <a:tcPr marL="91440" marT="27432" marB="27432" anchor="ctr">
                    <a:solidFill>
                      <a:srgbClr val="151517"/>
                    </a:solidFill>
                  </a:tcPr>
                </a:tc>
                <a:tc>
                  <a:txBody>
                    <a:bodyPr/>
                    <a:lstStyle/>
                    <a:p>
                      <a:r>
                        <a:rPr b="0" sz="1100">
                          <a:solidFill>
                            <a:srgbClr val="F2F2F2"/>
                          </a:solidFill>
                          <a:latin typeface="Arial"/>
                        </a:rPr>
                        <a:t>1.413</a:t>
                      </a:r>
                    </a:p>
                  </a:txBody>
                  <a:tcPr marL="91440" marT="27432" marB="27432" anchor="ctr">
                    <a:solidFill>
                      <a:srgbClr val="151517"/>
                    </a:solidFill>
                  </a:tcPr>
                </a:tc>
                <a:tc>
                  <a:txBody>
                    <a:bodyPr/>
                    <a:lstStyle/>
                    <a:p>
                      <a:r>
                        <a:rPr b="0" sz="1100">
                          <a:solidFill>
                            <a:srgbClr val="F2F2F2"/>
                          </a:solidFill>
                          <a:latin typeface="Arial"/>
                        </a:rPr>
                        <a:t>intenționat — îl lași</a:t>
                      </a:r>
                    </a:p>
                  </a:txBody>
                  <a:tcPr marL="91440" marT="27432" marB="27432" anchor="ctr">
                    <a:solidFill>
                      <a:srgbClr val="151517"/>
                    </a:solidFill>
                  </a:tcPr>
                </a:tc>
              </a:tr>
              <a:tr h="369417">
                <a:tc>
                  <a:txBody>
                    <a:bodyPr/>
                    <a:lstStyle/>
                    <a:p>
                      <a:r>
                        <a:rPr b="0" sz="1100">
                          <a:solidFill>
                            <a:srgbClr val="F2F2F2"/>
                          </a:solidFill>
                          <a:latin typeface="Arial"/>
                        </a:rPr>
                        <a:t>CustomerID gol</a:t>
                      </a:r>
                    </a:p>
                  </a:txBody>
                  <a:tcPr marL="91440" marT="27432" marB="27432" anchor="ctr">
                    <a:solidFill>
                      <a:srgbClr val="1A1A1E"/>
                    </a:solidFill>
                  </a:tcPr>
                </a:tc>
                <a:tc>
                  <a:txBody>
                    <a:bodyPr/>
                    <a:lstStyle/>
                    <a:p>
                      <a:r>
                        <a:rPr b="0" sz="1100">
                          <a:solidFill>
                            <a:srgbClr val="F2F2F2"/>
                          </a:solidFill>
                          <a:latin typeface="Arial"/>
                        </a:rPr>
                        <a:t>34</a:t>
                      </a:r>
                    </a:p>
                  </a:txBody>
                  <a:tcPr marL="91440" marT="27432" marB="27432" anchor="ctr">
                    <a:solidFill>
                      <a:srgbClr val="1A1A1E"/>
                    </a:solidFill>
                  </a:tcPr>
                </a:tc>
                <a:tc>
                  <a:txBody>
                    <a:bodyPr/>
                    <a:lstStyle/>
                    <a:p>
                      <a:r>
                        <a:rPr b="0" sz="1100">
                          <a:solidFill>
                            <a:srgbClr val="F2F2F2"/>
                          </a:solidFill>
                          <a:latin typeface="Arial"/>
                        </a:rPr>
                        <a:t>real — marchezi „necunoscut”, nu inventezi</a:t>
                      </a:r>
                    </a:p>
                  </a:txBody>
                  <a:tcPr marL="91440" marT="27432" marB="27432" anchor="ctr">
                    <a:solidFill>
                      <a:srgbClr val="1A1A1E"/>
                    </a:solidFill>
                  </a:tcPr>
                </a:tc>
              </a:tr>
              <a:tr h="369417">
                <a:tc>
                  <a:txBody>
                    <a:bodyPr/>
                    <a:lstStyle/>
                    <a:p>
                      <a:r>
                        <a:rPr b="0" sz="1100">
                          <a:solidFill>
                            <a:srgbClr val="F2F2F2"/>
                          </a:solidFill>
                          <a:latin typeface="Arial"/>
                        </a:rPr>
                        <a:t>Discount negativ</a:t>
                      </a:r>
                    </a:p>
                  </a:txBody>
                  <a:tcPr marL="91440" marT="27432" marB="27432" anchor="ctr">
                    <a:solidFill>
                      <a:srgbClr val="151517"/>
                    </a:solidFill>
                  </a:tcPr>
                </a:tc>
                <a:tc>
                  <a:txBody>
                    <a:bodyPr/>
                    <a:lstStyle/>
                    <a:p>
                      <a:r>
                        <a:rPr b="0" sz="1100">
                          <a:solidFill>
                            <a:srgbClr val="F2F2F2"/>
                          </a:solidFill>
                          <a:latin typeface="Arial"/>
                        </a:rPr>
                        <a:t>24</a:t>
                      </a:r>
                    </a:p>
                  </a:txBody>
                  <a:tcPr marL="91440" marT="27432" marB="27432" anchor="ctr">
                    <a:solidFill>
                      <a:srgbClr val="151517"/>
                    </a:solidFill>
                  </a:tcPr>
                </a:tc>
                <a:tc>
                  <a:txBody>
                    <a:bodyPr/>
                    <a:lstStyle/>
                    <a:p>
                      <a:r>
                        <a:rPr b="0" sz="1100">
                          <a:solidFill>
                            <a:srgbClr val="F2F2F2"/>
                          </a:solidFill>
                          <a:latin typeface="Arial"/>
                        </a:rPr>
                        <a:t>imposibil — investighezi / excluzi</a:t>
                      </a:r>
                    </a:p>
                  </a:txBody>
                  <a:tcPr marL="91440" marT="27432" marB="27432" anchor="ctr">
                    <a:solidFill>
                      <a:srgbClr val="151517"/>
                    </a:solidFill>
                  </a:tcPr>
                </a:tc>
              </a:tr>
              <a:tr h="369420">
                <a:tc>
                  <a:txBody>
                    <a:bodyPr/>
                    <a:lstStyle/>
                    <a:p>
                      <a:r>
                        <a:rPr b="0" sz="1100">
                          <a:solidFill>
                            <a:srgbClr val="F2F2F2"/>
                          </a:solidFill>
                          <a:latin typeface="Arial"/>
                        </a:rPr>
                        <a:t>TotalAmount = 9.999.999,99 (13554)</a:t>
                      </a:r>
                    </a:p>
                  </a:txBody>
                  <a:tcPr marL="91440" marT="27432" marB="27432" anchor="ctr">
                    <a:solidFill>
                      <a:srgbClr val="1A1A1E"/>
                    </a:solidFill>
                  </a:tcPr>
                </a:tc>
                <a:tc>
                  <a:txBody>
                    <a:bodyPr/>
                    <a:lstStyle/>
                    <a:p>
                      <a:r>
                        <a:rPr b="0" sz="1100">
                          <a:solidFill>
                            <a:srgbClr val="F2F2F2"/>
                          </a:solidFill>
                          <a:latin typeface="Arial"/>
                        </a:rPr>
                        <a:t>1</a:t>
                      </a:r>
                    </a:p>
                  </a:txBody>
                  <a:tcPr marL="91440" marT="27432" marB="27432" anchor="ctr">
                    <a:solidFill>
                      <a:srgbClr val="1A1A1E"/>
                    </a:solidFill>
                  </a:tcPr>
                </a:tc>
                <a:tc>
                  <a:txBody>
                    <a:bodyPr/>
                    <a:lstStyle/>
                    <a:p>
                      <a:r>
                        <a:rPr b="0" sz="1100">
                          <a:solidFill>
                            <a:srgbClr val="F2F2F2"/>
                          </a:solidFill>
                          <a:latin typeface="Arial"/>
                        </a:rPr>
                        <a:t>outlier — flaghezi / excluzi</a:t>
                      </a:r>
                    </a:p>
                  </a:txBody>
                  <a:tcPr marL="91440" marT="27432" marB="27432" anchor="ctr">
                    <a:solidFill>
                      <a:srgbClr val="1A1A1E"/>
                    </a:solidFill>
                  </a:tcPr>
                </a:tc>
              </a:tr>
            </a:tbl>
          </a:graphicData>
        </a:graphic>
      </p:graphicFrame>
      <p:sp>
        <p:nvSpPr>
          <p:cNvPr id="7" name="Rounded Rectangle 6"/>
          <p:cNvSpPr/>
          <p:nvPr/>
        </p:nvSpPr>
        <p:spPr>
          <a:xfrm>
            <a:off x="658368" y="3767328"/>
            <a:ext cx="10874959" cy="1374647"/>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300">
                <a:solidFill>
                  <a:srgbClr val="F2F2F2"/>
                </a:solidFill>
                <a:latin typeface="Arial"/>
              </a:rPr>
              <a:t>Golul se </a:t>
            </a:r>
            <a:r>
              <a:rPr b="1" sz="1300">
                <a:solidFill>
                  <a:srgbClr val="F2F2F2"/>
                </a:solidFill>
                <a:latin typeface="Arial"/>
              </a:rPr>
              <a:t>înțelege</a:t>
            </a:r>
            <a:r>
              <a:rPr b="0" sz="1300">
                <a:solidFill>
                  <a:srgbClr val="F2F2F2"/>
                </a:solidFill>
                <a:latin typeface="Arial"/>
              </a:rPr>
              <a:t>, nu se șterge și nu se inventează. Un gol onest e mai bun decât o valoare falsă.</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L12 · Curățare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JURNALUL DE CURĂȚARE</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Ce ai făcut, notat pe măsură</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58368" y="1783080"/>
          <a:ext cx="10874959" cy="2578608"/>
        </p:xfrm>
        <a:graphic>
          <a:graphicData uri="http://schemas.openxmlformats.org/drawingml/2006/table">
            <a:tbl>
              <a:tblPr>
                <a:tableStyleId>{5C22544A-7EE6-4342-B048-85BDC9FD1C3A}</a:tableStyleId>
              </a:tblPr>
              <a:tblGrid>
                <a:gridCol w="3624986"/>
                <a:gridCol w="3624986"/>
                <a:gridCol w="3624987"/>
              </a:tblGrid>
              <a:tr h="368372">
                <a:tc>
                  <a:txBody>
                    <a:bodyPr/>
                    <a:lstStyle/>
                    <a:p>
                      <a:r>
                        <a:rPr b="1" sz="1100">
                          <a:solidFill>
                            <a:srgbClr val="B0B0B4"/>
                          </a:solidFill>
                          <a:latin typeface="Consolas"/>
                        </a:rPr>
                        <a:t>Pas</a:t>
                      </a:r>
                    </a:p>
                  </a:txBody>
                  <a:tcPr marL="91440" marT="27432" marB="27432" anchor="ctr">
                    <a:solidFill>
                      <a:srgbClr val="1E1E22"/>
                    </a:solidFill>
                  </a:tcPr>
                </a:tc>
                <a:tc>
                  <a:txBody>
                    <a:bodyPr/>
                    <a:lstStyle/>
                    <a:p>
                      <a:r>
                        <a:rPr b="1" sz="1100">
                          <a:solidFill>
                            <a:srgbClr val="B0B0B4"/>
                          </a:solidFill>
                          <a:latin typeface="Consolas"/>
                        </a:rPr>
                        <a:t>Ce am făcut</a:t>
                      </a:r>
                    </a:p>
                  </a:txBody>
                  <a:tcPr marL="91440" marT="27432" marB="27432" anchor="ctr">
                    <a:solidFill>
                      <a:srgbClr val="1E1E22"/>
                    </a:solidFill>
                  </a:tcPr>
                </a:tc>
                <a:tc>
                  <a:txBody>
                    <a:bodyPr/>
                    <a:lstStyle/>
                    <a:p>
                      <a:r>
                        <a:rPr b="1" sz="1100">
                          <a:solidFill>
                            <a:srgbClr val="B0B0B4"/>
                          </a:solidFill>
                          <a:latin typeface="Consolas"/>
                        </a:rPr>
                        <a:t>Rezultat</a:t>
                      </a:r>
                    </a:p>
                  </a:txBody>
                  <a:tcPr marL="91440" marT="27432" marB="27432" anchor="ctr">
                    <a:solidFill>
                      <a:srgbClr val="1E1E22"/>
                    </a:solidFill>
                  </a:tcPr>
                </a:tc>
              </a:tr>
              <a:tr h="368372">
                <a:tc>
                  <a:txBody>
                    <a:bodyPr/>
                    <a:lstStyle/>
                    <a:p>
                      <a:r>
                        <a:rPr b="0" sz="1100">
                          <a:solidFill>
                            <a:srgbClr val="F2F2F2"/>
                          </a:solidFill>
                          <a:latin typeface="Arial"/>
                        </a:rPr>
                        <a:t>Duplicate</a:t>
                      </a:r>
                    </a:p>
                  </a:txBody>
                  <a:tcPr marL="91440" marT="27432" marB="27432" anchor="ctr">
                    <a:solidFill>
                      <a:srgbClr val="151517"/>
                    </a:solidFill>
                  </a:tcPr>
                </a:tc>
                <a:tc>
                  <a:txBody>
                    <a:bodyPr/>
                    <a:lstStyle/>
                    <a:p>
                      <a:r>
                        <a:rPr b="0" sz="1100">
                          <a:solidFill>
                            <a:srgbClr val="F2F2F2"/>
                          </a:solidFill>
                          <a:latin typeface="Arial"/>
                        </a:rPr>
                        <a:t>Remove Duplicates pe OrderID</a:t>
                      </a:r>
                    </a:p>
                  </a:txBody>
                  <a:tcPr marL="91440" marT="27432" marB="27432" anchor="ctr">
                    <a:solidFill>
                      <a:srgbClr val="151517"/>
                    </a:solidFill>
                  </a:tcPr>
                </a:tc>
                <a:tc>
                  <a:txBody>
                    <a:bodyPr/>
                    <a:lstStyle/>
                    <a:p>
                      <a:r>
                        <a:rPr b="0" sz="1100">
                          <a:solidFill>
                            <a:srgbClr val="F2F2F2"/>
                          </a:solidFill>
                          <a:latin typeface="Arial"/>
                        </a:rPr>
                        <a:t>2.009 → 2.000</a:t>
                      </a:r>
                    </a:p>
                  </a:txBody>
                  <a:tcPr marL="91440" marT="27432" marB="27432" anchor="ctr">
                    <a:solidFill>
                      <a:srgbClr val="151517"/>
                    </a:solidFill>
                  </a:tcPr>
                </a:tc>
              </a:tr>
              <a:tr h="368372">
                <a:tc>
                  <a:txBody>
                    <a:bodyPr/>
                    <a:lstStyle/>
                    <a:p>
                      <a:r>
                        <a:rPr b="0" sz="1100">
                          <a:solidFill>
                            <a:srgbClr val="F2F2F2"/>
                          </a:solidFill>
                          <a:latin typeface="Arial"/>
                        </a:rPr>
                        <a:t>Text</a:t>
                      </a:r>
                    </a:p>
                  </a:txBody>
                  <a:tcPr marL="91440" marT="27432" marB="27432" anchor="ctr">
                    <a:solidFill>
                      <a:srgbClr val="1A1A1E"/>
                    </a:solidFill>
                  </a:tcPr>
                </a:tc>
                <a:tc>
                  <a:txBody>
                    <a:bodyPr/>
                    <a:lstStyle/>
                    <a:p>
                      <a:r>
                        <a:rPr b="0" sz="1100">
                          <a:solidFill>
                            <a:srgbClr val="F2F2F2"/>
                          </a:solidFill>
                          <a:latin typeface="Arial"/>
                        </a:rPr>
                        <a:t>TRIM + uniformizare PaymentMethod</a:t>
                      </a:r>
                    </a:p>
                  </a:txBody>
                  <a:tcPr marL="91440" marT="27432" marB="27432" anchor="ctr">
                    <a:solidFill>
                      <a:srgbClr val="1A1A1E"/>
                    </a:solidFill>
                  </a:tcPr>
                </a:tc>
                <a:tc>
                  <a:txBody>
                    <a:bodyPr/>
                    <a:lstStyle/>
                    <a:p>
                      <a:r>
                        <a:rPr b="0" sz="1100">
                          <a:solidFill>
                            <a:srgbClr val="F2F2F2"/>
                          </a:solidFill>
                          <a:latin typeface="Arial"/>
                        </a:rPr>
                        <a:t>4 valori</a:t>
                      </a:r>
                    </a:p>
                  </a:txBody>
                  <a:tcPr marL="91440" marT="27432" marB="27432" anchor="ctr">
                    <a:solidFill>
                      <a:srgbClr val="1A1A1E"/>
                    </a:solidFill>
                  </a:tcPr>
                </a:tc>
              </a:tr>
              <a:tr h="368372">
                <a:tc>
                  <a:txBody>
                    <a:bodyPr/>
                    <a:lstStyle/>
                    <a:p>
                      <a:r>
                        <a:rPr b="0" sz="1100">
                          <a:solidFill>
                            <a:srgbClr val="F2F2F2"/>
                          </a:solidFill>
                          <a:latin typeface="Arial"/>
                        </a:rPr>
                        <a:t>Formate</a:t>
                      </a:r>
                    </a:p>
                  </a:txBody>
                  <a:tcPr marL="91440" marT="27432" marB="27432" anchor="ctr">
                    <a:solidFill>
                      <a:srgbClr val="151517"/>
                    </a:solidFill>
                  </a:tcPr>
                </a:tc>
                <a:tc>
                  <a:txBody>
                    <a:bodyPr/>
                    <a:lstStyle/>
                    <a:p>
                      <a:r>
                        <a:rPr b="0" sz="1100">
                          <a:solidFill>
                            <a:srgbClr val="F2F2F2"/>
                          </a:solidFill>
                          <a:latin typeface="Arial"/>
                        </a:rPr>
                        <a:t>Text-to-Columns pe datele DMY</a:t>
                      </a:r>
                    </a:p>
                  </a:txBody>
                  <a:tcPr marL="91440" marT="27432" marB="27432" anchor="ctr">
                    <a:solidFill>
                      <a:srgbClr val="151517"/>
                    </a:solidFill>
                  </a:tcPr>
                </a:tc>
                <a:tc>
                  <a:txBody>
                    <a:bodyPr/>
                    <a:lstStyle/>
                    <a:p>
                      <a:r>
                        <a:rPr b="0" sz="1100">
                          <a:solidFill>
                            <a:srgbClr val="F2F2F2"/>
                          </a:solidFill>
                          <a:latin typeface="Arial"/>
                        </a:rPr>
                        <a:t>date reale</a:t>
                      </a:r>
                    </a:p>
                  </a:txBody>
                  <a:tcPr marL="91440" marT="27432" marB="27432" anchor="ctr">
                    <a:solidFill>
                      <a:srgbClr val="151517"/>
                    </a:solidFill>
                  </a:tcPr>
                </a:tc>
              </a:tr>
              <a:tr h="368372">
                <a:tc>
                  <a:txBody>
                    <a:bodyPr/>
                    <a:lstStyle/>
                    <a:p>
                      <a:r>
                        <a:rPr b="0" sz="1100">
                          <a:solidFill>
                            <a:srgbClr val="F2F2F2"/>
                          </a:solidFill>
                          <a:latin typeface="Arial"/>
                        </a:rPr>
                        <a:t>Gol client</a:t>
                      </a:r>
                    </a:p>
                  </a:txBody>
                  <a:tcPr marL="91440" marT="27432" marB="27432" anchor="ctr">
                    <a:solidFill>
                      <a:srgbClr val="1A1A1E"/>
                    </a:solidFill>
                  </a:tcPr>
                </a:tc>
                <a:tc>
                  <a:txBody>
                    <a:bodyPr/>
                    <a:lstStyle/>
                    <a:p>
                      <a:r>
                        <a:rPr b="0" sz="1100">
                          <a:solidFill>
                            <a:srgbClr val="F2F2F2"/>
                          </a:solidFill>
                          <a:latin typeface="Arial"/>
                        </a:rPr>
                        <a:t>marcat „necunoscut” (34)</a:t>
                      </a:r>
                    </a:p>
                  </a:txBody>
                  <a:tcPr marL="91440" marT="27432" marB="27432" anchor="ctr">
                    <a:solidFill>
                      <a:srgbClr val="1A1A1E"/>
                    </a:solidFill>
                  </a:tcPr>
                </a:tc>
                <a:tc>
                  <a:txBody>
                    <a:bodyPr/>
                    <a:lstStyle/>
                    <a:p>
                      <a:r>
                        <a:rPr b="0" sz="1100">
                          <a:solidFill>
                            <a:srgbClr val="F2F2F2"/>
                          </a:solidFill>
                          <a:latin typeface="Arial"/>
                        </a:rPr>
                        <a:t>nu am inventat</a:t>
                      </a:r>
                    </a:p>
                  </a:txBody>
                  <a:tcPr marL="91440" marT="27432" marB="27432" anchor="ctr">
                    <a:solidFill>
                      <a:srgbClr val="1A1A1E"/>
                    </a:solidFill>
                  </a:tcPr>
                </a:tc>
              </a:tr>
              <a:tr h="368372">
                <a:tc>
                  <a:txBody>
                    <a:bodyPr/>
                    <a:lstStyle/>
                    <a:p>
                      <a:r>
                        <a:rPr b="0" sz="1100">
                          <a:solidFill>
                            <a:srgbClr val="F2F2F2"/>
                          </a:solidFill>
                          <a:latin typeface="Arial"/>
                        </a:rPr>
                        <a:t>Gol campanie</a:t>
                      </a:r>
                    </a:p>
                  </a:txBody>
                  <a:tcPr marL="91440" marT="27432" marB="27432" anchor="ctr">
                    <a:solidFill>
                      <a:srgbClr val="151517"/>
                    </a:solidFill>
                  </a:tcPr>
                </a:tc>
                <a:tc>
                  <a:txBody>
                    <a:bodyPr/>
                    <a:lstStyle/>
                    <a:p>
                      <a:r>
                        <a:rPr b="0" sz="1100">
                          <a:solidFill>
                            <a:srgbClr val="F2F2F2"/>
                          </a:solidFill>
                          <a:latin typeface="Arial"/>
                        </a:rPr>
                        <a:t>lăsat (1.413)</a:t>
                      </a:r>
                    </a:p>
                  </a:txBody>
                  <a:tcPr marL="91440" marT="27432" marB="27432" anchor="ctr">
                    <a:solidFill>
                      <a:srgbClr val="151517"/>
                    </a:solidFill>
                  </a:tcPr>
                </a:tc>
                <a:tc>
                  <a:txBody>
                    <a:bodyPr/>
                    <a:lstStyle/>
                    <a:p>
                      <a:r>
                        <a:rPr b="0" sz="1100">
                          <a:solidFill>
                            <a:srgbClr val="F2F2F2"/>
                          </a:solidFill>
                          <a:latin typeface="Arial"/>
                        </a:rPr>
                        <a:t>intenționat</a:t>
                      </a:r>
                    </a:p>
                  </a:txBody>
                  <a:tcPr marL="91440" marT="27432" marB="27432" anchor="ctr">
                    <a:solidFill>
                      <a:srgbClr val="151517"/>
                    </a:solidFill>
                  </a:tcPr>
                </a:tc>
              </a:tr>
              <a:tr h="368376">
                <a:tc>
                  <a:txBody>
                    <a:bodyPr/>
                    <a:lstStyle/>
                    <a:p>
                      <a:r>
                        <a:rPr b="0" sz="1100">
                          <a:solidFill>
                            <a:srgbClr val="F2F2F2"/>
                          </a:solidFill>
                          <a:latin typeface="Arial"/>
                        </a:rPr>
                        <a:t>Imposibile</a:t>
                      </a:r>
                    </a:p>
                  </a:txBody>
                  <a:tcPr marL="91440" marT="27432" marB="27432" anchor="ctr">
                    <a:solidFill>
                      <a:srgbClr val="1A1A1E"/>
                    </a:solidFill>
                  </a:tcPr>
                </a:tc>
                <a:tc>
                  <a:txBody>
                    <a:bodyPr/>
                    <a:lstStyle/>
                    <a:p>
                      <a:r>
                        <a:rPr b="0" sz="1100">
                          <a:solidFill>
                            <a:srgbClr val="F2F2F2"/>
                          </a:solidFill>
                          <a:latin typeface="Arial"/>
                        </a:rPr>
                        <a:t>negative (24) + outlier 13554</a:t>
                      </a:r>
                    </a:p>
                  </a:txBody>
                  <a:tcPr marL="91440" marT="27432" marB="27432" anchor="ctr">
                    <a:solidFill>
                      <a:srgbClr val="1A1A1E"/>
                    </a:solidFill>
                  </a:tcPr>
                </a:tc>
                <a:tc>
                  <a:txBody>
                    <a:bodyPr/>
                    <a:lstStyle/>
                    <a:p>
                      <a:r>
                        <a:rPr b="0" sz="1100">
                          <a:solidFill>
                            <a:srgbClr val="F2F2F2"/>
                          </a:solidFill>
                          <a:latin typeface="Arial"/>
                        </a:rPr>
                        <a:t>semnalate / excluse</a:t>
                      </a:r>
                    </a:p>
                  </a:txBody>
                  <a:tcPr marL="91440" marT="27432" marB="27432" anchor="ctr">
                    <a:solidFill>
                      <a:srgbClr val="1A1A1E"/>
                    </a:solidFill>
                  </a:tcPr>
                </a:tc>
              </a:tr>
            </a:tbl>
          </a:graphicData>
        </a:graphic>
      </p:graphicFrame>
      <p:sp>
        <p:nvSpPr>
          <p:cNvPr id="7" name="TextBox 6"/>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8" name="TextBox 7"/>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L12 · Curățare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RECAP</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Milestone: datele de lucru sunt curate</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83080"/>
            <a:ext cx="10874959" cy="2511552"/>
          </a:xfrm>
          <a:prstGeom prst="rect">
            <a:avLst/>
          </a:prstGeom>
          <a:noFill/>
        </p:spPr>
        <p:txBody>
          <a:bodyPr wrap="square">
            <a:spAutoFit/>
          </a:bodyPr>
          <a:lstStyle/>
          <a:p>
            <a:pPr>
              <a:lnSpc>
                <a:spcPct val="110000"/>
              </a:lnSpc>
              <a:spcAft>
                <a:spcPts val="700"/>
              </a:spcAft>
            </a:pPr>
            <a:r>
              <a:rPr sz="1400">
                <a:solidFill>
                  <a:srgbClr val="FF7900"/>
                </a:solidFill>
                <a:latin typeface="Consolas"/>
              </a:rPr>
              <a:t>— </a:t>
            </a:r>
            <a:r>
              <a:rPr b="1" sz="1400">
                <a:solidFill>
                  <a:srgbClr val="F2F2F2"/>
                </a:solidFill>
                <a:latin typeface="Arial"/>
              </a:rPr>
              <a:t>Cureți întâi, calculezi după</a:t>
            </a:r>
            <a:r>
              <a:rPr b="0" sz="1400">
                <a:solidFill>
                  <a:srgbClr val="F2F2F2"/>
                </a:solidFill>
                <a:latin typeface="Arial"/>
              </a:rPr>
              <a:t> — o cifră din date murdare minte cu convingere</a:t>
            </a:r>
          </a:p>
          <a:p>
            <a:pPr>
              <a:lnSpc>
                <a:spcPct val="110000"/>
              </a:lnSpc>
              <a:spcAft>
                <a:spcPts val="700"/>
              </a:spcAft>
            </a:pPr>
            <a:r>
              <a:rPr sz="1400">
                <a:solidFill>
                  <a:srgbClr val="FF7900"/>
                </a:solidFill>
                <a:latin typeface="Consolas"/>
              </a:rPr>
              <a:t>— </a:t>
            </a:r>
            <a:r>
              <a:rPr b="0" sz="1400">
                <a:solidFill>
                  <a:srgbClr val="F2F2F2"/>
                </a:solidFill>
                <a:latin typeface="Arial"/>
              </a:rPr>
              <a:t>Ordinea: structură → </a:t>
            </a:r>
            <a:r>
              <a:rPr b="1" sz="1400">
                <a:solidFill>
                  <a:srgbClr val="F2F2F2"/>
                </a:solidFill>
                <a:latin typeface="Arial"/>
              </a:rPr>
              <a:t>duplicate</a:t>
            </a:r>
            <a:r>
              <a:rPr b="0" sz="1400">
                <a:solidFill>
                  <a:srgbClr val="F2F2F2"/>
                </a:solidFill>
                <a:latin typeface="Arial"/>
              </a:rPr>
              <a:t> → text → formate → goluri → imposibile</a:t>
            </a:r>
          </a:p>
          <a:p>
            <a:pPr>
              <a:lnSpc>
                <a:spcPct val="110000"/>
              </a:lnSpc>
              <a:spcAft>
                <a:spcPts val="700"/>
              </a:spcAft>
            </a:pPr>
            <a:r>
              <a:rPr sz="1400">
                <a:solidFill>
                  <a:srgbClr val="FF7900"/>
                </a:solidFill>
                <a:latin typeface="Consolas"/>
              </a:rPr>
              <a:t>— </a:t>
            </a:r>
            <a:r>
              <a:rPr b="0" sz="1400">
                <a:solidFill>
                  <a:srgbClr val="F2F2F2"/>
                </a:solidFill>
                <a:latin typeface="Arial"/>
              </a:rPr>
              <a:t>Golul se </a:t>
            </a:r>
            <a:r>
              <a:rPr b="1" sz="1400">
                <a:solidFill>
                  <a:srgbClr val="F2F2F2"/>
                </a:solidFill>
                <a:latin typeface="Arial"/>
              </a:rPr>
              <a:t>înțelege</a:t>
            </a:r>
            <a:r>
              <a:rPr b="0" sz="1400">
                <a:solidFill>
                  <a:srgbClr val="F2F2F2"/>
                </a:solidFill>
                <a:latin typeface="Arial"/>
              </a:rPr>
              <a:t>: intenționat (1.413, lași) vs real (34, marchezi)</a:t>
            </a:r>
          </a:p>
          <a:p>
            <a:pPr>
              <a:lnSpc>
                <a:spcPct val="110000"/>
              </a:lnSpc>
              <a:spcAft>
                <a:spcPts val="700"/>
              </a:spcAft>
            </a:pPr>
            <a:r>
              <a:rPr sz="1400">
                <a:solidFill>
                  <a:srgbClr val="FF7900"/>
                </a:solidFill>
                <a:latin typeface="Consolas"/>
              </a:rPr>
              <a:t>— </a:t>
            </a:r>
            <a:r>
              <a:rPr b="0" sz="1400">
                <a:solidFill>
                  <a:srgbClr val="F2F2F2"/>
                </a:solidFill>
                <a:latin typeface="Arial"/>
              </a:rPr>
              <a:t>Cureți </a:t>
            </a:r>
            <a:r>
              <a:rPr b="1" sz="1400">
                <a:solidFill>
                  <a:srgbClr val="F2F2F2"/>
                </a:solidFill>
                <a:latin typeface="Arial"/>
              </a:rPr>
              <a:t>pe copie, reversibil, cu jurnal</a:t>
            </a:r>
            <a:r>
              <a:rPr b="0" sz="1400">
                <a:solidFill>
                  <a:srgbClr val="F2F2F2"/>
                </a:solidFill>
                <a:latin typeface="Arial"/>
              </a:rPr>
              <a:t> — ca oricine să poată verifica</a:t>
            </a:r>
          </a:p>
        </p:txBody>
      </p:sp>
      <p:sp>
        <p:nvSpPr>
          <p:cNvPr id="7" name="Rounded Rectangle 6"/>
          <p:cNvSpPr/>
          <p:nvPr/>
        </p:nvSpPr>
        <p:spPr>
          <a:xfrm>
            <a:off x="658368" y="4294632"/>
            <a:ext cx="10874959" cy="1450848"/>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400">
                <a:solidFill>
                  <a:srgbClr val="F2F2F2"/>
                </a:solidFill>
                <a:latin typeface="Arial"/>
              </a:rPr>
              <a:t>MILESTONE de proiect: </a:t>
            </a:r>
            <a:r>
              <a:rPr b="1" sz="1400">
                <a:solidFill>
                  <a:srgbClr val="F2F2F2"/>
                </a:solidFill>
                <a:latin typeface="Arial"/>
              </a:rPr>
              <a:t>date de încredere</a:t>
            </a:r>
            <a:r>
              <a:rPr b="0" sz="1400">
                <a:solidFill>
                  <a:srgbClr val="F2F2F2"/>
                </a:solidFill>
                <a:latin typeface="Arial"/>
              </a:rPr>
              <a:t> — dedublate (2.009 → 2.000), uniforme, cu golurile înțelese. Punte → </a:t>
            </a:r>
            <a:r>
              <a:rPr b="1" sz="1400">
                <a:solidFill>
                  <a:srgbClr val="F2F2F2"/>
                </a:solidFill>
                <a:latin typeface="Arial"/>
              </a:rPr>
              <a:t>L13: calculezi</a:t>
            </a:r>
            <a:r>
              <a:rPr b="0" sz="1400">
                <a:solidFill>
                  <a:srgbClr val="F2F2F2"/>
                </a:solidFill>
                <a:latin typeface="Arial"/>
              </a:rPr>
              <a:t> cu formule pe datele curate.</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L12 · Curățare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2468880"/>
            <a:ext cx="10874959" cy="1828800"/>
          </a:xfrm>
          <a:prstGeom prst="rect">
            <a:avLst/>
          </a:prstGeom>
          <a:noFill/>
        </p:spPr>
        <p:txBody>
          <a:bodyPr wrap="none">
            <a:spAutoFit/>
          </a:bodyPr>
          <a:lstStyle/>
          <a:p>
            <a:pPr algn="ctr"/>
            <a:r>
              <a:rPr sz="7200" b="1">
                <a:solidFill>
                  <a:srgbClr val="F2F2F2"/>
                </a:solidFill>
                <a:latin typeface="Arial"/>
              </a:rPr>
              <a:t>Q&amp;A</a:t>
            </a:r>
          </a:p>
          <a:p>
            <a:pPr algn="ctr"/>
            <a:r>
              <a:rPr sz="1500">
                <a:solidFill>
                  <a:srgbClr val="FFA24E"/>
                </a:solidFill>
                <a:latin typeface="Consolas"/>
              </a:rPr>
              <a:t>Întrebări · discuție</a:t>
            </a:r>
          </a:p>
        </p:txBody>
      </p:sp>
      <p:sp>
        <p:nvSpPr>
          <p:cNvPr id="4" name="TextBox 3"/>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5" name="TextBox 4"/>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L12 · Curățare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