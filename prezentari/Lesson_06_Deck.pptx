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lecție din Modulul 2. Te uiți la forma datelor, nu la Excel. Deschizi orders și înveți vocabularul: rând, coloană, celulă.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Reluăm L5. Observație → insight → recomandare, testul so-what, proiectul pornit (cererea Elenei). Azi intrăm în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Vocabularul pe care îl folosești tot cursul; să nu te sperie un fișier de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privire în orders (§2). Nu calculezi — doar înțelegi ce vezi. Mii de rânduri: un zid aparent, de fapt o companie ordonată.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§3. Tabelul nu e haos — e activitatea RetailHub scrisă jos. Fără vocabular clar, te referi la date vag și te încurci.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 — reflecție. Cele trei întrebări despre formă: ce e un rând, ce e o coloană, cât de mare. Structura întâi.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§5. Numim fiecare bucată pe orders. Forma oricărui tabel: rânduri = ce s-a întâmplat, coloane = ce am înregistrat, celulă = o informație.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1. Analogia registrului de casă. Datele sunt memoria companiei; tabelul e forma în care o citești.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2. Fiecare rând aceeași structură, aduni pe coloană, fiecare celulă are un tip. Aceeași întrebare pusă fiecărui eveniment.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— worked example. Andrei citește OrderID 10428 pe structură; apoi urcă la nivelul întregului tabel (14.968 rânduri).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 practică ghidată — worked example. Fragment din inventory (Mihai). Cursanții spun ce e un rând, ce tip are coloana, citesc celula.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Blocajul la zidul de numere, confuzia rând/coloană/celulă, presupunerea că un rând e evident, uitarea tipului.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cinci idei. Punte spre L7 — granularitatea.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§14. Adaugi «forma» tabelelor de care ai nevoie pentru septembrie. Începi să vezi în ce celule trăiește răspunsul.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2 · LECȚIA 6 · PRIMA LECȚIE DIN MODULUL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Ce sunt, de fapt, datele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dataset · tabel · rând · coloană · celulă — activitatea companiei, scrisă într-o grilă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30 septembrie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rămas: concluzia (L5)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concluzie e o </a:t>
            </a:r>
            <a:r>
              <a:rPr b="1" sz="1400">
                <a:solidFill>
                  <a:srgbClr val="F2F2F2"/>
                </a:solidFill>
                <a:latin typeface="Arial"/>
              </a:rPr>
              <a:t>scară</a:t>
            </a:r>
            <a:r>
              <a:rPr b="0" sz="1400">
                <a:solidFill>
                  <a:srgbClr val="F2F2F2"/>
                </a:solidFill>
                <a:latin typeface="Arial"/>
              </a:rPr>
              <a:t>: observație (ce) → insight (de ce) → recomandare (ce facem)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Urci cu testul </a:t>
            </a:r>
            <a:r>
              <a:rPr b="1" sz="1400">
                <a:solidFill>
                  <a:srgbClr val="F2F2F2"/>
                </a:solidFill>
                <a:latin typeface="Arial"/>
              </a:rPr>
              <a:t>«și ce-i cu asta?»</a:t>
            </a:r>
            <a:r>
              <a:rPr b="0" sz="1400">
                <a:solidFill>
                  <a:srgbClr val="F2F2F2"/>
                </a:solidFill>
                <a:latin typeface="Arial"/>
              </a:rPr>
              <a:t> până ajungi la o acțiune; «adevărat» ≠ «util»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pornit </a:t>
            </a:r>
            <a:r>
              <a:rPr b="1" sz="1400">
                <a:solidFill>
                  <a:srgbClr val="F2F2F2"/>
                </a:solidFill>
                <a:latin typeface="Arial"/>
              </a:rPr>
              <a:t>proiectul</a:t>
            </a:r>
            <a:r>
              <a:rPr b="0" sz="1400">
                <a:solidFill>
                  <a:srgbClr val="F2F2F2"/>
                </a:solidFill>
                <a:latin typeface="Arial"/>
              </a:rPr>
              <a:t>: cererea Elenei — de ce a scăzut Revenue în septembrie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Modulul 1 a fost gândire. Azi începe Modulul 2 — intri, în sfârșit, </a:t>
            </a:r>
            <a:r>
              <a:rPr b="1" sz="1400">
                <a:solidFill>
                  <a:srgbClr val="F2F2F2"/>
                </a:solidFill>
                <a:latin typeface="Arial"/>
              </a:rPr>
              <a:t>în date</a:t>
            </a:r>
            <a:r>
              <a:rPr b="0" sz="1400">
                <a:solidFill>
                  <a:srgbClr val="F2F2F2"/>
                </a:solidFill>
                <a:latin typeface="Arial"/>
              </a:rPr>
              <a:t>: ce e un dataset, un rând, o coloană.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explici ce e un </a:t>
            </a:r>
            <a:r>
              <a:rPr b="1" sz="1400">
                <a:solidFill>
                  <a:srgbClr val="F2F2F2"/>
                </a:solidFill>
                <a:latin typeface="Arial"/>
              </a:rPr>
              <a:t>dataset</a:t>
            </a:r>
            <a:r>
              <a:rPr b="0" sz="1400">
                <a:solidFill>
                  <a:srgbClr val="F2F2F2"/>
                </a:solidFill>
                <a:latin typeface="Arial"/>
              </a:rPr>
              <a:t>, un </a:t>
            </a:r>
            <a:r>
              <a:rPr b="1" sz="1400">
                <a:solidFill>
                  <a:srgbClr val="F2F2F2"/>
                </a:solidFill>
                <a:latin typeface="Arial"/>
              </a:rPr>
              <a:t>tabel</a:t>
            </a:r>
            <a:r>
              <a:rPr b="0" sz="1400">
                <a:solidFill>
                  <a:srgbClr val="F2F2F2"/>
                </a:solidFill>
                <a:latin typeface="Arial"/>
              </a:rPr>
              <a:t>, un </a:t>
            </a:r>
            <a:r>
              <a:rPr b="1" sz="1400">
                <a:solidFill>
                  <a:srgbClr val="F2F2F2"/>
                </a:solidFill>
                <a:latin typeface="Arial"/>
              </a:rPr>
              <a:t>rând</a:t>
            </a:r>
            <a:r>
              <a:rPr b="0" sz="1400">
                <a:solidFill>
                  <a:srgbClr val="F2F2F2"/>
                </a:solidFill>
                <a:latin typeface="Arial"/>
              </a:rPr>
              <a:t>, o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coloană</a:t>
            </a:r>
            <a:r>
              <a:rPr b="0" sz="1400">
                <a:solidFill>
                  <a:srgbClr val="F2F2F2"/>
                </a:solidFill>
                <a:latin typeface="Arial"/>
              </a:rPr>
              <a:t> și o </a:t>
            </a:r>
            <a:r>
              <a:rPr b="1" sz="1400">
                <a:solidFill>
                  <a:srgbClr val="F2F2F2"/>
                </a:solidFill>
                <a:latin typeface="Arial"/>
              </a:rPr>
              <a:t>celulă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vezi cum un eveniment real (o comandă) devine un </a:t>
            </a:r>
            <a:r>
              <a:rPr b="1" sz="1400">
                <a:solidFill>
                  <a:srgbClr val="F2F2F2"/>
                </a:solidFill>
                <a:latin typeface="Arial"/>
              </a:rPr>
              <a:t>rând structurat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citești «forma» unui tabel: rânduri (ce s-a întâmplat) × coloane (ce am înregistrat)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te uiți la un fișier de date fără să te sperie — știi ce reprezintă fiecare bucată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Ce reiei:</a:t>
            </a:r>
            <a:r>
              <a:rPr b="0" sz="1400">
                <a:solidFill>
                  <a:srgbClr val="F2F2F2"/>
                </a:solidFill>
                <a:latin typeface="Arial"/>
              </a:rPr>
              <a:t> din L2 — datele sunt urma activității; din L5 — proiectul (septembrie), pentru care aceste date sunt materia primă.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DATA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Deschizi, în sfârșit, </a:t>
            </a:r>
            <a:r>
              <a:rPr sz="3000">
                <a:solidFill>
                  <a:srgbClr val="FFA24E"/>
                </a:solidFill>
                <a:latin typeface="Consolas"/>
              </a:rPr>
              <a:t>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Andrei: «Ai făcut toată gândirea. Acum uită-te la materia primă — deschide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dar nu ca să calculezi. Doar ca să înțelegi </a:t>
            </a:r>
            <a:r>
              <a:rPr i="1" sz="1500">
                <a:solidFill>
                  <a:srgbClr val="F2F2F2"/>
                </a:solidFill>
                <a:latin typeface="Arial"/>
              </a:rPr>
              <a:t>ce vezi</a:t>
            </a:r>
            <a:r>
              <a:rPr b="0" sz="1500">
                <a:solidFill>
                  <a:srgbClr val="F2F2F2"/>
                </a:solidFill>
                <a:latin typeface="Arial"/>
              </a:rPr>
              <a:t>.»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493"/>
                <a:gridCol w="1812493"/>
                <a:gridCol w="1812493"/>
                <a:gridCol w="1812493"/>
                <a:gridCol w="1812493"/>
                <a:gridCol w="1812494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OrderID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OrderDate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CustomerID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StoreID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CampaignID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TotalAmount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10428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2025-09-03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1187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Cluj-Napoca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(gol)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487,50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10429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2025-09-03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2043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București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312,00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10430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2025-09-04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0891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Iași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(gol)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156,75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7492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Mii de rânduri ca astea. Arată intimidant — un zid de numere. Dar nu e un zid: e o companie întreagă, scrisă ordonat.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«zid de numere» e o companie ordonată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Instinctul e să te blochezi în fața atâtor rânduri. Dar tabelul nu e haos — e opusul: activitatea reală a RetailHub (din L2), </a:t>
            </a:r>
            <a:r>
              <a:rPr b="1" sz="1500">
                <a:solidFill>
                  <a:srgbClr val="F2F2F2"/>
                </a:solidFill>
                <a:latin typeface="Arial"/>
              </a:rPr>
              <a:t>scrisă jos</a:t>
            </a:r>
            <a:r>
              <a:rPr b="0" sz="1500">
                <a:solidFill>
                  <a:srgbClr val="F2F2F2"/>
                </a:solidFill>
                <a:latin typeface="Arial"/>
              </a:rPr>
              <a:t>, într-o formă cu care poți lucra.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Fără un vocabular clar — ce e un rând, o coloană, o celulă — te referi la date vag («chestia aia») și te încurci la prima cerere. Azi punem numele la locul 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ai vrea să știi despre tabel, întâi?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Oprește-te. Te uiți la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. Înainte să calculezi ceva, ce </a:t>
            </a:r>
            <a:r>
              <a:rPr b="1" sz="1500">
                <a:solidFill>
                  <a:srgbClr val="F2F2F2"/>
                </a:solidFill>
                <a:latin typeface="Arial"/>
              </a:rPr>
              <a:t>trei lucruri</a:t>
            </a:r>
            <a:r>
              <a:rPr b="0" sz="1500">
                <a:solidFill>
                  <a:srgbClr val="F2F2F2"/>
                </a:solidFill>
                <a:latin typeface="Arial"/>
              </a:rPr>
              <a:t> despre </a:t>
            </a:r>
            <a:r>
              <a:rPr i="1" sz="1500">
                <a:solidFill>
                  <a:srgbClr val="F2F2F2"/>
                </a:solidFill>
                <a:latin typeface="Arial"/>
              </a:rPr>
              <a:t>structura</a:t>
            </a:r>
            <a:r>
              <a:rPr b="0" sz="1500">
                <a:solidFill>
                  <a:srgbClr val="F2F2F2"/>
                </a:solidFill>
                <a:latin typeface="Arial"/>
              </a:rPr>
              <a:t> lui ai vrea să înțelegi? (Nu despre valori — despre formă.)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Ce reprezintă </a:t>
            </a:r>
            <a:r>
              <a:rPr b="1" sz="1400">
                <a:solidFill>
                  <a:srgbClr val="F2F2F2"/>
                </a:solidFill>
                <a:latin typeface="Arial"/>
              </a:rPr>
              <a:t>un rând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Ce înseamnă </a:t>
            </a:r>
            <a:r>
              <a:rPr b="1" sz="1400">
                <a:solidFill>
                  <a:srgbClr val="F2F2F2"/>
                </a:solidFill>
                <a:latin typeface="Arial"/>
              </a:rPr>
              <a:t>fiecare coloană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Cât de mare e — </a:t>
            </a:r>
            <a:r>
              <a:rPr b="1" sz="1400">
                <a:solidFill>
                  <a:srgbClr val="F2F2F2"/>
                </a:solidFill>
                <a:latin typeface="Arial"/>
              </a:rPr>
              <a:t>câte rânduri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Structura întâi, cifrele după — la fel cum în Modulul 1 puneai întrebări înainte de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VOCABULAR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Dataset · tabel · rând · coloană · celulă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Dataset</a:t>
            </a:r>
            <a:r>
              <a:rPr b="0" sz="1300">
                <a:solidFill>
                  <a:srgbClr val="F2F2F2"/>
                </a:solidFill>
                <a:latin typeface="Arial"/>
              </a:rPr>
              <a:t> — o colecție de date pe o temă (cele 9 fișiere RetailHub, împreună)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Tabel</a:t>
            </a:r>
            <a:r>
              <a:rPr b="0" sz="1300">
                <a:solidFill>
                  <a:srgbClr val="F2F2F2"/>
                </a:solidFill>
                <a:latin typeface="Arial"/>
              </a:rPr>
              <a:t> — un dataset ca grilă: rânduri și coloane (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e un tabel)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Rând</a:t>
            </a:r>
            <a:r>
              <a:rPr b="0" sz="1300">
                <a:solidFill>
                  <a:srgbClr val="F2F2F2"/>
                </a:solidFill>
                <a:latin typeface="Arial"/>
              </a:rPr>
              <a:t> (record) — un lucru care s-a întâmplat: aici, </a:t>
            </a:r>
            <a:r>
              <a:rPr b="1" sz="1300">
                <a:solidFill>
                  <a:srgbClr val="F2F2F2"/>
                </a:solidFill>
                <a:latin typeface="Arial"/>
              </a:rPr>
              <a:t>o comandă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Coloană</a:t>
            </a:r>
            <a:r>
              <a:rPr b="0" sz="1300">
                <a:solidFill>
                  <a:srgbClr val="F2F2F2"/>
                </a:solidFill>
                <a:latin typeface="Arial"/>
              </a:rPr>
              <a:t> (câmp) — ce înregistrăm despre fiecare rând (</a:t>
            </a:r>
            <a:r>
              <a:rPr sz="1300">
                <a:solidFill>
                  <a:srgbClr val="FFA24E"/>
                </a:solidFill>
                <a:latin typeface="Consolas"/>
              </a:rPr>
              <a:t>OrderDate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Celulă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intersecția rând × coloană: </a:t>
            </a:r>
            <a:r>
              <a:rPr b="1" sz="1300">
                <a:solidFill>
                  <a:srgbClr val="F2F2F2"/>
                </a:solidFill>
                <a:latin typeface="Arial"/>
              </a:rPr>
              <a:t>o singură informație</a:t>
            </a:r>
            <a:r>
              <a:rPr b="0" sz="1300">
                <a:solidFill>
                  <a:srgbClr val="F2F2F2"/>
                </a:solidFill>
                <a:latin typeface="Arial"/>
              </a:rPr>
              <a:t> (487,50)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Forma oricărui tabel: </a:t>
            </a:r>
            <a:r>
              <a:rPr b="1" sz="1400">
                <a:solidFill>
                  <a:srgbClr val="F2F2F2"/>
                </a:solidFill>
                <a:latin typeface="Arial"/>
              </a:rPr>
              <a:t>rânduri = ce s-a întâmplat · coloane = ce am înregistrat · celulă = o informație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Activitatea companiei, scrisă într-o grilă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Gândește-te la un registru de casă vechi, de hârtie. De fiecare dată când se vinde ceva, cineva scrie un rând: data, ce s-a vândut, cât a costat. La sfârșitul lunii, ai o pagină cu istoria magazinului.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tabel de date e exact asta, digital și pentru mii de evenimente: </a:t>
            </a:r>
            <a:r>
              <a:rPr b="1" sz="1400">
                <a:solidFill>
                  <a:srgbClr val="F2F2F2"/>
                </a:solidFill>
                <a:latin typeface="Arial"/>
              </a:rPr>
              <a:t>activitatea companiei, scrisă jos, ordonat.</a:t>
            </a:r>
            <a:r>
              <a:rPr b="0" sz="1400">
                <a:solidFill>
                  <a:srgbClr val="F2F2F2"/>
                </a:solidFill>
                <a:latin typeface="Arial"/>
              </a:rPr>
              <a:t> Datele sunt memoria companiei.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face un tabel util: consistența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Ce face o grilă utilă, față de povești scrise liber? Un singur cuvânt: </a:t>
            </a:r>
            <a:r>
              <a:rPr b="1" sz="1500">
                <a:solidFill>
                  <a:srgbClr val="F2F2F2"/>
                </a:solidFill>
                <a:latin typeface="Arial"/>
              </a:rPr>
              <a:t>consistență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Fiecare rând are aceeași structură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orice comandă are </a:t>
            </a:r>
            <a:r>
              <a:rPr sz="1400">
                <a:solidFill>
                  <a:srgbClr val="FFA24E"/>
                </a:solidFill>
                <a:latin typeface="Consolas"/>
              </a:rPr>
              <a:t>OrderDate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Poți aduna pe coloană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înseamnă același lucru peste tot → însumezi → Revenue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Fiecare celulă are un tip</a:t>
            </a:r>
            <a:r>
              <a:rPr b="0" sz="1400">
                <a:solidFill>
                  <a:srgbClr val="F2F2F2"/>
                </a:solidFill>
                <a:latin typeface="Arial"/>
              </a:rPr>
              <a:t> — dată, număr, text; aduni numere, nu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7833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Aceeași întrebare (coloana) pusă la fiecare eveniment (rândul). Atât — consistență.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«citește» Andrei un rând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 ia un rând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: «</a:t>
            </a:r>
            <a:r>
              <a:rPr sz="1400">
                <a:solidFill>
                  <a:srgbClr val="FFA24E"/>
                </a:solidFill>
                <a:latin typeface="Consolas"/>
              </a:rPr>
              <a:t>OrderID 10428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</a:t>
            </a:r>
            <a:r>
              <a:rPr b="1" sz="1400">
                <a:solidFill>
                  <a:srgbClr val="F2F2F2"/>
                </a:solidFill>
                <a:latin typeface="Arial"/>
              </a:rPr>
              <a:t>rând</a:t>
            </a:r>
            <a:r>
              <a:rPr b="0" sz="1400">
                <a:solidFill>
                  <a:srgbClr val="F2F2F2"/>
                </a:solidFill>
                <a:latin typeface="Arial"/>
              </a:rPr>
              <a:t>, deci </a:t>
            </a:r>
            <a:r>
              <a:rPr b="1" sz="1400">
                <a:solidFill>
                  <a:srgbClr val="F2F2F2"/>
                </a:solidFill>
                <a:latin typeface="Arial"/>
              </a:rPr>
              <a:t>o comandă</a:t>
            </a:r>
            <a:r>
              <a:rPr b="0" sz="1400">
                <a:solidFill>
                  <a:srgbClr val="F2F2F2"/>
                </a:solidFill>
                <a:latin typeface="Arial"/>
              </a:rPr>
              <a:t>. Citesc coloanele ca întrebări: </a:t>
            </a:r>
            <a:r>
              <a:rPr i="1" sz="1400">
                <a:solidFill>
                  <a:srgbClr val="F2F2F2"/>
                </a:solidFill>
                <a:latin typeface="Arial"/>
              </a:rPr>
              <a:t>când?</a:t>
            </a:r>
            <a:r>
              <a:rPr b="0" sz="1400">
                <a:solidFill>
                  <a:srgbClr val="F2F2F2"/>
                </a:solidFill>
                <a:latin typeface="Arial"/>
              </a:rPr>
              <a:t> 3 sept. </a:t>
            </a:r>
            <a:r>
              <a:rPr i="1" sz="1400">
                <a:solidFill>
                  <a:srgbClr val="F2F2F2"/>
                </a:solidFill>
                <a:latin typeface="Arial"/>
              </a:rPr>
              <a:t>unde?</a:t>
            </a:r>
            <a:r>
              <a:rPr b="0" sz="1400">
                <a:solidFill>
                  <a:srgbClr val="F2F2F2"/>
                </a:solidFill>
                <a:latin typeface="Arial"/>
              </a:rPr>
              <a:t> Cluj. </a:t>
            </a:r>
            <a:r>
              <a:rPr i="1" sz="1400">
                <a:solidFill>
                  <a:srgbClr val="F2F2F2"/>
                </a:solidFill>
                <a:latin typeface="Arial"/>
              </a:rPr>
              <a:t>campanie?</a:t>
            </a:r>
            <a:r>
              <a:rPr b="0" sz="1400">
                <a:solidFill>
                  <a:srgbClr val="F2F2F2"/>
                </a:solidFill>
                <a:latin typeface="Arial"/>
              </a:rPr>
              <a:t> gol, deci nu. </a:t>
            </a:r>
            <a:r>
              <a:rPr i="1" sz="1400">
                <a:solidFill>
                  <a:srgbClr val="F2F2F2"/>
                </a:solidFill>
                <a:latin typeface="Arial"/>
              </a:rPr>
              <a:t>cât?</a:t>
            </a:r>
            <a:r>
              <a:rPr b="0" sz="1400">
                <a:solidFill>
                  <a:srgbClr val="F2F2F2"/>
                </a:solidFill>
                <a:latin typeface="Arial"/>
              </a:rPr>
              <a:t> 487,50 — o celulă, o informație.»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urcă la nivelul tabelului: «Imaginează 14.968 de rânduri — toate comenzile pe doi ani. «Revenue-ul din septembrie» nu e mistic; e suma coloanei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500">
                <a:solidFill>
                  <a:srgbClr val="F2F2F2"/>
                </a:solidFill>
                <a:latin typeface="Arial"/>
              </a:rPr>
              <a:t> pe rândurile din septembrie.»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Rândul tău — citește tabelul </a:t>
            </a:r>
            <a:r>
              <a:rPr sz="3000">
                <a:solidFill>
                  <a:srgbClr val="FFA24E"/>
                </a:solidFill>
                <a:latin typeface="Consolas"/>
              </a:rPr>
              <a:t>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Rândul tău: </a:t>
            </a:r>
            <a:r>
              <a:rPr sz="14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400">
                <a:solidFill>
                  <a:srgbClr val="F2F2F2"/>
                </a:solidFill>
                <a:latin typeface="Arial"/>
              </a:rPr>
              <a:t> (Mihai). Rândul 55012 — Cluj, produsul 8, </a:t>
            </a:r>
            <a:r>
              <a:rPr sz="1400">
                <a:solidFill>
                  <a:srgbClr val="FFA24E"/>
                </a:solidFill>
                <a:latin typeface="Consolas"/>
              </a:rPr>
              <a:t>StockQuantity</a:t>
            </a:r>
            <a:r>
              <a:rPr b="0" sz="1400">
                <a:solidFill>
                  <a:srgbClr val="F2F2F2"/>
                </a:solidFill>
                <a:latin typeface="Arial"/>
              </a:rPr>
              <a:t> = 0, </a:t>
            </a:r>
            <a:r>
              <a:rPr sz="1400">
                <a:solidFill>
                  <a:srgbClr val="FFA24E"/>
                </a:solidFill>
                <a:latin typeface="Consolas"/>
              </a:rPr>
              <a:t>ReorderLevel</a:t>
            </a:r>
            <a:r>
              <a:rPr b="0" sz="1400">
                <a:solidFill>
                  <a:srgbClr val="F2F2F2"/>
                </a:solidFill>
                <a:latin typeface="Arial"/>
              </a:rPr>
              <a:t> = 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</a:t>
            </a:r>
            <a:r>
              <a:rPr b="0" sz="1300">
                <a:solidFill>
                  <a:srgbClr val="F2F2F2"/>
                </a:solidFill>
                <a:latin typeface="Arial"/>
              </a:rPr>
              <a:t> — ce reprezintă un rând? (nu «date despre stoc» — ce </a:t>
            </a:r>
            <a:r>
              <a:rPr i="1" sz="1300">
                <a:solidFill>
                  <a:srgbClr val="F2F2F2"/>
                </a:solidFill>
                <a:latin typeface="Arial"/>
              </a:rPr>
              <a:t>stare</a:t>
            </a:r>
            <a:r>
              <a:rPr b="0" sz="1300">
                <a:solidFill>
                  <a:srgbClr val="F2F2F2"/>
                </a:solidFill>
                <a:latin typeface="Arial"/>
              </a:rPr>
              <a:t> reală?)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B</a:t>
            </a:r>
            <a:r>
              <a:rPr b="0" sz="1300">
                <a:solidFill>
                  <a:srgbClr val="F2F2F2"/>
                </a:solidFill>
                <a:latin typeface="Arial"/>
              </a:rPr>
              <a:t> — ce înregistrează </a:t>
            </a:r>
            <a:r>
              <a:rPr sz="1300">
                <a:solidFill>
                  <a:srgbClr val="FFA24E"/>
                </a:solidFill>
                <a:latin typeface="Consolas"/>
              </a:rPr>
              <a:t>StockQuantity</a:t>
            </a:r>
            <a:r>
              <a:rPr b="0" sz="1300">
                <a:solidFill>
                  <a:srgbClr val="F2F2F2"/>
                </a:solidFill>
                <a:latin typeface="Arial"/>
              </a:rPr>
              <a:t>? ce tip are (număr/text/dată)?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</a:t>
            </a:r>
            <a:r>
              <a:rPr b="0" sz="1300">
                <a:solidFill>
                  <a:srgbClr val="F2F2F2"/>
                </a:solidFill>
                <a:latin typeface="Arial"/>
              </a:rPr>
              <a:t> — citește celula (55012, </a:t>
            </a:r>
            <a:r>
              <a:rPr sz="1300">
                <a:solidFill>
                  <a:srgbClr val="FFA24E"/>
                </a:solidFill>
                <a:latin typeface="Consolas"/>
              </a:rPr>
              <a:t>StockQuantity</a:t>
            </a:r>
            <a:r>
              <a:rPr b="0" sz="1300">
                <a:solidFill>
                  <a:srgbClr val="F2F2F2"/>
                </a:solidFill>
                <a:latin typeface="Arial"/>
              </a:rPr>
              <a:t>) în cuvinte de 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254751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Model: rând = starea de raft a unui produs, într-un magazin. </a:t>
            </a:r>
            <a:r>
              <a:rPr sz="1400">
                <a:solidFill>
                  <a:srgbClr val="FFA24E"/>
                </a:solidFill>
                <a:latin typeface="Consolas"/>
              </a:rPr>
              <a:t>StockQuantity</a:t>
            </a:r>
            <a:r>
              <a:rPr b="0" sz="1400">
                <a:solidFill>
                  <a:srgbClr val="F2F2F2"/>
                </a:solidFill>
                <a:latin typeface="Arial"/>
              </a:rPr>
              <a:t> = număr. Celula: «Produsul 8 era complet epuizat la Cluj.»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Se blochează în «zidul de numere»</a:t>
            </a:r>
            <a:r>
              <a:rPr b="0" sz="1300">
                <a:solidFill>
                  <a:srgbClr val="F2F2F2"/>
                </a:solidFill>
                <a:latin typeface="Arial"/>
              </a:rPr>
              <a:t> — citește </a:t>
            </a:r>
            <a:r>
              <a:rPr i="1" sz="1300">
                <a:solidFill>
                  <a:srgbClr val="F2F2F2"/>
                </a:solidFill>
                <a:latin typeface="Arial"/>
              </a:rPr>
              <a:t>un</a:t>
            </a:r>
            <a:r>
              <a:rPr b="0" sz="1300">
                <a:solidFill>
                  <a:srgbClr val="F2F2F2"/>
                </a:solidFill>
                <a:latin typeface="Arial"/>
              </a:rPr>
              <a:t> rând și </a:t>
            </a:r>
            <a:r>
              <a:rPr i="1" sz="1300">
                <a:solidFill>
                  <a:srgbClr val="F2F2F2"/>
                </a:solidFill>
                <a:latin typeface="Arial"/>
              </a:rPr>
              <a:t>o</a:t>
            </a:r>
            <a:r>
              <a:rPr b="0" sz="1300">
                <a:solidFill>
                  <a:srgbClr val="F2F2F2"/>
                </a:solidFill>
                <a:latin typeface="Arial"/>
              </a:rPr>
              <a:t> coloană, nu tot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Confundă rândul cu coloana cu celula</a:t>
            </a:r>
            <a:r>
              <a:rPr b="0" sz="1300">
                <a:solidFill>
                  <a:srgbClr val="F2F2F2"/>
                </a:solidFill>
                <a:latin typeface="Arial"/>
              </a:rPr>
              <a:t> — vorbește vag despre «datele alea»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Crede că un rând e mereu evident</a:t>
            </a:r>
            <a:r>
              <a:rPr b="0" sz="1300">
                <a:solidFill>
                  <a:srgbClr val="F2F2F2"/>
                </a:solidFill>
                <a:latin typeface="Arial"/>
              </a:rPr>
              <a:t> — dar variază de la tabel la tabel (vezi L7)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Uită că o coloană are un tip</a:t>
            </a:r>
            <a:r>
              <a:rPr b="0" sz="1300">
                <a:solidFill>
                  <a:srgbClr val="F2F2F2"/>
                </a:solidFill>
                <a:latin typeface="Arial"/>
              </a:rPr>
              <a:t> — încearcă să adune un text sau o dată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Rând = un eveniment · coloană = ce înregistrezi despre toate · celulă = o informație. Tipul spune ce operații au sens.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Datele sunt </a:t>
            </a:r>
            <a:r>
              <a:rPr b="1" sz="1300">
                <a:solidFill>
                  <a:srgbClr val="F2F2F2"/>
                </a:solidFill>
                <a:latin typeface="Arial"/>
              </a:rPr>
              <a:t>activitatea companiei, scrisă într-o grilă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Rând</a:t>
            </a:r>
            <a:r>
              <a:rPr b="0" sz="1300">
                <a:solidFill>
                  <a:srgbClr val="F2F2F2"/>
                </a:solidFill>
                <a:latin typeface="Arial"/>
              </a:rPr>
              <a:t> = un eveniment · </a:t>
            </a:r>
            <a:r>
              <a:rPr b="1" sz="1300">
                <a:solidFill>
                  <a:srgbClr val="F2F2F2"/>
                </a:solidFill>
                <a:latin typeface="Arial"/>
              </a:rPr>
              <a:t>coloană</a:t>
            </a:r>
            <a:r>
              <a:rPr b="0" sz="1300">
                <a:solidFill>
                  <a:srgbClr val="F2F2F2"/>
                </a:solidFill>
                <a:latin typeface="Arial"/>
              </a:rPr>
              <a:t> = ce înregistrezi despre toate · </a:t>
            </a:r>
            <a:r>
              <a:rPr b="1" sz="1300">
                <a:solidFill>
                  <a:srgbClr val="F2F2F2"/>
                </a:solidFill>
                <a:latin typeface="Arial"/>
              </a:rPr>
              <a:t>celulă</a:t>
            </a:r>
            <a:r>
              <a:rPr b="0" sz="1300">
                <a:solidFill>
                  <a:srgbClr val="F2F2F2"/>
                </a:solidFill>
                <a:latin typeface="Arial"/>
              </a:rPr>
              <a:t> = o informație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Un tabel e util pentru că e </a:t>
            </a:r>
            <a:r>
              <a:rPr b="1" sz="1300">
                <a:solidFill>
                  <a:srgbClr val="F2F2F2"/>
                </a:solidFill>
                <a:latin typeface="Arial"/>
              </a:rPr>
              <a:t>consistent</a:t>
            </a:r>
            <a:r>
              <a:rPr b="0" sz="1300">
                <a:solidFill>
                  <a:srgbClr val="F2F2F2"/>
                </a:solidFill>
                <a:latin typeface="Arial"/>
              </a:rPr>
              <a:t> (o coloană = același lucru pe fiecare rând)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Fiecare coloană are un </a:t>
            </a:r>
            <a:r>
              <a:rPr b="1" sz="1300">
                <a:solidFill>
                  <a:srgbClr val="F2F2F2"/>
                </a:solidFill>
                <a:latin typeface="Arial"/>
              </a:rPr>
              <a:t>tip</a:t>
            </a:r>
            <a:r>
              <a:rPr b="0" sz="1300">
                <a:solidFill>
                  <a:srgbClr val="F2F2F2"/>
                </a:solidFill>
                <a:latin typeface="Arial"/>
              </a:rPr>
              <a:t> (număr / text / dată) — spune ce operații au sens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Cererea de business trăiește </a:t>
            </a:r>
            <a:r>
              <a:rPr b="1" sz="1300">
                <a:solidFill>
                  <a:srgbClr val="F2F2F2"/>
                </a:solidFill>
                <a:latin typeface="Arial"/>
              </a:rPr>
              <a:t>literal în grilă</a:t>
            </a:r>
            <a:r>
              <a:rPr b="0" sz="1300">
                <a:solidFill>
                  <a:srgbClr val="F2F2F2"/>
                </a:solidFill>
                <a:latin typeface="Arial"/>
              </a:rPr>
              <a:t>: filtrezi rânduri, aduni coloane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L7: cea mai importantă întrebare despre orice tabel — </a:t>
            </a:r>
            <a:r>
              <a:rPr b="1" sz="1400">
                <a:solidFill>
                  <a:srgbClr val="F2F2F2"/>
                </a:solidFill>
                <a:latin typeface="Arial"/>
              </a:rPr>
              <a:t>ce reprezintă un rând?</a:t>
            </a:r>
            <a:r>
              <a:rPr b="0" sz="1400">
                <a:solidFill>
                  <a:srgbClr val="F2F2F2"/>
                </a:solidFill>
                <a:latin typeface="Arial"/>
              </a:rPr>
              <a:t> (granularitatea).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PROIECT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Proiectul tău RetailHub (increment L6)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Pasul de azi pe proiect: adaugă «forma» tabelelor de care ai nevoie pentru septembrie (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+ cele din Decision Tree).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Pentru fiecare: </a:t>
            </a:r>
            <a:r>
              <a:rPr i="1" sz="1400">
                <a:solidFill>
                  <a:srgbClr val="F2F2F2"/>
                </a:solidFill>
                <a:latin typeface="Arial"/>
              </a:rPr>
              <a:t>ce reprezintă un rând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i="1" sz="1400">
                <a:solidFill>
                  <a:srgbClr val="F2F2F2"/>
                </a:solidFill>
                <a:latin typeface="Arial"/>
              </a:rPr>
              <a:t>ce coloană ține informația care te interesează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orders.TotalAmount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= Revenue · </a:t>
            </a:r>
            <a:r>
              <a:rPr sz="1400">
                <a:solidFill>
                  <a:srgbClr val="FFA24E"/>
                </a:solidFill>
                <a:latin typeface="Consolas"/>
              </a:rPr>
              <a:t>orders.OrderDate</a:t>
            </a:r>
            <a:r>
              <a:rPr b="0" sz="1400">
                <a:solidFill>
                  <a:srgbClr val="F2F2F2"/>
                </a:solidFill>
                <a:latin typeface="Arial"/>
              </a:rPr>
              <a:t> = perioada · </a:t>
            </a:r>
            <a:r>
              <a:rPr sz="1400">
                <a:solidFill>
                  <a:srgbClr val="FFA24E"/>
                </a:solidFill>
                <a:latin typeface="Consolas"/>
              </a:rPr>
              <a:t>orders.StoreID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= magazinul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Începi să vezi în ce celule trăiește răspunsul Elenei — chiar dacă încă nu-l calculezi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planul (L2); acum vezi materia primă. Urmează granularitatea, în L7.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L6 · Ce sunt datele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