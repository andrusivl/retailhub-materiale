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Ultima lecție din Modulul 2, cu milestone de proiect. Ideea unică: validezi pe două axe — corecte (calitate, L9) ȘI suficiente (conțin ce-ți trebuie). Poți avea date curate dar insuficiente. Validezi înainte de tool: ieftin la început, scump la mijloc. „Nu avem datele pentru asta” e un răspuns de analist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L9: datele reale sunt murdare; 5 tipuri; verifici întâi, calculezi după. Azi se leagă tot Modulul 2 (forma L6, grain L7, chei L8, calitate L9) + Decision Tree (L3) și brief (L5) înainte de primul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 Închizi Modulul 2 și validezi datele proiectului.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§2. Ai planul complet și ești nerăbdător să deschizi Excel. Andrei te oprește: nu «sunt curate», ci «conțin ce-ți trebuie?». Ai date de campanie pe septembrie? Ai stocul pe zile? Dacă datele nu conțin piesa, nicio analiză n-o inventează.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§3. Două întrebări diferite. Corecte? (L9) — curate, de încredere. Suficiente? — conțin ce-mi trebuie (perioadă, coloane, grain, tabele). Poți avea date perfect curate și insuficiente: un orders impecabil, dar fără coloană de campanie. Ai nevoie de amândouă.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§4. Oprește-te. Ai Decision Tree-ul (reper → magazin → categorie → campanie? → stoc?). Pentru fiecare frunză, ce verifici înainte? Aproape sigur: am tabelul? are perioada? are coloana? e la grain-ul bun? e curat? Dacă o frunză n-are date, o marchezi „neverificabilă” — o descoperire utilă.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§5. Tabelul de validare, aplicat tabel cu tabel. Primele 5 rânduri = suficiență (există ce-mi trebuie?); ultimul = corectitudine (pot avea încredere?). Rezultatul validării nu e da/nu pe tot — e o listă: ce am, ce e curat, ce lipsește, ce trebuie curățat.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1 — intuiția. Un bucătar bun verifică ingredientele înainte să înceapă rețeta: are tot? sunt proaspete? Nu se apucă de gătit ca să descopere la jumătate că lipsește ceva. Costă mult mai puțin să verifici la început.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2 — structura. Trei întrebări, în ordine: Există? (suficiență) De încredere? (corectitudine) Se leagă? (integritate). Treci mai departe doar cât timp răspunsul e „da”. Dacă la „există?” e nu, nicio curățare nu ajută — datele nu conțin răspunsul. Aia e cea mai importantă descoperire.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3 — aplicarea. Validezi ramurile: Revenue pe magazin (orders are TotalAmount, StoreID, OrderDate → da); categorie (traseul order_items→products→categories, cheile completate → da); campanie (campaigns are datele + orders.CampaignID gol = fără campanie → da); stoc epuizat (inventory — aici verifici cu grijă grain/perioadă). La final: o listă clară.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§7. Andrei validează „a lipsit o campanie?” cu voce tare: există? (campaigns are StartDate/EndDate; orders au CampaignID) de încredere? (CampaignID nu e murdar) se leagă? (orders.CampaignID → campaigns.CampaignID). Verificabilă. Apoi contrastul: „câți clienți au văzut campania dar n-au cumpărat?” — nu avem impresiile, doar comenzile. Insuficient. „Nu avem datele” e un răspuns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§11. Cele 4 greșeli: verifică doar calitatea, uită suficiența; sar în tool fără validare; inventează piesa lipsă; confundă „ce s-a întâmplat” cu „ce s-ar fi întâmplat” (vânzări pierdute).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§14. Checkpoint de proiect. Andrei: ai gândit problema (M1) și ai înțeles datele (M2); ultimul pas înainte de Excel — pune pe hârtie exact ce date îți trebuie și confirmă că le ai, corecte și suficiente. Pentru fiecare frunză: tabele+coloane, grain+traseu, suficiență, corectitudine,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§12. Cele 5 idei + puntea spre Modulul 3, L11 (deschizi Excel „ca analist”).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2 · LECȚIA 10 · ÎNCHIDE MODULUL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Validarea datelor — corecte și suficiente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Înainte de primul tool, validezi datele pe două axe: corecte (calitate) și suficiente (conțin ce-ți trebuie)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7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datele murdare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L9:</a:t>
            </a:r>
            <a:r>
              <a:rPr b="0" sz="1500">
                <a:solidFill>
                  <a:srgbClr val="F2F2F2"/>
                </a:solidFill>
                <a:latin typeface="Arial"/>
              </a:rPr>
              <a:t> datele reale sunt </a:t>
            </a:r>
            <a:r>
              <a:rPr b="1" sz="1500">
                <a:solidFill>
                  <a:srgbClr val="F2F2F2"/>
                </a:solidFill>
                <a:latin typeface="Arial"/>
              </a:rPr>
              <a:t>murdare</a:t>
            </a:r>
            <a:r>
              <a:rPr b="0" sz="1500">
                <a:solidFill>
                  <a:srgbClr val="F2F2F2"/>
                </a:solidFill>
                <a:latin typeface="Arial"/>
              </a:rPr>
              <a:t> — 5 tipuri; verifici întâi, calculezi după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L6–L8:</a:t>
            </a:r>
            <a:r>
              <a:rPr b="0" sz="1500">
                <a:solidFill>
                  <a:srgbClr val="F2F2F2"/>
                </a:solidFill>
                <a:latin typeface="Arial"/>
              </a:rPr>
              <a:t> forma tabelelor, </a:t>
            </a:r>
            <a:r>
              <a:rPr b="1" sz="1500">
                <a:solidFill>
                  <a:srgbClr val="F2F2F2"/>
                </a:solidFill>
                <a:latin typeface="Arial"/>
              </a:rPr>
              <a:t>granularitatea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b="1" sz="1500">
                <a:solidFill>
                  <a:srgbClr val="F2F2F2"/>
                </a:solidFill>
                <a:latin typeface="Arial"/>
              </a:rPr>
              <a:t>cheile</a:t>
            </a:r>
            <a:r>
              <a:rPr b="0" sz="1500">
                <a:solidFill>
                  <a:srgbClr val="F2F2F2"/>
                </a:solidFill>
                <a:latin typeface="Arial"/>
              </a:rPr>
              <a:t> — cum sunt și cum se leagă datele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L3, L5:</a:t>
            </a:r>
            <a:r>
              <a:rPr b="0" sz="1500">
                <a:solidFill>
                  <a:srgbClr val="F2F2F2"/>
                </a:solidFill>
                <a:latin typeface="Arial"/>
              </a:rPr>
              <a:t> ai Decision Tree-ul și brief-ul proiectului — planul de atac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se </a:t>
            </a:r>
            <a:r>
              <a:rPr b="1" sz="1400">
                <a:solidFill>
                  <a:srgbClr val="F2F2F2"/>
                </a:solidFill>
                <a:latin typeface="Arial"/>
              </a:rPr>
              <a:t>leagă totul</a:t>
            </a:r>
            <a:r>
              <a:rPr b="0" sz="1400">
                <a:solidFill>
                  <a:srgbClr val="F2F2F2"/>
                </a:solidFill>
                <a:latin typeface="Arial"/>
              </a:rPr>
              <a:t> înainte de primul tool: un ultim pas care îți salvează săptămâni de muncă degeaba — te asiguri că datele pot </a:t>
            </a:r>
            <a:r>
              <a:rPr b="1" sz="1400">
                <a:solidFill>
                  <a:srgbClr val="F2F2F2"/>
                </a:solidFill>
                <a:latin typeface="Arial"/>
              </a:rPr>
              <a:t>într-adevăr</a:t>
            </a:r>
            <a:r>
              <a:rPr b="0" sz="1400">
                <a:solidFill>
                  <a:srgbClr val="F2F2F2"/>
                </a:solidFill>
                <a:latin typeface="Arial"/>
              </a:rPr>
              <a:t> răspunde la întrebarea 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validezi datele pe două axe: </a:t>
            </a:r>
            <a:r>
              <a:rPr b="1" sz="1400">
                <a:solidFill>
                  <a:srgbClr val="F2F2F2"/>
                </a:solidFill>
                <a:latin typeface="Arial"/>
              </a:rPr>
              <a:t>corecte</a:t>
            </a:r>
            <a:r>
              <a:rPr b="0" sz="1400">
                <a:solidFill>
                  <a:srgbClr val="F2F2F2"/>
                </a:solidFill>
                <a:latin typeface="Arial"/>
              </a:rPr>
              <a:t> (calitate — L9) și </a:t>
            </a:r>
            <a:r>
              <a:rPr b="1" sz="1400">
                <a:solidFill>
                  <a:srgbClr val="F2F2F2"/>
                </a:solidFill>
                <a:latin typeface="Arial"/>
              </a:rPr>
              <a:t>suficiente</a:t>
            </a:r>
            <a:r>
              <a:rPr b="0" sz="1400">
                <a:solidFill>
                  <a:srgbClr val="F2F2F2"/>
                </a:solidFill>
                <a:latin typeface="Arial"/>
              </a:rPr>
              <a:t> (conțin ce-ți trebuie)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distingi o problemă de </a:t>
            </a:r>
            <a:r>
              <a:rPr i="1" sz="1400">
                <a:solidFill>
                  <a:srgbClr val="F2F2F2"/>
                </a:solidFill>
                <a:latin typeface="Arial"/>
              </a:rPr>
              <a:t>corectitudine</a:t>
            </a:r>
            <a:r>
              <a:rPr b="0" sz="1400">
                <a:solidFill>
                  <a:srgbClr val="F2F2F2"/>
                </a:solidFill>
                <a:latin typeface="Arial"/>
              </a:rPr>
              <a:t> (date murdare) de una de </a:t>
            </a:r>
            <a:r>
              <a:rPr i="1" sz="1400">
                <a:solidFill>
                  <a:srgbClr val="F2F2F2"/>
                </a:solidFill>
                <a:latin typeface="Arial"/>
              </a:rPr>
              <a:t>suficiență</a:t>
            </a:r>
            <a:r>
              <a:rPr b="0" sz="1400">
                <a:solidFill>
                  <a:srgbClr val="F2F2F2"/>
                </a:solidFill>
                <a:latin typeface="Arial"/>
              </a:rPr>
              <a:t> (date care lipsesc)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identifici </a:t>
            </a:r>
            <a:r>
              <a:rPr b="1" sz="1400">
                <a:solidFill>
                  <a:srgbClr val="F2F2F2"/>
                </a:solidFill>
                <a:latin typeface="Arial"/>
              </a:rPr>
              <a:t>exact ce date îți trebuie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o cerere — o listă concretă, tabel cu tabel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validezi datele proiectului tău</a:t>
            </a:r>
            <a:r>
              <a:rPr b="0" sz="1400">
                <a:solidFill>
                  <a:srgbClr val="F2F2F2"/>
                </a:solidFill>
                <a:latin typeface="Arial"/>
              </a:rPr>
              <a:t> (cererea Elenei) — checkpoint-ul care închide Modulul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Ultima lecție din Modulul 2.</a:t>
            </a:r>
            <a:r>
              <a:rPr b="0" sz="1400">
                <a:solidFill>
                  <a:srgbClr val="F2F2F2"/>
                </a:solidFill>
                <a:latin typeface="Arial"/>
              </a:rPr>
              <a:t> La final, validezi datele investigației tale — cu încredere, nu cu speranță.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„Ești sigur că datele pot răspunde la asta?”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Ai planul complet pentru septembrie: Decision Tree (L3), harta (L2), grain (L7), trasee (L8), listă de calitate (L9). Ești nerăbdător să deschizi Excel-ul. Andrei te oprește cu o singură întrebare, aparent simplă: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„Înainte să te apuci — ești sigur că datele astea pot răspunde la întrebarea Elenei? Nu «sunt curate». Altceva: </a:t>
            </a:r>
            <a:r>
              <a:rPr b="1" sz="1400">
                <a:solidFill>
                  <a:srgbClr val="F2F2F2"/>
                </a:solidFill>
                <a:latin typeface="Arial"/>
              </a:rPr>
              <a:t>conțin ele ce-ți trebuie?</a:t>
            </a:r>
            <a:r>
              <a:rPr b="0" sz="1400">
                <a:solidFill>
                  <a:srgbClr val="F2F2F2"/>
                </a:solidFill>
                <a:latin typeface="Arial"/>
              </a:rPr>
              <a:t> Dacă datele nu conțin piesa, nicio analiză oricât de deșteaptă n-o inventează.”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„Corecte” nu e totuna cu „suficiente”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Corecte?</a:t>
            </a:r>
            <a:r>
              <a:rPr b="0" sz="1400">
                <a:solidFill>
                  <a:srgbClr val="F2F2F2"/>
                </a:solidFill>
                <a:latin typeface="Arial"/>
              </a:rPr>
              <a:t> (L9) — datele sunt curate, de încredere? Fără duplicate, goluri, outlieri, formate amestecate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Suficiente?</a:t>
            </a:r>
            <a:r>
              <a:rPr b="0" sz="1400">
                <a:solidFill>
                  <a:srgbClr val="F2F2F2"/>
                </a:solidFill>
                <a:latin typeface="Arial"/>
              </a:rPr>
              <a:t> — conțin </a:t>
            </a:r>
            <a:r>
              <a:rPr b="1" sz="1400">
                <a:solidFill>
                  <a:srgbClr val="F2F2F2"/>
                </a:solidFill>
                <a:latin typeface="Arial"/>
              </a:rPr>
              <a:t>ce-mi trebuie</a:t>
            </a:r>
            <a:r>
              <a:rPr b="0" sz="1400">
                <a:solidFill>
                  <a:srgbClr val="F2F2F2"/>
                </a:solidFill>
                <a:latin typeface="Arial"/>
              </a:rPr>
              <a:t>? Perioada potrivită, coloanele potrivite, granularitatea potrivită, tabelele potrivite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21736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Poți avea date perfect curate și </a:t>
            </a:r>
            <a:r>
              <a:rPr b="1" sz="1400">
                <a:solidFill>
                  <a:srgbClr val="F2F2F2"/>
                </a:solidFill>
                <a:latin typeface="Arial"/>
              </a:rPr>
              <a:t>insuficiente</a:t>
            </a:r>
            <a:r>
              <a:rPr b="0" sz="1400">
                <a:solidFill>
                  <a:srgbClr val="F2F2F2"/>
                </a:solidFill>
                <a:latin typeface="Arial"/>
              </a:rPr>
              <a:t>: un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impecabil, dar fără nicio coloană care să spună dacă o comandă a venit dintr-o campanie — și atunci nu poți verifica ipoteza „campanie lipsă”. Ai nevoie de amândouă: </a:t>
            </a:r>
            <a:r>
              <a:rPr b="1" sz="1400">
                <a:solidFill>
                  <a:srgbClr val="F2F2F2"/>
                </a:solidFill>
                <a:latin typeface="Arial"/>
              </a:rPr>
              <a:t>corecte ȘI suficiente.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ai verifica, pentru fiecare ramură?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Oprește-te. Ai Decision Tree-ul pentru septembrie: reper → magazin → categorie → campanie? → stoc?. Pentru fiecare frunză, ce ai verifica la date </a:t>
            </a:r>
            <a:r>
              <a:rPr i="1" sz="15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500">
                <a:solidFill>
                  <a:srgbClr val="F2F2F2"/>
                </a:solidFill>
                <a:latin typeface="Arial"/>
              </a:rPr>
              <a:t> să te apuci? Notează pentru 2–3 frunze.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25176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Aproape sigur ai ajuns la: </a:t>
            </a:r>
            <a:r>
              <a:rPr i="1" sz="1400">
                <a:solidFill>
                  <a:srgbClr val="F2F2F2"/>
                </a:solidFill>
                <a:latin typeface="Arial"/>
              </a:rPr>
              <a:t>„am tabelul potrivit? are perioada septembrie? are coloana de care am nevoie? e la grain-ul bun? e curat?”</a:t>
            </a:r>
            <a:r>
              <a:rPr b="0" sz="1400">
                <a:solidFill>
                  <a:srgbClr val="F2F2F2"/>
                </a:solidFill>
                <a:latin typeface="Arial"/>
              </a:rPr>
              <a:t>. Verifici </a:t>
            </a:r>
            <a:r>
              <a:rPr b="1" sz="1400">
                <a:solidFill>
                  <a:srgbClr val="F2F2F2"/>
                </a:solidFill>
                <a:latin typeface="Arial"/>
              </a:rPr>
              <a:t>existența</a:t>
            </a:r>
            <a:r>
              <a:rPr b="0" sz="1400">
                <a:solidFill>
                  <a:srgbClr val="F2F2F2"/>
                </a:solidFill>
                <a:latin typeface="Arial"/>
              </a:rPr>
              <a:t> (suficiență) și </a:t>
            </a:r>
            <a:r>
              <a:rPr b="1" sz="1400">
                <a:solidFill>
                  <a:srgbClr val="F2F2F2"/>
                </a:solidFill>
                <a:latin typeface="Arial"/>
              </a:rPr>
              <a:t>calitatea</a:t>
            </a:r>
            <a:r>
              <a:rPr b="0" sz="1400">
                <a:solidFill>
                  <a:srgbClr val="F2F2F2"/>
                </a:solidFill>
                <a:latin typeface="Arial"/>
              </a:rPr>
              <a:t> (corectitudine). Dacă o frunză n-are date, o marchezi „neverificabilă cu ce avem” — și asta e o descoperire utilă, nu un eșec.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MIEZUL MECANICII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Lista de validare a datelor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37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Verifici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Întrebarea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Dacă „nu”...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Tabelul potrivit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Am tabelul cu răspunsul? (harta L2)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îți lipsește o sursă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Coloana potrivită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Are măsura / dimensiunea de care am nevoie?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insuficient — lipsește piesa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Granularitatea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E la grain-ul întrebării? (L7)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răspunzi la altă întrebare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Perioada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Acoperă intervalul cerut (septembrie 2025)?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insuficient — lipsește perioada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Legăturile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Cheile prezente și completate? (L8)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traseul se rupe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6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Calitatea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E curat pe coloanele care contează? (L9)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corectează înainte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Analogia: bucătarul verifică ingredientele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bucătar bun verifică ingredientele </a:t>
            </a:r>
            <a:r>
              <a:rPr b="1" sz="15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500">
                <a:solidFill>
                  <a:srgbClr val="F2F2F2"/>
                </a:solidFill>
                <a:latin typeface="Arial"/>
              </a:rPr>
              <a:t> să înceapă rețeta: are tot? sunt proaspete? Nu se apucă de gătit ca să descopere la jumătate că lipsește un ingredient sau că unul e stricat.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Costă mult mai puțin să verifici la început decât să te oprești la mijloc. Datele sunt ingredientele tale; </a:t>
            </a:r>
            <a:r>
              <a:rPr b="1" sz="1400">
                <a:solidFill>
                  <a:srgbClr val="F2F2F2"/>
                </a:solidFill>
                <a:latin typeface="Arial"/>
              </a:rPr>
              <a:t>validarea e verificarea de dinainte de a găti.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Poarta de validare — trei întrebări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121408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Cererea / ramura de analizat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+-- EXISTA?        tabele, coloane, perioada, grain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|     Nu -&gt; OPRESTE: cere datele sau schimba intrebarea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+-- E DE INCREDERE? curate pe ce conteaza?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|     Nu -&gt; curata intai (L9), apoi revii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+-- SE LEAGA?       cheile prezente si completate?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|     Nu -&gt; repara traseul (cheia lipsa rupe JOIN-ul, L8)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= toate DA -&gt; intri in Excel cu incredere, nu cu speranta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41648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Dacă la „există?” răspunsul e nu, nicio cantitate de curățare sau deșteptăciune nu ajută — datele pur și simplu nu conțin răspunsul. Aia e cea mai importantă descoperire: îți schimbă planul devreme.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Pe cererea Elenei: validezi fiecare ramură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Ramura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Datele conțin piesa?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Revenue pe magazin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orders: TotalAmount, StoreID, OrderDate (sept)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✔ suficient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Ce categorie a scăzut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traseul order_items→products→categories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✔ suficient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 lipsit o campanie?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campaigns + orders.CampaignID (gol = fără)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✔ suficient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Stoc epuizat pe top-produse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inventory: stoc pe produs-magazin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verifici grain/perioadă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gândește Andrei: validează o ramură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5176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</a:t>
            </a:r>
            <a:r>
              <a:rPr b="1" sz="1400">
                <a:solidFill>
                  <a:srgbClr val="F2F2F2"/>
                </a:solidFill>
                <a:latin typeface="Arial"/>
              </a:rPr>
              <a:t>Există?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sz="14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400">
                <a:solidFill>
                  <a:srgbClr val="F2F2F2"/>
                </a:solidFill>
                <a:latin typeface="Arial"/>
              </a:rPr>
              <a:t> are datele campaniilor, comenzile au </a:t>
            </a:r>
            <a:r>
              <a:rPr sz="1400">
                <a:solidFill>
                  <a:srgbClr val="FFA24E"/>
                </a:solidFill>
                <a:latin typeface="Consolas"/>
              </a:rPr>
              <a:t>CampaignID</a:t>
            </a:r>
            <a:r>
              <a:rPr b="0" sz="1400">
                <a:solidFill>
                  <a:srgbClr val="F2F2F2"/>
                </a:solidFill>
                <a:latin typeface="Arial"/>
              </a:rPr>
              <a:t> — gol înseamnă «fără campanie». </a:t>
            </a:r>
            <a:r>
              <a:rPr b="1" sz="1400">
                <a:solidFill>
                  <a:srgbClr val="F2F2F2"/>
                </a:solidFill>
                <a:latin typeface="Arial"/>
              </a:rPr>
              <a:t>De încredere?</a:t>
            </a:r>
            <a:r>
              <a:rPr b="0" sz="1400">
                <a:solidFill>
                  <a:srgbClr val="F2F2F2"/>
                </a:solidFill>
                <a:latin typeface="Arial"/>
              </a:rPr>
              <a:t> Verific dacă </a:t>
            </a:r>
            <a:r>
              <a:rPr sz="1400">
                <a:solidFill>
                  <a:srgbClr val="FFA24E"/>
                </a:solidFill>
                <a:latin typeface="Consolas"/>
              </a:rPr>
              <a:t>CampaignID</a:t>
            </a:r>
            <a:r>
              <a:rPr b="0" sz="1400">
                <a:solidFill>
                  <a:srgbClr val="F2F2F2"/>
                </a:solidFill>
                <a:latin typeface="Arial"/>
              </a:rPr>
              <a:t> nu e murdar. </a:t>
            </a:r>
            <a:r>
              <a:rPr b="1" sz="1400">
                <a:solidFill>
                  <a:srgbClr val="F2F2F2"/>
                </a:solidFill>
                <a:latin typeface="Arial"/>
              </a:rPr>
              <a:t>Se leagă?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sz="1400">
                <a:solidFill>
                  <a:srgbClr val="FFA24E"/>
                </a:solidFill>
                <a:latin typeface="Consolas"/>
              </a:rPr>
              <a:t>orders.CampaignID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sz="1400">
                <a:solidFill>
                  <a:srgbClr val="FFA24E"/>
                </a:solidFill>
                <a:latin typeface="Consolas"/>
              </a:rPr>
              <a:t>campaigns.CampaignID</a:t>
            </a:r>
            <a:r>
              <a:rPr b="0" sz="1400">
                <a:solidFill>
                  <a:srgbClr val="F2F2F2"/>
                </a:solidFill>
                <a:latin typeface="Arial"/>
              </a:rPr>
              <a:t>, cheia e acolo. Deci ramura e </a:t>
            </a:r>
            <a:r>
              <a:rPr b="1" sz="1400">
                <a:solidFill>
                  <a:srgbClr val="F2F2F2"/>
                </a:solidFill>
                <a:latin typeface="Arial"/>
              </a:rPr>
              <a:t>verificabilă</a:t>
            </a:r>
            <a:r>
              <a:rPr b="0" sz="1400">
                <a:solidFill>
                  <a:srgbClr val="F2F2F2"/>
                </a:solidFill>
                <a:latin typeface="Arial"/>
              </a:rPr>
              <a:t>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37888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Apoi contrastul: „Dar dacă Elena m-ar întreba «câți clienți au </a:t>
            </a:r>
            <a:r>
              <a:rPr i="1" sz="1500">
                <a:solidFill>
                  <a:srgbClr val="F2F2F2"/>
                </a:solidFill>
                <a:latin typeface="Arial"/>
              </a:rPr>
              <a:t>văzut</a:t>
            </a:r>
            <a:r>
              <a:rPr b="0" sz="1500">
                <a:solidFill>
                  <a:srgbClr val="F2F2F2"/>
                </a:solidFill>
                <a:latin typeface="Arial"/>
              </a:rPr>
              <a:t> campania dar n-au cumpărat?» — stai. Avem date despre cine a </a:t>
            </a:r>
            <a:r>
              <a:rPr i="1" sz="1500">
                <a:solidFill>
                  <a:srgbClr val="F2F2F2"/>
                </a:solidFill>
                <a:latin typeface="Arial"/>
              </a:rPr>
              <a:t>văzut</a:t>
            </a:r>
            <a:r>
              <a:rPr b="0" sz="1500">
                <a:solidFill>
                  <a:srgbClr val="F2F2F2"/>
                </a:solidFill>
                <a:latin typeface="Arial"/>
              </a:rPr>
              <a:t> o campanie? Nu. Avem doar comenzile, nu impresiile. Aia e </a:t>
            </a:r>
            <a:r>
              <a:rPr b="1" sz="1500">
                <a:solidFill>
                  <a:srgbClr val="F2F2F2"/>
                </a:solidFill>
                <a:latin typeface="Arial"/>
              </a:rPr>
              <a:t>insuficientă</a:t>
            </a:r>
            <a:r>
              <a:rPr b="0" sz="1500">
                <a:solidFill>
                  <a:srgbClr val="F2F2F2"/>
                </a:solidFill>
                <a:latin typeface="Arial"/>
              </a:rPr>
              <a:t> — și mai bine îi spun acum decât să caut trei zile ceva ce nu există. «Nu avem datele pentru asta» e un răspuns de analist perfect valid.”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Verifică doar calitatea, uită suficiența</a:t>
            </a:r>
            <a:r>
              <a:rPr b="0" sz="1300">
                <a:solidFill>
                  <a:srgbClr val="F2F2F2"/>
                </a:solidFill>
                <a:latin typeface="Arial"/>
              </a:rPr>
              <a:t> — curăță, dar nu se întreabă dacă datele </a:t>
            </a:r>
            <a:r>
              <a:rPr i="1" sz="1300">
                <a:solidFill>
                  <a:srgbClr val="F2F2F2"/>
                </a:solidFill>
                <a:latin typeface="Arial"/>
              </a:rPr>
              <a:t>conțin</a:t>
            </a:r>
            <a:r>
              <a:rPr b="0" sz="1300">
                <a:solidFill>
                  <a:srgbClr val="F2F2F2"/>
                </a:solidFill>
                <a:latin typeface="Arial"/>
              </a:rPr>
              <a:t> răspunsul. Antidot: două întrebări, nu una — corecte </a:t>
            </a:r>
            <a:r>
              <a:rPr b="1" sz="1300">
                <a:solidFill>
                  <a:srgbClr val="F2F2F2"/>
                </a:solidFill>
                <a:latin typeface="Arial"/>
              </a:rPr>
              <a:t>și</a:t>
            </a:r>
            <a:r>
              <a:rPr b="0" sz="1300">
                <a:solidFill>
                  <a:srgbClr val="F2F2F2"/>
                </a:solidFill>
                <a:latin typeface="Arial"/>
              </a:rPr>
              <a:t> suficiente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Sar în tool fără validare</a:t>
            </a:r>
            <a:r>
              <a:rPr b="0" sz="1300">
                <a:solidFill>
                  <a:srgbClr val="F2F2F2"/>
                </a:solidFill>
                <a:latin typeface="Arial"/>
              </a:rPr>
              <a:t> — deschid Excel din entuziasm și descoperă lipsuri la mijloc. Antidot: 5 minute de validare economisesc zile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Inventează piesa lipsă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estimează în secret și dă ca fapt. Antidot: „datele sunt insuficiente” e valid — sau estimezi </a:t>
            </a:r>
            <a:r>
              <a:rPr i="1" sz="1300">
                <a:solidFill>
                  <a:srgbClr val="F2F2F2"/>
                </a:solidFill>
                <a:latin typeface="Arial"/>
              </a:rPr>
              <a:t>explicit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Confundă „ce s-a întâmplat” cu „ce s-ar fi întâmplat”</a:t>
            </a:r>
            <a:r>
              <a:rPr b="0" sz="1300">
                <a:solidFill>
                  <a:srgbClr val="F2F2F2"/>
                </a:solidFill>
                <a:latin typeface="Arial"/>
              </a:rPr>
              <a:t> — caută vânzările pierdute ca pe un fapt. Antidot: ce nu s-a întâmplat n-are rând — se estimează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MILESTONE ·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Închizi Modulul 2 — datele validate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5176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„Ai gândit problema (Modulul 1) și ai înțeles datele (Modulul 2). Ultimul pas înainte de Excel: pune pe hârtie exact ce date îți trebuie pentru investigația din septembrie, și confirmă că le ai — corecte și suficiente. Dacă o ramură nu e verificabilă, vreau s-o știi acum.”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37888"/>
            <a:ext cx="10874959" cy="137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Pentru </a:t>
            </a:r>
            <a:r>
              <a:rPr b="1" sz="1300">
                <a:solidFill>
                  <a:srgbClr val="F2F2F2"/>
                </a:solidFill>
                <a:latin typeface="Arial"/>
              </a:rPr>
              <a:t>fiecare frunză</a:t>
            </a:r>
            <a:r>
              <a:rPr b="0" sz="1300">
                <a:solidFill>
                  <a:srgbClr val="F2F2F2"/>
                </a:solidFill>
                <a:latin typeface="Arial"/>
              </a:rPr>
              <a:t>: </a:t>
            </a:r>
            <a:r>
              <a:rPr b="1" sz="1300">
                <a:solidFill>
                  <a:srgbClr val="F2F2F2"/>
                </a:solidFill>
                <a:latin typeface="Arial"/>
              </a:rPr>
              <a:t>tabele + coloane</a:t>
            </a:r>
            <a:r>
              <a:rPr b="0" sz="1300">
                <a:solidFill>
                  <a:srgbClr val="F2F2F2"/>
                </a:solidFill>
                <a:latin typeface="Arial"/>
              </a:rPr>
              <a:t> (măsura + dimensiunile) · </a:t>
            </a:r>
            <a:r>
              <a:rPr b="1" sz="1300">
                <a:solidFill>
                  <a:srgbClr val="F2F2F2"/>
                </a:solidFill>
                <a:latin typeface="Arial"/>
              </a:rPr>
              <a:t>grain + traseu</a:t>
            </a:r>
            <a:r>
              <a:rPr b="0" sz="1300">
                <a:solidFill>
                  <a:srgbClr val="F2F2F2"/>
                </a:solidFill>
                <a:latin typeface="Arial"/>
              </a:rPr>
              <a:t> (L7, L8)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Suficiență</a:t>
            </a:r>
            <a:r>
              <a:rPr b="0" sz="1300">
                <a:solidFill>
                  <a:srgbClr val="F2F2F2"/>
                </a:solidFill>
                <a:latin typeface="Arial"/>
              </a:rPr>
              <a:t> (piesa există? da/parțial/lipsește) · </a:t>
            </a:r>
            <a:r>
              <a:rPr b="1" sz="1300">
                <a:solidFill>
                  <a:srgbClr val="F2F2F2"/>
                </a:solidFill>
                <a:latin typeface="Arial"/>
              </a:rPr>
              <a:t>corectitudine</a:t>
            </a:r>
            <a:r>
              <a:rPr b="0" sz="1300">
                <a:solidFill>
                  <a:srgbClr val="F2F2F2"/>
                </a:solidFill>
                <a:latin typeface="Arial"/>
              </a:rPr>
              <a:t> (ce curăț înainte, L9) · </a:t>
            </a:r>
            <a:r>
              <a:rPr b="1" sz="1300">
                <a:solidFill>
                  <a:srgbClr val="F2F2F2"/>
                </a:solidFill>
                <a:latin typeface="Arial"/>
              </a:rPr>
              <a:t>verdict</a:t>
            </a:r>
            <a:r>
              <a:rPr b="0" sz="1300">
                <a:solidFill>
                  <a:srgbClr val="F2F2F2"/>
                </a:solidFill>
                <a:latin typeface="Arial"/>
              </a:rPr>
              <a:t> pe ramură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5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Validare = </a:t>
            </a:r>
            <a:r>
              <a:rPr b="1" sz="1300">
                <a:solidFill>
                  <a:srgbClr val="F2F2F2"/>
                </a:solidFill>
                <a:latin typeface="Arial"/>
              </a:rPr>
              <a:t>corecte</a:t>
            </a:r>
            <a:r>
              <a:rPr b="0" sz="1300">
                <a:solidFill>
                  <a:srgbClr val="F2F2F2"/>
                </a:solidFill>
                <a:latin typeface="Arial"/>
              </a:rPr>
              <a:t> (calitate) </a:t>
            </a:r>
            <a:r>
              <a:rPr b="1" sz="1300">
                <a:solidFill>
                  <a:srgbClr val="F2F2F2"/>
                </a:solidFill>
                <a:latin typeface="Arial"/>
              </a:rPr>
              <a:t>ȘI suficiente</a:t>
            </a:r>
            <a:r>
              <a:rPr b="0" sz="1300">
                <a:solidFill>
                  <a:srgbClr val="F2F2F2"/>
                </a:solidFill>
                <a:latin typeface="Arial"/>
              </a:rPr>
              <a:t> (conțin ce-ți trebuie)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Poți avea date curate dar </a:t>
            </a:r>
            <a:r>
              <a:rPr b="1" sz="1300">
                <a:solidFill>
                  <a:srgbClr val="F2F2F2"/>
                </a:solidFill>
                <a:latin typeface="Arial"/>
              </a:rPr>
              <a:t>insuficiente</a:t>
            </a:r>
            <a:r>
              <a:rPr b="0" sz="1300">
                <a:solidFill>
                  <a:srgbClr val="F2F2F2"/>
                </a:solidFill>
                <a:latin typeface="Arial"/>
              </a:rPr>
              <a:t> — și nicio analiză nu inventează o piesă lipsă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Validezi </a:t>
            </a:r>
            <a:r>
              <a:rPr b="1" sz="13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300">
                <a:solidFill>
                  <a:srgbClr val="F2F2F2"/>
                </a:solidFill>
                <a:latin typeface="Arial"/>
              </a:rPr>
              <a:t> de tool: ieftin la început, scump la mijloc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„Nu avem datele pentru asta” e un </a:t>
            </a:r>
            <a:r>
              <a:rPr b="1" sz="1300">
                <a:solidFill>
                  <a:srgbClr val="F2F2F2"/>
                </a:solidFill>
                <a:latin typeface="Arial"/>
              </a:rPr>
              <a:t>răspuns de analist valid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Datele conțin doar ce s-a </a:t>
            </a:r>
            <a:r>
              <a:rPr i="1" sz="1300">
                <a:solidFill>
                  <a:srgbClr val="F2F2F2"/>
                </a:solidFill>
                <a:latin typeface="Arial"/>
              </a:rPr>
              <a:t>întâmplat</a:t>
            </a:r>
            <a:r>
              <a:rPr b="0" sz="1300">
                <a:solidFill>
                  <a:srgbClr val="F2F2F2"/>
                </a:solidFill>
                <a:latin typeface="Arial"/>
              </a:rPr>
              <a:t> — ce </a:t>
            </a:r>
            <a:r>
              <a:rPr i="1" sz="1300">
                <a:solidFill>
                  <a:srgbClr val="F2F2F2"/>
                </a:solidFill>
                <a:latin typeface="Arial"/>
              </a:rPr>
              <a:t>s-ar fi</a:t>
            </a:r>
            <a:r>
              <a:rPr b="0" sz="1300">
                <a:solidFill>
                  <a:srgbClr val="F2F2F2"/>
                </a:solidFill>
                <a:latin typeface="Arial"/>
              </a:rPr>
              <a:t> întâmplat (vânzări pierdute) se </a:t>
            </a:r>
            <a:r>
              <a:rPr b="1" sz="1300">
                <a:solidFill>
                  <a:srgbClr val="F2F2F2"/>
                </a:solidFill>
                <a:latin typeface="Arial"/>
              </a:rPr>
              <a:t>estimează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Punte: se termină Modulul 2 și începe </a:t>
            </a:r>
            <a:r>
              <a:rPr b="1" sz="1400">
                <a:solidFill>
                  <a:srgbClr val="F2F2F2"/>
                </a:solidFill>
                <a:latin typeface="Arial"/>
              </a:rPr>
              <a:t>Modulul 3 — Excel</a:t>
            </a:r>
            <a:r>
              <a:rPr b="0" sz="1400">
                <a:solidFill>
                  <a:srgbClr val="F2F2F2"/>
                </a:solidFill>
                <a:latin typeface="Arial"/>
              </a:rPr>
              <a:t>. În </a:t>
            </a:r>
            <a:r>
              <a:rPr b="1" sz="1400">
                <a:solidFill>
                  <a:srgbClr val="F2F2F2"/>
                </a:solidFill>
                <a:latin typeface="Arial"/>
              </a:rPr>
              <a:t>L11</a:t>
            </a:r>
            <a:r>
              <a:rPr b="0" sz="1400">
                <a:solidFill>
                  <a:srgbClr val="F2F2F2"/>
                </a:solidFill>
                <a:latin typeface="Arial"/>
              </a:rPr>
              <a:t> deschizi Excel-ul „ca analist”, cu tot ce ai construit: întrebarea (M1) + datele înțelese și validate (M2). Ai planul și materia primă.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L10 · Validare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