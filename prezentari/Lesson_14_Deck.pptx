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Ai fundamentele (L13): Revenue total, AOV, plăți. Dar întrebările reale au condiții: «cât Revenue doar în septembrie?». Azi bagi condiția în calcul — IF clasifică un rând, COUNTIF/SUMIF agregă cu o condiție, SUMIFS cu mai multe. Fișierul L14_conditional.xlsx are orders (curat, tblOrders, cu o coloană goală Nivel) și fila calcule cu sloturi. La final calculezi scăderea reală din septembrie.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Legăm de L13. Ai tradus fundamentele afacerii în formule verificabile: Revenue 37,88 mil., 14.968 comenzi, AOV 2.530,66, plăți ~25% pe metodă. Ai învățat referințe structurate și $ pe ce trebuie să rămână fix. Azi mergem mai departe: bagi o condiție în calcul.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Obiectivele din §1. Clasifici un rând cu IF; numeri și aduni cu o condiție (COUNTIF/SUMIF); folosești SUMIFS/COUNTIFS pentru mai multe condiții (un interval de dată); și, cel mai important, calculezi scăderea reală din septembrie cu propria formulă.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(§2, §5). Deschizi L14_conditional.xlsx. Ai orders (curat, ca tblOrders, cu o coloană goală Nivel) și fila calcule cu sloturi. Până acum, ca să iei «doar septembrie», ai fi filtrat cu mâna. Azi bagi condiția în formulă. O condiție e ca «câți oameni în tricou roșu» — numeri doar pe cei care trec un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Citatul lui Andrei (§2). Reperele sunt bune, dar Elena întreabă de septembrie. Andrei vrea doar septembrie, cu o formulă, ca s-o poată verifica și reface — prima cifră care contează cu adevărat. Pe asta o construim azi, cap-coadă.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Cârligul (§3). Ioana a vrut Revenue-ul din septembrie. A filtrat tblOrders după dată, a bifat zilele care i s-au părut din septembrie, și a citit Total Row. Două probleme: (1) filtrul e ușor de greșit — a inclus și câteva zile din octombrie fără să bage de seamă; (2) filtrul e o acțiune de o dată — mâine altcineva nu știe ce criteriu ai pus, și nu poate reface. Cifra ei nu era verificabilă.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Orientare (§5). IF decide pe un rând. COUNTIF numără câte celule respectă criteriul; SUMIF adună doar acolo unde se respectă. Criteriul poate fi o valoare (2), o comparație în ghilimele ("&gt;5000"), sau pentru date o comparație cu DATE. Când ai mai multe condiții, folosești SUMIFS/COUNTIFS.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Ideea centrală (§6). Fiecare funcție pentru treaba ei: IF etichetează un rând; COUNTIF/SUMIF agregă cu o condiție; SUMIFS cu mai multe. Regula de citire: SUMIF = o condiție; SUMIFS = mai multe — și la SUMIFS zona de adunat vine prima. Cu astea tai investigația pe septembrie: o cifră reală, pe care o poți apăra.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1 (§7). În fila orders, coloana goală Nivel (J2), scrie =IF([@TotalAmount]&gt;5000; "high-value"; "normal") → Enter. Fiind într-un Table, formula se umple singură pe toate rândurile. [@TotalAmount] = valoarea din acest rând.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Pașii 2–3 (§7). COUNTIF(tblOrders[TotalAmount]; "&gt;5000") = 2.219 comenzi peste 5.000 lei (criteriul e text). COUNTIF(tblOrders[StoreID]; 2) = 855 comenzi ale Clujului. SUMIF(tblOrders[StoreID]; 2; tblOrders[TotalAmount]) = 1.987.932,42 Revenue-ul Clujului. La SUMIF: întâi unde verifici (StoreID), apoi ce cauți (2), apoi ce aduni (TotalAmount).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4 (§7). Septembrie e un interval de dată → două condiții → SUMIFS. În slotul «Revenue septembrie»: =SUMIFS(tblOrders[TotalAmount]; tblOrders[OrderDate]; "&gt;="&amp;DATE(2025;9;1); tblOrders[OrderDate]; "&lt;="&amp;DATE(2025;9;30)) → 1.126.418,50. La SUMIFS, zona de adunat (TotalAmount) vine prima, apoi perechile zonă-criteriu.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5 (§7). Același SUMIFS, dar cu DATE(2025;8;1) și DATE(2025;8;31) → 1.324.375,59. Apoi scăderea: =(B8-B9)/B9 → formatezi %. Iese −14,9%. Ăsta e momentul: scăderea despre care Elena vorbește din L5, planificată în Decision Tree (L3), pentru care ai validat datele (L10) — acum e o cifră reală, calculată de tine. Septembrie a făcut cu 197.957 lei mai puțin decât august.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patru greșeli (§11). Filtrezi și citești din ochi — o condiție care contează se pune într-o formulă. SUMIF pentru mai multe condiții — o condiție → SUMIF, mai multe → SUMIFS. Criteriu scris greșit — comparațiile în ghilimele, datele cu DATE. Confunzi «clasifică» cu «agregă» — IF = etichetă pe un rând, COUNTIF/SUMIF = o cifră pe toată coloana.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Închide cu milestone-ul (§12/§14). O condiție e un filtru băgat în calcul: IF clasifică un rând, COUNTIF/SUMIF agregă cu o condiție, SUMIFS/COUNTIFS cu mai multe (zona de adunat prima). Criteriile au sintaxă. Ai calculat scăderea reală: septembrie 1.126.418,50 vs august 1.324.375,59 = −14,9%. Ce era o bănuială e acum un fapt. Urmează unde și ce — pe magazin și pe categorie; pentru asta îți trebuie lookups (L15) și pivot (L16).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3 · LECȚIA 14 · A PATRA LECȚIE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Funcții logice și condiționate — IF, COUNTIF, SUMIF(S)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Data → Excel (taie pe condiții) → Answer. Azi tai investigația pe septembrie.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Miercuri, 14 octombrie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L14 · Condiții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am rămas (L13)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Fundamentele ca formule: Revenue </a:t>
            </a:r>
            <a:r>
              <a:rPr b="1" sz="1500">
                <a:solidFill>
                  <a:srgbClr val="F2F2F2"/>
                </a:solidFill>
                <a:latin typeface="Arial"/>
              </a:rPr>
              <a:t>37,88 mil.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b="1" sz="1500">
                <a:solidFill>
                  <a:srgbClr val="F2F2F2"/>
                </a:solidFill>
                <a:latin typeface="Arial"/>
              </a:rPr>
              <a:t>14.968</a:t>
            </a:r>
            <a:r>
              <a:rPr b="0" sz="1500">
                <a:solidFill>
                  <a:srgbClr val="F2F2F2"/>
                </a:solidFill>
                <a:latin typeface="Arial"/>
              </a:rPr>
              <a:t> comenzi, </a:t>
            </a:r>
            <a:r>
              <a:rPr b="1" sz="1500">
                <a:solidFill>
                  <a:srgbClr val="F2F2F2"/>
                </a:solidFill>
                <a:latin typeface="Arial"/>
              </a:rPr>
              <a:t>AOV 2.530,66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Referințe structurate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tblOrders[TotalAmount]</a:t>
            </a:r>
            <a:r>
              <a:rPr b="0" sz="1500">
                <a:solidFill>
                  <a:srgbClr val="F2F2F2"/>
                </a:solidFill>
                <a:latin typeface="Arial"/>
              </a:rPr>
              <a:t>) și </a:t>
            </a:r>
            <a:r>
              <a:rPr sz="1500">
                <a:solidFill>
                  <a:srgbClr val="FFA24E"/>
                </a:solidFill>
                <a:latin typeface="Consolas"/>
              </a:rPr>
              <a:t>$</a:t>
            </a:r>
            <a:r>
              <a:rPr b="0" sz="1500">
                <a:solidFill>
                  <a:srgbClr val="F2F2F2"/>
                </a:solidFill>
                <a:latin typeface="Arial"/>
              </a:rPr>
              <a:t> pe ce rămâne fix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Dar ai calculat pe </a:t>
            </a:r>
            <a:r>
              <a:rPr b="1" sz="1500">
                <a:solidFill>
                  <a:srgbClr val="F2F2F2"/>
                </a:solidFill>
                <a:latin typeface="Arial"/>
              </a:rPr>
              <a:t>tot</a:t>
            </a:r>
            <a:r>
              <a:rPr b="0" sz="1500">
                <a:solidFill>
                  <a:srgbClr val="F2F2F2"/>
                </a:solidFill>
                <a:latin typeface="Arial"/>
              </a:rPr>
              <a:t> — nu «doar septembrie», nu «doar Cluj»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Întrebările reale au </a:t>
            </a:r>
            <a:r>
              <a:rPr b="1" sz="1400">
                <a:solidFill>
                  <a:srgbClr val="F2F2F2"/>
                </a:solidFill>
                <a:latin typeface="Arial"/>
              </a:rPr>
              <a:t>condiții</a:t>
            </a:r>
            <a:r>
              <a:rPr b="0" sz="1400">
                <a:solidFill>
                  <a:srgbClr val="F2F2F2"/>
                </a:solidFill>
                <a:latin typeface="Arial"/>
              </a:rPr>
              <a:t>: «cât Revenue </a:t>
            </a:r>
            <a:r>
              <a:rPr i="1" sz="1400">
                <a:solidFill>
                  <a:srgbClr val="F2F2F2"/>
                </a:solidFill>
                <a:latin typeface="Arial"/>
              </a:rPr>
              <a:t>doar</a:t>
            </a:r>
            <a:r>
              <a:rPr b="0" sz="1400">
                <a:solidFill>
                  <a:srgbClr val="F2F2F2"/>
                </a:solidFill>
                <a:latin typeface="Arial"/>
              </a:rPr>
              <a:t> în septembrie?». Azi bagi condiția </a:t>
            </a:r>
            <a:r>
              <a:rPr b="1" sz="1400">
                <a:solidFill>
                  <a:srgbClr val="F2F2F2"/>
                </a:solidFill>
                <a:latin typeface="Arial"/>
              </a:rPr>
              <a:t>în</a:t>
            </a:r>
            <a:r>
              <a:rPr b="0" sz="1400">
                <a:solidFill>
                  <a:srgbClr val="F2F2F2"/>
                </a:solidFill>
                <a:latin typeface="Arial"/>
              </a:rPr>
              <a:t> calcul — o dată, exact, reproductibil.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L14 · Condiții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clasifici un rând cu </a:t>
            </a:r>
            <a:r>
              <a:rPr b="1" sz="1400">
                <a:solidFill>
                  <a:srgbClr val="F2F2F2"/>
                </a:solidFill>
                <a:latin typeface="Arial"/>
              </a:rPr>
              <a:t>`IF`</a:t>
            </a:r>
            <a:r>
              <a:rPr b="0" sz="1400">
                <a:solidFill>
                  <a:srgbClr val="F2F2F2"/>
                </a:solidFill>
                <a:latin typeface="Arial"/>
              </a:rPr>
              <a:t> («high-value» dacă trece de un prag)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numeri cu </a:t>
            </a:r>
            <a:r>
              <a:rPr b="1" sz="1400">
                <a:solidFill>
                  <a:srgbClr val="F2F2F2"/>
                </a:solidFill>
                <a:latin typeface="Arial"/>
              </a:rPr>
              <a:t>`COUNTIF`</a:t>
            </a:r>
            <a:r>
              <a:rPr b="0" sz="1400">
                <a:solidFill>
                  <a:srgbClr val="F2F2F2"/>
                </a:solidFill>
                <a:latin typeface="Arial"/>
              </a:rPr>
              <a:t> și să aduni cu </a:t>
            </a:r>
            <a:r>
              <a:rPr b="1" sz="1400">
                <a:solidFill>
                  <a:srgbClr val="F2F2F2"/>
                </a:solidFill>
                <a:latin typeface="Arial"/>
              </a:rPr>
              <a:t>`SUMIF`</a:t>
            </a:r>
            <a:r>
              <a:rPr b="0" sz="1400">
                <a:solidFill>
                  <a:srgbClr val="F2F2F2"/>
                </a:solidFill>
                <a:latin typeface="Arial"/>
              </a:rPr>
              <a:t> (o condiție)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folosești </a:t>
            </a:r>
            <a:r>
              <a:rPr b="1" sz="1400">
                <a:solidFill>
                  <a:srgbClr val="F2F2F2"/>
                </a:solidFill>
                <a:latin typeface="Arial"/>
              </a:rPr>
              <a:t>`SUMIFS`/`COUNTIFS`</a:t>
            </a:r>
            <a:r>
              <a:rPr b="0" sz="1400">
                <a:solidFill>
                  <a:srgbClr val="F2F2F2"/>
                </a:solidFill>
                <a:latin typeface="Arial"/>
              </a:rPr>
              <a:t> pentru </a:t>
            </a:r>
            <a:r>
              <a:rPr b="1" sz="1400">
                <a:solidFill>
                  <a:srgbClr val="F2F2F2"/>
                </a:solidFill>
                <a:latin typeface="Arial"/>
              </a:rPr>
              <a:t>mai multe</a:t>
            </a:r>
            <a:r>
              <a:rPr b="0" sz="1400">
                <a:solidFill>
                  <a:srgbClr val="F2F2F2"/>
                </a:solidFill>
                <a:latin typeface="Arial"/>
              </a:rPr>
              <a:t> condiții (un interval de dată)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calculezi </a:t>
            </a:r>
            <a:r>
              <a:rPr b="1" sz="1400">
                <a:solidFill>
                  <a:srgbClr val="F2F2F2"/>
                </a:solidFill>
                <a:latin typeface="Arial"/>
              </a:rPr>
              <a:t>scăderea reală din septembrie</a:t>
            </a:r>
            <a:r>
              <a:rPr b="0" sz="1400">
                <a:solidFill>
                  <a:srgbClr val="F2F2F2"/>
                </a:solidFill>
                <a:latin typeface="Arial"/>
              </a:rPr>
              <a:t> — prima cifră a investigației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L14 · Condiții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SETUP · FIȘIER + CONDIȚIA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Fișierul și ce înseamnă o condiție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Deschizi 📎 </a:t>
            </a:r>
            <a:r>
              <a:rPr sz="1500">
                <a:solidFill>
                  <a:srgbClr val="FFA24E"/>
                </a:solidFill>
                <a:latin typeface="Consolas"/>
              </a:rPr>
              <a:t>L14_conditional.xlsx</a:t>
            </a:r>
            <a:r>
              <a:rPr b="0" sz="1500">
                <a:solidFill>
                  <a:srgbClr val="F2F2F2"/>
                </a:solidFill>
                <a:latin typeface="Arial"/>
              </a:rPr>
              <a:t>: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 curat (ca </a:t>
            </a:r>
            <a:r>
              <a:rPr sz="1500">
                <a:solidFill>
                  <a:srgbClr val="FFA24E"/>
                </a:solidFill>
                <a:latin typeface="Consolas"/>
              </a:rPr>
              <a:t>tblOrders</a:t>
            </a:r>
            <a:r>
              <a:rPr b="0" sz="1500">
                <a:solidFill>
                  <a:srgbClr val="F2F2F2"/>
                </a:solidFill>
                <a:latin typeface="Arial"/>
              </a:rPr>
              <a:t>, cu o coloană goală </a:t>
            </a:r>
            <a:r>
              <a:rPr sz="1500">
                <a:solidFill>
                  <a:srgbClr val="FFA24E"/>
                </a:solidFill>
                <a:latin typeface="Consolas"/>
              </a:rPr>
              <a:t>Nivel</a:t>
            </a:r>
            <a:r>
              <a:rPr b="0" sz="1500">
                <a:solidFill>
                  <a:srgbClr val="F2F2F2"/>
                </a:solidFill>
                <a:latin typeface="Arial"/>
              </a:rPr>
              <a:t>) și fila </a:t>
            </a:r>
            <a:r>
              <a:rPr sz="1500">
                <a:solidFill>
                  <a:srgbClr val="FFA24E"/>
                </a:solidFill>
                <a:latin typeface="Consolas"/>
              </a:rPr>
              <a:t>calcule</a:t>
            </a:r>
            <a:r>
              <a:rPr b="0" sz="1500">
                <a:solidFill>
                  <a:srgbClr val="F2F2F2"/>
                </a:solidFill>
                <a:latin typeface="Arial"/>
              </a:rPr>
              <a:t> cu sloturi.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0764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O </a:t>
            </a:r>
            <a:r>
              <a:rPr b="1" sz="1400">
                <a:solidFill>
                  <a:srgbClr val="F2F2F2"/>
                </a:solidFill>
                <a:latin typeface="Arial"/>
              </a:rPr>
              <a:t>condiție</a:t>
            </a:r>
            <a:r>
              <a:rPr b="0" sz="1400">
                <a:solidFill>
                  <a:srgbClr val="F2F2F2"/>
                </a:solidFill>
                <a:latin typeface="Arial"/>
              </a:rPr>
              <a:t> e un filtru </a:t>
            </a:r>
            <a:r>
              <a:rPr b="1" sz="1400">
                <a:solidFill>
                  <a:srgbClr val="F2F2F2"/>
                </a:solidFill>
                <a:latin typeface="Arial"/>
              </a:rPr>
              <a:t>băgat în calcul</a:t>
            </a:r>
            <a:r>
              <a:rPr b="0" sz="1400">
                <a:solidFill>
                  <a:srgbClr val="F2F2F2"/>
                </a:solidFill>
                <a:latin typeface="Arial"/>
              </a:rPr>
              <a:t> — lucrezi doar cu rândurile care trec un test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Ca „câți oameni </a:t>
            </a:r>
            <a:r>
              <a:rPr b="1" sz="1400">
                <a:solidFill>
                  <a:srgbClr val="F2F2F2"/>
                </a:solidFill>
                <a:latin typeface="Arial"/>
              </a:rPr>
              <a:t>în tricou roșu</a:t>
            </a:r>
            <a:r>
              <a:rPr b="0" sz="1400">
                <a:solidFill>
                  <a:srgbClr val="F2F2F2"/>
                </a:solidFill>
                <a:latin typeface="Arial"/>
              </a:rPr>
              <a:t>", nu „câți oameni" — numeri pe cei care trec testul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Până acum ai fi </a:t>
            </a:r>
            <a:r>
              <a:rPr b="1" sz="1400">
                <a:solidFill>
                  <a:srgbClr val="F2F2F2"/>
                </a:solidFill>
                <a:latin typeface="Arial"/>
              </a:rPr>
              <a:t>filtrat cu mâna</a:t>
            </a:r>
            <a:r>
              <a:rPr b="0" sz="1400">
                <a:solidFill>
                  <a:srgbClr val="F2F2F2"/>
                </a:solidFill>
                <a:latin typeface="Arial"/>
              </a:rPr>
              <a:t>; azi pui condiția într-o </a:t>
            </a:r>
            <a:r>
              <a:rPr b="1" sz="1400">
                <a:solidFill>
                  <a:srgbClr val="F2F2F2"/>
                </a:solidFill>
                <a:latin typeface="Arial"/>
              </a:rPr>
              <a:t>formulă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L14 · Condiții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„Taie pe septembrie” (Andrei)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0985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„Reperele sunt bune, dar Elena întreabă de </a:t>
            </a:r>
            <a:r>
              <a:rPr b="1" sz="1500">
                <a:solidFill>
                  <a:srgbClr val="F2F2F2"/>
                </a:solidFill>
                <a:latin typeface="Arial"/>
              </a:rPr>
              <a:t>septembrie</a:t>
            </a:r>
            <a:r>
              <a:rPr b="0" sz="1500">
                <a:solidFill>
                  <a:srgbClr val="F2F2F2"/>
                </a:solidFill>
                <a:latin typeface="Arial"/>
              </a:rPr>
              <a:t>. Cât am făcut în septembrie față de august? Nu-mi da totalul pe an — dă-mi </a:t>
            </a:r>
            <a:r>
              <a:rPr b="1" sz="1500">
                <a:solidFill>
                  <a:srgbClr val="F2F2F2"/>
                </a:solidFill>
                <a:latin typeface="Arial"/>
              </a:rPr>
              <a:t>doar</a:t>
            </a:r>
            <a:r>
              <a:rPr b="0" sz="1500">
                <a:solidFill>
                  <a:srgbClr val="F2F2F2"/>
                </a:solidFill>
                <a:latin typeface="Arial"/>
              </a:rPr>
              <a:t> septembrie, cu o formulă, ca s-o pot verifica și reface. Asta e prima cifră care contează cu adevărat.”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18788"/>
            <a:ext cx="10874959" cy="71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Pe asta o construim azi. Dar mai întâi — o poveste despre cum să </a:t>
            </a:r>
            <a:r>
              <a:rPr b="1" sz="1500">
                <a:solidFill>
                  <a:srgbClr val="F2F2F2"/>
                </a:solidFill>
                <a:latin typeface="Arial"/>
              </a:rPr>
              <a:t>nu</a:t>
            </a:r>
            <a:r>
              <a:rPr b="0" sz="1500">
                <a:solidFill>
                  <a:srgbClr val="F2F2F2"/>
                </a:solidFill>
                <a:latin typeface="Arial"/>
              </a:rPr>
              <a:t> iei „doar septembrie”.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L14 · Condiții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Ioana: a filtrat cu mâna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A </a:t>
            </a:r>
            <a:r>
              <a:rPr b="1" sz="1400">
                <a:solidFill>
                  <a:srgbClr val="F2F2F2"/>
                </a:solidFill>
                <a:latin typeface="Arial"/>
              </a:rPr>
              <a:t>filtrat</a:t>
            </a:r>
            <a:r>
              <a:rPr b="0" sz="1400">
                <a:solidFill>
                  <a:srgbClr val="F2F2F2"/>
                </a:solidFill>
                <a:latin typeface="Arial"/>
              </a:rPr>
              <a:t> </a:t>
            </a:r>
            <a:r>
              <a:rPr sz="1400">
                <a:solidFill>
                  <a:srgbClr val="FFA24E"/>
                </a:solidFill>
                <a:latin typeface="Consolas"/>
              </a:rPr>
              <a:t>tblOrders</a:t>
            </a:r>
            <a:r>
              <a:rPr b="0" sz="1400">
                <a:solidFill>
                  <a:srgbClr val="F2F2F2"/>
                </a:solidFill>
                <a:latin typeface="Arial"/>
              </a:rPr>
              <a:t> după dată, a bifat zilele „din septembrie", a citit </a:t>
            </a:r>
            <a:r>
              <a:rPr sz="1400">
                <a:solidFill>
                  <a:srgbClr val="FFA24E"/>
                </a:solidFill>
                <a:latin typeface="Consolas"/>
              </a:rPr>
              <a:t>Total Row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A inclus și câteva zile din </a:t>
            </a:r>
            <a:r>
              <a:rPr b="1" sz="1400">
                <a:solidFill>
                  <a:srgbClr val="F2F2F2"/>
                </a:solidFill>
                <a:latin typeface="Arial"/>
              </a:rPr>
              <a:t>octombrie</a:t>
            </a:r>
            <a:r>
              <a:rPr b="0" sz="1400">
                <a:solidFill>
                  <a:srgbClr val="F2F2F2"/>
                </a:solidFill>
                <a:latin typeface="Arial"/>
              </a:rPr>
              <a:t> fără să bage de seamă — cifră greșită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Filtrul e o acțiune de </a:t>
            </a:r>
            <a:r>
              <a:rPr b="1" sz="1400">
                <a:solidFill>
                  <a:srgbClr val="F2F2F2"/>
                </a:solidFill>
                <a:latin typeface="Arial"/>
              </a:rPr>
              <a:t>o dată</a:t>
            </a:r>
            <a:r>
              <a:rPr b="0" sz="1400">
                <a:solidFill>
                  <a:srgbClr val="F2F2F2"/>
                </a:solidFill>
                <a:latin typeface="Arial"/>
              </a:rPr>
              <a:t>: mâine nimeni nu știe ce criteriu a pus — </a:t>
            </a:r>
            <a:r>
              <a:rPr b="1" sz="1400">
                <a:solidFill>
                  <a:srgbClr val="F2F2F2"/>
                </a:solidFill>
                <a:latin typeface="Arial"/>
              </a:rPr>
              <a:t>nereproductibil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5818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Curiozitatea de azi: cum aduni „doar septembrie” într-o </a:t>
            </a:r>
            <a:r>
              <a:rPr b="1" sz="1400">
                <a:solidFill>
                  <a:srgbClr val="F2F2F2"/>
                </a:solidFill>
                <a:latin typeface="Arial"/>
              </a:rPr>
              <a:t>singură formulă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exactă, care spune singură ce condiție aplică?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L14 · Condiții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ORIENTARE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Cum arată o condiție în Excel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`IF(test; da; nu)`</a:t>
            </a:r>
            <a:r>
              <a:rPr b="0" sz="1400">
                <a:solidFill>
                  <a:srgbClr val="F2F2F2"/>
                </a:solidFill>
                <a:latin typeface="Arial"/>
              </a:rPr>
              <a:t> — decide pe </a:t>
            </a:r>
            <a:r>
              <a:rPr b="1" sz="1400">
                <a:solidFill>
                  <a:srgbClr val="F2F2F2"/>
                </a:solidFill>
                <a:latin typeface="Arial"/>
              </a:rPr>
              <a:t>un</a:t>
            </a:r>
            <a:r>
              <a:rPr b="0" sz="1400">
                <a:solidFill>
                  <a:srgbClr val="F2F2F2"/>
                </a:solidFill>
                <a:latin typeface="Arial"/>
              </a:rPr>
              <a:t> rând (o etichetă)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`COUNTIF`</a:t>
            </a:r>
            <a:r>
              <a:rPr b="0" sz="1400">
                <a:solidFill>
                  <a:srgbClr val="F2F2F2"/>
                </a:solidFill>
                <a:latin typeface="Arial"/>
              </a:rPr>
              <a:t> numără câte respectă · </a:t>
            </a:r>
            <a:r>
              <a:rPr b="1" sz="1400">
                <a:solidFill>
                  <a:srgbClr val="F2F2F2"/>
                </a:solidFill>
                <a:latin typeface="Arial"/>
              </a:rPr>
              <a:t>`SUMIF`</a:t>
            </a:r>
            <a:r>
              <a:rPr b="0" sz="1400">
                <a:solidFill>
                  <a:srgbClr val="F2F2F2"/>
                </a:solidFill>
                <a:latin typeface="Arial"/>
              </a:rPr>
              <a:t> adună doar acolo unde se respectă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Criteriul</a:t>
            </a:r>
            <a:r>
              <a:rPr b="0" sz="1400">
                <a:solidFill>
                  <a:srgbClr val="F2F2F2"/>
                </a:solidFill>
                <a:latin typeface="Arial"/>
              </a:rPr>
              <a:t>: o valoare (</a:t>
            </a:r>
            <a:r>
              <a:rPr sz="1400">
                <a:solidFill>
                  <a:srgbClr val="FFA24E"/>
                </a:solidFill>
                <a:latin typeface="Consolas"/>
              </a:rPr>
              <a:t>2</a:t>
            </a:r>
            <a:r>
              <a:rPr b="0" sz="1400">
                <a:solidFill>
                  <a:srgbClr val="F2F2F2"/>
                </a:solidFill>
                <a:latin typeface="Arial"/>
              </a:rPr>
              <a:t>), o comparație în ghilimele (</a:t>
            </a:r>
            <a:r>
              <a:rPr sz="1400">
                <a:solidFill>
                  <a:srgbClr val="FFA24E"/>
                </a:solidFill>
                <a:latin typeface="Consolas"/>
              </a:rPr>
              <a:t>"&gt;5000"</a:t>
            </a:r>
            <a:r>
              <a:rPr b="0" sz="1400">
                <a:solidFill>
                  <a:srgbClr val="F2F2F2"/>
                </a:solidFill>
                <a:latin typeface="Arial"/>
              </a:rPr>
              <a:t>), o dată (</a:t>
            </a:r>
            <a:r>
              <a:rPr sz="1400">
                <a:solidFill>
                  <a:srgbClr val="FFA24E"/>
                </a:solidFill>
                <a:latin typeface="Consolas"/>
              </a:rPr>
              <a:t>"&gt;="&amp;DATE(2025;9;1)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Mai multe</a:t>
            </a:r>
            <a:r>
              <a:rPr b="0" sz="1400">
                <a:solidFill>
                  <a:srgbClr val="F2F2F2"/>
                </a:solidFill>
                <a:latin typeface="Arial"/>
              </a:rPr>
              <a:t> condiții (un interval) → </a:t>
            </a:r>
            <a:r>
              <a:rPr b="1" sz="1400">
                <a:solidFill>
                  <a:srgbClr val="F2F2F2"/>
                </a:solidFill>
                <a:latin typeface="Arial"/>
              </a:rPr>
              <a:t>`SUMIFS`/`COUNTIFS`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L14 · Condiții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O condiție e un filtru băgat în calcul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941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Vrei…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Funcția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Exemplu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Să etichetezi un rând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IF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=IF([@TotalAmount]&gt;5000;"high-value";"normal")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Să numeri cu o condiție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COUNTIF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=COUNTIF(tblOrders[StoreID];2)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Să aduni cu o condiție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SUMIF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=SUMIF(tblOrders[StoreID];2;...)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Să aduni cu mai multe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SUMIFS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un interval de dată (sept.)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76732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Regula: </a:t>
            </a:r>
            <a:r>
              <a:rPr sz="1300">
                <a:solidFill>
                  <a:srgbClr val="FFA24E"/>
                </a:solidFill>
                <a:latin typeface="Consolas"/>
              </a:rPr>
              <a:t>SUMIF</a:t>
            </a:r>
            <a:r>
              <a:rPr b="0" sz="1300">
                <a:solidFill>
                  <a:srgbClr val="F2F2F2"/>
                </a:solidFill>
                <a:latin typeface="Arial"/>
              </a:rPr>
              <a:t> = </a:t>
            </a:r>
            <a:r>
              <a:rPr b="1" sz="1300">
                <a:solidFill>
                  <a:srgbClr val="F2F2F2"/>
                </a:solidFill>
                <a:latin typeface="Arial"/>
              </a:rPr>
              <a:t>o</a:t>
            </a:r>
            <a:r>
              <a:rPr b="0" sz="1300">
                <a:solidFill>
                  <a:srgbClr val="F2F2F2"/>
                </a:solidFill>
                <a:latin typeface="Arial"/>
              </a:rPr>
              <a:t> condiție; </a:t>
            </a:r>
            <a:r>
              <a:rPr sz="1300">
                <a:solidFill>
                  <a:srgbClr val="FFA24E"/>
                </a:solidFill>
                <a:latin typeface="Consolas"/>
              </a:rPr>
              <a:t>SUMIFS</a:t>
            </a:r>
            <a:r>
              <a:rPr b="0" sz="1300">
                <a:solidFill>
                  <a:srgbClr val="F2F2F2"/>
                </a:solidFill>
                <a:latin typeface="Arial"/>
              </a:rPr>
              <a:t> = </a:t>
            </a:r>
            <a:r>
              <a:rPr b="1" sz="1300">
                <a:solidFill>
                  <a:srgbClr val="F2F2F2"/>
                </a:solidFill>
                <a:latin typeface="Arial"/>
              </a:rPr>
              <a:t>mai multe</a:t>
            </a:r>
            <a:r>
              <a:rPr b="0" sz="1300">
                <a:solidFill>
                  <a:srgbClr val="F2F2F2"/>
                </a:solidFill>
                <a:latin typeface="Arial"/>
              </a:rPr>
              <a:t> — și la </a:t>
            </a:r>
            <a:r>
              <a:rPr sz="1300">
                <a:solidFill>
                  <a:srgbClr val="FFA24E"/>
                </a:solidFill>
                <a:latin typeface="Consolas"/>
              </a:rPr>
              <a:t>SUMIFS</a:t>
            </a:r>
            <a:r>
              <a:rPr b="0" sz="1300">
                <a:solidFill>
                  <a:srgbClr val="F2F2F2"/>
                </a:solidFill>
                <a:latin typeface="Arial"/>
              </a:rPr>
              <a:t> zona de adunat vine </a:t>
            </a:r>
            <a:r>
              <a:rPr b="1" sz="1300">
                <a:solidFill>
                  <a:srgbClr val="F2F2F2"/>
                </a:solidFill>
                <a:latin typeface="Arial"/>
              </a:rPr>
              <a:t>prima</a:t>
            </a:r>
            <a:r>
              <a:rPr b="0" sz="13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L14 · Condiții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1 · 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sz="3000">
                <a:solidFill>
                  <a:srgbClr val="FFA24E"/>
                </a:solidFill>
                <a:latin typeface="Consolas"/>
              </a:rPr>
              <a:t>IF</a:t>
            </a:r>
            <a:r>
              <a:rPr b="1" sz="3000">
                <a:solidFill>
                  <a:srgbClr val="F2F2F2"/>
                </a:solidFill>
                <a:latin typeface="Arial"/>
              </a:rPr>
              <a:t> — clasifică fiecare comandă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489204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J2:  =IF([@TotalAmount]&gt;5000; "high-value"; "normal")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0944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🖥️ Fiecare comandă e etichetată </a:t>
            </a:r>
            <a:r>
              <a:rPr sz="1400">
                <a:solidFill>
                  <a:srgbClr val="FFA24E"/>
                </a:solidFill>
                <a:latin typeface="Consolas"/>
              </a:rPr>
              <a:t>high-value</a:t>
            </a:r>
            <a:r>
              <a:rPr b="0" sz="1400">
                <a:solidFill>
                  <a:srgbClr val="F2F2F2"/>
                </a:solidFill>
                <a:latin typeface="Arial"/>
              </a:rPr>
              <a:t> sau </a:t>
            </a:r>
            <a:r>
              <a:rPr sz="1400">
                <a:solidFill>
                  <a:srgbClr val="FFA24E"/>
                </a:solidFill>
                <a:latin typeface="Consolas"/>
              </a:rPr>
              <a:t>normal</a:t>
            </a:r>
            <a:r>
              <a:rPr b="0" sz="1400">
                <a:solidFill>
                  <a:srgbClr val="F2F2F2"/>
                </a:solidFill>
                <a:latin typeface="Arial"/>
              </a:rPr>
              <a:t>. </a:t>
            </a:r>
            <a:r>
              <a:rPr sz="1400">
                <a:solidFill>
                  <a:srgbClr val="FFA24E"/>
                </a:solidFill>
                <a:latin typeface="Consolas"/>
              </a:rPr>
              <a:t>[@TotalAmount]</a:t>
            </a:r>
            <a:r>
              <a:rPr b="0" sz="1400">
                <a:solidFill>
                  <a:srgbClr val="F2F2F2"/>
                </a:solidFill>
                <a:latin typeface="Arial"/>
              </a:rPr>
              <a:t> = „valoarea din </a:t>
            </a:r>
            <a:r>
              <a:rPr i="1" sz="1400">
                <a:solidFill>
                  <a:srgbClr val="F2F2F2"/>
                </a:solidFill>
                <a:latin typeface="Arial"/>
              </a:rPr>
              <a:t>acest</a:t>
            </a:r>
            <a:r>
              <a:rPr b="0" sz="1400">
                <a:solidFill>
                  <a:srgbClr val="F2F2F2"/>
                </a:solidFill>
                <a:latin typeface="Arial"/>
              </a:rPr>
              <a:t> rând”. Fiind Table, formula se umple singură pe toate rândurile.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L14 · Condiții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2 · COUNTIF + SUMIF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Numeri și aduni cu o condiție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955547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=COUNTIF(tblOrders[TotalAmount]; "&gt;5000")        → 2.219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=COUNTIF(tblOrders[StoreID]; 2)                  → 855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=SUMIF(tblOrders[StoreID]; 2; tblOrders[TotalAmount]) → 1.987.932,42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7578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La </a:t>
            </a:r>
            <a:r>
              <a:rPr sz="1300">
                <a:solidFill>
                  <a:srgbClr val="FFA24E"/>
                </a:solidFill>
                <a:latin typeface="Consolas"/>
              </a:rPr>
              <a:t>SUMIF</a:t>
            </a:r>
            <a:r>
              <a:rPr b="0" sz="1300">
                <a:solidFill>
                  <a:srgbClr val="F2F2F2"/>
                </a:solidFill>
                <a:latin typeface="Arial"/>
              </a:rPr>
              <a:t>: întâi </a:t>
            </a:r>
            <a:r>
              <a:rPr i="1" sz="1300">
                <a:solidFill>
                  <a:srgbClr val="F2F2F2"/>
                </a:solidFill>
                <a:latin typeface="Arial"/>
              </a:rPr>
              <a:t>unde</a:t>
            </a:r>
            <a:r>
              <a:rPr b="0" sz="1300">
                <a:solidFill>
                  <a:srgbClr val="F2F2F2"/>
                </a:solidFill>
                <a:latin typeface="Arial"/>
              </a:rPr>
              <a:t> verifici (</a:t>
            </a:r>
            <a:r>
              <a:rPr sz="13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300">
                <a:solidFill>
                  <a:srgbClr val="F2F2F2"/>
                </a:solidFill>
                <a:latin typeface="Arial"/>
              </a:rPr>
              <a:t>), apoi </a:t>
            </a:r>
            <a:r>
              <a:rPr i="1" sz="1300">
                <a:solidFill>
                  <a:srgbClr val="F2F2F2"/>
                </a:solidFill>
                <a:latin typeface="Arial"/>
              </a:rPr>
              <a:t>ce</a:t>
            </a:r>
            <a:r>
              <a:rPr b="0" sz="1300">
                <a:solidFill>
                  <a:srgbClr val="F2F2F2"/>
                </a:solidFill>
                <a:latin typeface="Arial"/>
              </a:rPr>
              <a:t> cauți (</a:t>
            </a:r>
            <a:r>
              <a:rPr sz="1300">
                <a:solidFill>
                  <a:srgbClr val="FFA24E"/>
                </a:solidFill>
                <a:latin typeface="Consolas"/>
              </a:rPr>
              <a:t>2</a:t>
            </a:r>
            <a:r>
              <a:rPr b="0" sz="1300">
                <a:solidFill>
                  <a:srgbClr val="F2F2F2"/>
                </a:solidFill>
                <a:latin typeface="Arial"/>
              </a:rPr>
              <a:t>), apoi </a:t>
            </a:r>
            <a:r>
              <a:rPr i="1" sz="1300">
                <a:solidFill>
                  <a:srgbClr val="F2F2F2"/>
                </a:solidFill>
                <a:latin typeface="Arial"/>
              </a:rPr>
              <a:t>ce</a:t>
            </a:r>
            <a:r>
              <a:rPr b="0" sz="1300">
                <a:solidFill>
                  <a:srgbClr val="F2F2F2"/>
                </a:solidFill>
                <a:latin typeface="Arial"/>
              </a:rPr>
              <a:t> aduni (</a:t>
            </a:r>
            <a:r>
              <a:rPr sz="13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300">
                <a:solidFill>
                  <a:srgbClr val="F2F2F2"/>
                </a:solidFill>
                <a:latin typeface="Arial"/>
              </a:rPr>
              <a:t>). Revenue-ul Clujului, tot anul: </a:t>
            </a:r>
            <a:r>
              <a:rPr b="1" sz="1300">
                <a:solidFill>
                  <a:srgbClr val="F2F2F2"/>
                </a:solidFill>
                <a:latin typeface="Arial"/>
              </a:rPr>
              <a:t>1.987.932,42</a:t>
            </a:r>
            <a:r>
              <a:rPr b="0" sz="13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L14 · Condiții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3 · SUMIFS (MOMENTUL)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Felia septembrie — un interval de dată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955547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=SUMIFS(tblOrders[TotalAmount];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tblOrders[OrderDate]; "&gt;="&amp;DATE(2025;9;1);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tblOrders[OrderDate]; "&lt;="&amp;DATE(2025;9;30))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7578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400">
                <a:solidFill>
                  <a:srgbClr val="F2F2F2"/>
                </a:solidFill>
                <a:latin typeface="Arial"/>
              </a:rPr>
              <a:t>1.126.418,50</a:t>
            </a:r>
            <a:r>
              <a:rPr b="0" sz="1400">
                <a:solidFill>
                  <a:srgbClr val="F2F2F2"/>
                </a:solidFill>
                <a:latin typeface="Arial"/>
              </a:rPr>
              <a:t>. Septembrie = </a:t>
            </a:r>
            <a:r>
              <a:rPr b="1" sz="1400">
                <a:solidFill>
                  <a:srgbClr val="F2F2F2"/>
                </a:solidFill>
                <a:latin typeface="Arial"/>
              </a:rPr>
              <a:t>două</a:t>
            </a:r>
            <a:r>
              <a:rPr b="0" sz="1400">
                <a:solidFill>
                  <a:srgbClr val="F2F2F2"/>
                </a:solidFill>
                <a:latin typeface="Arial"/>
              </a:rPr>
              <a:t> condiții pe </a:t>
            </a:r>
            <a:r>
              <a:rPr sz="1400">
                <a:solidFill>
                  <a:srgbClr val="FFA24E"/>
                </a:solidFill>
                <a:latin typeface="Consolas"/>
              </a:rPr>
              <a:t>OrderDate</a:t>
            </a:r>
            <a:r>
              <a:rPr b="0" sz="1400">
                <a:solidFill>
                  <a:srgbClr val="F2F2F2"/>
                </a:solidFill>
                <a:latin typeface="Arial"/>
              </a:rPr>
              <a:t> → </a:t>
            </a:r>
            <a:r>
              <a:rPr sz="1400">
                <a:solidFill>
                  <a:srgbClr val="FFA24E"/>
                </a:solidFill>
                <a:latin typeface="Consolas"/>
              </a:rPr>
              <a:t>SUMIFS</a:t>
            </a:r>
            <a:r>
              <a:rPr b="0" sz="1400">
                <a:solidFill>
                  <a:srgbClr val="F2F2F2"/>
                </a:solidFill>
                <a:latin typeface="Arial"/>
              </a:rPr>
              <a:t>. Zona de adunat (</a:t>
            </a:r>
            <a:r>
              <a:rPr sz="14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400">
                <a:solidFill>
                  <a:srgbClr val="F2F2F2"/>
                </a:solidFill>
                <a:latin typeface="Arial"/>
              </a:rPr>
              <a:t>) vine </a:t>
            </a:r>
            <a:r>
              <a:rPr b="1" sz="1400">
                <a:solidFill>
                  <a:srgbClr val="F2F2F2"/>
                </a:solidFill>
                <a:latin typeface="Arial"/>
              </a:rPr>
              <a:t>prima</a:t>
            </a:r>
            <a:r>
              <a:rPr b="0" sz="1400">
                <a:solidFill>
                  <a:srgbClr val="F2F2F2"/>
                </a:solidFill>
                <a:latin typeface="Arial"/>
              </a:rPr>
              <a:t>, apoi perechile zonă-criteriu.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L14 · Condiții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4 · AUGUST + SCĂDEREA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−14,9% — prima cifră reală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72237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August:  =SUMIFS(...; DATE(2025;8;1); ...; DATE(2025;8;31))  → 1.324.375,59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Scăderea: =(B8-B9)/B9   → format %  → -14,9%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642616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✅ MILESTONE: septembrie </a:t>
            </a:r>
            <a:r>
              <a:rPr sz="1400">
                <a:solidFill>
                  <a:srgbClr val="FFA24E"/>
                </a:solidFill>
                <a:latin typeface="Consolas"/>
              </a:rPr>
              <a:t>1.126.418,50</a:t>
            </a:r>
            <a:r>
              <a:rPr b="0" sz="1400">
                <a:solidFill>
                  <a:srgbClr val="F2F2F2"/>
                </a:solidFill>
                <a:latin typeface="Arial"/>
              </a:rPr>
              <a:t> vs august </a:t>
            </a:r>
            <a:r>
              <a:rPr sz="1400">
                <a:solidFill>
                  <a:srgbClr val="FFA24E"/>
                </a:solidFill>
                <a:latin typeface="Consolas"/>
              </a:rPr>
              <a:t>1.324.375,59</a:t>
            </a:r>
            <a:r>
              <a:rPr b="0" sz="1400">
                <a:solidFill>
                  <a:srgbClr val="F2F2F2"/>
                </a:solidFill>
                <a:latin typeface="Arial"/>
              </a:rPr>
              <a:t> = </a:t>
            </a:r>
            <a:r>
              <a:rPr b="1" sz="1400">
                <a:solidFill>
                  <a:srgbClr val="F2F2F2"/>
                </a:solidFill>
                <a:latin typeface="Arial"/>
              </a:rPr>
              <a:t>−14,9%</a:t>
            </a:r>
            <a:r>
              <a:rPr b="0" sz="1400">
                <a:solidFill>
                  <a:srgbClr val="F2F2F2"/>
                </a:solidFill>
                <a:latin typeface="Arial"/>
              </a:rPr>
              <a:t> (cu </a:t>
            </a:r>
            <a:r>
              <a:rPr b="1" sz="1400">
                <a:solidFill>
                  <a:srgbClr val="F2F2F2"/>
                </a:solidFill>
                <a:latin typeface="Arial"/>
              </a:rPr>
              <a:t>197.957 lei</a:t>
            </a:r>
            <a:r>
              <a:rPr b="0" sz="1400">
                <a:solidFill>
                  <a:srgbClr val="F2F2F2"/>
                </a:solidFill>
                <a:latin typeface="Arial"/>
              </a:rPr>
              <a:t> mai puțin). Nu mai bănuiești — </a:t>
            </a:r>
            <a:r>
              <a:rPr b="1" sz="1400">
                <a:solidFill>
                  <a:srgbClr val="F2F2F2"/>
                </a:solidFill>
                <a:latin typeface="Arial"/>
              </a:rPr>
              <a:t>știi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L14 · Condiții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Greșelile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Filtrezi și citești din ochi</a:t>
            </a:r>
            <a:r>
              <a:rPr b="0" sz="1400">
                <a:solidFill>
                  <a:srgbClr val="F2F2F2"/>
                </a:solidFill>
                <a:latin typeface="Arial"/>
              </a:rPr>
              <a:t> → o condiție care contează se pune într-o </a:t>
            </a:r>
            <a:r>
              <a:rPr b="1" sz="1400">
                <a:solidFill>
                  <a:srgbClr val="F2F2F2"/>
                </a:solidFill>
                <a:latin typeface="Arial"/>
              </a:rPr>
              <a:t>formulă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SUMIFS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`SUMIF` pentru mai multe condiții</a:t>
            </a:r>
            <a:r>
              <a:rPr b="0" sz="1400">
                <a:solidFill>
                  <a:srgbClr val="F2F2F2"/>
                </a:solidFill>
                <a:latin typeface="Arial"/>
              </a:rPr>
              <a:t> → un interval = două condiții → </a:t>
            </a:r>
            <a:r>
              <a:rPr sz="1400">
                <a:solidFill>
                  <a:srgbClr val="FFA24E"/>
                </a:solidFill>
                <a:latin typeface="Consolas"/>
              </a:rPr>
              <a:t>SUMIFS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Criteriu scris greșit</a:t>
            </a:r>
            <a:r>
              <a:rPr b="0" sz="1400">
                <a:solidFill>
                  <a:srgbClr val="F2F2F2"/>
                </a:solidFill>
                <a:latin typeface="Arial"/>
              </a:rPr>
              <a:t> → comparațiile în ghilimele (</a:t>
            </a:r>
            <a:r>
              <a:rPr sz="1400">
                <a:solidFill>
                  <a:srgbClr val="FFA24E"/>
                </a:solidFill>
                <a:latin typeface="Consolas"/>
              </a:rPr>
              <a:t>"&gt;5000"</a:t>
            </a:r>
            <a:r>
              <a:rPr b="0" sz="1400">
                <a:solidFill>
                  <a:srgbClr val="F2F2F2"/>
                </a:solidFill>
                <a:latin typeface="Arial"/>
              </a:rPr>
              <a:t>), datele cu </a:t>
            </a:r>
            <a:r>
              <a:rPr sz="1400">
                <a:solidFill>
                  <a:srgbClr val="FFA24E"/>
                </a:solidFill>
                <a:latin typeface="Consolas"/>
              </a:rPr>
              <a:t>DATE(...)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Confunzi „clasifică" cu „agregă"</a:t>
            </a:r>
            <a:r>
              <a:rPr b="0" sz="1400">
                <a:solidFill>
                  <a:srgbClr val="F2F2F2"/>
                </a:solidFill>
                <a:latin typeface="Arial"/>
              </a:rPr>
              <a:t> → </a:t>
            </a:r>
            <a:r>
              <a:rPr sz="1400">
                <a:solidFill>
                  <a:srgbClr val="FFA24E"/>
                </a:solidFill>
                <a:latin typeface="Consolas"/>
              </a:rPr>
              <a:t>IF</a:t>
            </a:r>
            <a:r>
              <a:rPr b="0" sz="1400">
                <a:solidFill>
                  <a:srgbClr val="F2F2F2"/>
                </a:solidFill>
                <a:latin typeface="Arial"/>
              </a:rPr>
              <a:t> = etichetă pe un rând; </a:t>
            </a:r>
            <a:r>
              <a:rPr sz="1400">
                <a:solidFill>
                  <a:srgbClr val="FFA24E"/>
                </a:solidFill>
                <a:latin typeface="Consolas"/>
              </a:rPr>
              <a:t>COUNTIF</a:t>
            </a:r>
            <a:r>
              <a:rPr b="0" sz="1400">
                <a:solidFill>
                  <a:srgbClr val="F2F2F2"/>
                </a:solidFill>
                <a:latin typeface="Arial"/>
              </a:rPr>
              <a:t>/</a:t>
            </a:r>
            <a:r>
              <a:rPr sz="1400">
                <a:solidFill>
                  <a:srgbClr val="FFA24E"/>
                </a:solidFill>
                <a:latin typeface="Consolas"/>
              </a:rPr>
              <a:t>SUMIF</a:t>
            </a:r>
            <a:r>
              <a:rPr b="0" sz="1400">
                <a:solidFill>
                  <a:srgbClr val="F2F2F2"/>
                </a:solidFill>
                <a:latin typeface="Arial"/>
              </a:rPr>
              <a:t> = o cifră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L14 · Condiții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Milestone: prima cifră reală a investigației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O condiție e un </a:t>
            </a:r>
            <a:r>
              <a:rPr b="1" sz="1400">
                <a:solidFill>
                  <a:srgbClr val="F2F2F2"/>
                </a:solidFill>
                <a:latin typeface="Arial"/>
              </a:rPr>
              <a:t>filtru băgat în calcul</a:t>
            </a:r>
            <a:r>
              <a:rPr b="0" sz="1400">
                <a:solidFill>
                  <a:srgbClr val="F2F2F2"/>
                </a:solidFill>
                <a:latin typeface="Arial"/>
              </a:rPr>
              <a:t>: </a:t>
            </a:r>
            <a:r>
              <a:rPr sz="1400">
                <a:solidFill>
                  <a:srgbClr val="FFA24E"/>
                </a:solidFill>
                <a:latin typeface="Consolas"/>
              </a:rPr>
              <a:t>IF</a:t>
            </a:r>
            <a:r>
              <a:rPr b="0" sz="1400">
                <a:solidFill>
                  <a:srgbClr val="F2F2F2"/>
                </a:solidFill>
                <a:latin typeface="Arial"/>
              </a:rPr>
              <a:t> clasifică, </a:t>
            </a:r>
            <a:r>
              <a:rPr sz="1400">
                <a:solidFill>
                  <a:srgbClr val="FFA24E"/>
                </a:solidFill>
                <a:latin typeface="Consolas"/>
              </a:rPr>
              <a:t>COUNTIF</a:t>
            </a:r>
            <a:r>
              <a:rPr b="0" sz="1400">
                <a:solidFill>
                  <a:srgbClr val="F2F2F2"/>
                </a:solidFill>
                <a:latin typeface="Arial"/>
              </a:rPr>
              <a:t>/</a:t>
            </a:r>
            <a:r>
              <a:rPr sz="1400">
                <a:solidFill>
                  <a:srgbClr val="FFA24E"/>
                </a:solidFill>
                <a:latin typeface="Consolas"/>
              </a:rPr>
              <a:t>SUMIF</a:t>
            </a:r>
            <a:r>
              <a:rPr b="0" sz="1400">
                <a:solidFill>
                  <a:srgbClr val="F2F2F2"/>
                </a:solidFill>
                <a:latin typeface="Arial"/>
              </a:rPr>
              <a:t> agregă (o condiție)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Un </a:t>
            </a:r>
            <a:r>
              <a:rPr b="1" sz="1400">
                <a:solidFill>
                  <a:srgbClr val="F2F2F2"/>
                </a:solidFill>
                <a:latin typeface="Arial"/>
              </a:rPr>
              <a:t>interval</a:t>
            </a:r>
            <a:r>
              <a:rPr b="0" sz="1400">
                <a:solidFill>
                  <a:srgbClr val="F2F2F2"/>
                </a:solidFill>
                <a:latin typeface="Arial"/>
              </a:rPr>
              <a:t> (o lună) = mai multe condiții → </a:t>
            </a:r>
            <a:r>
              <a:rPr sz="1400">
                <a:solidFill>
                  <a:srgbClr val="FFA24E"/>
                </a:solidFill>
                <a:latin typeface="Consolas"/>
              </a:rPr>
              <a:t>SUMIFS</a:t>
            </a:r>
            <a:r>
              <a:rPr b="0" sz="1400">
                <a:solidFill>
                  <a:srgbClr val="F2F2F2"/>
                </a:solidFill>
                <a:latin typeface="Arial"/>
              </a:rPr>
              <a:t> (zona de adunat </a:t>
            </a:r>
            <a:r>
              <a:rPr b="1" sz="1400">
                <a:solidFill>
                  <a:srgbClr val="F2F2F2"/>
                </a:solidFill>
                <a:latin typeface="Arial"/>
              </a:rPr>
              <a:t>prima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Criteriile au sintaxă: </a:t>
            </a:r>
            <a:r>
              <a:rPr sz="1400">
                <a:solidFill>
                  <a:srgbClr val="FFA24E"/>
                </a:solidFill>
                <a:latin typeface="Consolas"/>
              </a:rPr>
              <a:t>"&gt;5000"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"&gt;="&amp;DATE(2025;9;1)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Scăderea reală</a:t>
            </a:r>
            <a:r>
              <a:rPr b="0" sz="1400">
                <a:solidFill>
                  <a:srgbClr val="F2F2F2"/>
                </a:solidFill>
                <a:latin typeface="Arial"/>
              </a:rPr>
              <a:t>: septembrie </a:t>
            </a:r>
            <a:r>
              <a:rPr sz="1400">
                <a:solidFill>
                  <a:srgbClr val="FFA24E"/>
                </a:solidFill>
                <a:latin typeface="Consolas"/>
              </a:rPr>
              <a:t>1.126.418,50</a:t>
            </a:r>
            <a:r>
              <a:rPr b="0" sz="1400">
                <a:solidFill>
                  <a:srgbClr val="F2F2F2"/>
                </a:solidFill>
                <a:latin typeface="Arial"/>
              </a:rPr>
              <a:t> vs august </a:t>
            </a:r>
            <a:r>
              <a:rPr sz="1400">
                <a:solidFill>
                  <a:srgbClr val="FFA24E"/>
                </a:solidFill>
                <a:latin typeface="Consolas"/>
              </a:rPr>
              <a:t>1.324.375,59</a:t>
            </a:r>
            <a:r>
              <a:rPr b="0" sz="1400">
                <a:solidFill>
                  <a:srgbClr val="F2F2F2"/>
                </a:solidFill>
                <a:latin typeface="Arial"/>
              </a:rPr>
              <a:t> = </a:t>
            </a:r>
            <a:r>
              <a:rPr b="1" sz="1400">
                <a:solidFill>
                  <a:srgbClr val="F2F2F2"/>
                </a:solidFill>
                <a:latin typeface="Arial"/>
              </a:rPr>
              <a:t>−14,9%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MILESTONE de proiect: </a:t>
            </a:r>
            <a:r>
              <a:rPr b="1" sz="1400">
                <a:solidFill>
                  <a:srgbClr val="F2F2F2"/>
                </a:solidFill>
                <a:latin typeface="Arial"/>
              </a:rPr>
              <a:t>prima cifră adevărată</a:t>
            </a:r>
            <a:r>
              <a:rPr b="0" sz="1400">
                <a:solidFill>
                  <a:srgbClr val="F2F2F2"/>
                </a:solidFill>
                <a:latin typeface="Arial"/>
              </a:rPr>
              <a:t> a investigației. Punte → </a:t>
            </a:r>
            <a:r>
              <a:rPr b="1" sz="1400">
                <a:solidFill>
                  <a:srgbClr val="F2F2F2"/>
                </a:solidFill>
                <a:latin typeface="Arial"/>
              </a:rPr>
              <a:t>L15: lookups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XLOOKUP</a:t>
            </a:r>
            <a:r>
              <a:rPr b="0" sz="1400">
                <a:solidFill>
                  <a:srgbClr val="F2F2F2"/>
                </a:solidFill>
                <a:latin typeface="Arial"/>
              </a:rPr>
              <a:t>/</a:t>
            </a:r>
            <a:r>
              <a:rPr sz="1400">
                <a:solidFill>
                  <a:srgbClr val="FFA24E"/>
                </a:solidFill>
                <a:latin typeface="Consolas"/>
              </a:rPr>
              <a:t>VLOOKUP</a:t>
            </a:r>
            <a:r>
              <a:rPr b="0" sz="1400">
                <a:solidFill>
                  <a:srgbClr val="F2F2F2"/>
                </a:solidFill>
                <a:latin typeface="Arial"/>
              </a:rPr>
              <a:t>) — codul devine nume, ca să tai scăderea pe </a:t>
            </a:r>
            <a:r>
              <a:rPr i="1" sz="1400">
                <a:solidFill>
                  <a:srgbClr val="F2F2F2"/>
                </a:solidFill>
                <a:latin typeface="Arial"/>
              </a:rPr>
              <a:t>dimensiuni cu nume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L14 · Condiții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L14 · Condiții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