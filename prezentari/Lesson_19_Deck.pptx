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Checkpoint de modul, lucrezi singur. Ai parcurs tot Modulul 3: încărcare (L11), curățare (L12), calcul (L13–L14), nume (L15), sumarizare (L16–L17), vizualizare (L18). Azi le pui pe toate pe o pagină — un dashboard care răspunde întrebării Elenei din L5 (de ce a scăzut septembrie?) dintr-o privire. E livrabilul care închide investigația și prima ta analiză completă cap-coadă. Fișierul L19_dashboard.xlsx are fila dashboard (șablon gol), KPIs (cifrele gata), chart-data (tabelele) și solution (reper). Azi nu mai calculezi — asamblezi.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L18. Acolo ai făcut două grafice cinstite: o linie (2024 vs 2025) cu valea din septembrie, minus 14,9% vs august, minus 31% vs anul trecut, deci nu e sezon; și un grafic-coloane cu Accessories înjumătățindu-se, minus 55,9%. Fiecare cu titlu-insight și axă Y de la 0. Ai KPI-urile, cauza și cele două poze. Azi le pui pe toate pe o pagină.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Construiești un dashboard de o pagină: KPI cards plus cele două grafice plus o concluzie de o frază. Îl aranjezi în ordinea de citire: titlu, KPI sus, grafice la mijloc, concluzie jos. Scrii un takeaway care spune decizia, nu doar datele. Eviți dashboard-ul-vitrină cu 12 grafice fără mesaj.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(§2). Deschizi L19_dashboard.xlsx. Ai fila dashboard, un șablon gol de completat; fila KPIs, cifrele gata; chart-data, tabelele pentru grafice din L18; și solution, dashboard-ul completat ca reper. Azi nu mai calculezi, asamblezi. E checkpoint de modul, lucrezi singur.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Citatul lui Andrei (§2). Ai analiza completă și două grafice. Andrei o duce la conducere: fă o pagină, una singură, pe care s-o pună pe ecran la ședință. Sus numerele mari, la mijloc cele două grafice, jos o frază cu concluzia, ce facem. Cineva care intră în sală să înțeleagă în 30 de secunde ce s-a întâmplat și ce propunem.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(§3). Ioana a vrut să impresioneze și a pus 12 grafice pe o pagină: Revenue pe magazin, pe categorie, pe lună, pe metodă de plată, pe zi, pe angajat, colorate, înghesuite, fără titluri. Andrei s-a uitat 10 secunde și a întrebat: bun, și ce ar trebui să văd, care e mesajul? Ioana n-a avut răspuns, pusese tot ce știa să facă, nu ce răspundea la întrebare. Curiozitatea de azi: cum faci o pagină care spune ceva, nu una care doar arată tot ce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 (§5). Patru zone, citite de sus în jos. Titlu: întrebarea sau subiectul. KPI cards: 3-5 numere-cheie mari, fiecare cu etichetă. Grafice: 1-3 grafice care spun povestea. Concluzie: o frază, ce s-a întâmplat plus ce facem. Reguli: o pagină o întrebare, dacă un element nu ajută întrebarea din titlu iese; ordinea de citire sus-jos, stânga-dreapta, cel mai important sus-stânga; curat și aliniat.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Gândește-te la prima pagină a unui ziar: titlu mare, ce s-a întâmplat; o poză, dovada; un paragraf, de ce contează. Nu-ți aruncă tot ziarul în față, te duce într-o secundă la ce e important. Un dashboard e la fel: nu tot ce știu despre date, ci răspunsul la o întrebare, aranjat ca să-l prinzi din prima. Ioana a făcut un ziar cu 12 titluri deodată, adică niciunul.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(§7). În fila KPIs ai cifrele gata. Pune în cele patru carduri galbene din dashboard: Revenue septembrie 2025 egal 1.126.418,50 lei; vs august minus 14,9%; vs septembrie 2024 minus 31,0%; categoria vinovată Accessories minus 55,9%. Le poți lega cu egal de fila KPIs, ca să se actualizeze singure. Cine intră în sală citește într-o secundă cât am scăzut și ce a căzut.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2 (§7). Adu cele două grafice din L18 (din chart-data): un grafic linie, Revenue 2024 vs 2025, valea din septembrie, în zona stângă; un grafic coloane, top categorii aug vs sep, Accessories, în zona dreaptă. Fiecare cu titlu-insight și axă Y de la 0. Ce vezi: sub numere, două imagini care explică de ce. Linia arată când, valea, minus 31% vs anul trecut, nu e sezon; coloanele arată ce, Accessories se înjumătățește.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3 (§7). Titlu sus: RetailHub, Investigația scăderii din septembrie 2025. În caseta de concluzie, jos, scrie decizia: scăderea din septembrie, minus 14,9% vs august, minus 31% vs anul trecut, e o problemă de stoc/categorie, Accessories minus 55,9%, în toată rețeaua, nu de magazin, Cluj a crescut plus 6,4%. Acțiune: reaprovizionare produse top ACCE-101/114, LAPT-008, plus campanie în septembrie.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(§7). Verifică: se citește sus-jos, titlu, KPI, grafice, concluzie? Numerele-cheie sunt sus-stânga, cele mai importante? Aliniat, aceleași formate, fără elemente care nu servesc întrebarea? Scoate orice grafic în plus, nu pui Revenue pe metodă de plată, n-are legătură cu septembrie.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(§11). Dashboard-vitrină: 12 grafice fără mesaj, Ioana; pornește de la o întrebare, scoate ce n-o servește. Fără concluzie: datele nu vorbesc singure; scrie decizia într-o frază, jos. Ordine haotică: concluzia sus, KPI prin colțuri; ordinea de citire, important sus-stânga. Necurat sau neverificat: formate diferite, un KPI legat greșit; aliniază și verifică pe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(§12/§14), checkpoint de modul. Un dashboard egal o pagină care răspunde la o întrebare, în ordinea de citire, nu o vitrină. KPI cards sus, graficele la mijloc, concluzia jos. Concluzia spune ce facem, nu doar ce e. Ai închis investigația din septembrie pe o pagină, prima ta analiză completă cap-coadă. Întrebarea Elenei din L5 are, în sfârșit, un răspuns complet. Din Modulul 4 (SQL) refaci același drum pe volume mari.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Punte spre segmentul AI. Nu e o lecție nouă — e o simulare despre cum evoluează meseria. Mesajul: AI-ul face mecanica, analistul framează + verifică + spune povestea.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 fără dramă. Nu e science-fiction — e cum se lucrează deja. Reformulează frica în întrebarea utilă: ce rămâne treaba analistului. Leagă de dashboard-ul pe care tocmai l-au făcut.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Descrie mecanica pe scurt. Analogia juniorului rapid e cheia: util, dar are nevoie de supraveghere. Pregătește ideea de verificare.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Sublinia: calitatea răspunsului depinde de calitatea întrebării. Framing-ul (L3) e primul lucru care rămâne treaba analistului. Un prompt vag = răspuns vag.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 secunde, Claude produce exact analiza + dashboard-ul pe care le-ai făcut tu de mână. Același rezultat, mult mai repede. Aici mulți se opresc — și greșesc.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Slide-ul-cheie. Trei capcane reale, toate în acest fișier: (1) net vs brut — LineValue însumat dă 39,81M dar Revenue net e 37,88M din cauza discount-urilor; (2) fan-out la 129M. AI-ul, ca Ioana, poate da o cifră plauzibilă dar greșită. Reflexul de reconciliere devine și mai valoros. Nu semnezi ce n-ai verificat.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Împarte clar rolurile. Mecanica se automatizează; gândirea nu. De-aia tot ce ai învățat (framing, pivot, reconciliere, storytelling) devine mai valoros, nu mai puțin.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mesajul central: AI-ul amplifică analistul bun. Cine știe să gândească + să verifice devine de neînlocuit. Regula lui Andrei pentru era AI: răspunsuri verificate, nu rapoarte generate. (La finalul modulului SQL, în L27, e un demo similar cu Claude conectat la baza de date.)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19 · CHECKPOINT DE 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Primul dashboard Excel — raportul final al investigației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→ Answer (pe o pagină). Închizi investigația din septembrie.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23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(L18)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La </a:t>
            </a:r>
            <a:r>
              <a:rPr b="1" sz="1400">
                <a:solidFill>
                  <a:srgbClr val="F2F2F2"/>
                </a:solidFill>
                <a:latin typeface="Arial"/>
              </a:rPr>
              <a:t>L18</a:t>
            </a:r>
            <a:r>
              <a:rPr b="0" sz="1400">
                <a:solidFill>
                  <a:srgbClr val="F2F2F2"/>
                </a:solidFill>
                <a:latin typeface="Arial"/>
              </a:rPr>
              <a:t> ai făcut </a:t>
            </a:r>
            <a:r>
              <a:rPr b="1" sz="1400">
                <a:solidFill>
                  <a:srgbClr val="F2F2F2"/>
                </a:solidFill>
                <a:latin typeface="Arial"/>
              </a:rPr>
              <a:t>două grafice cinstite</a:t>
            </a:r>
            <a:r>
              <a:rPr b="0" sz="1400">
                <a:solidFill>
                  <a:srgbClr val="F2F2F2"/>
                </a:solidFill>
                <a:latin typeface="Arial"/>
              </a:rPr>
              <a:t> — graficul urmează întrebarea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Linie</a:t>
            </a:r>
            <a:r>
              <a:rPr b="0" sz="1400">
                <a:solidFill>
                  <a:srgbClr val="F2F2F2"/>
                </a:solidFill>
                <a:latin typeface="Arial"/>
              </a:rPr>
              <a:t> (2024 vs 2025): valea din septembrie (−14,9% vs august, −31% vs anul trecut = nu e sezon)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Coloane</a:t>
            </a:r>
            <a:r>
              <a:rPr b="0" sz="1400">
                <a:solidFill>
                  <a:srgbClr val="F2F2F2"/>
                </a:solidFill>
                <a:latin typeface="Arial"/>
              </a:rPr>
              <a:t>: Accessories se înjumătățește (</a:t>
            </a:r>
            <a:r>
              <a:rPr sz="1400">
                <a:solidFill>
                  <a:srgbClr val="FFA24E"/>
                </a:solidFill>
                <a:latin typeface="Consolas"/>
              </a:rPr>
              <a:t>194.213,42 → 85.585,05</a:t>
            </a:r>
            <a:r>
              <a:rPr b="0" sz="1400">
                <a:solidFill>
                  <a:srgbClr val="F2F2F2"/>
                </a:solidFill>
                <a:latin typeface="Arial"/>
              </a:rPr>
              <a:t>, −55,9%)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Fiecare cu </a:t>
            </a:r>
            <a:r>
              <a:rPr b="1" sz="1400">
                <a:solidFill>
                  <a:srgbClr val="F2F2F2"/>
                </a:solidFill>
                <a:latin typeface="Arial"/>
              </a:rPr>
              <a:t>titlu-insight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b="1" sz="1400">
                <a:solidFill>
                  <a:srgbClr val="F2F2F2"/>
                </a:solidFill>
                <a:latin typeface="Arial"/>
              </a:rPr>
              <a:t>axă Y de la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KPI-urile (L13–L14), cauza (L17) și cele două poze (L18). Azi le pui pe </a:t>
            </a:r>
            <a:r>
              <a:rPr b="1" sz="1400">
                <a:solidFill>
                  <a:srgbClr val="F2F2F2"/>
                </a:solidFill>
                <a:latin typeface="Arial"/>
              </a:rPr>
              <a:t>toate pe o pagină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dashboard-ul care închide investigația.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construiești un </a:t>
            </a:r>
            <a:r>
              <a:rPr b="1" sz="1400">
                <a:solidFill>
                  <a:srgbClr val="F2F2F2"/>
                </a:solidFill>
                <a:latin typeface="Arial"/>
              </a:rPr>
              <a:t>dashboard de o pagină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b="1" sz="1400">
                <a:solidFill>
                  <a:srgbClr val="F2F2F2"/>
                </a:solidFill>
                <a:latin typeface="Arial"/>
              </a:rPr>
              <a:t>KPI cards</a:t>
            </a:r>
            <a:r>
              <a:rPr b="0" sz="1400">
                <a:solidFill>
                  <a:srgbClr val="F2F2F2"/>
                </a:solidFill>
                <a:latin typeface="Arial"/>
              </a:rPr>
              <a:t> + cele două grafice (L18) + o </a:t>
            </a:r>
            <a:r>
              <a:rPr b="1" sz="1400">
                <a:solidFill>
                  <a:srgbClr val="F2F2F2"/>
                </a:solidFill>
                <a:latin typeface="Arial"/>
              </a:rPr>
              <a:t>concluzie de o frază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Să-l aranjezi în </a:t>
            </a:r>
            <a:r>
              <a:rPr b="1" sz="1400">
                <a:solidFill>
                  <a:srgbClr val="F2F2F2"/>
                </a:solidFill>
                <a:latin typeface="Arial"/>
              </a:rPr>
              <a:t>ordinea de citire</a:t>
            </a:r>
            <a:r>
              <a:rPr b="0" sz="1400">
                <a:solidFill>
                  <a:srgbClr val="F2F2F2"/>
                </a:solidFill>
                <a:latin typeface="Arial"/>
              </a:rPr>
              <a:t>: titlu → KPI (sus) → grafice (povestea) → concluzie (jos)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scrii un </a:t>
            </a:r>
            <a:r>
              <a:rPr b="1" sz="1400">
                <a:solidFill>
                  <a:srgbClr val="F2F2F2"/>
                </a:solidFill>
                <a:latin typeface="Arial"/>
              </a:rPr>
              <a:t>takeaway</a:t>
            </a:r>
            <a:r>
              <a:rPr b="0" sz="1400">
                <a:solidFill>
                  <a:srgbClr val="F2F2F2"/>
                </a:solidFill>
                <a:latin typeface="Arial"/>
              </a:rPr>
              <a:t> care spune </a:t>
            </a:r>
            <a:r>
              <a:rPr i="1" sz="1400">
                <a:solidFill>
                  <a:srgbClr val="F2F2F2"/>
                </a:solidFill>
                <a:latin typeface="Arial"/>
              </a:rPr>
              <a:t>decizia</a:t>
            </a:r>
            <a:r>
              <a:rPr b="0" sz="1400">
                <a:solidFill>
                  <a:srgbClr val="F2F2F2"/>
                </a:solidFill>
                <a:latin typeface="Arial"/>
              </a:rPr>
              <a:t> („stoc de reaprovizionat”), nu doar datele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eviți dashboard-ul-vitrină: 12 grafice fără mesaj, care nu răspund la nicio întrebare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DATELE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Fișierul — azi asamblezi, nu calculezi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L19_dashboard.xlsx</a:t>
            </a:r>
            <a:r>
              <a:rPr b="0" sz="1500">
                <a:solidFill>
                  <a:srgbClr val="F2F2F2"/>
                </a:solidFill>
                <a:latin typeface="Arial"/>
              </a:rPr>
              <a:t>. Azi nu mai calculezi — </a:t>
            </a:r>
            <a:r>
              <a:rPr b="1" sz="1500">
                <a:solidFill>
                  <a:srgbClr val="F2F2F2"/>
                </a:solidFill>
                <a:latin typeface="Arial"/>
              </a:rPr>
              <a:t>asamblezi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3226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fila </a:t>
            </a:r>
            <a:r>
              <a:rPr sz="1400">
                <a:solidFill>
                  <a:srgbClr val="FFA24E"/>
                </a:solidFill>
                <a:latin typeface="Consolas"/>
              </a:rPr>
              <a:t>dashboard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</a:t>
            </a:r>
            <a:r>
              <a:rPr b="1" sz="1400">
                <a:solidFill>
                  <a:srgbClr val="F2F2F2"/>
                </a:solidFill>
                <a:latin typeface="Arial"/>
              </a:rPr>
              <a:t>șablon gol</a:t>
            </a:r>
            <a:r>
              <a:rPr b="0" sz="1400">
                <a:solidFill>
                  <a:srgbClr val="F2F2F2"/>
                </a:solidFill>
                <a:latin typeface="Arial"/>
              </a:rPr>
              <a:t> de completat (carduri galbene + zone de grafic)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fila </a:t>
            </a:r>
            <a:r>
              <a:rPr sz="1400">
                <a:solidFill>
                  <a:srgbClr val="FFA24E"/>
                </a:solidFill>
                <a:latin typeface="Consolas"/>
              </a:rPr>
              <a:t>KPIs</a:t>
            </a:r>
            <a:r>
              <a:rPr b="0" sz="1400">
                <a:solidFill>
                  <a:srgbClr val="F2F2F2"/>
                </a:solidFill>
                <a:latin typeface="Arial"/>
              </a:rPr>
              <a:t> — cifrele gata; </a:t>
            </a:r>
            <a:r>
              <a:rPr sz="1400">
                <a:solidFill>
                  <a:srgbClr val="FFA24E"/>
                </a:solidFill>
                <a:latin typeface="Consolas"/>
              </a:rPr>
              <a:t>chart-data</a:t>
            </a:r>
            <a:r>
              <a:rPr b="0" sz="1400">
                <a:solidFill>
                  <a:srgbClr val="F2F2F2"/>
                </a:solidFill>
                <a:latin typeface="Arial"/>
              </a:rPr>
              <a:t> — tabelele pentru grafice (din L18)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fila </a:t>
            </a:r>
            <a:r>
              <a:rPr sz="1400">
                <a:solidFill>
                  <a:srgbClr val="FFA24E"/>
                </a:solidFill>
                <a:latin typeface="Consolas"/>
              </a:rPr>
              <a:t>solution</a:t>
            </a:r>
            <a:r>
              <a:rPr b="0" sz="1400">
                <a:solidFill>
                  <a:srgbClr val="F2F2F2"/>
                </a:solidFill>
                <a:latin typeface="Arial"/>
              </a:rPr>
              <a:t> (+ </a:t>
            </a:r>
            <a:r>
              <a:rPr sz="1400">
                <a:solidFill>
                  <a:srgbClr val="FFA24E"/>
                </a:solidFill>
                <a:latin typeface="Consolas"/>
              </a:rPr>
              <a:t>solution-dashboard</a:t>
            </a:r>
            <a:r>
              <a:rPr b="0" sz="1400">
                <a:solidFill>
                  <a:srgbClr val="F2F2F2"/>
                </a:solidFill>
                <a:latin typeface="Arial"/>
              </a:rPr>
              <a:t>) — reperul cu care te verifici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578330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300">
                <a:solidFill>
                  <a:srgbClr val="F2F2F2"/>
                </a:solidFill>
                <a:latin typeface="Arial"/>
              </a:rPr>
              <a:t>CHECKPOINT DE MODUL</a:t>
            </a:r>
            <a:r>
              <a:rPr b="0" sz="1300">
                <a:solidFill>
                  <a:srgbClr val="F2F2F2"/>
                </a:solidFill>
                <a:latin typeface="Arial"/>
              </a:rPr>
              <a:t> — lucrezi singur: aduni tot ce ai făcut în Modulul 3 pe o singură pagină.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„Pune-mi totul pe o pagină”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„Fă-mi </a:t>
            </a:r>
            <a:r>
              <a:rPr b="1" sz="1400">
                <a:solidFill>
                  <a:srgbClr val="F2F2F2"/>
                </a:solidFill>
                <a:latin typeface="Arial"/>
              </a:rPr>
              <a:t>o pagină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una singură — pe care s-o pun la ședință. Sus numerele mari, la mijloc cele două grafice, jos o frază cu concluzia: ce facem. Cineva care intră în sală să înțeleagă în </a:t>
            </a:r>
            <a:r>
              <a:rPr b="1" sz="1400">
                <a:solidFill>
                  <a:srgbClr val="F2F2F2"/>
                </a:solidFill>
                <a:latin typeface="Arial"/>
              </a:rPr>
              <a:t>30 de secunde</a:t>
            </a:r>
            <a:r>
              <a:rPr b="0" sz="1400">
                <a:solidFill>
                  <a:srgbClr val="F2F2F2"/>
                </a:solidFill>
                <a:latin typeface="Arial"/>
              </a:rPr>
              <a:t>.” — </a:t>
            </a:r>
            <a:r>
              <a:rPr b="1" sz="1400">
                <a:solidFill>
                  <a:srgbClr val="F2F2F2"/>
                </a:solidFill>
                <a:latin typeface="Arial"/>
              </a:rPr>
              <a:t>Andrei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 pagină, o întrebare — răspunsul la întrebarea Elenei din L5: </a:t>
            </a:r>
            <a:r>
              <a:rPr i="1" sz="1500">
                <a:solidFill>
                  <a:srgbClr val="F2F2F2"/>
                </a:solidFill>
                <a:latin typeface="Arial"/>
              </a:rPr>
              <a:t>de ce a scăzut septembrie?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făcut Ioana: dashboard-vitrină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pus </a:t>
            </a:r>
            <a:r>
              <a:rPr b="1" sz="1500">
                <a:solidFill>
                  <a:srgbClr val="F2F2F2"/>
                </a:solidFill>
                <a:latin typeface="Arial"/>
              </a:rPr>
              <a:t>12 grafice</a:t>
            </a:r>
            <a:r>
              <a:rPr b="0" sz="1500">
                <a:solidFill>
                  <a:srgbClr val="F2F2F2"/>
                </a:solidFill>
                <a:latin typeface="Arial"/>
              </a:rPr>
              <a:t> pe o pagină: Revenue pe magazin, pe categorie, pe lună, pe metodă de plată, pe zi, pe angajat... colorate, înghesuite, fără titluri.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 s-a uitat 10 secunde: „Bun... și </a:t>
            </a:r>
            <a:r>
              <a:rPr b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ar trebui să văd? Care e mesajul?” Ioana n-a avut răspuns.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18772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Curiozitatea de azi: cum faci o pagină care </a:t>
            </a:r>
            <a:r>
              <a:rPr b="1" sz="1500">
                <a:solidFill>
                  <a:srgbClr val="F2F2F2"/>
                </a:solidFill>
                <a:latin typeface="Arial"/>
              </a:rPr>
              <a:t>spune ceva</a:t>
            </a:r>
            <a:r>
              <a:rPr b="0" sz="1500">
                <a:solidFill>
                  <a:srgbClr val="F2F2F2"/>
                </a:solidFill>
                <a:latin typeface="Arial"/>
              </a:rPr>
              <a:t> — nu una care doar arată tot ce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Anatomia unui dashboard de o pagină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Zonă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Ce conține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Rolul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Titlu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întrebarea / subiectul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„despre ce e pagina”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KPI cards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3–5 numere-cheie (mari)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„cifra-titlu, dintr-o privire”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Grafice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1–3 grafice (din L18)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„de ce / cum, vizual”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Concluzie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 frază: ce s-a întâmplat + ce facem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„decizia”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767328"/>
            <a:ext cx="10874959" cy="137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O pagină, o întrebare</a:t>
            </a:r>
            <a:r>
              <a:rPr b="0" sz="1300">
                <a:solidFill>
                  <a:srgbClr val="F2F2F2"/>
                </a:solidFill>
                <a:latin typeface="Arial"/>
              </a:rPr>
              <a:t> — dacă un element nu ajută întrebarea din titlu, </a:t>
            </a:r>
            <a:r>
              <a:rPr b="1" sz="1300">
                <a:solidFill>
                  <a:srgbClr val="F2F2F2"/>
                </a:solidFill>
                <a:latin typeface="Arial"/>
              </a:rPr>
              <a:t>iese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Ordinea de citire</a:t>
            </a:r>
            <a:r>
              <a:rPr b="0" sz="1300">
                <a:solidFill>
                  <a:srgbClr val="F2F2F2"/>
                </a:solidFill>
                <a:latin typeface="Arial"/>
              </a:rPr>
              <a:t> — sus→jos, stânga→dreapta; cel mai important </a:t>
            </a:r>
            <a:r>
              <a:rPr b="1" sz="1300">
                <a:solidFill>
                  <a:srgbClr val="F2F2F2"/>
                </a:solidFill>
                <a:latin typeface="Arial"/>
              </a:rPr>
              <a:t>sus-stânga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dashboard e un argument pe o pagină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Prima pagină a unui ziar: titlu mare (ce s-a întâmplat), o poză (dovada), un paragraf (de ce contează). Nu-ți aruncă tot ziarul în față — te duce, într-o secundă, la ce e important.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dashboard e la fel: nu „tot ce știu despre date”, ci </a:t>
            </a:r>
            <a:r>
              <a:rPr b="1" sz="1400">
                <a:solidFill>
                  <a:srgbClr val="F2F2F2"/>
                </a:solidFill>
                <a:latin typeface="Arial"/>
              </a:rPr>
              <a:t>răspunsul la o întrebare</a:t>
            </a:r>
            <a:r>
              <a:rPr b="0" sz="1400">
                <a:solidFill>
                  <a:srgbClr val="F2F2F2"/>
                </a:solidFill>
                <a:latin typeface="Arial"/>
              </a:rPr>
              <a:t>, aranjat ca să-l prinzi din prima. Ioana a făcut un ziar cu 12 titluri — adică niciunul.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KPI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Numerele-titlu, sus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KPI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Valoare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 septembrie 2025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1.126.418,50 lei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vs august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−14,9%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vs septembrie 2024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−31,0%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Categoria vinovată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Accessories −55,9%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Le poți lega cu </a:t>
            </a:r>
            <a:r>
              <a:rPr sz="1400">
                <a:solidFill>
                  <a:srgbClr val="FFA24E"/>
                </a:solidFill>
                <a:latin typeface="Consolas"/>
              </a:rPr>
              <a:t>=</a:t>
            </a:r>
            <a:r>
              <a:rPr b="0" sz="1400">
                <a:solidFill>
                  <a:srgbClr val="F2F2F2"/>
                </a:solidFill>
                <a:latin typeface="Arial"/>
              </a:rPr>
              <a:t> de fila </a:t>
            </a:r>
            <a:r>
              <a:rPr sz="1400">
                <a:solidFill>
                  <a:srgbClr val="FFA24E"/>
                </a:solidFill>
                <a:latin typeface="Consolas"/>
              </a:rPr>
              <a:t>KPIs</a:t>
            </a:r>
            <a:r>
              <a:rPr b="0" sz="1400">
                <a:solidFill>
                  <a:srgbClr val="F2F2F2"/>
                </a:solidFill>
                <a:latin typeface="Arial"/>
              </a:rPr>
              <a:t>, ca să se actualizeze singure. Cine intră în sală citește într-o secundă </a:t>
            </a:r>
            <a:r>
              <a:rPr i="1" sz="1400">
                <a:solidFill>
                  <a:srgbClr val="F2F2F2"/>
                </a:solidFill>
                <a:latin typeface="Arial"/>
              </a:rPr>
              <a:t>cât</a:t>
            </a:r>
            <a:r>
              <a:rPr b="0" sz="1400">
                <a:solidFill>
                  <a:srgbClr val="F2F2F2"/>
                </a:solidFill>
                <a:latin typeface="Arial"/>
              </a:rPr>
              <a:t> am scăzut și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a căzut.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GRAFICELE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Povestea, la mijloc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Adu cele două grafice din L18 (din </a:t>
            </a:r>
            <a:r>
              <a:rPr sz="1500">
                <a:solidFill>
                  <a:srgbClr val="FFA24E"/>
                </a:solidFill>
                <a:latin typeface="Consolas"/>
              </a:rPr>
              <a:t>chart-data</a:t>
            </a:r>
            <a:r>
              <a:rPr b="0" sz="1500">
                <a:solidFill>
                  <a:srgbClr val="F2F2F2"/>
                </a:solidFill>
                <a:latin typeface="Arial"/>
              </a:rPr>
              <a:t>): un grafic </a:t>
            </a:r>
            <a:r>
              <a:rPr b="1" sz="1500">
                <a:solidFill>
                  <a:srgbClr val="F2F2F2"/>
                </a:solidFill>
                <a:latin typeface="Arial"/>
              </a:rPr>
              <a:t>linie</a:t>
            </a:r>
            <a:r>
              <a:rPr b="0" sz="1500">
                <a:solidFill>
                  <a:srgbClr val="F2F2F2"/>
                </a:solidFill>
                <a:latin typeface="Arial"/>
              </a:rPr>
              <a:t> (Revenue 2024 vs 2025 → valea) în stânga, un grafic </a:t>
            </a:r>
            <a:r>
              <a:rPr b="1" sz="1500">
                <a:solidFill>
                  <a:srgbClr val="F2F2F2"/>
                </a:solidFill>
                <a:latin typeface="Arial"/>
              </a:rPr>
              <a:t>coloane</a:t>
            </a:r>
            <a:r>
              <a:rPr b="0" sz="1500">
                <a:solidFill>
                  <a:srgbClr val="F2F2F2"/>
                </a:solidFill>
                <a:latin typeface="Arial"/>
              </a:rPr>
              <a:t> (Accessories) în dreapta. Fiecare cu titlu-insight și axă Y de la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Sub numere, două imagini explică </a:t>
            </a:r>
            <a:r>
              <a:rPr i="1" sz="1400">
                <a:solidFill>
                  <a:srgbClr val="F2F2F2"/>
                </a:solidFill>
                <a:latin typeface="Arial"/>
              </a:rPr>
              <a:t>de ce</a:t>
            </a:r>
            <a:r>
              <a:rPr b="0" sz="1400">
                <a:solidFill>
                  <a:srgbClr val="F2F2F2"/>
                </a:solidFill>
                <a:latin typeface="Arial"/>
              </a:rPr>
              <a:t>: linia arată </a:t>
            </a:r>
            <a:r>
              <a:rPr i="1" sz="1400">
                <a:solidFill>
                  <a:srgbClr val="F2F2F2"/>
                </a:solidFill>
                <a:latin typeface="Arial"/>
              </a:rPr>
              <a:t>când</a:t>
            </a:r>
            <a:r>
              <a:rPr b="0" sz="1400">
                <a:solidFill>
                  <a:srgbClr val="F2F2F2"/>
                </a:solidFill>
                <a:latin typeface="Arial"/>
              </a:rPr>
              <a:t> (valea, −31% vs anul trecut = nu e sezon), coloanele arată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(Accessories se înjumătățește).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CONCLUZIA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Titlul și decizia, jos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Titlu sus: „RetailHub — Investigația scăderii din septembrie 2025”. În caseta de jos, scrie </a:t>
            </a:r>
            <a:r>
              <a:rPr b="1" sz="1500">
                <a:solidFill>
                  <a:srgbClr val="F2F2F2"/>
                </a:solidFill>
                <a:latin typeface="Arial"/>
              </a:rPr>
              <a:t>decizia</a:t>
            </a:r>
            <a:r>
              <a:rPr b="0" sz="1500">
                <a:solidFill>
                  <a:srgbClr val="F2F2F2"/>
                </a:solidFill>
                <a:latin typeface="Arial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2365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„Scăderea din septembrie (−14,9% vs august, −31% vs anul trecut) e o problemă de </a:t>
            </a:r>
            <a:r>
              <a:rPr b="1" sz="1300">
                <a:solidFill>
                  <a:srgbClr val="F2F2F2"/>
                </a:solidFill>
                <a:latin typeface="Arial"/>
              </a:rPr>
              <a:t>stoc/categorie</a:t>
            </a:r>
            <a:r>
              <a:rPr b="0" sz="1300">
                <a:solidFill>
                  <a:srgbClr val="F2F2F2"/>
                </a:solidFill>
                <a:latin typeface="Arial"/>
              </a:rPr>
              <a:t> — Accessories −55,9%, în toată rețeaua — </a:t>
            </a:r>
            <a:r>
              <a:rPr b="1" sz="1300">
                <a:solidFill>
                  <a:srgbClr val="F2F2F2"/>
                </a:solidFill>
                <a:latin typeface="Arial"/>
              </a:rPr>
              <a:t>nu</a:t>
            </a:r>
            <a:r>
              <a:rPr b="0" sz="1300">
                <a:solidFill>
                  <a:srgbClr val="F2F2F2"/>
                </a:solidFill>
                <a:latin typeface="Arial"/>
              </a:rPr>
              <a:t> de magazin: Cluj a crescut (+6,4%). </a:t>
            </a:r>
            <a:r>
              <a:rPr b="1" sz="1300">
                <a:solidFill>
                  <a:srgbClr val="F2F2F2"/>
                </a:solidFill>
                <a:latin typeface="Arial"/>
              </a:rPr>
              <a:t>Acțiune:</a:t>
            </a:r>
            <a:r>
              <a:rPr b="0" sz="1300">
                <a:solidFill>
                  <a:srgbClr val="F2F2F2"/>
                </a:solidFill>
                <a:latin typeface="Arial"/>
              </a:rPr>
              <a:t> reaprovizionare produse top (ACCE-101/114, LAPT-008) + campanie în septembrie.”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ORDINEA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Ordinea de citire + curățenie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Se citește </a:t>
            </a:r>
            <a:r>
              <a:rPr b="1" sz="1400">
                <a:solidFill>
                  <a:srgbClr val="F2F2F2"/>
                </a:solidFill>
                <a:latin typeface="Arial"/>
              </a:rPr>
              <a:t>sus→jos</a:t>
            </a:r>
            <a:r>
              <a:rPr b="0" sz="1400">
                <a:solidFill>
                  <a:srgbClr val="F2F2F2"/>
                </a:solidFill>
                <a:latin typeface="Arial"/>
              </a:rPr>
              <a:t>: titlu → KPI → grafice → concluzie?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Numerele-cheie sunt </a:t>
            </a:r>
            <a:r>
              <a:rPr b="1" sz="1400">
                <a:solidFill>
                  <a:srgbClr val="F2F2F2"/>
                </a:solidFill>
                <a:latin typeface="Arial"/>
              </a:rPr>
              <a:t>sus-stânga</a:t>
            </a:r>
            <a:r>
              <a:rPr b="0" sz="1400">
                <a:solidFill>
                  <a:srgbClr val="F2F2F2"/>
                </a:solidFill>
                <a:latin typeface="Arial"/>
              </a:rPr>
              <a:t> (cele mai importante)?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Aliniat, aceleași formate, fără elemente care nu servesc întrebarea?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Scoate orice grafic „în plus” — nu pui Revenue pe metodă de plată, n-are legătură cu septembrie. </a:t>
            </a:r>
            <a:r>
              <a:rPr b="1" sz="1400">
                <a:solidFill>
                  <a:srgbClr val="F2F2F2"/>
                </a:solidFill>
                <a:latin typeface="Arial"/>
              </a:rPr>
              <a:t>Puțin, dar clar.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Dashboard-vitrină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12 grafice fără mesaj (Ioana); pornește de la </a:t>
            </a:r>
            <a:r>
              <a:rPr b="1" sz="1400">
                <a:solidFill>
                  <a:srgbClr val="F2F2F2"/>
                </a:solidFill>
                <a:latin typeface="Arial"/>
              </a:rPr>
              <a:t>o întrebare</a:t>
            </a:r>
            <a:r>
              <a:rPr b="0" sz="1400">
                <a:solidFill>
                  <a:srgbClr val="F2F2F2"/>
                </a:solidFill>
                <a:latin typeface="Arial"/>
              </a:rPr>
              <a:t>, scoate ce n-o servește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Fără concluzie</a:t>
            </a:r>
            <a:r>
              <a:rPr b="0" sz="1400">
                <a:solidFill>
                  <a:srgbClr val="F2F2F2"/>
                </a:solidFill>
                <a:latin typeface="Arial"/>
              </a:rPr>
              <a:t> — datele nu „vorbesc singure”; scrie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decizia</a:t>
            </a:r>
            <a:r>
              <a:rPr b="0" sz="1400">
                <a:solidFill>
                  <a:srgbClr val="F2F2F2"/>
                </a:solidFill>
                <a:latin typeface="Arial"/>
              </a:rPr>
              <a:t> într-o frază, jos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Ordine haotică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concluzia sus, KPI prin colțuri; ține ordinea de citire, important sus-stânga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Necurat / neverificat</a:t>
            </a:r>
            <a:r>
              <a:rPr b="0" sz="1400">
                <a:solidFill>
                  <a:srgbClr val="F2F2F2"/>
                </a:solidFill>
                <a:latin typeface="Arial"/>
              </a:rPr>
              <a:t> — formate diferite, un KPI legat greșit; aliniază și verifică pe </a:t>
            </a:r>
            <a:r>
              <a:rPr sz="1400">
                <a:solidFill>
                  <a:srgbClr val="FFA24E"/>
                </a:solidFill>
                <a:latin typeface="Consolas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investigația se închide (checkpoint)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b="1" sz="1400">
                <a:solidFill>
                  <a:srgbClr val="F2F2F2"/>
                </a:solidFill>
                <a:latin typeface="Arial"/>
              </a:rPr>
              <a:t>dashboard</a:t>
            </a:r>
            <a:r>
              <a:rPr b="0" sz="1400">
                <a:solidFill>
                  <a:srgbClr val="F2F2F2"/>
                </a:solidFill>
                <a:latin typeface="Arial"/>
              </a:rPr>
              <a:t> = o pagină care răspunde la </a:t>
            </a:r>
            <a:r>
              <a:rPr b="1" sz="1400">
                <a:solidFill>
                  <a:srgbClr val="F2F2F2"/>
                </a:solidFill>
                <a:latin typeface="Arial"/>
              </a:rPr>
              <a:t>o întrebare</a:t>
            </a:r>
            <a:r>
              <a:rPr b="0" sz="1400">
                <a:solidFill>
                  <a:srgbClr val="F2F2F2"/>
                </a:solidFill>
                <a:latin typeface="Arial"/>
              </a:rPr>
              <a:t>, în ordinea de citire — nu o vitrină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KPI cards</a:t>
            </a:r>
            <a:r>
              <a:rPr b="0" sz="1400">
                <a:solidFill>
                  <a:srgbClr val="F2F2F2"/>
                </a:solidFill>
                <a:latin typeface="Arial"/>
              </a:rPr>
              <a:t> sus (numerele-titlu), </a:t>
            </a:r>
            <a:r>
              <a:rPr b="1" sz="1400">
                <a:solidFill>
                  <a:srgbClr val="F2F2F2"/>
                </a:solidFill>
                <a:latin typeface="Arial"/>
              </a:rPr>
              <a:t>graficele</a:t>
            </a:r>
            <a:r>
              <a:rPr b="0" sz="1400">
                <a:solidFill>
                  <a:srgbClr val="F2F2F2"/>
                </a:solidFill>
                <a:latin typeface="Arial"/>
              </a:rPr>
              <a:t> la mijloc (povestea), </a:t>
            </a:r>
            <a:r>
              <a:rPr b="1" sz="1400">
                <a:solidFill>
                  <a:srgbClr val="F2F2F2"/>
                </a:solidFill>
                <a:latin typeface="Arial"/>
              </a:rPr>
              <a:t>concluzia</a:t>
            </a:r>
            <a:r>
              <a:rPr b="0" sz="1400">
                <a:solidFill>
                  <a:srgbClr val="F2F2F2"/>
                </a:solidFill>
                <a:latin typeface="Arial"/>
              </a:rPr>
              <a:t> jos (decizia)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Concluzia spune </a:t>
            </a:r>
            <a:r>
              <a:rPr i="1" sz="1400">
                <a:solidFill>
                  <a:srgbClr val="F2F2F2"/>
                </a:solidFill>
                <a:latin typeface="Arial"/>
              </a:rPr>
              <a:t>ce facem</a:t>
            </a:r>
            <a:r>
              <a:rPr b="0" sz="1400">
                <a:solidFill>
                  <a:srgbClr val="F2F2F2"/>
                </a:solidFill>
                <a:latin typeface="Arial"/>
              </a:rPr>
              <a:t>: „stoc de Accessories, nu magazin — reaprovizionare + campanie”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Ai închis investigația din septembrie pe o pagină — prima ta </a:t>
            </a:r>
            <a:r>
              <a:rPr b="1" sz="1400">
                <a:solidFill>
                  <a:srgbClr val="F2F2F2"/>
                </a:solidFill>
                <a:latin typeface="Arial"/>
              </a:rPr>
              <a:t>analiză completă, cap-coadă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— CHECKPOINT DE MODUL: întrebarea Elenei din L5 are, în sfârșit, un răspuns complet.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Modulul 4 (SQL)</a:t>
            </a:r>
            <a:r>
              <a:rPr b="0" sz="1400">
                <a:solidFill>
                  <a:srgbClr val="F2F2F2"/>
                </a:solidFill>
                <a:latin typeface="Arial"/>
              </a:rPr>
              <a:t>: același drum, pe volume mari de 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BONUS PRACTIC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Bonus AI — Dashboard cu Claude care citește Excel-ul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Tocmai ați construit primul dashboard RetailHub în Excel, </a:t>
            </a:r>
            <a:r>
              <a:rPr b="1" sz="1500">
                <a:solidFill>
                  <a:srgbClr val="F2F2F2"/>
                </a:solidFill>
                <a:latin typeface="Arial"/>
              </a:rPr>
              <a:t>de mână</a:t>
            </a:r>
            <a:r>
              <a:rPr b="0" sz="1500">
                <a:solidFill>
                  <a:srgbClr val="F2F2F2"/>
                </a:solidFill>
                <a:latin typeface="Arial"/>
              </a:rPr>
              <a:t>. Înainte de a închide lecția, o demonstrație scurtă: cum arată </a:t>
            </a:r>
            <a:r>
              <a:rPr b="1" sz="1500">
                <a:solidFill>
                  <a:srgbClr val="F2F2F2"/>
                </a:solidFill>
                <a:latin typeface="Arial"/>
              </a:rPr>
              <a:t>aceeași muncă</a:t>
            </a:r>
            <a:r>
              <a:rPr b="0" sz="1500">
                <a:solidFill>
                  <a:srgbClr val="F2F2F2"/>
                </a:solidFill>
                <a:latin typeface="Arial"/>
              </a:rPr>
              <a:t> cu un AI care citește direct fișierul — și de ce contați voi </a:t>
            </a:r>
            <a:r>
              <a:rPr b="1" sz="1500">
                <a:solidFill>
                  <a:srgbClr val="F2F2F2"/>
                </a:solidFill>
                <a:latin typeface="Arial"/>
              </a:rPr>
              <a:t>și mai mult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Demonstrație, </a:t>
            </a:r>
            <a:r>
              <a:rPr b="1" sz="1400">
                <a:solidFill>
                  <a:srgbClr val="F2F2F2"/>
                </a:solidFill>
                <a:latin typeface="Arial"/>
              </a:rPr>
              <a:t>nu exercițiu</a:t>
            </a:r>
            <a:r>
              <a:rPr b="0" sz="1400">
                <a:solidFill>
                  <a:srgbClr val="F2F2F2"/>
                </a:solidFill>
                <a:latin typeface="Arial"/>
              </a:rPr>
              <a:t>. Priviți și întrebați. (~8–10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BONUS PRACTIC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Nu mai construiești dashboard-ul de la 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Tocmai ai construit primul dashboard RetailHub în Excel — </a:t>
            </a:r>
            <a:r>
              <a:rPr b="1" sz="1500">
                <a:solidFill>
                  <a:srgbClr val="F2F2F2"/>
                </a:solidFill>
                <a:latin typeface="Arial"/>
              </a:rPr>
              <a:t>de mână</a:t>
            </a:r>
            <a:r>
              <a:rPr b="0" sz="1500">
                <a:solidFill>
                  <a:srgbClr val="F2F2F2"/>
                </a:solidFill>
                <a:latin typeface="Arial"/>
              </a:rPr>
              <a:t>: KPI-uri, pivot, grafic, concluzie. Azi vezi cum lucrează un analist </a:t>
            </a:r>
            <a:r>
              <a:rPr b="1" sz="1500">
                <a:solidFill>
                  <a:srgbClr val="F2F2F2"/>
                </a:solidFill>
                <a:latin typeface="Arial"/>
              </a:rPr>
              <a:t>modern</a:t>
            </a:r>
            <a:r>
              <a:rPr b="0" sz="1500">
                <a:solidFill>
                  <a:srgbClr val="F2F2F2"/>
                </a:solidFill>
                <a:latin typeface="Arial"/>
              </a:rPr>
              <a:t>: cu un AI (Claude) care </a:t>
            </a:r>
            <a:r>
              <a:rPr b="1" sz="1500">
                <a:solidFill>
                  <a:srgbClr val="F2F2F2"/>
                </a:solidFill>
                <a:latin typeface="Arial"/>
              </a:rPr>
              <a:t>citește direct fișierul Excel</a:t>
            </a:r>
            <a:r>
              <a:rPr b="0" sz="1500">
                <a:solidFill>
                  <a:srgbClr val="F2F2F2"/>
                </a:solidFill>
                <a:latin typeface="Arial"/>
              </a:rPr>
              <a:t>, analizează și propune dashboard-ul.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Întrebarea nu e „AI-ul îmi ia jobul?” — ci </a:t>
            </a:r>
            <a:r>
              <a:rPr b="1" sz="1400">
                <a:solidFill>
                  <a:srgbClr val="F2F2F2"/>
                </a:solidFill>
                <a:latin typeface="Arial"/>
              </a:rPr>
              <a:t>„ce rămâne treaba mea, și de ce devine mai importantă?”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CUM ARATĂ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Claude citește fișierul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Îi dai fișierul (</a:t>
            </a:r>
            <a:r>
              <a:rPr sz="1500">
                <a:solidFill>
                  <a:srgbClr val="FFA24E"/>
                </a:solidFill>
                <a:latin typeface="Consolas"/>
              </a:rPr>
              <a:t>L19_practice.xlsx</a:t>
            </a:r>
            <a:r>
              <a:rPr b="0" sz="1500">
                <a:solidFill>
                  <a:srgbClr val="F2F2F2"/>
                </a:solidFill>
                <a:latin typeface="Arial"/>
              </a:rPr>
              <a:t>) și pui întrebarea în </a:t>
            </a:r>
            <a:r>
              <a:rPr b="1" sz="1500">
                <a:solidFill>
                  <a:srgbClr val="F2F2F2"/>
                </a:solidFill>
                <a:latin typeface="Arial"/>
              </a:rPr>
              <a:t>limbaj natural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Claude citește foile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sz="15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calculează</a:t>
            </a:r>
            <a:r>
              <a:rPr b="0" sz="1500">
                <a:solidFill>
                  <a:srgbClr val="F2F2F2"/>
                </a:solidFill>
                <a:latin typeface="Arial"/>
              </a:rPr>
              <a:t> și grupează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Îți dă </a:t>
            </a:r>
            <a:r>
              <a:rPr b="1" sz="1500">
                <a:solidFill>
                  <a:srgbClr val="F2F2F2"/>
                </a:solidFill>
                <a:latin typeface="Arial"/>
              </a:rPr>
              <a:t>rezultatul, un dashboard propus și explicația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Tu ceri, </a:t>
            </a:r>
            <a:r>
              <a:rPr b="1" sz="1500">
                <a:solidFill>
                  <a:srgbClr val="F2F2F2"/>
                </a:solidFill>
                <a:latin typeface="Arial"/>
              </a:rPr>
              <a:t>verifici</a:t>
            </a:r>
            <a:r>
              <a:rPr b="0" sz="1500">
                <a:solidFill>
                  <a:srgbClr val="F2F2F2"/>
                </a:solidFill>
                <a:latin typeface="Arial"/>
              </a:rPr>
              <a:t>, ajustezi și </a:t>
            </a:r>
            <a:r>
              <a:rPr b="1" sz="1500">
                <a:solidFill>
                  <a:srgbClr val="F2F2F2"/>
                </a:solidFill>
                <a:latin typeface="Arial"/>
              </a:rPr>
              <a:t>decizi povestea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E ca și cum ai avea un </a:t>
            </a:r>
            <a:r>
              <a:rPr b="1" sz="1400">
                <a:solidFill>
                  <a:srgbClr val="F2F2F2"/>
                </a:solidFill>
                <a:latin typeface="Arial"/>
              </a:rPr>
              <a:t>junior foarte rapid</a:t>
            </a:r>
            <a:r>
              <a:rPr b="0" sz="1400">
                <a:solidFill>
                  <a:srgbClr val="F2F2F2"/>
                </a:solidFill>
                <a:latin typeface="Arial"/>
              </a:rPr>
              <a:t> cu Excel — dar căruia </a:t>
            </a:r>
            <a:r>
              <a:rPr b="1" sz="1400">
                <a:solidFill>
                  <a:srgbClr val="F2F2F2"/>
                </a:solidFill>
                <a:latin typeface="Arial"/>
              </a:rPr>
              <a:t>trebuie să-i verifici munca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SIMULARE · PASUL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Îi dai fișierul și întrebi în limbaj natural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Tu → Claude</a:t>
            </a:r>
            <a:r>
              <a:rPr b="0" sz="1400">
                <a:solidFill>
                  <a:srgbClr val="F2F2F2"/>
                </a:solidFill>
                <a:latin typeface="Arial"/>
              </a:rPr>
              <a:t> (cu </a:t>
            </a:r>
            <a:r>
              <a:rPr sz="1400">
                <a:solidFill>
                  <a:srgbClr val="FFA24E"/>
                </a:solidFill>
                <a:latin typeface="Consolas"/>
              </a:rPr>
              <a:t>L19_practice.xlsx</a:t>
            </a:r>
            <a:r>
              <a:rPr b="0" sz="1400">
                <a:solidFill>
                  <a:srgbClr val="F2F2F2"/>
                </a:solidFill>
                <a:latin typeface="Arial"/>
              </a:rPr>
              <a:t> atașat): „Am foile orders și sales. De ce a scăzut Revenue în septembrie 2025 față de august? Sparge pe categorie, arată-mi vinovatul și propune-mi un dashboard.”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Nicio formulă, niciun pivot. Doar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întrebarea de business, bine formulată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exact framing-ul din L3. Partea asta rămâne a ta: un AI prost întrebat dă un răspuns prost.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SIMULARE · PASUL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Claude analizează și propune dashboard-ul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Vinovatul: </a:t>
            </a:r>
            <a:r>
              <a:rPr b="1" sz="1300">
                <a:solidFill>
                  <a:srgbClr val="F2F2F2"/>
                </a:solidFill>
                <a:latin typeface="Arial"/>
              </a:rPr>
              <a:t>Accessories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194.213,42</a:t>
            </a:r>
            <a:r>
              <a:rPr b="0" sz="1300">
                <a:solidFill>
                  <a:srgbClr val="F2F2F2"/>
                </a:solidFill>
                <a:latin typeface="Arial"/>
              </a:rPr>
              <a:t> (aug) → </a:t>
            </a:r>
            <a:r>
              <a:rPr sz="1300">
                <a:solidFill>
                  <a:srgbClr val="FFA24E"/>
                </a:solidFill>
                <a:latin typeface="Consolas"/>
              </a:rPr>
              <a:t>85.585,05</a:t>
            </a:r>
            <a:r>
              <a:rPr b="0" sz="1300">
                <a:solidFill>
                  <a:srgbClr val="F2F2F2"/>
                </a:solidFill>
                <a:latin typeface="Arial"/>
              </a:rPr>
              <a:t> (sept) = </a:t>
            </a:r>
            <a:r>
              <a:rPr b="1" sz="1300">
                <a:solidFill>
                  <a:srgbClr val="F2F2F2"/>
                </a:solidFill>
                <a:latin typeface="Arial"/>
              </a:rPr>
              <a:t>−55,9%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Septembrie, în total: </a:t>
            </a:r>
            <a:r>
              <a:rPr b="1" sz="1300">
                <a:solidFill>
                  <a:srgbClr val="F2F2F2"/>
                </a:solidFill>
                <a:latin typeface="Arial"/>
              </a:rPr>
              <a:t>−17,4%</a:t>
            </a:r>
            <a:r>
              <a:rPr b="0" sz="1300">
                <a:solidFill>
                  <a:srgbClr val="F2F2F2"/>
                </a:solidFill>
                <a:latin typeface="Arial"/>
              </a:rPr>
              <a:t> față de august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Propune KPI-uri (Revenue, comenzi, AOV) + grafic lunar + top-scăderi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 secunde: exact analiza + dashboard-ul pe care le-ai făcut de mână. Impresionant — și </a:t>
            </a:r>
            <a:r>
              <a:rPr b="1" sz="1400">
                <a:solidFill>
                  <a:srgbClr val="F2F2F2"/>
                </a:solidFill>
                <a:latin typeface="Arial"/>
              </a:rPr>
              <a:t>aici mulți se opresc</a:t>
            </a:r>
            <a:r>
              <a:rPr b="0" sz="1400">
                <a:solidFill>
                  <a:srgbClr val="F2F2F2"/>
                </a:solidFill>
                <a:latin typeface="Arial"/>
              </a:rPr>
              <a:t>. Greșeală.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⚠️ MOMENTUL-CHEIE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Reconciliezi: net vs brut (nu te încrezi orbește)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Aduni coloana </a:t>
            </a:r>
            <a:r>
              <a:rPr sz="1300">
                <a:solidFill>
                  <a:srgbClr val="FFA24E"/>
                </a:solidFill>
                <a:latin typeface="Consolas"/>
              </a:rPr>
              <a:t>LineValue</a:t>
            </a:r>
            <a:r>
              <a:rPr b="0" sz="1300">
                <a:solidFill>
                  <a:srgbClr val="F2F2F2"/>
                </a:solidFill>
                <a:latin typeface="Arial"/>
              </a:rPr>
              <a:t> din </a:t>
            </a:r>
            <a:r>
              <a:rPr sz="13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300">
                <a:solidFill>
                  <a:srgbClr val="F2F2F2"/>
                </a:solidFill>
                <a:latin typeface="Arial"/>
              </a:rPr>
              <a:t> → </a:t>
            </a:r>
            <a:r>
              <a:rPr sz="13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300">
                <a:solidFill>
                  <a:srgbClr val="F2F2F2"/>
                </a:solidFill>
                <a:latin typeface="Arial"/>
              </a:rPr>
              <a:t>. </a:t>
            </a:r>
            <a:r>
              <a:rPr b="1" sz="1300">
                <a:solidFill>
                  <a:srgbClr val="F2F2F2"/>
                </a:solidFill>
                <a:latin typeface="Arial"/>
              </a:rPr>
              <a:t>Dar Revenue-ul firmei e `37.878.974,89`!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Diferența (~</a:t>
            </a:r>
            <a:r>
              <a:rPr sz="1300">
                <a:solidFill>
                  <a:srgbClr val="FFA24E"/>
                </a:solidFill>
                <a:latin typeface="Consolas"/>
              </a:rPr>
              <a:t>1,93 mil</a:t>
            </a:r>
            <a:r>
              <a:rPr b="0" sz="1300">
                <a:solidFill>
                  <a:srgbClr val="F2F2F2"/>
                </a:solidFill>
                <a:latin typeface="Arial"/>
              </a:rPr>
              <a:t>) = </a:t>
            </a:r>
            <a:r>
              <a:rPr b="1" sz="1300">
                <a:solidFill>
                  <a:srgbClr val="F2F2F2"/>
                </a:solidFill>
                <a:latin typeface="Arial"/>
              </a:rPr>
              <a:t>discount-urile</a:t>
            </a:r>
            <a:r>
              <a:rPr b="0" sz="1300">
                <a:solidFill>
                  <a:srgbClr val="F2F2F2"/>
                </a:solidFill>
                <a:latin typeface="Arial"/>
              </a:rPr>
              <a:t> la nivel de comandă. </a:t>
            </a:r>
            <a:r>
              <a:rPr sz="1300">
                <a:solidFill>
                  <a:srgbClr val="FFA24E"/>
                </a:solidFill>
                <a:latin typeface="Consolas"/>
              </a:rPr>
              <a:t>SUM</a:t>
            </a:r>
            <a:r>
              <a:rPr b="0" sz="1300">
                <a:solidFill>
                  <a:srgbClr val="F2F2F2"/>
                </a:solidFill>
                <a:latin typeface="Arial"/>
              </a:rPr>
              <a:t> pe o coloană ≠ Revenue.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Iar dacă legi comenzile de linii și aduni </a:t>
            </a:r>
            <a:r>
              <a:rPr sz="13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300">
                <a:solidFill>
                  <a:srgbClr val="F2F2F2"/>
                </a:solidFill>
                <a:latin typeface="Arial"/>
              </a:rPr>
              <a:t> → </a:t>
            </a:r>
            <a:r>
              <a:rPr b="1" sz="1300">
                <a:solidFill>
                  <a:srgbClr val="F2F2F2"/>
                </a:solidFill>
                <a:latin typeface="Arial"/>
              </a:rPr>
              <a:t>fan-out</a:t>
            </a:r>
            <a:r>
              <a:rPr b="0" sz="1300">
                <a:solidFill>
                  <a:srgbClr val="F2F2F2"/>
                </a:solidFill>
                <a:latin typeface="Arial"/>
              </a:rPr>
              <a:t>: </a:t>
            </a:r>
            <a:r>
              <a:rPr sz="1300">
                <a:solidFill>
                  <a:srgbClr val="FFA24E"/>
                </a:solidFill>
                <a:latin typeface="Consolas"/>
              </a:rPr>
              <a:t>129.477.125,92</a:t>
            </a:r>
            <a:r>
              <a:rPr b="0" sz="1300">
                <a:solidFill>
                  <a:srgbClr val="F2F2F2"/>
                </a:solidFill>
                <a:latin typeface="Arial"/>
              </a:rPr>
              <a:t> (×3,4)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AI-ul poate greși </a:t>
            </a:r>
            <a:r>
              <a:rPr b="1" sz="1400">
                <a:solidFill>
                  <a:srgbClr val="F2F2F2"/>
                </a:solidFill>
                <a:latin typeface="Arial"/>
              </a:rPr>
              <a:t>convingător — exact ca Ioana</a:t>
            </a:r>
            <a:r>
              <a:rPr b="0" sz="1400">
                <a:solidFill>
                  <a:srgbClr val="F2F2F2"/>
                </a:solidFill>
                <a:latin typeface="Arial"/>
              </a:rPr>
              <a:t>. „Sună bine” ≠ „e corect”. </a:t>
            </a:r>
            <a:r>
              <a:rPr b="1" sz="1400">
                <a:solidFill>
                  <a:srgbClr val="F2F2F2"/>
                </a:solidFill>
                <a:latin typeface="Arial"/>
              </a:rPr>
              <a:t>Verificarea e acum superputerea 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CE RĂMÂNE TREABA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Framezi · reconciliezi · designezi povestea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Claude face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Tu faci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citește foile &amp; calculează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framezi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întrebarea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propune KPI-uri &amp; grafice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reconciliezi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(net vs brut)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asamblează dashboard-ul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designezi povestea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+ recomandarea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Claude face </a:t>
            </a:r>
            <a:r>
              <a:rPr b="1" sz="1400">
                <a:solidFill>
                  <a:srgbClr val="F2F2F2"/>
                </a:solidFill>
                <a:latin typeface="Arial"/>
              </a:rPr>
              <a:t>mecanica</a:t>
            </a:r>
            <a:r>
              <a:rPr b="0" sz="1400">
                <a:solidFill>
                  <a:srgbClr val="F2F2F2"/>
                </a:solidFill>
                <a:latin typeface="Arial"/>
              </a:rPr>
              <a:t> în secunde. </a:t>
            </a:r>
            <a:r>
              <a:rPr b="1" sz="1400">
                <a:solidFill>
                  <a:srgbClr val="F2F2F2"/>
                </a:solidFill>
                <a:latin typeface="Arial"/>
              </a:rPr>
              <a:t>Gândirea</a:t>
            </a:r>
            <a:r>
              <a:rPr b="0" sz="1400">
                <a:solidFill>
                  <a:srgbClr val="F2F2F2"/>
                </a:solidFill>
                <a:latin typeface="Arial"/>
              </a:rPr>
              <a:t> — framing, reconciliere, povestea pentru decident — rămâne a ta și cântărește mai mult ca oricând.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Analistul + AI: dashboard-ul e doar mecanica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De la „</a:t>
            </a:r>
            <a:r>
              <a:rPr b="1" sz="1500">
                <a:solidFill>
                  <a:srgbClr val="F2F2F2"/>
                </a:solidFill>
                <a:latin typeface="Arial"/>
              </a:rPr>
              <a:t>construiești</a:t>
            </a:r>
            <a:r>
              <a:rPr b="0" sz="1500">
                <a:solidFill>
                  <a:srgbClr val="F2F2F2"/>
                </a:solidFill>
                <a:latin typeface="Arial"/>
              </a:rPr>
              <a:t> dashboard-ul” → „</a:t>
            </a:r>
            <a:r>
              <a:rPr b="1" sz="1500">
                <a:solidFill>
                  <a:srgbClr val="F2F2F2"/>
                </a:solidFill>
                <a:latin typeface="Arial"/>
              </a:rPr>
              <a:t>dirijezi + verifici + spui povestea</a:t>
            </a:r>
            <a:r>
              <a:rPr b="0" sz="1500">
                <a:solidFill>
                  <a:srgbClr val="F2F2F2"/>
                </a:solidFill>
                <a:latin typeface="Arial"/>
              </a:rPr>
              <a:t>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Abilitățile din curs (framing, reconciliere, storytelling) devin </a:t>
            </a:r>
            <a:r>
              <a:rPr b="1" sz="1500">
                <a:solidFill>
                  <a:srgbClr val="F2F2F2"/>
                </a:solidFill>
                <a:latin typeface="Arial"/>
              </a:rPr>
              <a:t>MAI</a:t>
            </a:r>
            <a:r>
              <a:rPr b="0" sz="1500">
                <a:solidFill>
                  <a:srgbClr val="F2F2F2"/>
                </a:solidFill>
                <a:latin typeface="Arial"/>
              </a:rPr>
              <a:t> valoroase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= un </a:t>
            </a:r>
            <a:r>
              <a:rPr b="1" sz="1500">
                <a:solidFill>
                  <a:srgbClr val="F2F2F2"/>
                </a:solidFill>
                <a:latin typeface="Arial"/>
              </a:rPr>
              <a:t>multiplicator</a:t>
            </a:r>
            <a:r>
              <a:rPr b="0" sz="1500">
                <a:solidFill>
                  <a:srgbClr val="F2F2F2"/>
                </a:solidFill>
                <a:latin typeface="Arial"/>
              </a:rPr>
              <a:t>, nu un înlocuitor — dacă știi să-l dirijezi și să-l verifici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Regula lui Andrei ține și cu AI: </a:t>
            </a:r>
            <a:r>
              <a:rPr b="1" sz="1400">
                <a:solidFill>
                  <a:srgbClr val="F2F2F2"/>
                </a:solidFill>
                <a:latin typeface="Arial"/>
              </a:rPr>
              <a:t>nu livrăm rapoarte — livrăm răspunsuri verificate.</a:t>
            </a:r>
            <a:r>
              <a:rPr b="0" sz="1400">
                <a:solidFill>
                  <a:srgbClr val="F2F2F2"/>
                </a:solidFill>
                <a:latin typeface="Arial"/>
              </a:rPr>
              <a:t> AI-ul îți dă dashboard-uri instant; concluzia o garantezi tu.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L19 · Dashboard  ·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