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La L28 ai construit un dashboard viu — conectat, partajabil. Dar „viu” nu înseamnă că și comunică: 15 grafice îngrămădite pot fi vii și tot să nu spună nimic. Azi îl faci să comunice — îl duci pe cititor de la ce s-a întâmplat (Findings) → de ce (Insights) → ce facem (Recommendations). Adaugi cauza (Accessories −55,9%, dintr-o a doua sursă), îl faci interactiv, îl ordonezi ca un board ocupat să prindă povestea în 30 de secunde. Ideea centrală: un dashboard care comunică e un BRIEFING, nu un data 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L28: dashboard-ul viu, conectat, partajabil. Puntea: „viu” nu înseamnă automat că „comunică”. Un dashboard poate fi viu și tot să nu spună nimic.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§1. Îl duci pe cititor de la ce s-a întâmplat → de ce → ce facem. Adaugi cauza (a doua sursă), interactivitate, și structura F → I → R. Ideea centrală: briefing, nu data 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Tabelul celor trei zone din §5 + controlul deasupra tuturor. Interpretezi, nu doar vizualizezi. Design pentru public: ce contează sus, cauza la mijloc, decizia jos.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Contextul din §2. Board-ul are 15 minute și zero răbdare pentru grafice. Andrei vrea un dashboard care spune povestea: ce, de ce, ce facem — în ordinea asta — și cauza (Accessories) pe 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Anti-exemplul din §3. Ioana a pus 15 grafice pe o pagină. Board-ul: „ce s-a întâmplat, și ce vrei să facem?” Pagina arăta totul, deci nu accentua nimic — un data dump: multă muncă, zero mesaj.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1. Doi analiști la board: primul cu 20 de pagini („aici e tot”), al doilea cu o pagină („ce → de ce → ce facem”). Al doilea convinge — a interpretat datele și a dat o decizie.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§5, cele două noțiuni-cheie. Un grafic e un fapt; un insight e „ce înseamnă”; o recomandare e „ce facem”. Design pentru public: board-ul citește de sus-stânga în jos-dreapta, în 30 de secunde.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1. Resource → Manage added data sources → Add a data source → Google Sheets → order_items_flat → Add. Câmpuri noi: Categorie, Cantitate, Vanzari. Vanzari e gross (39.810.596,57) vs Revenue net (37.878.974,89) — diferența = discounturile.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2. Bar chart pe order_items_flat, Categorie × Vanzari, filtru Luna=2025-09. Al doilea grafic Accessories aug vs sept: 194.213,42 → 85.585,05 = −55,9% (~46% din scăderea netă). A doua Audio 52.079,00 → 25.591,05 = −50,9%, mult mai mică absolut. Ăsta e „de ce”-ul, acum vizibil.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3. Nu adaugi piese la întâmplare — le așezi în trei benzi: sus Findings (KPI + valea, ce), mijloc Insights (Accessories −55,9% + „0 campanii”, de ce), jos Recommendations. Testul: citești pagina cu voce tare în 3 propoziții.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4. Jos, o casetă evidențiată (nu doar o linie): recomandarea cu pași și impact. Impact așteptat: revenirea Accessories, ca octombrie +154,4% când stocul a revenit. Recomandarea spune ce, de ce și rezultatul așteptat — ce lipsea la data dump-ul Ioanei.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Pașii 5–6. Pas 5: Insert → Date range control (+ drop-down pe Oras din L28). Board-ul schimbă intervalul/orașul → tot se filtrează. Pas 6: Share e deja pe „Anyone with the link → Viewer” din L28 — linkul rămâne același, dar acum comunică.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§11, cele 4 greșeli: data dump; fapt fără interpretare; fără recomandare; ordine haotică.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§12/§14. Cele 4 idei + milestone (dashboard-ul care comunică, gata de board) + puntea spre L30 (îl prezinți executiv: BLUF, povestea, obiecțiile).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5 · LECȚIA 29 · A DOUA LECȚIE DATA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Un dashboard care comunică — Findings → Insights →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Date → Dashboard care COMUNICĂ → Decizie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11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dashboard-ul viu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L28:</a:t>
            </a:r>
            <a:r>
              <a:rPr b="0" sz="1500">
                <a:solidFill>
                  <a:srgbClr val="F2F2F2"/>
                </a:solidFill>
                <a:latin typeface="Arial"/>
              </a:rPr>
              <a:t> un dashboard </a:t>
            </a:r>
            <a:r>
              <a:rPr b="1" sz="1500">
                <a:solidFill>
                  <a:srgbClr val="F2F2F2"/>
                </a:solidFill>
                <a:latin typeface="Arial"/>
              </a:rPr>
              <a:t>viu</a:t>
            </a:r>
            <a:r>
              <a:rPr b="0" sz="1500">
                <a:solidFill>
                  <a:srgbClr val="F2F2F2"/>
                </a:solidFill>
                <a:latin typeface="Arial"/>
              </a:rPr>
              <a:t> — conectat la sursă, se calculează singur, un link partajabil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scorecard-uri: Revenue sept. </a:t>
            </a:r>
            <a:r>
              <a:rPr sz="15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b="1" sz="15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500">
                <a:solidFill>
                  <a:srgbClr val="F2F2F2"/>
                </a:solidFill>
                <a:latin typeface="Arial"/>
              </a:rPr>
              <a:t> vs august, </a:t>
            </a:r>
            <a:r>
              <a:rPr b="1" sz="1500">
                <a:solidFill>
                  <a:srgbClr val="F2F2F2"/>
                </a:solidFill>
                <a:latin typeface="Arial"/>
              </a:rPr>
              <a:t>−31,0%</a:t>
            </a:r>
            <a:r>
              <a:rPr b="0" sz="1500">
                <a:solidFill>
                  <a:srgbClr val="F2F2F2"/>
                </a:solidFill>
                <a:latin typeface="Arial"/>
              </a:rPr>
              <a:t> vs sept. 2024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graficul lunar (valea din septembrie) + pe oraș (</a:t>
            </a:r>
            <a:r>
              <a:rPr b="1" sz="1500">
                <a:solidFill>
                  <a:srgbClr val="F2F2F2"/>
                </a:solidFill>
                <a:latin typeface="Arial"/>
              </a:rPr>
              <a:t>Cluj-Napoca `1.987.932,42`</a:t>
            </a:r>
            <a:r>
              <a:rPr b="0" sz="1500">
                <a:solidFill>
                  <a:srgbClr val="F2F2F2"/>
                </a:solidFill>
                <a:latin typeface="Arial"/>
              </a:rPr>
              <a:t> ultimul)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Dar „viu” nu înseamnă că </a:t>
            </a:r>
            <a:r>
              <a:rPr b="1" sz="1400">
                <a:solidFill>
                  <a:srgbClr val="F2F2F2"/>
                </a:solidFill>
                <a:latin typeface="Arial"/>
              </a:rPr>
              <a:t>comunică</a:t>
            </a:r>
            <a:r>
              <a:rPr b="0" sz="1400">
                <a:solidFill>
                  <a:srgbClr val="F2F2F2"/>
                </a:solidFill>
                <a:latin typeface="Arial"/>
              </a:rPr>
              <a:t>. Un dashboard poate fi viu și tot să nu spună nimic — 15 grafice din care nimeni nu prinde ce contează. Azi îl facem să </a:t>
            </a:r>
            <a:r>
              <a:rPr b="1" sz="1400">
                <a:solidFill>
                  <a:srgbClr val="F2F2F2"/>
                </a:solidFill>
                <a:latin typeface="Arial"/>
              </a:rPr>
              <a:t>comunice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adaugi o </a:t>
            </a:r>
            <a:r>
              <a:rPr b="1" sz="1500">
                <a:solidFill>
                  <a:srgbClr val="F2F2F2"/>
                </a:solidFill>
                <a:latin typeface="Arial"/>
              </a:rPr>
              <a:t>a doua sursă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order_items_flat</a:t>
            </a:r>
            <a:r>
              <a:rPr b="0" sz="1500">
                <a:solidFill>
                  <a:srgbClr val="F2F2F2"/>
                </a:solidFill>
                <a:latin typeface="Arial"/>
              </a:rPr>
              <a:t>, nivel-articol) și să arăți </a:t>
            </a:r>
            <a:r>
              <a:rPr b="1" sz="1500">
                <a:solidFill>
                  <a:srgbClr val="F2F2F2"/>
                </a:solidFill>
                <a:latin typeface="Arial"/>
              </a:rPr>
              <a:t>cauza</a:t>
            </a:r>
            <a:r>
              <a:rPr b="0" sz="1500">
                <a:solidFill>
                  <a:srgbClr val="F2F2F2"/>
                </a:solidFill>
                <a:latin typeface="Arial"/>
              </a:rPr>
              <a:t> pe categorie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structurezi dashboard-ul ca </a:t>
            </a:r>
            <a:r>
              <a:rPr b="1" sz="1500">
                <a:solidFill>
                  <a:srgbClr val="F2F2F2"/>
                </a:solidFill>
                <a:latin typeface="Arial"/>
              </a:rPr>
              <a:t>Findings → Insights → Recommendations</a:t>
            </a:r>
            <a:r>
              <a:rPr b="0" sz="1500">
                <a:solidFill>
                  <a:srgbClr val="F2F2F2"/>
                </a:solidFill>
                <a:latin typeface="Arial"/>
              </a:rPr>
              <a:t> — interpretezi, nu doar vizualizezi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Să-l faci </a:t>
            </a:r>
            <a:r>
              <a:rPr b="1" sz="1500">
                <a:solidFill>
                  <a:srgbClr val="F2F2F2"/>
                </a:solidFill>
                <a:latin typeface="Arial"/>
              </a:rPr>
              <a:t>interactiv</a:t>
            </a:r>
            <a:r>
              <a:rPr b="0" sz="1500">
                <a:solidFill>
                  <a:srgbClr val="F2F2F2"/>
                </a:solidFill>
                <a:latin typeface="Arial"/>
              </a:rPr>
              <a:t> (un control de dată + filtre) pentru public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distingi un </a:t>
            </a:r>
            <a:r>
              <a:rPr b="1" sz="1500">
                <a:solidFill>
                  <a:srgbClr val="F2F2F2"/>
                </a:solidFill>
                <a:latin typeface="Arial"/>
              </a:rPr>
              <a:t>data dump</a:t>
            </a:r>
            <a:r>
              <a:rPr b="0" sz="1500">
                <a:solidFill>
                  <a:srgbClr val="F2F2F2"/>
                </a:solidFill>
                <a:latin typeface="Arial"/>
              </a:rPr>
              <a:t> (arată tot, spune nimic) de un </a:t>
            </a:r>
            <a:r>
              <a:rPr b="1" sz="1500">
                <a:solidFill>
                  <a:srgbClr val="F2F2F2"/>
                </a:solidFill>
                <a:latin typeface="Arial"/>
              </a:rPr>
              <a:t>briefing</a:t>
            </a:r>
            <a:r>
              <a:rPr b="0" sz="1500">
                <a:solidFill>
                  <a:srgbClr val="F2F2F2"/>
                </a:solidFill>
                <a:latin typeface="Arial"/>
              </a:rPr>
              <a:t> (spune ceva, se termină cu o decizie)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Ideea centrală: un dashboard care comunică e un </a:t>
            </a:r>
            <a:r>
              <a:rPr b="1" sz="1400">
                <a:solidFill>
                  <a:srgbClr val="F2F2F2"/>
                </a:solidFill>
                <a:latin typeface="Arial"/>
              </a:rPr>
              <a:t>briefing</a:t>
            </a:r>
            <a:r>
              <a:rPr b="0" sz="1400">
                <a:solidFill>
                  <a:srgbClr val="F2F2F2"/>
                </a:solidFill>
                <a:latin typeface="Arial"/>
              </a:rPr>
              <a:t>, nu un data dump — te duce de la ce, la de ce, la ce facem.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 · CELE TREI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Findings → Insights →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Zona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Întrebarea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Ce pui la noi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1. Findings (ce s-a întâmplat)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Care e faptul?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KPI-urile din L28: Revenue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1.126.418,50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, −14,9%, valea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2. Insights (de ce)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Care e cauza?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Accessories −55,9%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(sursa nouă) + golul de campanie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3. Recommendations (ce facem)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Care e decizia?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Reaprovizionare + campanie pe SMS/Google/Facebook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Plus, deasupra tuturor: </a:t>
            </a:r>
            <a:r>
              <a:rPr b="1" sz="1300">
                <a:solidFill>
                  <a:srgbClr val="F2F2F2"/>
                </a:solidFill>
                <a:latin typeface="Arial"/>
              </a:rPr>
              <a:t>un control</a:t>
            </a:r>
            <a:r>
              <a:rPr b="0" sz="1300">
                <a:solidFill>
                  <a:srgbClr val="F2F2F2"/>
                </a:solidFill>
                <a:latin typeface="Arial"/>
              </a:rPr>
              <a:t> (dată / oraș) — publicul poate verifica singur, nu doar privi.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«Vineri e board-ul — un dashboard care BRIEFEAZĂ»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6700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„Vineri prezint septembrie în fața board-ului. Dashboard-ul tău e viu, super. Dar board-ul are 15 minute și zero răbdare pentru grafice. Vreau un dashboard care </a:t>
            </a:r>
            <a:r>
              <a:rPr b="1" sz="1500">
                <a:solidFill>
                  <a:srgbClr val="F2F2F2"/>
                </a:solidFill>
                <a:latin typeface="Arial"/>
              </a:rPr>
              <a:t>spune povestea</a:t>
            </a:r>
            <a:r>
              <a:rPr b="0" sz="1500">
                <a:solidFill>
                  <a:srgbClr val="F2F2F2"/>
                </a:solidFill>
                <a:latin typeface="Arial"/>
              </a:rPr>
              <a:t>: ce s-a întâmplat, </a:t>
            </a:r>
            <a:r>
              <a:rPr b="1" sz="1500">
                <a:solidFill>
                  <a:srgbClr val="F2F2F2"/>
                </a:solidFill>
                <a:latin typeface="Arial"/>
              </a:rPr>
              <a:t>de ce</a:t>
            </a:r>
            <a:r>
              <a:rPr b="0" sz="1500">
                <a:solidFill>
                  <a:srgbClr val="F2F2F2"/>
                </a:solidFill>
                <a:latin typeface="Arial"/>
              </a:rPr>
              <a:t>, și </a:t>
            </a:r>
            <a:r>
              <a:rPr b="1" sz="1500">
                <a:solidFill>
                  <a:srgbClr val="F2F2F2"/>
                </a:solidFill>
                <a:latin typeface="Arial"/>
              </a:rPr>
              <a:t>ce facem</a:t>
            </a:r>
            <a:r>
              <a:rPr b="0" sz="1500">
                <a:solidFill>
                  <a:srgbClr val="F2F2F2"/>
                </a:solidFill>
                <a:latin typeface="Arial"/>
              </a:rPr>
              <a:t> — în ordinea asta. Și pune și </a:t>
            </a:r>
            <a:r>
              <a:rPr b="1" sz="1500">
                <a:solidFill>
                  <a:srgbClr val="F2F2F2"/>
                </a:solidFill>
                <a:latin typeface="Arial"/>
              </a:rPr>
              <a:t>cauza</a:t>
            </a:r>
            <a:r>
              <a:rPr b="0" sz="1500">
                <a:solidFill>
                  <a:srgbClr val="F2F2F2"/>
                </a:solidFill>
                <a:latin typeface="Arial"/>
              </a:rPr>
              <a:t> pe el — Accessories. Un dashboard care </a:t>
            </a:r>
            <a:r>
              <a:rPr b="1" sz="1500">
                <a:solidFill>
                  <a:srgbClr val="F2F2F2"/>
                </a:solidFill>
                <a:latin typeface="Arial"/>
              </a:rPr>
              <a:t>briefează</a:t>
            </a:r>
            <a:r>
              <a:rPr b="0" sz="1500">
                <a:solidFill>
                  <a:srgbClr val="F2F2F2"/>
                </a:solidFill>
                <a:latin typeface="Arial"/>
              </a:rPr>
              <a:t>, nu unul care aruncă cu date.”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02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Deci nu mai construiești piese — </a:t>
            </a:r>
            <a:r>
              <a:rPr b="1" sz="1500">
                <a:solidFill>
                  <a:srgbClr val="F2F2F2"/>
                </a:solidFill>
                <a:latin typeface="Arial"/>
              </a:rPr>
              <a:t>organizezi o poveste</a:t>
            </a:r>
            <a:r>
              <a:rPr b="0" sz="1500">
                <a:solidFill>
                  <a:srgbClr val="F2F2F2"/>
                </a:solidFill>
                <a:latin typeface="Arial"/>
              </a:rPr>
              <a:t>. Iei dashboard-ul din L28 și îl duci de la „viu” la „</a:t>
            </a:r>
            <a:r>
              <a:rPr b="1" sz="1500">
                <a:solidFill>
                  <a:srgbClr val="F2F2F2"/>
                </a:solidFill>
                <a:latin typeface="Arial"/>
              </a:rPr>
              <a:t>comunică</a:t>
            </a:r>
            <a:r>
              <a:rPr b="0" sz="1500">
                <a:solidFill>
                  <a:srgbClr val="F2F2F2"/>
                </a:solidFill>
                <a:latin typeface="Arial"/>
              </a:rPr>
              <a:t>”: de la ce, la de ce, la ce facem.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 (a făcut un data dump)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a pus pe o pagină </a:t>
            </a:r>
            <a:r>
              <a:rPr b="1" sz="1500">
                <a:solidFill>
                  <a:srgbClr val="F2F2F2"/>
                </a:solidFill>
                <a:latin typeface="Arial"/>
              </a:rPr>
              <a:t>15 grafice</a:t>
            </a:r>
            <a:r>
              <a:rPr b="0" sz="1500">
                <a:solidFill>
                  <a:srgbClr val="F2F2F2"/>
                </a:solidFill>
                <a:latin typeface="Arial"/>
              </a:rPr>
              <a:t>: Revenue pe lună, pe oraș, pe metodă, pe canal, pe loialitate, pe categorie, pe regiune, comenzi pe zi, AOV pe magazin… „Uite câte am arătat!”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Greșit. Board-ul s-a uitat 5 secunde: „Deci… ce s-a întâmplat, și ce vrei să facem?” Pagina arăta </a:t>
            </a:r>
            <a:r>
              <a:rPr b="1" sz="1400">
                <a:solidFill>
                  <a:srgbClr val="F2F2F2"/>
                </a:solidFill>
                <a:latin typeface="Arial"/>
              </a:rPr>
              <a:t>totul</a:t>
            </a:r>
            <a:r>
              <a:rPr b="0" sz="1400">
                <a:solidFill>
                  <a:srgbClr val="F2F2F2"/>
                </a:solidFill>
                <a:latin typeface="Arial"/>
              </a:rPr>
              <a:t>, deci nu accentua </a:t>
            </a:r>
            <a:r>
              <a:rPr b="1" sz="1400">
                <a:solidFill>
                  <a:srgbClr val="F2F2F2"/>
                </a:solidFill>
                <a:latin typeface="Arial"/>
              </a:rPr>
              <a:t>nimic</a:t>
            </a:r>
            <a:r>
              <a:rPr b="0" sz="1400">
                <a:solidFill>
                  <a:srgbClr val="F2F2F2"/>
                </a:solidFill>
                <a:latin typeface="Arial"/>
              </a:rPr>
              <a:t>. Fără poveste și fără recomandare, 15 grafice sunt un </a:t>
            </a:r>
            <a:r>
              <a:rPr b="1" sz="1400">
                <a:solidFill>
                  <a:srgbClr val="F2F2F2"/>
                </a:solidFill>
                <a:latin typeface="Arial"/>
              </a:rPr>
              <a:t>data dump</a:t>
            </a:r>
            <a:r>
              <a:rPr b="0" sz="1400">
                <a:solidFill>
                  <a:srgbClr val="F2F2F2"/>
                </a:solidFill>
                <a:latin typeface="Arial"/>
              </a:rPr>
              <a:t>: multă muncă, zero mesaj.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briefing, nu un data dump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29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Doi analiști intră la board. Primul (Ioana) pune pe masă </a:t>
            </a:r>
            <a:r>
              <a:rPr b="1" sz="1500">
                <a:solidFill>
                  <a:srgbClr val="F2F2F2"/>
                </a:solidFill>
                <a:latin typeface="Arial"/>
              </a:rPr>
              <a:t>20 de pagini</a:t>
            </a:r>
            <a:r>
              <a:rPr b="0" sz="1500">
                <a:solidFill>
                  <a:srgbClr val="F2F2F2"/>
                </a:solidFill>
                <a:latin typeface="Arial"/>
              </a:rPr>
              <a:t>: „aici e tot ce am găsit”. Al doilea intră cu </a:t>
            </a:r>
            <a:r>
              <a:rPr b="1" sz="1500">
                <a:solidFill>
                  <a:srgbClr val="F2F2F2"/>
                </a:solidFill>
                <a:latin typeface="Arial"/>
              </a:rPr>
              <a:t>o pagină</a:t>
            </a:r>
            <a:r>
              <a:rPr b="0" sz="1500">
                <a:solidFill>
                  <a:srgbClr val="F2F2F2"/>
                </a:solidFill>
                <a:latin typeface="Arial"/>
              </a:rPr>
              <a:t>: „Septembrie a scăzut </a:t>
            </a:r>
            <a:r>
              <a:rPr b="1" sz="1500">
                <a:solidFill>
                  <a:srgbClr val="F2F2F2"/>
                </a:solidFill>
                <a:latin typeface="Arial"/>
              </a:rPr>
              <a:t>14,9%</a:t>
            </a:r>
            <a:r>
              <a:rPr b="0" sz="1500">
                <a:solidFill>
                  <a:srgbClr val="F2F2F2"/>
                </a:solidFill>
                <a:latin typeface="Arial"/>
              </a:rPr>
              <a:t> (ce). Cauza e </a:t>
            </a:r>
            <a:r>
              <a:rPr b="1" sz="1500">
                <a:solidFill>
                  <a:srgbClr val="F2F2F2"/>
                </a:solidFill>
                <a:latin typeface="Arial"/>
              </a:rPr>
              <a:t>Accessories −55,9%</a:t>
            </a:r>
            <a:r>
              <a:rPr b="0" sz="1500">
                <a:solidFill>
                  <a:srgbClr val="F2F2F2"/>
                </a:solidFill>
                <a:latin typeface="Arial"/>
              </a:rPr>
              <a:t>, din stoc epuizat și zero campanie (de ce). Recomand </a:t>
            </a:r>
            <a:r>
              <a:rPr b="1" sz="1500">
                <a:solidFill>
                  <a:srgbClr val="F2F2F2"/>
                </a:solidFill>
                <a:latin typeface="Arial"/>
              </a:rPr>
              <a:t>reaprovizionare + campanie</a:t>
            </a:r>
            <a:r>
              <a:rPr b="0" sz="1500">
                <a:solidFill>
                  <a:srgbClr val="F2F2F2"/>
                </a:solidFill>
                <a:latin typeface="Arial"/>
              </a:rPr>
              <a:t> (ce facem). Întrebări?” Care convinge?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85841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Al doilea — fiindcă </a:t>
            </a:r>
            <a:r>
              <a:rPr b="1" sz="1400">
                <a:solidFill>
                  <a:srgbClr val="F2F2F2"/>
                </a:solidFill>
                <a:latin typeface="Arial"/>
              </a:rPr>
              <a:t>a interpretat</a:t>
            </a:r>
            <a:r>
              <a:rPr b="0" sz="1400">
                <a:solidFill>
                  <a:srgbClr val="F2F2F2"/>
                </a:solidFill>
                <a:latin typeface="Arial"/>
              </a:rPr>
              <a:t> datele pentru ei și le-a dat o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. Un dashboard care comunică e al doilea analist, pe o pagină: </a:t>
            </a:r>
            <a:r>
              <a:rPr b="1" sz="1400">
                <a:solidFill>
                  <a:srgbClr val="F2F2F2"/>
                </a:solidFill>
                <a:latin typeface="Arial"/>
              </a:rPr>
              <a:t>Findings → Insights → Recommendations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DOUĂ NOȚIUNI-CHEIE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Interpretezi, nu vizualizezi · design pentru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Interpretezi, nu doar vizualizezi.</a:t>
            </a:r>
            <a:r>
              <a:rPr b="0" sz="1500">
                <a:solidFill>
                  <a:srgbClr val="F2F2F2"/>
                </a:solidFill>
                <a:latin typeface="Arial"/>
              </a:rPr>
              <a:t> Un grafic e un fapt; un </a:t>
            </a:r>
            <a:r>
              <a:rPr b="1" sz="1500">
                <a:solidFill>
                  <a:srgbClr val="F2F2F2"/>
                </a:solidFill>
                <a:latin typeface="Arial"/>
              </a:rPr>
              <a:t>insight</a:t>
            </a:r>
            <a:r>
              <a:rPr b="0" sz="1500">
                <a:solidFill>
                  <a:srgbClr val="F2F2F2"/>
                </a:solidFill>
                <a:latin typeface="Arial"/>
              </a:rPr>
              <a:t> e „ce înseamnă faptul”; o </a:t>
            </a:r>
            <a:r>
              <a:rPr b="1" sz="1500">
                <a:solidFill>
                  <a:srgbClr val="F2F2F2"/>
                </a:solidFill>
                <a:latin typeface="Arial"/>
              </a:rPr>
              <a:t>recomandare</a:t>
            </a:r>
            <a:r>
              <a:rPr b="0" sz="1500">
                <a:solidFill>
                  <a:srgbClr val="F2F2F2"/>
                </a:solidFill>
                <a:latin typeface="Arial"/>
              </a:rPr>
              <a:t> e „ce facem cu el”. Un dashboard care comunică le are pe toate trei, în ordine.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Design pentru public.</a:t>
            </a:r>
            <a:r>
              <a:rPr b="0" sz="1500">
                <a:solidFill>
                  <a:srgbClr val="F2F2F2"/>
                </a:solidFill>
                <a:latin typeface="Arial"/>
              </a:rPr>
              <a:t> Board-ul citește de sus-stânga în jos-dreapta, în 30 de secunde. Ce contează sus, cauza la mijloc, decizia jos. Ce nu susține povestea — </a:t>
            </a:r>
            <a:r>
              <a:rPr b="1" sz="1500">
                <a:solidFill>
                  <a:srgbClr val="F2F2F2"/>
                </a:solidFill>
                <a:latin typeface="Arial"/>
              </a:rPr>
              <a:t>scoți</a:t>
            </a:r>
            <a:r>
              <a:rPr b="0" sz="1500">
                <a:solidFill>
                  <a:srgbClr val="F2F2F2"/>
                </a:solidFill>
                <a:latin typeface="Arial"/>
              </a:rPr>
              <a:t> (spre deosebire de Ioana).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Adaugi a doua sursă (nivel-articol)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500">
                <a:solidFill>
                  <a:srgbClr val="F2F2F2"/>
                </a:solidFill>
                <a:latin typeface="Arial"/>
              </a:rPr>
              <a:t>Pas 1 — Adaugi a doua sursă.</a:t>
            </a:r>
            <a:r>
              <a:rPr b="0" sz="1500">
                <a:solidFill>
                  <a:srgbClr val="F2F2F2"/>
                </a:solidFill>
                <a:latin typeface="Arial"/>
              </a:rPr>
              <a:t> În raport: </a:t>
            </a:r>
            <a:r>
              <a:rPr sz="1500">
                <a:solidFill>
                  <a:srgbClr val="FFA24E"/>
                </a:solidFill>
                <a:latin typeface="Consolas"/>
              </a:rPr>
              <a:t>Resource → Manage added data sources → Add a data source</a:t>
            </a:r>
            <a:r>
              <a:rPr b="0" sz="1500">
                <a:solidFill>
                  <a:srgbClr val="F2F2F2"/>
                </a:solidFill>
                <a:latin typeface="Arial"/>
              </a:rPr>
              <a:t> → Google Sheets → </a:t>
            </a:r>
            <a:r>
              <a:rPr sz="1500">
                <a:solidFill>
                  <a:srgbClr val="FFA24E"/>
                </a:solidFill>
                <a:latin typeface="Consolas"/>
              </a:rPr>
              <a:t>order_items_flat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sz="1500">
                <a:solidFill>
                  <a:srgbClr val="FFA24E"/>
                </a:solidFill>
                <a:latin typeface="Consolas"/>
              </a:rPr>
              <a:t>Add</a:t>
            </a:r>
            <a:r>
              <a:rPr b="0" sz="1500">
                <a:solidFill>
                  <a:srgbClr val="F2F2F2"/>
                </a:solidFill>
                <a:latin typeface="Arial"/>
              </a:rPr>
              <a:t>. Câmpuri noi: </a:t>
            </a:r>
            <a:r>
              <a:rPr sz="1500">
                <a:solidFill>
                  <a:srgbClr val="FFA24E"/>
                </a:solidFill>
                <a:latin typeface="Consolas"/>
              </a:rPr>
              <a:t>Categorie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Cantitate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Vanzari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✅ </a:t>
            </a:r>
            <a:r>
              <a:rPr sz="1400">
                <a:solidFill>
                  <a:srgbClr val="FFA24E"/>
                </a:solidFill>
                <a:latin typeface="Consolas"/>
              </a:rPr>
              <a:t>Vanzari</a:t>
            </a:r>
            <a:r>
              <a:rPr b="0" sz="1400">
                <a:solidFill>
                  <a:srgbClr val="F2F2F2"/>
                </a:solidFill>
                <a:latin typeface="Arial"/>
              </a:rPr>
              <a:t> e </a:t>
            </a:r>
            <a:r>
              <a:rPr b="1" sz="1400">
                <a:solidFill>
                  <a:srgbClr val="F2F2F2"/>
                </a:solidFill>
                <a:latin typeface="Arial"/>
              </a:rPr>
              <a:t>număr</a:t>
            </a:r>
            <a:r>
              <a:rPr b="0" sz="1400">
                <a:solidFill>
                  <a:srgbClr val="F2F2F2"/>
                </a:solidFill>
                <a:latin typeface="Arial"/>
              </a:rPr>
              <a:t> (Sum), </a:t>
            </a:r>
            <a:r>
              <a:rPr sz="1400">
                <a:solidFill>
                  <a:srgbClr val="FFA24E"/>
                </a:solidFill>
                <a:latin typeface="Consolas"/>
              </a:rPr>
              <a:t>Categorie</a:t>
            </a:r>
            <a:r>
              <a:rPr b="0" sz="1400">
                <a:solidFill>
                  <a:srgbClr val="F2F2F2"/>
                </a:solidFill>
                <a:latin typeface="Arial"/>
              </a:rPr>
              <a:t> e text (dimensiune). Notă: </a:t>
            </a:r>
            <a:r>
              <a:rPr sz="1400">
                <a:solidFill>
                  <a:srgbClr val="FFA24E"/>
                </a:solidFill>
                <a:latin typeface="Consolas"/>
              </a:rPr>
              <a:t>Vanzari</a:t>
            </a:r>
            <a:r>
              <a:rPr b="0" sz="1400">
                <a:solidFill>
                  <a:srgbClr val="F2F2F2"/>
                </a:solidFill>
                <a:latin typeface="Arial"/>
              </a:rPr>
              <a:t> e </a:t>
            </a:r>
            <a:r>
              <a:rPr b="1" sz="1400">
                <a:solidFill>
                  <a:srgbClr val="F2F2F2"/>
                </a:solidFill>
                <a:latin typeface="Arial"/>
              </a:rPr>
              <a:t>gross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sz="1400">
                <a:solidFill>
                  <a:srgbClr val="FFA24E"/>
                </a:solidFill>
                <a:latin typeface="Consolas"/>
              </a:rPr>
              <a:t>39.810.596,57</a:t>
            </a:r>
            <a:r>
              <a:rPr b="0" sz="1400">
                <a:solidFill>
                  <a:srgbClr val="F2F2F2"/>
                </a:solidFill>
                <a:latin typeface="Arial"/>
              </a:rPr>
              <a:t> pe an, față de </a:t>
            </a:r>
            <a:r>
              <a:rPr sz="1400">
                <a:solidFill>
                  <a:srgbClr val="FFA24E"/>
                </a:solidFill>
                <a:latin typeface="Consolas"/>
              </a:rPr>
              <a:t>Revenue</a:t>
            </a:r>
            <a:r>
              <a:rPr b="0" sz="1400">
                <a:solidFill>
                  <a:srgbClr val="F2F2F2"/>
                </a:solidFill>
                <a:latin typeface="Arial"/>
              </a:rPr>
              <a:t> net </a:t>
            </a:r>
            <a:r>
              <a:rPr sz="1400">
                <a:solidFill>
                  <a:srgbClr val="FFA24E"/>
                </a:solidFill>
                <a:latin typeface="Consolas"/>
              </a:rPr>
              <a:t>37.878.974,89</a:t>
            </a:r>
            <a:r>
              <a:rPr b="0" sz="1400">
                <a:solidFill>
                  <a:srgbClr val="F2F2F2"/>
                </a:solidFill>
                <a:latin typeface="Arial"/>
              </a:rPr>
              <a:t> din prima sursă (diferența = discounturile, ecou L16/L23).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2 (INSIGHTS)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Cauza pe categorie — Accessories −55,9%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500">
                <a:solidFill>
                  <a:srgbClr val="F2F2F2"/>
                </a:solidFill>
                <a:latin typeface="Arial"/>
              </a:rPr>
              <a:t>Pas 2 — Zona INSIGHTS.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Add a chart → Bar chart</a:t>
            </a:r>
            <a:r>
              <a:rPr b="0" sz="1500">
                <a:solidFill>
                  <a:srgbClr val="F2F2F2"/>
                </a:solidFill>
                <a:latin typeface="Arial"/>
              </a:rPr>
              <a:t>, sursa </a:t>
            </a:r>
            <a:r>
              <a:rPr sz="1500">
                <a:solidFill>
                  <a:srgbClr val="FFA24E"/>
                </a:solidFill>
                <a:latin typeface="Consolas"/>
              </a:rPr>
              <a:t>order_items_flat</a:t>
            </a:r>
            <a:r>
              <a:rPr b="0" sz="1500">
                <a:solidFill>
                  <a:srgbClr val="F2F2F2"/>
                </a:solidFill>
                <a:latin typeface="Arial"/>
              </a:rPr>
              <a:t>; dimensiune </a:t>
            </a:r>
            <a:r>
              <a:rPr sz="1500">
                <a:solidFill>
                  <a:srgbClr val="FFA24E"/>
                </a:solidFill>
                <a:latin typeface="Consolas"/>
              </a:rPr>
              <a:t>Categorie</a:t>
            </a:r>
            <a:r>
              <a:rPr b="0" sz="1500">
                <a:solidFill>
                  <a:srgbClr val="F2F2F2"/>
                </a:solidFill>
                <a:latin typeface="Arial"/>
              </a:rPr>
              <a:t>, măsură </a:t>
            </a:r>
            <a:r>
              <a:rPr sz="1500">
                <a:solidFill>
                  <a:srgbClr val="FFA24E"/>
                </a:solidFill>
                <a:latin typeface="Consolas"/>
              </a:rPr>
              <a:t>Vanzari</a:t>
            </a:r>
            <a:r>
              <a:rPr b="0" sz="1500">
                <a:solidFill>
                  <a:srgbClr val="F2F2F2"/>
                </a:solidFill>
                <a:latin typeface="Arial"/>
              </a:rPr>
              <a:t> (Sum). Apoi un al doilea grafic, </a:t>
            </a:r>
            <a:r>
              <a:rPr b="1" sz="1500">
                <a:solidFill>
                  <a:srgbClr val="F2F2F2"/>
                </a:solidFill>
                <a:latin typeface="Arial"/>
              </a:rPr>
              <a:t>Accessories august vs septembrie</a:t>
            </a:r>
            <a:r>
              <a:rPr b="0" sz="1500">
                <a:solidFill>
                  <a:srgbClr val="F2F2F2"/>
                </a:solidFill>
                <a:latin typeface="Arial"/>
              </a:rPr>
              <a:t> (filtru </a:t>
            </a:r>
            <a:r>
              <a:rPr sz="1500">
                <a:solidFill>
                  <a:srgbClr val="FFA24E"/>
                </a:solidFill>
                <a:latin typeface="Consolas"/>
              </a:rPr>
              <a:t>Categorie = Accessories</a:t>
            </a:r>
            <a:r>
              <a:rPr b="0" sz="1500">
                <a:solidFill>
                  <a:srgbClr val="F2F2F2"/>
                </a:solidFill>
                <a:latin typeface="Arial"/>
              </a:rPr>
              <a:t>, dimensiune </a:t>
            </a:r>
            <a:r>
              <a:rPr sz="1500">
                <a:solidFill>
                  <a:srgbClr val="FFA24E"/>
                </a:solidFill>
                <a:latin typeface="Consolas"/>
              </a:rPr>
              <a:t>Luna</a:t>
            </a:r>
            <a:r>
              <a:rPr b="0" sz="15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300">
                <a:solidFill>
                  <a:srgbClr val="F2F2F2"/>
                </a:solidFill>
                <a:latin typeface="Arial"/>
              </a:rPr>
              <a:t>`194.213,42` → `85.585,05` = −55,9%</a:t>
            </a:r>
            <a:r>
              <a:rPr b="0" sz="1300">
                <a:solidFill>
                  <a:srgbClr val="F2F2F2"/>
                </a:solidFill>
                <a:latin typeface="Arial"/>
              </a:rPr>
              <a:t> (~46% din scăderea netă a lunii). A doua, Audio (</a:t>
            </a:r>
            <a:r>
              <a:rPr sz="1300">
                <a:solidFill>
                  <a:srgbClr val="FFA24E"/>
                </a:solidFill>
                <a:latin typeface="Consolas"/>
              </a:rPr>
              <a:t>52.079,00</a:t>
            </a:r>
            <a:r>
              <a:rPr b="0" sz="1300">
                <a:solidFill>
                  <a:srgbClr val="F2F2F2"/>
                </a:solidFill>
                <a:latin typeface="Arial"/>
              </a:rPr>
              <a:t> → </a:t>
            </a:r>
            <a:r>
              <a:rPr sz="1300">
                <a:solidFill>
                  <a:srgbClr val="FFA24E"/>
                </a:solidFill>
                <a:latin typeface="Consolas"/>
              </a:rPr>
              <a:t>25.591,05</a:t>
            </a:r>
            <a:r>
              <a:rPr b="0" sz="1300">
                <a:solidFill>
                  <a:srgbClr val="F2F2F2"/>
                </a:solidFill>
                <a:latin typeface="Arial"/>
              </a:rPr>
              <a:t> = −50,9%), mult mai mică absolut. </a:t>
            </a:r>
            <a:r>
              <a:rPr b="1" sz="1300">
                <a:solidFill>
                  <a:srgbClr val="F2F2F2"/>
                </a:solidFill>
                <a:latin typeface="Arial"/>
              </a:rPr>
              <a:t>Ăsta e „de ce”-ul</a:t>
            </a:r>
            <a:r>
              <a:rPr b="0" sz="1300">
                <a:solidFill>
                  <a:srgbClr val="F2F2F2"/>
                </a:solidFill>
                <a:latin typeface="Arial"/>
              </a:rPr>
              <a:t>, acum vizibil pe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Ordonezi pagina: Findings → Insights →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29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500">
                <a:solidFill>
                  <a:srgbClr val="F2F2F2"/>
                </a:solidFill>
                <a:latin typeface="Arial"/>
              </a:rPr>
              <a:t>Pas 3 — Ordonezi pagina.</a:t>
            </a:r>
            <a:r>
              <a:rPr b="0" sz="1500">
                <a:solidFill>
                  <a:srgbClr val="F2F2F2"/>
                </a:solidFill>
                <a:latin typeface="Arial"/>
              </a:rPr>
              <a:t> Nu adaugi piese la întâmplare — le </a:t>
            </a:r>
            <a:r>
              <a:rPr b="1" sz="1500">
                <a:solidFill>
                  <a:srgbClr val="F2F2F2"/>
                </a:solidFill>
                <a:latin typeface="Arial"/>
              </a:rPr>
              <a:t>așezi</a:t>
            </a:r>
            <a:r>
              <a:rPr b="0" sz="1500">
                <a:solidFill>
                  <a:srgbClr val="F2F2F2"/>
                </a:solidFill>
                <a:latin typeface="Arial"/>
              </a:rPr>
              <a:t> în trei benzi: </a:t>
            </a:r>
            <a:r>
              <a:rPr b="1" sz="1500">
                <a:solidFill>
                  <a:srgbClr val="F2F2F2"/>
                </a:solidFill>
                <a:latin typeface="Arial"/>
              </a:rPr>
              <a:t>sus Findings</a:t>
            </a:r>
            <a:r>
              <a:rPr b="0" sz="1500">
                <a:solidFill>
                  <a:srgbClr val="F2F2F2"/>
                </a:solidFill>
                <a:latin typeface="Arial"/>
              </a:rPr>
              <a:t> (KPI-urile din L28 + valea lunară — </a:t>
            </a:r>
            <a:r>
              <a:rPr i="1" sz="1500">
                <a:solidFill>
                  <a:srgbClr val="F2F2F2"/>
                </a:solidFill>
                <a:latin typeface="Arial"/>
              </a:rPr>
              <a:t>ce s-a întâmplat</a:t>
            </a:r>
            <a:r>
              <a:rPr b="0" sz="1500">
                <a:solidFill>
                  <a:srgbClr val="F2F2F2"/>
                </a:solidFill>
                <a:latin typeface="Arial"/>
              </a:rPr>
              <a:t>); </a:t>
            </a:r>
            <a:r>
              <a:rPr b="1" sz="1500">
                <a:solidFill>
                  <a:srgbClr val="F2F2F2"/>
                </a:solidFill>
                <a:latin typeface="Arial"/>
              </a:rPr>
              <a:t>la mijloc Insights</a:t>
            </a:r>
            <a:r>
              <a:rPr b="0" sz="1500">
                <a:solidFill>
                  <a:srgbClr val="F2F2F2"/>
                </a:solidFill>
                <a:latin typeface="Arial"/>
              </a:rPr>
              <a:t> (graficul Accessories −55,9% + o notă „0 campanii în septembrie” — </a:t>
            </a:r>
            <a:r>
              <a:rPr i="1" sz="1500">
                <a:solidFill>
                  <a:srgbClr val="F2F2F2"/>
                </a:solidFill>
                <a:latin typeface="Arial"/>
              </a:rPr>
              <a:t>de ce</a:t>
            </a:r>
            <a:r>
              <a:rPr b="0" sz="1500">
                <a:solidFill>
                  <a:srgbClr val="F2F2F2"/>
                </a:solidFill>
                <a:latin typeface="Arial"/>
              </a:rPr>
              <a:t>); </a:t>
            </a:r>
            <a:r>
              <a:rPr b="1" sz="1500">
                <a:solidFill>
                  <a:srgbClr val="F2F2F2"/>
                </a:solidFill>
                <a:latin typeface="Arial"/>
              </a:rPr>
              <a:t>jos Recommendations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85841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✅ Testul: poți citi dashboard-ul cu voce tare în </a:t>
            </a:r>
            <a:r>
              <a:rPr b="1" sz="1400">
                <a:solidFill>
                  <a:srgbClr val="F2F2F2"/>
                </a:solidFill>
                <a:latin typeface="Arial"/>
              </a:rPr>
              <a:t>trei propoziții</a:t>
            </a:r>
            <a:r>
              <a:rPr b="0" sz="1400">
                <a:solidFill>
                  <a:srgbClr val="F2F2F2"/>
                </a:solidFill>
                <a:latin typeface="Arial"/>
              </a:rPr>
              <a:t> (ce / de ce / ce facem). Dacă nu poți, ceva e pe locul greșit.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4 (RECOMMENDATIONS)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Panoul de decizie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365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300">
                <a:solidFill>
                  <a:srgbClr val="F2F2F2"/>
                </a:solidFill>
                <a:latin typeface="Arial"/>
              </a:rPr>
              <a:t>Recomandare:</a:t>
            </a:r>
            <a:r>
              <a:rPr b="0" sz="1300">
                <a:solidFill>
                  <a:srgbClr val="F2F2F2"/>
                </a:solidFill>
                <a:latin typeface="Arial"/>
              </a:rPr>
              <a:t> (1) reaprovizionează Accessories premium (produsele epuizate din septembrie); (2) rulează o campanie pe SMS/Google/Facebook (canalele care aduc cel mai mult — L26). </a:t>
            </a:r>
            <a:r>
              <a:rPr b="1" sz="1300">
                <a:solidFill>
                  <a:srgbClr val="F2F2F2"/>
                </a:solidFill>
                <a:latin typeface="Arial"/>
              </a:rPr>
              <a:t>Impact așteptat:</a:t>
            </a:r>
            <a:r>
              <a:rPr b="0" sz="1300">
                <a:solidFill>
                  <a:srgbClr val="F2F2F2"/>
                </a:solidFill>
                <a:latin typeface="Arial"/>
              </a:rPr>
              <a:t> revenirea Accessories (ca octombrie, </a:t>
            </a:r>
            <a:r>
              <a:rPr b="1" sz="1300">
                <a:solidFill>
                  <a:srgbClr val="F2F2F2"/>
                </a:solidFill>
                <a:latin typeface="Arial"/>
              </a:rPr>
              <a:t>+154,4%</a:t>
            </a:r>
            <a:r>
              <a:rPr b="0" sz="1300">
                <a:solidFill>
                  <a:srgbClr val="F2F2F2"/>
                </a:solidFill>
                <a:latin typeface="Arial"/>
              </a:rPr>
              <a:t> când stocul a revenit).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854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O recomandare clară, cu </a:t>
            </a:r>
            <a:r>
              <a:rPr b="1" sz="1500">
                <a:solidFill>
                  <a:srgbClr val="F2F2F2"/>
                </a:solidFill>
                <a:latin typeface="Arial"/>
              </a:rPr>
              <a:t>pași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b="1" sz="1500">
                <a:solidFill>
                  <a:srgbClr val="F2F2F2"/>
                </a:solidFill>
                <a:latin typeface="Arial"/>
              </a:rPr>
              <a:t>impact</a:t>
            </a:r>
            <a:r>
              <a:rPr b="0" sz="1500">
                <a:solidFill>
                  <a:srgbClr val="F2F2F2"/>
                </a:solidFill>
                <a:latin typeface="Arial"/>
              </a:rPr>
              <a:t> — nu „ar trebui să ne uităm”. ✅ Spune </a:t>
            </a:r>
            <a:r>
              <a:rPr b="1" sz="1500">
                <a:solidFill>
                  <a:srgbClr val="F2F2F2"/>
                </a:solidFill>
                <a:latin typeface="Arial"/>
              </a:rPr>
              <a:t>ce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b="1" sz="1500">
                <a:solidFill>
                  <a:srgbClr val="F2F2F2"/>
                </a:solidFill>
                <a:latin typeface="Arial"/>
              </a:rPr>
              <a:t>de ce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b="1" sz="1500">
                <a:solidFill>
                  <a:srgbClr val="F2F2F2"/>
                </a:solidFill>
                <a:latin typeface="Arial"/>
              </a:rPr>
              <a:t>rezultatul așteptat</a:t>
            </a:r>
            <a:r>
              <a:rPr b="0" sz="1500">
                <a:solidFill>
                  <a:srgbClr val="F2F2F2"/>
                </a:solidFill>
                <a:latin typeface="Arial"/>
              </a:rPr>
              <a:t>. Ăsta e ce lipsea la data dump-ul Ioanei.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PAȘII 5–6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Interactivitate + publici (același link)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500">
                <a:solidFill>
                  <a:srgbClr val="F2F2F2"/>
                </a:solidFill>
                <a:latin typeface="Arial"/>
              </a:rPr>
              <a:t>Pas 5 — Interactivitate.</a:t>
            </a:r>
            <a:r>
              <a:rPr b="0" sz="1500">
                <a:solidFill>
                  <a:srgbClr val="F2F2F2"/>
                </a:solidFill>
                <a:latin typeface="Arial"/>
              </a:rPr>
              <a:t> Sus pe pagină, </a:t>
            </a:r>
            <a:r>
              <a:rPr sz="1500">
                <a:solidFill>
                  <a:srgbClr val="FFA24E"/>
                </a:solidFill>
                <a:latin typeface="Consolas"/>
              </a:rPr>
              <a:t>Insert → Date range control</a:t>
            </a:r>
            <a:r>
              <a:rPr b="0" sz="1500">
                <a:solidFill>
                  <a:srgbClr val="F2F2F2"/>
                </a:solidFill>
                <a:latin typeface="Arial"/>
              </a:rPr>
              <a:t> (+ drop-down pe </a:t>
            </a:r>
            <a:r>
              <a:rPr sz="1500">
                <a:solidFill>
                  <a:srgbClr val="FFA24E"/>
                </a:solidFill>
                <a:latin typeface="Consolas"/>
              </a:rPr>
              <a:t>Oras</a:t>
            </a:r>
            <a:r>
              <a:rPr b="0" sz="1500">
                <a:solidFill>
                  <a:srgbClr val="F2F2F2"/>
                </a:solidFill>
                <a:latin typeface="Arial"/>
              </a:rPr>
              <a:t> din L28). Board-ul schimbă intervalul / orașul → tot dashboard-ul se filtrează. </a:t>
            </a:r>
            <a:r>
              <a:rPr b="1" sz="1500">
                <a:solidFill>
                  <a:srgbClr val="F2F2F2"/>
                </a:solidFill>
                <a:latin typeface="Arial"/>
              </a:rPr>
              <a:t>Board-ul nu doar privește — verifică singur.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Pas 6 — Publici.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sz="1400">
                <a:solidFill>
                  <a:srgbClr val="FFA24E"/>
                </a:solidFill>
                <a:latin typeface="Consolas"/>
              </a:rPr>
              <a:t>Share</a:t>
            </a:r>
            <a:r>
              <a:rPr b="0" sz="1400">
                <a:solidFill>
                  <a:srgbClr val="F2F2F2"/>
                </a:solidFill>
                <a:latin typeface="Arial"/>
              </a:rPr>
              <a:t> e deja pe „Anyone with the link → Viewer” din L28 — </a:t>
            </a:r>
            <a:r>
              <a:rPr b="1" sz="1400">
                <a:solidFill>
                  <a:srgbClr val="F2F2F2"/>
                </a:solidFill>
                <a:latin typeface="Arial"/>
              </a:rPr>
              <a:t>linkul rămâne același</a:t>
            </a:r>
            <a:r>
              <a:rPr b="0" sz="1400">
                <a:solidFill>
                  <a:srgbClr val="F2F2F2"/>
                </a:solidFill>
                <a:latin typeface="Arial"/>
              </a:rPr>
              <a:t>, dar acum dashboard-ul </a:t>
            </a:r>
            <a:r>
              <a:rPr b="1" sz="1400">
                <a:solidFill>
                  <a:srgbClr val="F2F2F2"/>
                </a:solidFill>
                <a:latin typeface="Arial"/>
              </a:rPr>
              <a:t>comunică</a:t>
            </a:r>
            <a:r>
              <a:rPr b="0" sz="1400">
                <a:solidFill>
                  <a:srgbClr val="F2F2F2"/>
                </a:solidFill>
                <a:latin typeface="Arial"/>
              </a:rPr>
              <a:t>. ✅ Deschide-l incognito: un străin înțelege povestea și decizia în 30 de secunde. </a:t>
            </a:r>
            <a:r>
              <a:rPr b="1" sz="1400">
                <a:solidFill>
                  <a:srgbClr val="F2F2F2"/>
                </a:solidFill>
                <a:latin typeface="Arial"/>
              </a:rPr>
              <a:t>Un briefing, nu un data dump.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 · 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de junior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Data dump</a:t>
            </a:r>
            <a:r>
              <a:rPr b="0" sz="1400">
                <a:solidFill>
                  <a:srgbClr val="F2F2F2"/>
                </a:solidFill>
                <a:latin typeface="Arial"/>
              </a:rPr>
              <a:t> — arăți tot, spui nimic (15 grafice, Ioana) → F → I → R; </a:t>
            </a:r>
            <a:r>
              <a:rPr b="1" sz="1400">
                <a:solidFill>
                  <a:srgbClr val="F2F2F2"/>
                </a:solidFill>
                <a:latin typeface="Arial"/>
              </a:rPr>
              <a:t>scoate</a:t>
            </a:r>
            <a:r>
              <a:rPr b="0" sz="1400">
                <a:solidFill>
                  <a:srgbClr val="F2F2F2"/>
                </a:solidFill>
                <a:latin typeface="Arial"/>
              </a:rPr>
              <a:t> ce nu susține povestea.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Fapt fără interpretare</a:t>
            </a:r>
            <a:r>
              <a:rPr b="0" sz="1400">
                <a:solidFill>
                  <a:srgbClr val="F2F2F2"/>
                </a:solidFill>
                <a:latin typeface="Arial"/>
              </a:rPr>
              <a:t> — pui graficul, dar nu spui </a:t>
            </a:r>
            <a:r>
              <a:rPr b="1" sz="1400">
                <a:solidFill>
                  <a:srgbClr val="F2F2F2"/>
                </a:solidFill>
                <a:latin typeface="Arial"/>
              </a:rPr>
              <a:t>de ce</a:t>
            </a:r>
            <a:r>
              <a:rPr b="0" sz="1400">
                <a:solidFill>
                  <a:srgbClr val="F2F2F2"/>
                </a:solidFill>
                <a:latin typeface="Arial"/>
              </a:rPr>
              <a:t> → lângă fapt, cauza în cuvinte (stoc + campanie) = un insight.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Fără recomandare</a:t>
            </a:r>
            <a:r>
              <a:rPr b="0" sz="1400">
                <a:solidFill>
                  <a:srgbClr val="F2F2F2"/>
                </a:solidFill>
                <a:latin typeface="Arial"/>
              </a:rPr>
              <a:t> — te oprești la „de ce” → o zonă Recommendations, jos: decizia, cu pași și impact.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Ordine haotică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grafice puse cum au venit → de sus în jos = ce → de ce → ce facem (testul: 3 propoziții).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dashboard-ul care comunică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dashboard care </a:t>
            </a:r>
            <a:r>
              <a:rPr b="1" sz="1400">
                <a:solidFill>
                  <a:srgbClr val="F2F2F2"/>
                </a:solidFill>
                <a:latin typeface="Arial"/>
              </a:rPr>
              <a:t>comunică</a:t>
            </a:r>
            <a:r>
              <a:rPr b="0" sz="1400">
                <a:solidFill>
                  <a:srgbClr val="F2F2F2"/>
                </a:solidFill>
                <a:latin typeface="Arial"/>
              </a:rPr>
              <a:t> duce de la </a:t>
            </a:r>
            <a:r>
              <a:rPr b="1" sz="1400">
                <a:solidFill>
                  <a:srgbClr val="F2F2F2"/>
                </a:solidFill>
                <a:latin typeface="Arial"/>
              </a:rPr>
              <a:t>Findings → Insights → Recommendations</a:t>
            </a:r>
            <a:r>
              <a:rPr b="0" sz="1400">
                <a:solidFill>
                  <a:srgbClr val="F2F2F2"/>
                </a:solidFill>
                <a:latin typeface="Arial"/>
              </a:rPr>
              <a:t> — ce, de ce, ce facem.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Interpretezi, nu doar vizualizezi</a:t>
            </a:r>
            <a:r>
              <a:rPr b="0" sz="1400">
                <a:solidFill>
                  <a:srgbClr val="F2F2F2"/>
                </a:solidFill>
                <a:latin typeface="Arial"/>
              </a:rPr>
              <a:t> — lângă fapt pui cauza (insight) și decizia (recomandare).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Design pentru public</a:t>
            </a:r>
            <a:r>
              <a:rPr b="0" sz="1400">
                <a:solidFill>
                  <a:srgbClr val="F2F2F2"/>
                </a:solidFill>
                <a:latin typeface="Arial"/>
              </a:rPr>
              <a:t> — ordinea paginii e povestea; scoți ce nu o susține (antidotul la data dump).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 doua sursă aduce </a:t>
            </a:r>
            <a:r>
              <a:rPr b="1" sz="1400">
                <a:solidFill>
                  <a:srgbClr val="F2F2F2"/>
                </a:solidFill>
                <a:latin typeface="Arial"/>
              </a:rPr>
              <a:t>cauza</a:t>
            </a:r>
            <a:r>
              <a:rPr b="0" sz="1400">
                <a:solidFill>
                  <a:srgbClr val="F2F2F2"/>
                </a:solidFill>
                <a:latin typeface="Arial"/>
              </a:rPr>
              <a:t> (Accessories −55,9%, pe categorie) — arăți simptomul </a:t>
            </a:r>
            <a:r>
              <a:rPr b="1" sz="1400">
                <a:solidFill>
                  <a:srgbClr val="F2F2F2"/>
                </a:solidFill>
                <a:latin typeface="Arial"/>
              </a:rPr>
              <a:t>și</a:t>
            </a:r>
            <a:r>
              <a:rPr b="0" sz="1400">
                <a:solidFill>
                  <a:srgbClr val="F2F2F2"/>
                </a:solidFill>
                <a:latin typeface="Arial"/>
              </a:rPr>
              <a:t> cauza.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MILESTONE: dashboard-ul din septembrie, care acum </a:t>
            </a:r>
            <a:r>
              <a:rPr b="1" sz="1300">
                <a:solidFill>
                  <a:srgbClr val="F2F2F2"/>
                </a:solidFill>
                <a:latin typeface="Arial"/>
              </a:rPr>
              <a:t>comunică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F → I → R, cu cauza din a doua sursă, gata de board. Punte → </a:t>
            </a:r>
            <a:r>
              <a:rPr b="1" sz="1300">
                <a:solidFill>
                  <a:srgbClr val="F2F2F2"/>
                </a:solidFill>
                <a:latin typeface="Arial"/>
              </a:rPr>
              <a:t>L30:</a:t>
            </a:r>
            <a:r>
              <a:rPr b="0" sz="1300">
                <a:solidFill>
                  <a:srgbClr val="F2F2F2"/>
                </a:solidFill>
                <a:latin typeface="Arial"/>
              </a:rPr>
              <a:t> îl </a:t>
            </a:r>
            <a:r>
              <a:rPr b="1" sz="1300">
                <a:solidFill>
                  <a:srgbClr val="F2F2F2"/>
                </a:solidFill>
                <a:latin typeface="Arial"/>
              </a:rPr>
              <a:t>prezinți</a:t>
            </a:r>
            <a:r>
              <a:rPr b="0" sz="1300">
                <a:solidFill>
                  <a:srgbClr val="F2F2F2"/>
                </a:solidFill>
                <a:latin typeface="Arial"/>
              </a:rPr>
              <a:t> executiv (BLUF, povestea, obiecțiile).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L29 · F → I → R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