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A șaptea zi de SQL. La L25 ai legat două-trei tabele cu JOIN — codul a devenit nume. Dar un JOIN nu înlocuiește nimic: e doar o piesă în plus. Azi le pui pe toate împreună — JOIN + WHERE + GROUP BY + HAVING + ORDER BY — într-o singură interogare completă, și legi tabele noi (campanii, clienți, angajați). E momentul în care SQL-ul tău devine un raport de analist. Baza RetailHub e deja încărcată.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Construiești peste L25. Acolo ai legat tabelele și codul a devenit nume. Azi pui degetul pe ideea că JOIN e doar o piesă — restul clauzelor rămân. Le combini într-un raport complet.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Enunță obiectivele. Ideea mare: JOIN adaugă tabele, restul rămâne neschimbat. Azi construiești primul raport complet, cu toate clauzele.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Tabelele noi de azi. Canalul e în campaigns (legi pe CampaignID); loialitatea în customers (CustomerID); poziția în employees (EmployeeID). Numele nu-i în orders — legi tabelul-satelit care-l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Contextul. Radu, de la Marketing, trage concluzia firească după golul din septembrie și cere pasul următor: ce canale aduc banii. Plus întrebarea de loialitate. Ambele cer un raport complet, pe mai multe tabele.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Cârligul. Ioana avea toate piesele, dar le-a înșirat cum i-au venit — JOIN la sfârșit. Eroare de sintaxă. Ordinea contează: JOIN vine imediat după FROM. Curiozitatea de azi: care e ordinea corectă a unui raport complet?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unică: JOIN e doar prima stație pe linia de asamblare. Aduce tabelul cu numele; restul clauzelor rămân exact ca la L20–L24. Nu înveți ceva nou despre WHERE/GROUP BY/HAVING — doar ai mai multe coloane.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Miezul de referință — scheletul complet. Ordinea e fixă: FROM+JOIN legi, WHERE filtrezi rânduri, GROUP BY grupezi, HAVING filtrezi grupuri, ORDER BY sortezi. JOIN imediat după FROM. Două reguli noi: JOIN după FROM; valoare → WHERE, agregat → HAVING.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 demonstrație: Revenue pe canal. JOIN campaigns aduce numele canalului; GROUP BY face un rând per canal. SMS primul, Email ultimul. INNER JOIN păstrează doar cele 4530 de comenzi cu campanie.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Vârful lecției — raportul complet. Legi (JOIN), filtrezi rândurile (WHERE), grupezi (GROUP BY), filtrezi grupurile (HAVING &gt; 1M), sortezi (ORDER BY) — toate într-o interogare, în ordine. Ies 3 canale: SMS, Google, Facebook. Ăsta e răspunsul acționabil la golul din septembrie.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Distincția-cheie: doar SMS și Google e un filtru pe o valoare de rând (Channel), chiar dacă vine dintr-un tabel legat, deci WHERE. Doar canalele peste 1M e un filtru pe un agregat, deci HAVING. Nu contează tabelul, ci ce filtrezi.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doilea reveal, o surpriză. Platinum + Gold aduc 68,1% din Revenue. Dar surpriza e la AOV: aproape egal peste segmente (Standard chiar cel mai mare!). Deci fidelii nu cumpără mai mult per comandă — cumpără mai des. Loialitatea = frecvență.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treilea JOIN, ca să se vadă că e același tipar. JOIN employees aduce poziția; GROUP BY face un rând per poziție. Sales Associate domină, 15,1M. Ideea: orice tabel cu o cheie comună se leagă identic.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Elicitează, mai ales prima. Patru greșeli: JOIN în locul greșit; filtru pe valoare pus în HAVING; agregat în WHERE; INNER când voiai toate rândurile. Fiecare are un antidot din scheletul de azi.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milestone-ul: ai construit primul raport complet, cu toate clauzele, și ai răspuns la întrebarea acționabilă de după golul din septembrie — SMS, Google, Facebook. Plus surpriza de loialitate. Regulile: JOIN după FROM; valoare → WHERE, agregat → HAVING. Salvează scriptul. Urmează L27: investigația cap-coadă.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4 · LECȚIA 26 · A ȘAPTEA LECȚIE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JOIN-uri II — raportul complet (mai multe tabele, toate clauzele)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SQL (raportul complet) →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6 noiembrie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(SQL, L25)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sz="1500">
                <a:solidFill>
                  <a:srgbClr val="FFA24E"/>
                </a:solidFill>
                <a:latin typeface="Consolas"/>
              </a:rPr>
              <a:t>JOIN … ON</a:t>
            </a:r>
            <a:r>
              <a:rPr b="0" sz="1500">
                <a:solidFill>
                  <a:srgbClr val="F2F2F2"/>
                </a:solidFill>
                <a:latin typeface="Arial"/>
              </a:rPr>
              <a:t> leagă tabelele pe cheia comună — </a:t>
            </a:r>
            <a:r>
              <a:rPr b="1" sz="1500">
                <a:solidFill>
                  <a:srgbClr val="F2F2F2"/>
                </a:solidFill>
                <a:latin typeface="Arial"/>
              </a:rPr>
              <a:t>codul devine nume</a:t>
            </a:r>
            <a:r>
              <a:rPr b="0" sz="1500">
                <a:solidFill>
                  <a:srgbClr val="F2F2F2"/>
                </a:solidFill>
                <a:latin typeface="Arial"/>
              </a:rPr>
              <a:t> (L25)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e </a:t>
            </a:r>
            <a:r>
              <a:rPr b="1" sz="1500">
                <a:solidFill>
                  <a:srgbClr val="F2F2F2"/>
                </a:solidFill>
                <a:latin typeface="Arial"/>
              </a:rPr>
              <a:t>XLOOKUP-ul din SQL</a:t>
            </a:r>
            <a:r>
              <a:rPr b="0" sz="1500">
                <a:solidFill>
                  <a:srgbClr val="F2F2F2"/>
                </a:solidFill>
                <a:latin typeface="Arial"/>
              </a:rPr>
              <a:t>: aduci o coloană dintr-un al doilea tabel, după cheie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sz="1500">
                <a:solidFill>
                  <a:srgbClr val="FFA24E"/>
                </a:solidFill>
                <a:latin typeface="Consolas"/>
              </a:rPr>
              <a:t>INNER</a:t>
            </a:r>
            <a:r>
              <a:rPr b="0" sz="1500">
                <a:solidFill>
                  <a:srgbClr val="F2F2F2"/>
                </a:solidFill>
                <a:latin typeface="Arial"/>
              </a:rPr>
              <a:t> = doar potrivirile · </a:t>
            </a:r>
            <a:r>
              <a:rPr sz="1500">
                <a:solidFill>
                  <a:srgbClr val="FFA24E"/>
                </a:solidFill>
                <a:latin typeface="Consolas"/>
              </a:rPr>
              <a:t>LEFT</a:t>
            </a:r>
            <a:r>
              <a:rPr b="0" sz="1500">
                <a:solidFill>
                  <a:srgbClr val="F2F2F2"/>
                </a:solidFill>
                <a:latin typeface="Arial"/>
              </a:rPr>
              <a:t> = tot stângul + </a:t>
            </a:r>
            <a:r>
              <a:rPr sz="1500">
                <a:solidFill>
                  <a:srgbClr val="FFA24E"/>
                </a:solidFill>
                <a:latin typeface="Consolas"/>
              </a:rPr>
              <a:t>NULL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ai dovedit golul: septembrie </a:t>
            </a:r>
            <a:r>
              <a:rPr b="1" sz="1500">
                <a:solidFill>
                  <a:srgbClr val="F2F2F2"/>
                </a:solidFill>
                <a:latin typeface="Arial"/>
              </a:rPr>
              <a:t>454 comenzi / 0 campanii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LEFT JOIN</a:t>
            </a:r>
            <a:r>
              <a:rPr b="0" sz="1500">
                <a:solidFill>
                  <a:srgbClr val="F2F2F2"/>
                </a:solidFill>
                <a:latin typeface="Arial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Dar un </a:t>
            </a:r>
            <a:r>
              <a:rPr sz="1400">
                <a:solidFill>
                  <a:srgbClr val="FFA24E"/>
                </a:solidFill>
                <a:latin typeface="Consolas"/>
              </a:rPr>
              <a:t>JOIN</a:t>
            </a:r>
            <a:r>
              <a:rPr b="0" sz="1400">
                <a:solidFill>
                  <a:srgbClr val="F2F2F2"/>
                </a:solidFill>
                <a:latin typeface="Arial"/>
              </a:rPr>
              <a:t> nu înlocuiește nimic din ce știai — e doar o </a:t>
            </a:r>
            <a:r>
              <a:rPr b="1" sz="1400">
                <a:solidFill>
                  <a:srgbClr val="F2F2F2"/>
                </a:solidFill>
                <a:latin typeface="Arial"/>
              </a:rPr>
              <a:t>piesă în plus</a:t>
            </a:r>
            <a:r>
              <a:rPr b="0" sz="1400">
                <a:solidFill>
                  <a:srgbClr val="F2F2F2"/>
                </a:solidFill>
                <a:latin typeface="Arial"/>
              </a:rPr>
              <a:t> în raport. Azi le combini pe toate.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Patru mișcări care fac din SQL-ul tău un </a:t>
            </a:r>
            <a:r>
              <a:rPr b="1" sz="1500">
                <a:solidFill>
                  <a:srgbClr val="F2F2F2"/>
                </a:solidFill>
                <a:latin typeface="Arial"/>
              </a:rPr>
              <a:t>raport de analist</a:t>
            </a:r>
            <a:r>
              <a:rPr b="0" sz="1500">
                <a:solidFill>
                  <a:srgbClr val="F2F2F2"/>
                </a:solidFill>
                <a:latin typeface="Arial"/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03226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scrii </a:t>
            </a:r>
            <a:r>
              <a:rPr b="1" sz="1500">
                <a:solidFill>
                  <a:srgbClr val="F2F2F2"/>
                </a:solidFill>
                <a:latin typeface="Arial"/>
              </a:rPr>
              <a:t>scheletul raportului complet</a:t>
            </a:r>
            <a:r>
              <a:rPr b="0" sz="1500">
                <a:solidFill>
                  <a:srgbClr val="F2F2F2"/>
                </a:solidFill>
                <a:latin typeface="Arial"/>
              </a:rPr>
              <a:t> — unde se pune </a:t>
            </a:r>
            <a:r>
              <a:rPr sz="1500">
                <a:solidFill>
                  <a:srgbClr val="FFA24E"/>
                </a:solidFill>
                <a:latin typeface="Consolas"/>
              </a:rPr>
              <a:t>JOIN</a:t>
            </a:r>
            <a:r>
              <a:rPr b="0" sz="1500">
                <a:solidFill>
                  <a:srgbClr val="F2F2F2"/>
                </a:solidFill>
                <a:latin typeface="Arial"/>
              </a:rPr>
              <a:t> și în ce ordine vin restul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legi tabele noi: </a:t>
            </a:r>
            <a:r>
              <a:rPr sz="1500">
                <a:solidFill>
                  <a:srgbClr val="FFA24E"/>
                </a:solidFill>
                <a:latin typeface="Consolas"/>
              </a:rPr>
              <a:t>campaigns</a:t>
            </a:r>
            <a:r>
              <a:rPr b="0" sz="1500">
                <a:solidFill>
                  <a:srgbClr val="F2F2F2"/>
                </a:solidFill>
                <a:latin typeface="Arial"/>
              </a:rPr>
              <a:t> (canalul), </a:t>
            </a:r>
            <a:r>
              <a:rPr sz="1500">
                <a:solidFill>
                  <a:srgbClr val="FFA24E"/>
                </a:solidFill>
                <a:latin typeface="Consolas"/>
              </a:rPr>
              <a:t>customers</a:t>
            </a:r>
            <a:r>
              <a:rPr b="0" sz="1500">
                <a:solidFill>
                  <a:srgbClr val="F2F2F2"/>
                </a:solidFill>
                <a:latin typeface="Arial"/>
              </a:rPr>
              <a:t> (loialitatea), </a:t>
            </a:r>
            <a:r>
              <a:rPr sz="1500">
                <a:solidFill>
                  <a:srgbClr val="FFA24E"/>
                </a:solidFill>
                <a:latin typeface="Consolas"/>
              </a:rPr>
              <a:t>employees</a:t>
            </a:r>
            <a:r>
              <a:rPr b="0" sz="1500">
                <a:solidFill>
                  <a:srgbClr val="F2F2F2"/>
                </a:solidFill>
                <a:latin typeface="Arial"/>
              </a:rPr>
              <a:t> (poziția)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filtrezi corect: o valoare brută cu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; un </a:t>
            </a:r>
            <a:r>
              <a:rPr b="1" sz="1500">
                <a:solidFill>
                  <a:srgbClr val="F2F2F2"/>
                </a:solidFill>
                <a:latin typeface="Arial"/>
              </a:rPr>
              <a:t>agregat</a:t>
            </a:r>
            <a:r>
              <a:rPr b="0" sz="1500">
                <a:solidFill>
                  <a:srgbClr val="F2F2F2"/>
                </a:solidFill>
                <a:latin typeface="Arial"/>
              </a:rPr>
              <a:t> cu </a:t>
            </a:r>
            <a:r>
              <a:rPr sz="1500">
                <a:solidFill>
                  <a:srgbClr val="FFA24E"/>
                </a:solidFill>
                <a:latin typeface="Consolas"/>
              </a:rPr>
              <a:t>HAVING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citești un raport pe mai multe tabele ca pe un </a:t>
            </a:r>
            <a:r>
              <a:rPr b="1" sz="1500">
                <a:solidFill>
                  <a:srgbClr val="F2F2F2"/>
                </a:solidFill>
                <a:latin typeface="Arial"/>
              </a:rPr>
              <a:t>răspuns de business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23669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Ideea centrală: </a:t>
            </a:r>
            <a:r>
              <a:rPr b="1" sz="1400">
                <a:solidFill>
                  <a:srgbClr val="F2F2F2"/>
                </a:solidFill>
                <a:latin typeface="Arial"/>
              </a:rPr>
              <a:t>un `JOIN` adaugă tabele, nu schimbă restul</a:t>
            </a:r>
            <a:r>
              <a:rPr b="0" sz="1400">
                <a:solidFill>
                  <a:srgbClr val="F2F2F2"/>
                </a:solidFill>
                <a:latin typeface="Arial"/>
              </a:rPr>
              <a:t> — </a:t>
            </a:r>
            <a:r>
              <a:rPr sz="14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400">
                <a:solidFill>
                  <a:srgbClr val="F2F2F2"/>
                </a:solidFill>
                <a:latin typeface="Arial"/>
              </a:rPr>
              <a:t>/</a:t>
            </a:r>
            <a:r>
              <a:rPr sz="1400">
                <a:solidFill>
                  <a:srgbClr val="FFA24E"/>
                </a:solidFill>
                <a:latin typeface="Consolas"/>
              </a:rPr>
              <a:t>GROUP BY</a:t>
            </a:r>
            <a:r>
              <a:rPr b="0" sz="1400">
                <a:solidFill>
                  <a:srgbClr val="F2F2F2"/>
                </a:solidFill>
                <a:latin typeface="Arial"/>
              </a:rPr>
              <a:t>/</a:t>
            </a:r>
            <a:r>
              <a:rPr sz="1400">
                <a:solidFill>
                  <a:srgbClr val="FFA24E"/>
                </a:solidFill>
                <a:latin typeface="Consolas"/>
              </a:rPr>
              <a:t>HAVING</a:t>
            </a:r>
            <a:r>
              <a:rPr b="0" sz="1400">
                <a:solidFill>
                  <a:srgbClr val="F2F2F2"/>
                </a:solidFill>
                <a:latin typeface="Arial"/>
              </a:rPr>
              <a:t>/</a:t>
            </a:r>
            <a:r>
              <a:rPr sz="1400">
                <a:solidFill>
                  <a:srgbClr val="FFA24E"/>
                </a:solidFill>
                <a:latin typeface="Consolas"/>
              </a:rPr>
              <a:t>ORDER BY</a:t>
            </a:r>
            <a:r>
              <a:rPr b="0" sz="1400">
                <a:solidFill>
                  <a:srgbClr val="F2F2F2"/>
                </a:solidFill>
                <a:latin typeface="Arial"/>
              </a:rPr>
              <a:t> rămân la fel.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ERD · TABELE NOI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mai legăm azi (RetailHub)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Tabel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Aduce numele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Cheia din orders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campaigns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Channel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(canalul)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CampaignID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customers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LoyaltyLevel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(loialitatea)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CustomerID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employees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Position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(poziția)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EmployeeID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40156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Numele </a:t>
            </a:r>
            <a:r>
              <a:rPr b="1" sz="1300">
                <a:solidFill>
                  <a:srgbClr val="F2F2F2"/>
                </a:solidFill>
                <a:latin typeface="Arial"/>
              </a:rPr>
              <a:t>nu-i</a:t>
            </a:r>
            <a:r>
              <a:rPr b="0" sz="1300">
                <a:solidFill>
                  <a:srgbClr val="F2F2F2"/>
                </a:solidFill>
                <a:latin typeface="Arial"/>
              </a:rPr>
              <a:t> în </a:t>
            </a:r>
            <a:r>
              <a:rPr sz="13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300">
                <a:solidFill>
                  <a:srgbClr val="F2F2F2"/>
                </a:solidFill>
                <a:latin typeface="Arial"/>
              </a:rPr>
              <a:t> — trăiește în tabelul-satelit. Legi pe cheia comună, apoi grupezi pe </a:t>
            </a:r>
            <a:r>
              <a:rPr b="1" sz="1300">
                <a:solidFill>
                  <a:srgbClr val="F2F2F2"/>
                </a:solidFill>
                <a:latin typeface="Arial"/>
              </a:rPr>
              <a:t>nume</a:t>
            </a:r>
            <a:r>
              <a:rPr b="0" sz="1300">
                <a:solidFill>
                  <a:srgbClr val="F2F2F2"/>
                </a:solidFill>
                <a:latin typeface="Arial"/>
              </a:rPr>
              <a:t>. Orice tabel cu o cheie comună se leagă la fel.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«Ce canale să folosim data viitoare?» (Radu)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0985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„Septembrie n-a avut campanie — am înțeles. Dar în lunile în care </a:t>
            </a:r>
            <a:r>
              <a:rPr b="1" sz="1500">
                <a:solidFill>
                  <a:srgbClr val="F2F2F2"/>
                </a:solidFill>
                <a:latin typeface="Arial"/>
              </a:rPr>
              <a:t>am</a:t>
            </a:r>
            <a:r>
              <a:rPr b="0" sz="1500">
                <a:solidFill>
                  <a:srgbClr val="F2F2F2"/>
                </a:solidFill>
                <a:latin typeface="Arial"/>
              </a:rPr>
              <a:t> rulat campanii, </a:t>
            </a:r>
            <a:r>
              <a:rPr b="1" sz="1500">
                <a:solidFill>
                  <a:srgbClr val="F2F2F2"/>
                </a:solidFill>
                <a:latin typeface="Arial"/>
              </a:rPr>
              <a:t>ce canale</a:t>
            </a:r>
            <a:r>
              <a:rPr b="0" sz="1500">
                <a:solidFill>
                  <a:srgbClr val="F2F2F2"/>
                </a:solidFill>
                <a:latin typeface="Arial"/>
              </a:rPr>
              <a:t> au adus banii? Vreau Revenue pe canal, doar canalele mari (peste un milion), sortate. Și separat: </a:t>
            </a:r>
            <a:r>
              <a:rPr b="1" sz="1500">
                <a:solidFill>
                  <a:srgbClr val="F2F2F2"/>
                </a:solidFill>
                <a:latin typeface="Arial"/>
              </a:rPr>
              <a:t>clienții fideli</a:t>
            </a:r>
            <a:r>
              <a:rPr b="0" sz="1500">
                <a:solidFill>
                  <a:srgbClr val="F2F2F2"/>
                </a:solidFill>
                <a:latin typeface="Arial"/>
              </a:rPr>
              <a:t> (Platinum, Gold) chiar cumpără mai mult?”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18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Canalul nu-i în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 — e în </a:t>
            </a:r>
            <a:r>
              <a:rPr sz="1500">
                <a:solidFill>
                  <a:srgbClr val="FFA24E"/>
                </a:solidFill>
                <a:latin typeface="Consolas"/>
              </a:rPr>
              <a:t>campaigns</a:t>
            </a:r>
            <a:r>
              <a:rPr b="0" sz="1500">
                <a:solidFill>
                  <a:srgbClr val="F2F2F2"/>
                </a:solidFill>
                <a:latin typeface="Arial"/>
              </a:rPr>
              <a:t>. Loialitatea nu-i în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 — e în </a:t>
            </a:r>
            <a:r>
              <a:rPr sz="1500">
                <a:solidFill>
                  <a:srgbClr val="FFA24E"/>
                </a:solidFill>
                <a:latin typeface="Consolas"/>
              </a:rPr>
              <a:t>customers</a:t>
            </a:r>
            <a:r>
              <a:rPr b="0" sz="1500">
                <a:solidFill>
                  <a:srgbClr val="F2F2F2"/>
                </a:solidFill>
                <a:latin typeface="Arial"/>
              </a:rPr>
              <a:t>. Legi tabelul cu numele, grupezi, filtrezi grupurile, sortezi. Tot ce știi, într-o interogare.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JOIN la sfârșit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65506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c.Channel, SUM(o.TotalAmount) AS Revenue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 o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c.Channel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HAVING Revenue &gt; 1000000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 BY Revenue DESC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campaigns c ON o.CampaignID = c.CampaignID;   -- 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575303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Eroare de sintaxă.</a:t>
            </a:r>
            <a:r>
              <a:rPr b="0" sz="1400">
                <a:solidFill>
                  <a:srgbClr val="F2F2F2"/>
                </a:solidFill>
                <a:latin typeface="Arial"/>
              </a:rPr>
              <a:t> „Am pus toate clauzele — de ce nu merge?” Fiindcă </a:t>
            </a:r>
            <a:r>
              <a:rPr sz="1400">
                <a:solidFill>
                  <a:srgbClr val="FFA24E"/>
                </a:solidFill>
                <a:latin typeface="Consolas"/>
              </a:rPr>
              <a:t>JOIN</a:t>
            </a:r>
            <a:r>
              <a:rPr b="0" sz="1400">
                <a:solidFill>
                  <a:srgbClr val="F2F2F2"/>
                </a:solidFill>
                <a:latin typeface="Arial"/>
              </a:rPr>
              <a:t> are un loc fix: </a:t>
            </a:r>
            <a:r>
              <a:rPr b="1" sz="1400">
                <a:solidFill>
                  <a:srgbClr val="F2F2F2"/>
                </a:solidFill>
                <a:latin typeface="Arial"/>
              </a:rPr>
              <a:t>imediat după `FROM`</a:t>
            </a:r>
            <a:r>
              <a:rPr b="0" sz="1400">
                <a:solidFill>
                  <a:srgbClr val="F2F2F2"/>
                </a:solidFill>
                <a:latin typeface="Arial"/>
              </a:rPr>
              <a:t>, nu la coadă. Nu poți grupa pe </a:t>
            </a:r>
            <a:r>
              <a:rPr sz="1400">
                <a:solidFill>
                  <a:srgbClr val="FFA24E"/>
                </a:solidFill>
                <a:latin typeface="Consolas"/>
              </a:rPr>
              <a:t>c.Channel</a:t>
            </a:r>
            <a:r>
              <a:rPr b="0" sz="1400">
                <a:solidFill>
                  <a:srgbClr val="F2F2F2"/>
                </a:solidFill>
                <a:latin typeface="Arial"/>
              </a:rPr>
              <a:t> înainte să fi </a:t>
            </a:r>
            <a:r>
              <a:rPr b="1" sz="1400">
                <a:solidFill>
                  <a:srgbClr val="F2F2F2"/>
                </a:solidFill>
                <a:latin typeface="Arial"/>
              </a:rPr>
              <a:t>legat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sz="1400">
                <a:solidFill>
                  <a:srgbClr val="FFA24E"/>
                </a:solidFill>
                <a:latin typeface="Consolas"/>
              </a:rPr>
              <a:t>campaigns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JOIN adaugă tabele — nu schimbă restul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Gândește raportul ca o linie de asamblare, în ordine fixă: întâi </a:t>
            </a:r>
            <a:r>
              <a:rPr b="1" sz="1500">
                <a:solidFill>
                  <a:srgbClr val="F2F2F2"/>
                </a:solidFill>
                <a:latin typeface="Arial"/>
              </a:rPr>
              <a:t>aduni piesele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FROM</a:t>
            </a:r>
            <a:r>
              <a:rPr b="0" sz="1500">
                <a:solidFill>
                  <a:srgbClr val="F2F2F2"/>
                </a:solidFill>
                <a:latin typeface="Arial"/>
              </a:rPr>
              <a:t> + </a:t>
            </a:r>
            <a:r>
              <a:rPr sz="1500">
                <a:solidFill>
                  <a:srgbClr val="FFA24E"/>
                </a:solidFill>
                <a:latin typeface="Consolas"/>
              </a:rPr>
              <a:t>JOIN</a:t>
            </a:r>
            <a:r>
              <a:rPr b="0" sz="1500">
                <a:solidFill>
                  <a:srgbClr val="F2F2F2"/>
                </a:solidFill>
                <a:latin typeface="Arial"/>
              </a:rPr>
              <a:t>), apoi </a:t>
            </a:r>
            <a:r>
              <a:rPr b="1" sz="1500">
                <a:solidFill>
                  <a:srgbClr val="F2F2F2"/>
                </a:solidFill>
                <a:latin typeface="Arial"/>
              </a:rPr>
              <a:t>arunci rândurile nedorite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), apoi </a:t>
            </a:r>
            <a:r>
              <a:rPr b="1" sz="1500">
                <a:solidFill>
                  <a:srgbClr val="F2F2F2"/>
                </a:solidFill>
                <a:latin typeface="Arial"/>
              </a:rPr>
              <a:t>faci grămezi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GROUP BY</a:t>
            </a:r>
            <a:r>
              <a:rPr b="0" sz="1500">
                <a:solidFill>
                  <a:srgbClr val="F2F2F2"/>
                </a:solidFill>
                <a:latin typeface="Arial"/>
              </a:rPr>
              <a:t>), apoi </a:t>
            </a:r>
            <a:r>
              <a:rPr b="1" sz="1500">
                <a:solidFill>
                  <a:srgbClr val="F2F2F2"/>
                </a:solidFill>
                <a:latin typeface="Arial"/>
              </a:rPr>
              <a:t>arunci grămezile mici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HAVING</a:t>
            </a:r>
            <a:r>
              <a:rPr b="0" sz="1500">
                <a:solidFill>
                  <a:srgbClr val="F2F2F2"/>
                </a:solidFill>
                <a:latin typeface="Arial"/>
              </a:rPr>
              <a:t>), apoi </a:t>
            </a:r>
            <a:r>
              <a:rPr b="1" sz="1500">
                <a:solidFill>
                  <a:srgbClr val="F2F2F2"/>
                </a:solidFill>
                <a:latin typeface="Arial"/>
              </a:rPr>
              <a:t>le aranjezi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ORDER BY</a:t>
            </a:r>
            <a:r>
              <a:rPr b="0" sz="1500">
                <a:solidFill>
                  <a:srgbClr val="F2F2F2"/>
                </a:solidFill>
                <a:latin typeface="Arial"/>
              </a:rPr>
              <a:t>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400">
                <a:solidFill>
                  <a:srgbClr val="FFA24E"/>
                </a:solidFill>
                <a:latin typeface="Consolas"/>
              </a:rPr>
              <a:t>JOIN</a:t>
            </a:r>
            <a:r>
              <a:rPr b="0" sz="1400">
                <a:solidFill>
                  <a:srgbClr val="F2F2F2"/>
                </a:solidFill>
                <a:latin typeface="Arial"/>
              </a:rPr>
              <a:t> e doar </a:t>
            </a:r>
            <a:r>
              <a:rPr b="1" sz="1400">
                <a:solidFill>
                  <a:srgbClr val="F2F2F2"/>
                </a:solidFill>
                <a:latin typeface="Arial"/>
              </a:rPr>
              <a:t>prima stație</a:t>
            </a:r>
            <a:r>
              <a:rPr b="0" sz="1400">
                <a:solidFill>
                  <a:srgbClr val="F2F2F2"/>
                </a:solidFill>
                <a:latin typeface="Arial"/>
              </a:rPr>
              <a:t> — aduce tabelul cu numele. Tot ce ai învățat la L20–L24 rămâne neschimbat; doar ai mai multe coloane la dispoziție.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Scheletul raportului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88823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  c.Channel, SUM(o.TotalAmount) AS Revenue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    orders o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    campaigns c ON o.CampaignID = c.CampaignID   -- (1) legi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   o.OrderDate &gt;= '2024-01-01'                   -- (2) rânduri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c.Channel                                     -- (3) grămezi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HAVING   SUM(o.TotalAmount) &gt; 1000000                  -- (4) grupuri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 BY Revenue DESC;                                 -- (5) sortezi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08476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300">
                <a:solidFill>
                  <a:srgbClr val="F2F2F2"/>
                </a:solidFill>
                <a:latin typeface="Arial"/>
              </a:rPr>
              <a:t>`JOIN` vine imediat după `FROM`.</a:t>
            </a:r>
            <a:r>
              <a:rPr b="0" sz="1300">
                <a:solidFill>
                  <a:srgbClr val="F2F2F2"/>
                </a:solidFill>
                <a:latin typeface="Arial"/>
              </a:rPr>
              <a:t> Valoare de rând → </a:t>
            </a:r>
            <a:r>
              <a:rPr sz="13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300">
                <a:solidFill>
                  <a:srgbClr val="F2F2F2"/>
                </a:solidFill>
                <a:latin typeface="Arial"/>
              </a:rPr>
              <a:t> (chiar dintr-un tabel legat); agregat → </a:t>
            </a:r>
            <a:r>
              <a:rPr sz="1300">
                <a:solidFill>
                  <a:srgbClr val="FFA24E"/>
                </a:solidFill>
                <a:latin typeface="Consolas"/>
              </a:rPr>
              <a:t>HAVING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CANAL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Revenue pe canal de campanie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188720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c.Channel, COUNT(*) AS Comenzi, SUM(o.TotalAmount) AS Revenue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 o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campaigns c ON o.CampaignID = c.CampaignID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c.Channel ORDER BY Revenue DESC;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0896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8 canale. În frunte </a:t>
            </a:r>
            <a:r>
              <a:rPr b="1" sz="1500">
                <a:solidFill>
                  <a:srgbClr val="F2F2F2"/>
                </a:solidFill>
                <a:latin typeface="Arial"/>
              </a:rPr>
              <a:t>SMS `2.905.513,98`</a:t>
            </a:r>
            <a:r>
              <a:rPr b="0" sz="1500">
                <a:solidFill>
                  <a:srgbClr val="F2F2F2"/>
                </a:solidFill>
                <a:latin typeface="Arial"/>
              </a:rPr>
              <a:t> (1274 comenzi) și </a:t>
            </a:r>
            <a:r>
              <a:rPr b="1" sz="1500">
                <a:solidFill>
                  <a:srgbClr val="F2F2F2"/>
                </a:solidFill>
                <a:latin typeface="Arial"/>
              </a:rPr>
              <a:t>Google `2.712.750,25`</a:t>
            </a:r>
            <a:r>
              <a:rPr b="0" sz="1500">
                <a:solidFill>
                  <a:srgbClr val="F2F2F2"/>
                </a:solidFill>
                <a:latin typeface="Arial"/>
              </a:rPr>
              <a:t>; la coadă </a:t>
            </a:r>
            <a:r>
              <a:rPr b="1" sz="1500">
                <a:solidFill>
                  <a:srgbClr val="F2F2F2"/>
                </a:solidFill>
                <a:latin typeface="Arial"/>
              </a:rPr>
              <a:t>Email `285.379,89`</a:t>
            </a:r>
            <a:r>
              <a:rPr b="0" sz="1500">
                <a:solidFill>
                  <a:srgbClr val="F2F2F2"/>
                </a:solidFill>
                <a:latin typeface="Arial"/>
              </a:rPr>
              <a:t> (142).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456644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INNER JOIN</a:t>
            </a:r>
            <a:r>
              <a:rPr b="0" sz="1300">
                <a:solidFill>
                  <a:srgbClr val="F2F2F2"/>
                </a:solidFill>
                <a:latin typeface="Arial"/>
              </a:rPr>
              <a:t> păstrează doar comenzile </a:t>
            </a:r>
            <a:r>
              <a:rPr b="1" sz="1300">
                <a:solidFill>
                  <a:srgbClr val="F2F2F2"/>
                </a:solidFill>
                <a:latin typeface="Arial"/>
              </a:rPr>
              <a:t>cu</a:t>
            </a:r>
            <a:r>
              <a:rPr b="0" sz="1300">
                <a:solidFill>
                  <a:srgbClr val="F2F2F2"/>
                </a:solidFill>
                <a:latin typeface="Arial"/>
              </a:rPr>
              <a:t> campanie (4530); restul n-au </a:t>
            </a:r>
            <a:r>
              <a:rPr sz="1300">
                <a:solidFill>
                  <a:srgbClr val="FFA24E"/>
                </a:solidFill>
                <a:latin typeface="Consolas"/>
              </a:rPr>
              <a:t>CampaignID</a:t>
            </a:r>
            <a:r>
              <a:rPr b="0" sz="1300">
                <a:solidFill>
                  <a:srgbClr val="F2F2F2"/>
                </a:solidFill>
                <a:latin typeface="Arial"/>
              </a:rPr>
              <a:t>. Un pivot pe canal, cu nume.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RAPORTUL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Canalele mari — toate clauzele (MILESTONE)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88823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c.Channel, COUNT(*) AS Comenzi, SUM(o.TotalAmount) AS Revenue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 o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campaigns c ON o.CampaignID = c.CampaignID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o.OrderDate &gt;= '2024-01-01'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c.Channel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HAVING SUM(o.TotalAmount) &gt; 1000000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 BY Revenue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08476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✅ MILESTONE: doar </a:t>
            </a:r>
            <a:r>
              <a:rPr b="1" sz="1300">
                <a:solidFill>
                  <a:srgbClr val="F2F2F2"/>
                </a:solidFill>
                <a:latin typeface="Arial"/>
              </a:rPr>
              <a:t>3 canale</a:t>
            </a:r>
            <a:r>
              <a:rPr b="0" sz="1300">
                <a:solidFill>
                  <a:srgbClr val="F2F2F2"/>
                </a:solidFill>
                <a:latin typeface="Arial"/>
              </a:rPr>
              <a:t> — </a:t>
            </a:r>
            <a:r>
              <a:rPr b="1" sz="1300">
                <a:solidFill>
                  <a:srgbClr val="F2F2F2"/>
                </a:solidFill>
                <a:latin typeface="Arial"/>
              </a:rPr>
              <a:t>SMS `2.905.513,98`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b="1" sz="1300">
                <a:solidFill>
                  <a:srgbClr val="F2F2F2"/>
                </a:solidFill>
                <a:latin typeface="Arial"/>
              </a:rPr>
              <a:t>Google `2.712.750,25`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b="1" sz="1300">
                <a:solidFill>
                  <a:srgbClr val="F2F2F2"/>
                </a:solidFill>
                <a:latin typeface="Arial"/>
              </a:rPr>
              <a:t>Facebook `1.930.233,63`</a:t>
            </a:r>
            <a:r>
              <a:rPr b="0" sz="1300">
                <a:solidFill>
                  <a:srgbClr val="F2F2F2"/>
                </a:solidFill>
                <a:latin typeface="Arial"/>
              </a:rPr>
              <a:t>. Răspunsul pentru Radu: când rulezi campanii, </a:t>
            </a:r>
            <a:r>
              <a:rPr b="1" sz="1300">
                <a:solidFill>
                  <a:srgbClr val="F2F2F2"/>
                </a:solidFill>
                <a:latin typeface="Arial"/>
              </a:rPr>
              <a:t>astea aduc banii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WHERE VS HAVING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Valoare → WHERE; agregat → HAVING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65506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-- doar SMS și Google: filtru pe VALOARE → WHERE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c.Channel, SUM(o.TotalAmount) AS Revenue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 o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campaigns c ON o.CampaignID = c.CampaignID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c.Channel IN ('SMS', 'Google')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c.Channel;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575303"/>
            <a:ext cx="10874959" cy="18699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„Doar SMS și Google” e un filtru pe o </a:t>
            </a:r>
            <a:r>
              <a:rPr b="1" sz="1300">
                <a:solidFill>
                  <a:srgbClr val="F2F2F2"/>
                </a:solidFill>
                <a:latin typeface="Arial"/>
              </a:rPr>
              <a:t>valoare</a:t>
            </a:r>
            <a:r>
              <a:rPr b="0" sz="1300">
                <a:solidFill>
                  <a:srgbClr val="F2F2F2"/>
                </a:solidFill>
                <a:latin typeface="Arial"/>
              </a:rPr>
              <a:t> (</a:t>
            </a:r>
            <a:r>
              <a:rPr sz="1300">
                <a:solidFill>
                  <a:srgbClr val="FFA24E"/>
                </a:solidFill>
                <a:latin typeface="Consolas"/>
              </a:rPr>
              <a:t>Channel</a:t>
            </a:r>
            <a:r>
              <a:rPr b="0" sz="1300">
                <a:solidFill>
                  <a:srgbClr val="F2F2F2"/>
                </a:solidFill>
                <a:latin typeface="Arial"/>
              </a:rPr>
              <a:t>), chiar dintr-un tabel legat → </a:t>
            </a:r>
            <a:r>
              <a:rPr sz="13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300">
                <a:solidFill>
                  <a:srgbClr val="F2F2F2"/>
                </a:solidFill>
                <a:latin typeface="Arial"/>
              </a:rPr>
              <a:t>. „Doar canalele peste 1M” e pe un </a:t>
            </a:r>
            <a:r>
              <a:rPr b="1" sz="1300">
                <a:solidFill>
                  <a:srgbClr val="F2F2F2"/>
                </a:solidFill>
                <a:latin typeface="Arial"/>
              </a:rPr>
              <a:t>agregat</a:t>
            </a:r>
            <a:r>
              <a:rPr b="0" sz="1300">
                <a:solidFill>
                  <a:srgbClr val="F2F2F2"/>
                </a:solidFill>
                <a:latin typeface="Arial"/>
              </a:rPr>
              <a:t> → </a:t>
            </a:r>
            <a:r>
              <a:rPr sz="1300">
                <a:solidFill>
                  <a:srgbClr val="FFA24E"/>
                </a:solidFill>
                <a:latin typeface="Consolas"/>
              </a:rPr>
              <a:t>HAVING</a:t>
            </a:r>
            <a:r>
              <a:rPr b="0" sz="1300">
                <a:solidFill>
                  <a:srgbClr val="F2F2F2"/>
                </a:solidFill>
                <a:latin typeface="Arial"/>
              </a:rPr>
              <a:t>. </a:t>
            </a:r>
            <a:r>
              <a:rPr b="1" sz="1300">
                <a:solidFill>
                  <a:srgbClr val="F2F2F2"/>
                </a:solidFill>
                <a:latin typeface="Arial"/>
              </a:rPr>
              <a:t>Nu tabelul contează, ci ce filtrezi.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LOIALITATE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Surpriza: fidelii cumpără mai des, nu mai mult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21892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cu.LoyaltyLevel, SUM(o.TotalAmount) AS Revenue,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   ROUND(AVG(o.TotalAmount), 2) AS AOV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 o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customers cu ON o.CustomerID = cu.CustomerID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cu.LoyaltyLevel ORDER BY Revenue DESC;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342132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Segment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Revenue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AOV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Platinum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13.654.240,12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2.557,45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Gold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12.139.973,60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2.522,33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4.460.885,91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2.563,73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4960620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Platinum + Gold = </a:t>
            </a:r>
            <a:r>
              <a:rPr b="1" sz="1300">
                <a:solidFill>
                  <a:srgbClr val="F2F2F2"/>
                </a:solidFill>
                <a:latin typeface="Arial"/>
              </a:rPr>
              <a:t>68,1%</a:t>
            </a:r>
            <a:r>
              <a:rPr b="0" sz="1300">
                <a:solidFill>
                  <a:srgbClr val="F2F2F2"/>
                </a:solidFill>
                <a:latin typeface="Arial"/>
              </a:rPr>
              <a:t> din Revenue — dar AOV-ul e </a:t>
            </a:r>
            <a:r>
              <a:rPr b="1" sz="1300">
                <a:solidFill>
                  <a:srgbClr val="F2F2F2"/>
                </a:solidFill>
                <a:latin typeface="Arial"/>
              </a:rPr>
              <a:t>aproape egal</a:t>
            </a:r>
            <a:r>
              <a:rPr b="0" sz="1300">
                <a:solidFill>
                  <a:srgbClr val="F2F2F2"/>
                </a:solidFill>
                <a:latin typeface="Arial"/>
              </a:rPr>
              <a:t> peste segmente. Loialitatea = </a:t>
            </a:r>
            <a:r>
              <a:rPr b="1" sz="1300">
                <a:solidFill>
                  <a:srgbClr val="F2F2F2"/>
                </a:solidFill>
                <a:latin typeface="Arial"/>
              </a:rPr>
              <a:t>frecvență</a:t>
            </a:r>
            <a:r>
              <a:rPr b="0" sz="1300">
                <a:solidFill>
                  <a:srgbClr val="F2F2F2"/>
                </a:solidFill>
                <a:latin typeface="Arial"/>
              </a:rPr>
              <a:t>, nu coș mai mare.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5 · POZIȚIE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Același tipar — Revenue pe poziție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188720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e.Position, COUNT(*) AS Comenzi, SUM(o.TotalAmount) AS Revenue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 o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employees e ON o.EmployeeID = e.EmployeeID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e.Position ORDER BY Revenue DESC;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0896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4 poziții — </a:t>
            </a:r>
            <a:r>
              <a:rPr b="1" sz="1500">
                <a:solidFill>
                  <a:srgbClr val="F2F2F2"/>
                </a:solidFill>
                <a:latin typeface="Arial"/>
              </a:rPr>
              <a:t>Sales Associate `15.112.570,96`</a:t>
            </a:r>
            <a:r>
              <a:rPr b="0" sz="1500">
                <a:solidFill>
                  <a:srgbClr val="F2F2F2"/>
                </a:solidFill>
                <a:latin typeface="Arial"/>
              </a:rPr>
              <a:t> (5853 comenzi, de departe primul), apoi Inventory Specialist, Store Manager, Cashier (~7,5M fiecare).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456644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Același tipar: </a:t>
            </a:r>
            <a:r>
              <a:rPr sz="1300">
                <a:solidFill>
                  <a:srgbClr val="FFA24E"/>
                </a:solidFill>
                <a:latin typeface="Consolas"/>
              </a:rPr>
              <a:t>JOIN</a:t>
            </a:r>
            <a:r>
              <a:rPr b="0" sz="1300">
                <a:solidFill>
                  <a:srgbClr val="F2F2F2"/>
                </a:solidFill>
                <a:latin typeface="Arial"/>
              </a:rPr>
              <a:t> aduce numele, </a:t>
            </a:r>
            <a:r>
              <a:rPr sz="1300">
                <a:solidFill>
                  <a:srgbClr val="FFA24E"/>
                </a:solidFill>
                <a:latin typeface="Consolas"/>
              </a:rPr>
              <a:t>GROUP BY</a:t>
            </a:r>
            <a:r>
              <a:rPr b="0" sz="1300">
                <a:solidFill>
                  <a:srgbClr val="F2F2F2"/>
                </a:solidFill>
                <a:latin typeface="Arial"/>
              </a:rPr>
              <a:t> face un rând per grup. Orice tabel cu o cheie comună se leagă la fel.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de junior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`JOIN` în locul greșit</a:t>
            </a:r>
            <a:r>
              <a:rPr b="0" sz="1400">
                <a:solidFill>
                  <a:srgbClr val="F2F2F2"/>
                </a:solidFill>
                <a:latin typeface="Arial"/>
              </a:rPr>
              <a:t> (la coadă, sau după </a:t>
            </a:r>
            <a:r>
              <a:rPr sz="14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400">
                <a:solidFill>
                  <a:srgbClr val="F2F2F2"/>
                </a:solidFill>
                <a:latin typeface="Arial"/>
              </a:rPr>
              <a:t>) → eroare; </a:t>
            </a:r>
            <a:r>
              <a:rPr sz="1400">
                <a:solidFill>
                  <a:srgbClr val="FFA24E"/>
                </a:solidFill>
                <a:latin typeface="Consolas"/>
              </a:rPr>
              <a:t>JOIN</a:t>
            </a:r>
            <a:r>
              <a:rPr b="0" sz="1400">
                <a:solidFill>
                  <a:srgbClr val="F2F2F2"/>
                </a:solidFill>
                <a:latin typeface="Arial"/>
              </a:rPr>
              <a:t> vine imediat după </a:t>
            </a:r>
            <a:r>
              <a:rPr sz="1400">
                <a:solidFill>
                  <a:srgbClr val="FFA24E"/>
                </a:solidFill>
                <a:latin typeface="Consolas"/>
              </a:rPr>
              <a:t>FROM</a:t>
            </a:r>
            <a:r>
              <a:rPr b="0" sz="1400">
                <a:solidFill>
                  <a:srgbClr val="F2F2F2"/>
                </a:solidFill>
                <a:latin typeface="Arial"/>
              </a:rPr>
              <a:t> — greșeala Ioanei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filtru pe valoare pus în `HAVING`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HAVING c.Channel='SMS'</a:t>
            </a:r>
            <a:r>
              <a:rPr b="0" sz="1400">
                <a:solidFill>
                  <a:srgbClr val="F2F2F2"/>
                </a:solidFill>
                <a:latin typeface="Arial"/>
              </a:rPr>
              <a:t>) → e o valoare, deci </a:t>
            </a:r>
            <a:r>
              <a:rPr sz="1400">
                <a:solidFill>
                  <a:srgbClr val="FFA24E"/>
                </a:solidFill>
                <a:latin typeface="Consolas"/>
              </a:rPr>
              <a:t>WHERE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agregat în `WHERE`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WHERE SUM(...) &gt; 1M</a:t>
            </a:r>
            <a:r>
              <a:rPr b="0" sz="1400">
                <a:solidFill>
                  <a:srgbClr val="F2F2F2"/>
                </a:solidFill>
                <a:latin typeface="Arial"/>
              </a:rPr>
              <a:t>) → eroare; pragul pe agregat = </a:t>
            </a:r>
            <a:r>
              <a:rPr sz="1400">
                <a:solidFill>
                  <a:srgbClr val="FFA24E"/>
                </a:solidFill>
                <a:latin typeface="Consolas"/>
              </a:rPr>
              <a:t>HAVING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`INNER` când voiai toate rândurile</a:t>
            </a:r>
            <a:r>
              <a:rPr b="0" sz="1400">
                <a:solidFill>
                  <a:srgbClr val="F2F2F2"/>
                </a:solidFill>
                <a:latin typeface="Arial"/>
              </a:rPr>
              <a:t> → dispar comenzile fără campanie (10438); pentru toate, </a:t>
            </a:r>
            <a:r>
              <a:rPr sz="1400">
                <a:solidFill>
                  <a:srgbClr val="FFA24E"/>
                </a:solidFill>
                <a:latin typeface="Consolas"/>
              </a:rPr>
              <a:t>LEFT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primul raport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</a:t>
            </a:r>
            <a:r>
              <a:rPr sz="1400">
                <a:solidFill>
                  <a:srgbClr val="FFA24E"/>
                </a:solidFill>
                <a:latin typeface="Consolas"/>
              </a:rPr>
              <a:t>JOIN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b="1" sz="1400">
                <a:solidFill>
                  <a:srgbClr val="F2F2F2"/>
                </a:solidFill>
                <a:latin typeface="Arial"/>
              </a:rPr>
              <a:t>adaugă</a:t>
            </a:r>
            <a:r>
              <a:rPr b="0" sz="1400">
                <a:solidFill>
                  <a:srgbClr val="F2F2F2"/>
                </a:solidFill>
                <a:latin typeface="Arial"/>
              </a:rPr>
              <a:t> tabele — restul rămâne neschimbat; </a:t>
            </a:r>
            <a:r>
              <a:rPr sz="1400">
                <a:solidFill>
                  <a:srgbClr val="FFA24E"/>
                </a:solidFill>
                <a:latin typeface="Consolas"/>
              </a:rPr>
              <a:t>JOIN</a:t>
            </a:r>
            <a:r>
              <a:rPr b="0" sz="1400">
                <a:solidFill>
                  <a:srgbClr val="F2F2F2"/>
                </a:solidFill>
                <a:latin typeface="Arial"/>
              </a:rPr>
              <a:t> vine imediat după </a:t>
            </a:r>
            <a:r>
              <a:rPr sz="1400">
                <a:solidFill>
                  <a:srgbClr val="FFA24E"/>
                </a:solidFill>
                <a:latin typeface="Consolas"/>
              </a:rPr>
              <a:t>FROM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scheletul: </a:t>
            </a:r>
            <a:r>
              <a:rPr sz="1400">
                <a:solidFill>
                  <a:srgbClr val="FFA24E"/>
                </a:solidFill>
                <a:latin typeface="Consolas"/>
              </a:rPr>
              <a:t>SELECT … FROM … JOIN … ON … WHERE … GROUP BY … HAVING … ORDER BY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valoare de rând → `WHERE`</a:t>
            </a:r>
            <a:r>
              <a:rPr b="0" sz="1400">
                <a:solidFill>
                  <a:srgbClr val="F2F2F2"/>
                </a:solidFill>
                <a:latin typeface="Arial"/>
              </a:rPr>
              <a:t> (chiar dintr-un tabel legat); </a:t>
            </a:r>
            <a:r>
              <a:rPr b="1" sz="1400">
                <a:solidFill>
                  <a:srgbClr val="F2F2F2"/>
                </a:solidFill>
                <a:latin typeface="Arial"/>
              </a:rPr>
              <a:t>agregat → `HAVING`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canalele mari: </a:t>
            </a:r>
            <a:r>
              <a:rPr b="1" sz="1400">
                <a:solidFill>
                  <a:srgbClr val="F2F2F2"/>
                </a:solidFill>
                <a:latin typeface="Arial"/>
              </a:rPr>
              <a:t>SMS/Google/Facebook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&gt; 1M</a:t>
            </a:r>
            <a:r>
              <a:rPr b="0" sz="1400">
                <a:solidFill>
                  <a:srgbClr val="F2F2F2"/>
                </a:solidFill>
                <a:latin typeface="Arial"/>
              </a:rPr>
              <a:t>); loialitatea = </a:t>
            </a:r>
            <a:r>
              <a:rPr b="1" sz="1400">
                <a:solidFill>
                  <a:srgbClr val="F2F2F2"/>
                </a:solidFill>
                <a:latin typeface="Arial"/>
              </a:rPr>
              <a:t>frecvență</a:t>
            </a:r>
            <a:r>
              <a:rPr b="0" sz="1400">
                <a:solidFill>
                  <a:srgbClr val="F2F2F2"/>
                </a:solidFill>
                <a:latin typeface="Arial"/>
              </a:rPr>
              <a:t> (AOV egal)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MILESTONE de proiect: primul raport complet, pe mai multe tabele. Punte → </a:t>
            </a:r>
            <a:r>
              <a:rPr b="1" sz="1300">
                <a:solidFill>
                  <a:srgbClr val="F2F2F2"/>
                </a:solidFill>
                <a:latin typeface="Arial"/>
              </a:rPr>
              <a:t>L27</a:t>
            </a:r>
            <a:r>
              <a:rPr b="0" sz="1300">
                <a:solidFill>
                  <a:srgbClr val="F2F2F2"/>
                </a:solidFill>
                <a:latin typeface="Arial"/>
              </a:rPr>
              <a:t> — o investigație </a:t>
            </a:r>
            <a:r>
              <a:rPr b="1" sz="1300">
                <a:solidFill>
                  <a:srgbClr val="F2F2F2"/>
                </a:solidFill>
                <a:latin typeface="Arial"/>
              </a:rPr>
              <a:t>cap-coadă</a:t>
            </a:r>
            <a:r>
              <a:rPr b="0" sz="1300">
                <a:solidFill>
                  <a:srgbClr val="F2F2F2"/>
                </a:solidFill>
                <a:latin typeface="Arial"/>
              </a:rPr>
              <a:t> în SQL, de la întrebare la decizie.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L26 · JOIN II  ·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