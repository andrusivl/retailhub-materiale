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Deschidere. Prima zi de SQL. În Modulul 3 ai închis investigația din septembrie în Excel — dar acolo aveai doar ~15.000 de comenzi. Baza reală are milioane de rânduri. Azi înveți să le întrebi direct: SELECT (ce coloane) · FROM (ce tabel) · WHERE (ce rânduri). Baza RetailHub e deja încărcată din RetailHub.sql; te conectezi în MySQL Workbench și scriem împreună.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 puntea de la Excel la SQL. În Modulul 3 ai închis investigația din septembrie cu un dashboard. Reflexul de analist e deja al tău. Dar Excel s-a oprit la extractul de ~15.000 de comenzi; firma reală are milioane de rânduri. Azi faci același drum, dar pe date de mărime reală — întrebi baza direct.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Enunță obiectivele ca abilități concrete. Fiecare devine, peste o jumătate de oră, o interogare pe care o scrii tu. Plantează ideea mare: o interogare e o întrebare, nu o răsfoire.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Orientare. O bază de date (retailhub) conține tabele — echivalentul foilor din Excel, dar cu tip fix pe coloană și fără limită practică de rânduri. Aceeași lume ca în Excel: orders, stores, products… Setup o singură dată: Open SQL Script, alegi RetailHub.sql, Execute. Verifici cu COUNT(*) FROM orders → 14968.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Contextul care declanșează lecția. Andrei, șeful de Data &amp; Analytics, te mută pe SQL: datele au depășit Excel. Aceleași întrebări de business, alt instrument, care scalează.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Cârligul, și e o greșeală de gândire. Ioana a vrut «să vadă comenzile» și a cerut tot. Pe extractul mic mergea; pe baza reală a tras milioane de rânduri și toate coloanele. Nu a cerut ce voia. Antidotul e să ceri exact: coloanele care contează, rândurile care te interesează.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Ideea unică. Diferența dintre a răsfoi tot dosarul cu mâna și a-i spune arhivarului exact ce vrei. Tu spui CE (coloane), DE UNDE (tabel) și CARE (filtru); baza caută. Anatomia minimă: SELECT · FROM · WHERE, terminată cu punct și virgulă.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Miezul de referință. Trei clauze în ordine: SELECT (coloane), FROM (tabel), WHERE (rânduri), plus LIMIT (tragi cu ochiul). Regula de tip care prinde jumătate din greșeli: numere fără ghilimele, text și date cu ghilimele simple, iar o dată are formatul AAAA-LL-ZZ.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Foaia de referință pentru orders — coloanele cu care lucrezi azi. Punctul cheie: StoreID e un cod, nu un nume. Numele orașului e în tabelul stores; deocamdată filtrezi pe cod, iar în L25 legăm tabelele cu JOIN ca să aducem numele.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Prima demonstrație. LIMIT 10 e «arată-mi doar un colț», ca să înțelegi forma tabelului fără să tragi tot. Apoi ceri coloanele explicit: mai clar, mai rapid pe tabele mari. SELECT * e bun doar ca să tragi cu ochiul, nu într-un raport.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Vârful lecției — lasă-l să respire. Ai regăsit felia din septembrie 2025 (454 de comenzi) direct în bază, cu un WHERE pe dată. Insistă pe interval: o lună nu e o valoare, e de la 1 septembrie inclusiv până înainte de 1 octombrie, cu datele în ghilimele. Ăsta e finding-ul #1, acum pe o bază care scalează.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 doilea filtru: pe cod numeric. StoreID = 2 aduce cele 855 de comenzi de la Cluj. Codul se scrie fără ghilimele, fiindcă e număr. Repetă verificarea: 454, 855, 14968 — dacă la septembrie primești mult mai multe, verifică ghilimelele și formatul datei.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Elicitează, mai ales prima. Cele patru greșeli pe care le face aproape orice junior: SELECT * fără filtru, data prost scrisă, ghilimele pe tipul greșit, și punct-virgula uitat. Fiecare are un antidot simplu: cere coloanele, folosește interval de dată în ghilimele, respectă tipurile, termină cu ;.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Închide cu milestone-ul: ai mutat investigația din Excel în SQL. Aceeași lume, aceleași finding-uri (454, 855), dar pe o bază care nu se oprește la 15.000 de rânduri. Regulile de aur: cere coloanele, respectă tipurile, o lună e un interval. Salvează scriptul .sql. Urmează L21, unde rafinezi filtrul.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13087" y="502920"/>
            <a:ext cx="1920240" cy="69635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148840"/>
            <a:ext cx="1087495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FF7900"/>
                </a:solidFill>
                <a:latin typeface="Consolas"/>
              </a:rPr>
              <a:t>● </a:t>
            </a:r>
            <a:r>
              <a:rPr sz="1300" b="1">
                <a:solidFill>
                  <a:srgbClr val="FFA24E"/>
                </a:solidFill>
                <a:latin typeface="Consolas"/>
              </a:rPr>
              <a:t>MODULUL 4 · LECȚIA 20 · PRIMA LECȚIE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697480"/>
            <a:ext cx="10874959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4400">
                <a:solidFill>
                  <a:srgbClr val="F2F2F2"/>
                </a:solidFill>
                <a:latin typeface="Arial"/>
              </a:rPr>
              <a:t>SELECT &amp; WHERE — pui o întrebare unei tabele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4297680"/>
            <a:ext cx="1280160" cy="508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526280"/>
            <a:ext cx="10874959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0" sz="1700">
                <a:solidFill>
                  <a:srgbClr val="B0B0B4"/>
                </a:solidFill>
                <a:latin typeface="Arial"/>
              </a:rPr>
              <a:t>Business Question → Data → SQL (întreabă) → Answer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440680"/>
            <a:ext cx="10874959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77777C"/>
                </a:solidFill>
                <a:latin typeface="Consolas"/>
              </a:rPr>
              <a:t>Miercuri, 28 octombrie 2026  ·  Offline, Orange Systems</a:t>
            </a:r>
          </a:p>
          <a:p>
            <a:r>
              <a:rPr sz="1300" b="1">
                <a:solidFill>
                  <a:srgbClr val="F2F2F2"/>
                </a:solidFill>
                <a:latin typeface="Arial"/>
              </a:rPr>
              <a:t>Liliana Spatari — Lead Data Analyst, Orange Systems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L20 · SELECT/WHERE  ·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Unde am rămas (Excel → SQL)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066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Modulul 3: ai dus septembrie de la o întrebare la un </a:t>
            </a:r>
            <a:r>
              <a:rPr b="1" sz="1500">
                <a:solidFill>
                  <a:srgbClr val="F2F2F2"/>
                </a:solidFill>
                <a:latin typeface="Arial"/>
              </a:rPr>
              <a:t>dashboard</a:t>
            </a:r>
            <a:r>
              <a:rPr b="0" sz="1500">
                <a:solidFill>
                  <a:srgbClr val="F2F2F2"/>
                </a:solidFill>
                <a:latin typeface="Arial"/>
              </a:rPr>
              <a:t> de o pagină (L19)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curățare → calcul → sumarizare → grafice → raport, cap-coadă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1" sz="1500">
                <a:solidFill>
                  <a:srgbClr val="F2F2F2"/>
                </a:solidFill>
                <a:latin typeface="Arial"/>
              </a:rPr>
              <a:t>dar</a:t>
            </a:r>
            <a:r>
              <a:rPr b="0" sz="1500">
                <a:solidFill>
                  <a:srgbClr val="F2F2F2"/>
                </a:solidFill>
                <a:latin typeface="Arial"/>
              </a:rPr>
              <a:t> Excel s-a oprit la ~</a:t>
            </a:r>
            <a:r>
              <a:rPr b="1" sz="1500">
                <a:solidFill>
                  <a:srgbClr val="F2F2F2"/>
                </a:solidFill>
                <a:latin typeface="Arial"/>
              </a:rPr>
              <a:t>15.000</a:t>
            </a:r>
            <a:r>
              <a:rPr b="0" sz="1500">
                <a:solidFill>
                  <a:srgbClr val="F2F2F2"/>
                </a:solidFill>
                <a:latin typeface="Arial"/>
              </a:rPr>
              <a:t> de comenzi — extractul, nu firma întreagă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849624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Datele reale au </a:t>
            </a:r>
            <a:r>
              <a:rPr b="1" sz="1400">
                <a:solidFill>
                  <a:srgbClr val="F2F2F2"/>
                </a:solidFill>
                <a:latin typeface="Arial"/>
              </a:rPr>
              <a:t>milioane</a:t>
            </a:r>
            <a:r>
              <a:rPr b="0" sz="1400">
                <a:solidFill>
                  <a:srgbClr val="F2F2F2"/>
                </a:solidFill>
                <a:latin typeface="Arial"/>
              </a:rPr>
              <a:t> de rânduri: nu încap într-o foaie, nu le descarci de fiecare dată. De azi le </a:t>
            </a:r>
            <a:r>
              <a:rPr b="1" sz="1400">
                <a:solidFill>
                  <a:srgbClr val="F2F2F2"/>
                </a:solidFill>
                <a:latin typeface="Arial"/>
              </a:rPr>
              <a:t>întrebi direct</a:t>
            </a:r>
            <a:r>
              <a:rPr b="0" sz="1400">
                <a:solidFill>
                  <a:srgbClr val="F2F2F2"/>
                </a:solidFill>
                <a:latin typeface="Arial"/>
              </a:rPr>
              <a:t> — cu SQL.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L20 · SELECT/WHERE  ·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vei putea face azi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633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te conectezi la baza </a:t>
            </a:r>
            <a:r>
              <a:rPr b="1" sz="1500">
                <a:solidFill>
                  <a:srgbClr val="F2F2F2"/>
                </a:solidFill>
                <a:latin typeface="Arial"/>
              </a:rPr>
              <a:t>RetailHub</a:t>
            </a:r>
            <a:r>
              <a:rPr b="0" sz="1500">
                <a:solidFill>
                  <a:srgbClr val="F2F2F2"/>
                </a:solidFill>
                <a:latin typeface="Arial"/>
              </a:rPr>
              <a:t> și rulezi o interogare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scrii </a:t>
            </a:r>
            <a:r>
              <a:rPr sz="1500">
                <a:solidFill>
                  <a:srgbClr val="FFA24E"/>
                </a:solidFill>
                <a:latin typeface="Consolas"/>
              </a:rPr>
              <a:t>SELECT coloane FROM tabel</a:t>
            </a:r>
            <a:r>
              <a:rPr b="0" sz="1500">
                <a:solidFill>
                  <a:srgbClr val="F2F2F2"/>
                </a:solidFill>
                <a:latin typeface="Arial"/>
              </a:rPr>
              <a:t> — ce coloane, din ce tabel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tragi cu ochiul cu </a:t>
            </a:r>
            <a:r>
              <a:rPr sz="1500">
                <a:solidFill>
                  <a:srgbClr val="FFA24E"/>
                </a:solidFill>
                <a:latin typeface="Consolas"/>
              </a:rPr>
              <a:t>LIMIT</a:t>
            </a:r>
            <a:r>
              <a:rPr b="0" sz="1500">
                <a:solidFill>
                  <a:srgbClr val="F2F2F2"/>
                </a:solidFill>
                <a:latin typeface="Arial"/>
              </a:rPr>
              <a:t>; vezi de ce </a:t>
            </a:r>
            <a:r>
              <a:rPr sz="1500">
                <a:solidFill>
                  <a:srgbClr val="FFA24E"/>
                </a:solidFill>
                <a:latin typeface="Consolas"/>
              </a:rPr>
              <a:t>SELECT *</a:t>
            </a:r>
            <a:r>
              <a:rPr b="0" sz="1500">
                <a:solidFill>
                  <a:srgbClr val="F2F2F2"/>
                </a:solidFill>
                <a:latin typeface="Arial"/>
              </a:rPr>
              <a:t> pe un tabel mare e o greșeală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500">
                <a:solidFill>
                  <a:srgbClr val="FF7900"/>
                </a:solidFill>
                <a:latin typeface="Consolas"/>
              </a:rPr>
              <a:t>— </a:t>
            </a:r>
            <a:r>
              <a:rPr b="0" sz="1500">
                <a:solidFill>
                  <a:srgbClr val="F2F2F2"/>
                </a:solidFill>
                <a:latin typeface="Arial"/>
              </a:rPr>
              <a:t>filtrezi rândurile cu </a:t>
            </a:r>
            <a:r>
              <a:rPr sz="15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500">
                <a:solidFill>
                  <a:srgbClr val="F2F2F2"/>
                </a:solidFill>
                <a:latin typeface="Arial"/>
              </a:rPr>
              <a:t> — după număr, text sau </a:t>
            </a:r>
            <a:r>
              <a:rPr b="1" sz="1500">
                <a:solidFill>
                  <a:srgbClr val="F2F2F2"/>
                </a:solidFill>
                <a:latin typeface="Arial"/>
              </a:rPr>
              <a:t>dată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41655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Ideea centrală de azi: o interogare e o </a:t>
            </a:r>
            <a:r>
              <a:rPr b="1" sz="1400">
                <a:solidFill>
                  <a:srgbClr val="F2F2F2"/>
                </a:solidFill>
                <a:latin typeface="Arial"/>
              </a:rPr>
              <a:t>întrebare scrisă</a:t>
            </a:r>
            <a:r>
              <a:rPr b="0" sz="1400">
                <a:solidFill>
                  <a:srgbClr val="F2F2F2"/>
                </a:solidFill>
                <a:latin typeface="Arial"/>
              </a:rPr>
              <a:t> — în SQL nu răsfoiești, </a:t>
            </a:r>
            <a:r>
              <a:rPr b="1" sz="1400">
                <a:solidFill>
                  <a:srgbClr val="F2F2F2"/>
                </a:solidFill>
                <a:latin typeface="Arial"/>
              </a:rPr>
              <a:t>ceri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L20 · SELECT/WHERE  ·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SETUP · RETAILHUB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O bază, tabele, o interogare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22128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6880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Tabel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Ce conține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orders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comenzile (dată, magazin, sumă)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stores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magazinele → oraș, regiune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products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produsele → preț, categorie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categories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categoriile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808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campaigns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campaniile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4133088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Încarci </a:t>
            </a:r>
            <a:r>
              <a:rPr sz="1400">
                <a:solidFill>
                  <a:srgbClr val="FFA24E"/>
                </a:solidFill>
                <a:latin typeface="Consolas"/>
              </a:rPr>
              <a:t>RetailHub.sql</a:t>
            </a:r>
            <a:r>
              <a:rPr b="0" sz="1400">
                <a:solidFill>
                  <a:srgbClr val="F2F2F2"/>
                </a:solidFill>
                <a:latin typeface="Arial"/>
              </a:rPr>
              <a:t> o dată (</a:t>
            </a:r>
            <a:r>
              <a:rPr sz="1400">
                <a:solidFill>
                  <a:srgbClr val="FFA24E"/>
                </a:solidFill>
                <a:latin typeface="Consolas"/>
              </a:rPr>
              <a:t>Open SQL Script</a:t>
            </a:r>
            <a:r>
              <a:rPr b="0" sz="1400">
                <a:solidFill>
                  <a:srgbClr val="F2F2F2"/>
                </a:solidFill>
                <a:latin typeface="Arial"/>
              </a:rPr>
              <a:t> → ⚡). Verifici: </a:t>
            </a:r>
            <a:r>
              <a:rPr sz="1400">
                <a:solidFill>
                  <a:srgbClr val="FFA24E"/>
                </a:solidFill>
                <a:latin typeface="Consolas"/>
              </a:rPr>
              <a:t>SELECT COUNT(*) FROM orders;</a:t>
            </a:r>
            <a:r>
              <a:rPr b="0" sz="1400">
                <a:solidFill>
                  <a:srgbClr val="F2F2F2"/>
                </a:solidFill>
                <a:latin typeface="Arial"/>
              </a:rPr>
              <a:t> → </a:t>
            </a:r>
            <a:r>
              <a:rPr b="1" sz="1400">
                <a:solidFill>
                  <a:srgbClr val="F2F2F2"/>
                </a:solidFill>
                <a:latin typeface="Arial"/>
              </a:rPr>
              <a:t>14968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L20 · SELECT/WHERE  ·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MOMENTUL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«Datele nu mai încap în Excel» (Andrei)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20985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„Ai făcut treabă bună pe extractul din Excel — dar acolo aveai 15.000 de comenzi. Baza reală are toate comenzile, din toate magazinele, pe toți anii. De acum </a:t>
            </a:r>
            <a:r>
              <a:rPr b="1" sz="1500">
                <a:solidFill>
                  <a:srgbClr val="F2F2F2"/>
                </a:solidFill>
                <a:latin typeface="Arial"/>
              </a:rPr>
              <a:t>întrebi baza direct</a:t>
            </a:r>
            <a:r>
              <a:rPr b="0" sz="1500">
                <a:solidFill>
                  <a:srgbClr val="F2F2F2"/>
                </a:solidFill>
                <a:latin typeface="Arial"/>
              </a:rPr>
              <a:t>, cu SQL. Aceleași întrebări, alt instrument — și scalează.”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187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Deschizi baza </a:t>
            </a:r>
            <a:r>
              <a:rPr sz="1500">
                <a:solidFill>
                  <a:srgbClr val="FFA24E"/>
                </a:solidFill>
                <a:latin typeface="Consolas"/>
              </a:rPr>
              <a:t>RetailHub</a:t>
            </a:r>
            <a:r>
              <a:rPr b="0" sz="1500">
                <a:solidFill>
                  <a:srgbClr val="F2F2F2"/>
                </a:solidFill>
                <a:latin typeface="Arial"/>
              </a:rPr>
              <a:t>: aceeași lume ca în Excel, dar ca </a:t>
            </a:r>
            <a:r>
              <a:rPr b="1" sz="1500">
                <a:solidFill>
                  <a:srgbClr val="F2F2F2"/>
                </a:solidFill>
                <a:latin typeface="Arial"/>
              </a:rPr>
              <a:t>tabele</a:t>
            </a:r>
            <a:r>
              <a:rPr b="0" sz="1500">
                <a:solidFill>
                  <a:srgbClr val="F2F2F2"/>
                </a:solidFill>
                <a:latin typeface="Arial"/>
              </a:rPr>
              <a:t> pe care le </a:t>
            </a:r>
            <a:r>
              <a:rPr b="1" sz="1500">
                <a:solidFill>
                  <a:srgbClr val="F2F2F2"/>
                </a:solidFill>
                <a:latin typeface="Arial"/>
              </a:rPr>
              <a:t>întrebi</a:t>
            </a:r>
            <a:r>
              <a:rPr b="0" sz="1500">
                <a:solidFill>
                  <a:srgbClr val="F2F2F2"/>
                </a:solidFill>
                <a:latin typeface="Arial"/>
              </a:rPr>
              <a:t>, nu le scrolezi.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L20 · SELECT/WHERE  ·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ATENȚIE · ANTI-EXEMPLU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Ce a pățit Ioana: SELECT * fără WHERE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722376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-- pe baza reală, un accident: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* FROM orders;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642616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A tras </a:t>
            </a:r>
            <a:r>
              <a:rPr b="1" sz="1500">
                <a:solidFill>
                  <a:srgbClr val="F2F2F2"/>
                </a:solidFill>
                <a:latin typeface="Arial"/>
              </a:rPr>
              <a:t>toate</a:t>
            </a:r>
            <a:r>
              <a:rPr b="0" sz="1500">
                <a:solidFill>
                  <a:srgbClr val="F2F2F2"/>
                </a:solidFill>
                <a:latin typeface="Arial"/>
              </a:rPr>
              <a:t> rândurile și </a:t>
            </a:r>
            <a:r>
              <a:rPr b="1" sz="1500">
                <a:solidFill>
                  <a:srgbClr val="F2F2F2"/>
                </a:solidFill>
                <a:latin typeface="Arial"/>
              </a:rPr>
              <a:t>toate</a:t>
            </a:r>
            <a:r>
              <a:rPr b="0" sz="1500">
                <a:solidFill>
                  <a:srgbClr val="F2F2F2"/>
                </a:solidFill>
                <a:latin typeface="Arial"/>
              </a:rPr>
              <a:t> coloanele — a blocat ecranul, a durat un minut și tot n-a găsit septembrie: nu filtrase nimic.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990300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„Am cerut tot, deși voiam doar septembrie.” Antidotul e chiar structura interogării: </a:t>
            </a:r>
            <a:r>
              <a:rPr sz="1400">
                <a:solidFill>
                  <a:srgbClr val="FFA24E"/>
                </a:solidFill>
                <a:latin typeface="Consolas"/>
              </a:rPr>
              <a:t>SELECT</a:t>
            </a:r>
            <a:r>
              <a:rPr b="0" sz="1400">
                <a:solidFill>
                  <a:srgbClr val="F2F2F2"/>
                </a:solidFill>
                <a:latin typeface="Arial"/>
              </a:rPr>
              <a:t> (ce) · </a:t>
            </a:r>
            <a:r>
              <a:rPr sz="1400">
                <a:solidFill>
                  <a:srgbClr val="FFA24E"/>
                </a:solidFill>
                <a:latin typeface="Consolas"/>
              </a:rPr>
              <a:t>FROM</a:t>
            </a:r>
            <a:r>
              <a:rPr b="0" sz="1400">
                <a:solidFill>
                  <a:srgbClr val="F2F2F2"/>
                </a:solidFill>
                <a:latin typeface="Arial"/>
              </a:rPr>
              <a:t> (de unde) · </a:t>
            </a:r>
            <a:r>
              <a:rPr sz="14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400">
                <a:solidFill>
                  <a:srgbClr val="F2F2F2"/>
                </a:solidFill>
                <a:latin typeface="Arial"/>
              </a:rPr>
              <a:t> (care).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L20 · SELECT/WHERE  ·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IDEEA CENTRALĂ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O interogare e o întrebare, nu o răsfoire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1765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În Excel deschideai foaia și </a:t>
            </a:r>
            <a:r>
              <a:rPr b="1" sz="1500">
                <a:solidFill>
                  <a:srgbClr val="F2F2F2"/>
                </a:solidFill>
                <a:latin typeface="Arial"/>
              </a:rPr>
              <a:t>derulai</a:t>
            </a:r>
            <a:r>
              <a:rPr b="0" sz="1500">
                <a:solidFill>
                  <a:srgbClr val="F2F2F2"/>
                </a:solidFill>
                <a:latin typeface="Arial"/>
              </a:rPr>
              <a:t>. În SQL nu derulezi — </a:t>
            </a:r>
            <a:r>
              <a:rPr b="1" sz="1500">
                <a:solidFill>
                  <a:srgbClr val="F2F2F2"/>
                </a:solidFill>
                <a:latin typeface="Arial"/>
              </a:rPr>
              <a:t>ceri</a:t>
            </a:r>
            <a:r>
              <a:rPr b="0" sz="1500">
                <a:solidFill>
                  <a:srgbClr val="F2F2F2"/>
                </a:solidFill>
                <a:latin typeface="Arial"/>
              </a:rPr>
              <a:t>. Îi spui arhivarului: „dă-mi doar comenzile din septembrie, doar coloanele dată și sumă”. El aduce fix atât, chiar dacă dosarul are milioane de pagini.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658303"/>
            <a:ext cx="10874959" cy="955547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OrderID, OrderDate, TotalAmount   -- ce coloane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                              -- din ce tabel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WHERE StoreID = 2;                        -- ce rânduri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L20 · SELECT/WHERE  ·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STRUCTURA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Trei cuvinte-cheie, în ordine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18470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24986"/>
                <a:gridCol w="3624986"/>
                <a:gridCol w="3624987"/>
              </a:tblGrid>
              <a:tr h="369417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Vrei…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Clauza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B0B0B4"/>
                          </a:solidFill>
                          <a:latin typeface="Consolas"/>
                        </a:rPr>
                        <a:t>Exemplu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Alegi coloanele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SELECT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SELECT OrderID, TotalAmount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Alegi tabelul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FROM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FROM orders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9417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Alegi rândurile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WHERE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WHERE OrderDate &gt;= '2025-09-01'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9420">
                <a:tc>
                  <a:txBody>
                    <a:bodyPr/>
                    <a:lstStyle/>
                    <a:p>
                      <a:r>
                        <a:rPr b="0" sz="1200">
                          <a:solidFill>
                            <a:srgbClr val="F2F2F2"/>
                          </a:solidFill>
                          <a:latin typeface="Arial"/>
                        </a:rPr>
                        <a:t>Tragi cu ochiul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LIMIT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FA24E"/>
                          </a:solidFill>
                          <a:latin typeface="Consolas"/>
                        </a:rPr>
                        <a:t>LIMIT 10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376732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Reguli de tip în </a:t>
            </a:r>
            <a:r>
              <a:rPr sz="13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300">
                <a:solidFill>
                  <a:srgbClr val="F2F2F2"/>
                </a:solidFill>
                <a:latin typeface="Arial"/>
              </a:rPr>
              <a:t>: </a:t>
            </a:r>
            <a:r>
              <a:rPr b="1" sz="1300">
                <a:solidFill>
                  <a:srgbClr val="F2F2F2"/>
                </a:solidFill>
                <a:latin typeface="Arial"/>
              </a:rPr>
              <a:t>numerele</a:t>
            </a:r>
            <a:r>
              <a:rPr b="0" sz="1300">
                <a:solidFill>
                  <a:srgbClr val="F2F2F2"/>
                </a:solidFill>
                <a:latin typeface="Arial"/>
              </a:rPr>
              <a:t> simplu (</a:t>
            </a:r>
            <a:r>
              <a:rPr sz="1300">
                <a:solidFill>
                  <a:srgbClr val="FFA24E"/>
                </a:solidFill>
                <a:latin typeface="Consolas"/>
              </a:rPr>
              <a:t>StoreID = 2</a:t>
            </a:r>
            <a:r>
              <a:rPr b="0" sz="1300">
                <a:solidFill>
                  <a:srgbClr val="F2F2F2"/>
                </a:solidFill>
                <a:latin typeface="Arial"/>
              </a:rPr>
              <a:t>); </a:t>
            </a:r>
            <a:r>
              <a:rPr b="1" sz="1300">
                <a:solidFill>
                  <a:srgbClr val="F2F2F2"/>
                </a:solidFill>
                <a:latin typeface="Arial"/>
              </a:rPr>
              <a:t>textul și datele</a:t>
            </a:r>
            <a:r>
              <a:rPr b="0" sz="1300">
                <a:solidFill>
                  <a:srgbClr val="F2F2F2"/>
                </a:solidFill>
                <a:latin typeface="Arial"/>
              </a:rPr>
              <a:t> în ghilimele simple (</a:t>
            </a:r>
            <a:r>
              <a:rPr sz="1300">
                <a:solidFill>
                  <a:srgbClr val="FFA24E"/>
                </a:solidFill>
                <a:latin typeface="Consolas"/>
              </a:rPr>
              <a:t>'Card'</a:t>
            </a:r>
            <a:r>
              <a:rPr b="0" sz="1300">
                <a:solidFill>
                  <a:srgbClr val="F2F2F2"/>
                </a:solidFill>
                <a:latin typeface="Arial"/>
              </a:rPr>
              <a:t>, </a:t>
            </a:r>
            <a:r>
              <a:rPr sz="1300">
                <a:solidFill>
                  <a:srgbClr val="FFA24E"/>
                </a:solidFill>
                <a:latin typeface="Consolas"/>
              </a:rPr>
              <a:t>'2025-09-01'</a:t>
            </a:r>
            <a:r>
              <a:rPr b="0" sz="1300">
                <a:solidFill>
                  <a:srgbClr val="F2F2F2"/>
                </a:solidFill>
                <a:latin typeface="Arial"/>
              </a:rPr>
              <a:t>). Datele: formatul </a:t>
            </a:r>
            <a:r>
              <a:rPr sz="1300">
                <a:solidFill>
                  <a:srgbClr val="FFA24E"/>
                </a:solidFill>
                <a:latin typeface="Consolas"/>
              </a:rPr>
              <a:t>'AAAA-LL-ZZ'</a:t>
            </a:r>
            <a:r>
              <a:rPr b="0" sz="13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L20 · SELECT/WHERE  ·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REFERINȚĂ · ORDERS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Coloanele din tabelul orders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58368" y="1783080"/>
          <a:ext cx="10874959" cy="25786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37479"/>
                <a:gridCol w="5437480"/>
              </a:tblGrid>
              <a:tr h="36837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Coloană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B0B0B4"/>
                          </a:solidFill>
                          <a:latin typeface="Consolas"/>
                        </a:rPr>
                        <a:t>Ce e</a:t>
                      </a:r>
                    </a:p>
                  </a:txBody>
                  <a:tcPr marL="91440" marT="27432" marB="27432" anchor="ctr">
                    <a:solidFill>
                      <a:srgbClr val="1E1E22"/>
                    </a:solidFill>
                  </a:tcPr>
                </a:tc>
              </a:tr>
              <a:tr h="36837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OrderID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codul comenzii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37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OrderDate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data comenzii (</a:t>
                      </a:r>
                      <a:r>
                        <a:rPr sz="1100">
                          <a:solidFill>
                            <a:srgbClr val="FFA24E"/>
                          </a:solidFill>
                          <a:latin typeface="Consolas"/>
                        </a:rPr>
                        <a:t>'AAAA-LL-ZZ'</a:t>
                      </a:r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37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StoreID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codul magazinului (2 = Cluj-Napoca)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37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CampaignID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campania (poate lipsi)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  <a:tr h="368372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TotalAmount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suma comenzii (lei)</a:t>
                      </a:r>
                    </a:p>
                  </a:txBody>
                  <a:tcPr marL="91440" marT="27432" marB="27432" anchor="ctr">
                    <a:solidFill>
                      <a:srgbClr val="151517"/>
                    </a:solidFill>
                  </a:tcPr>
                </a:tc>
              </a:tr>
              <a:tr h="368376"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PaymentMethod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0" sz="1100">
                          <a:solidFill>
                            <a:srgbClr val="F2F2F2"/>
                          </a:solidFill>
                          <a:latin typeface="Arial"/>
                        </a:rPr>
                        <a:t>Card, Cash, Voucher…</a:t>
                      </a:r>
                    </a:p>
                  </a:txBody>
                  <a:tcPr marL="91440" marT="27432" marB="27432" anchor="ctr">
                    <a:solidFill>
                      <a:srgbClr val="1A1A1E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58368" y="449884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StoreID</a:t>
            </a:r>
            <a:r>
              <a:rPr b="0" sz="1300">
                <a:solidFill>
                  <a:srgbClr val="F2F2F2"/>
                </a:solidFill>
                <a:latin typeface="Arial"/>
              </a:rPr>
              <a:t> e un </a:t>
            </a:r>
            <a:r>
              <a:rPr b="1" sz="1300">
                <a:solidFill>
                  <a:srgbClr val="F2F2F2"/>
                </a:solidFill>
                <a:latin typeface="Arial"/>
              </a:rPr>
              <a:t>cod</a:t>
            </a:r>
            <a:r>
              <a:rPr b="0" sz="1300">
                <a:solidFill>
                  <a:srgbClr val="F2F2F2"/>
                </a:solidFill>
                <a:latin typeface="Arial"/>
              </a:rPr>
              <a:t> (2 = Cluj-Napoca, ca în L15); numele orașului trăiește în </a:t>
            </a:r>
            <a:r>
              <a:rPr sz="1300">
                <a:solidFill>
                  <a:srgbClr val="FFA24E"/>
                </a:solidFill>
                <a:latin typeface="Consolas"/>
              </a:rPr>
              <a:t>stores</a:t>
            </a:r>
            <a:r>
              <a:rPr b="0" sz="1300">
                <a:solidFill>
                  <a:srgbClr val="F2F2F2"/>
                </a:solidFill>
                <a:latin typeface="Arial"/>
              </a:rPr>
              <a:t> și îl vom </a:t>
            </a:r>
            <a:r>
              <a:rPr b="1" sz="1300">
                <a:solidFill>
                  <a:srgbClr val="F2F2F2"/>
                </a:solidFill>
                <a:latin typeface="Arial"/>
              </a:rPr>
              <a:t>lega</a:t>
            </a:r>
            <a:r>
              <a:rPr b="0" sz="1300">
                <a:solidFill>
                  <a:srgbClr val="F2F2F2"/>
                </a:solidFill>
                <a:latin typeface="Arial"/>
              </a:rPr>
              <a:t> cu un </a:t>
            </a:r>
            <a:r>
              <a:rPr sz="1300">
                <a:solidFill>
                  <a:srgbClr val="FFA24E"/>
                </a:solidFill>
                <a:latin typeface="Consolas"/>
              </a:rPr>
              <a:t>JOIN</a:t>
            </a:r>
            <a:r>
              <a:rPr b="0" sz="1300">
                <a:solidFill>
                  <a:srgbClr val="F2F2F2"/>
                </a:solidFill>
                <a:latin typeface="Arial"/>
              </a:rPr>
              <a:t> în L25.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L20 · SELECT/WHERE  ·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EXEMPLU · PEEK + COLOANE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Tragi cu ochiul, apoi ceri doar ce-ți trebuie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1421892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* FROM orders LIMIT 10;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 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OrderID, OrderDate, StoreID, TotalAmount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LIMIT 10;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334213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🖥️ Prima: 10 comenzi cu </a:t>
            </a:r>
            <a:r>
              <a:rPr b="1" sz="1400">
                <a:solidFill>
                  <a:srgbClr val="F2F2F2"/>
                </a:solidFill>
                <a:latin typeface="Arial"/>
              </a:rPr>
              <a:t>toate</a:t>
            </a:r>
            <a:r>
              <a:rPr b="0" sz="1400">
                <a:solidFill>
                  <a:srgbClr val="F2F2F2"/>
                </a:solidFill>
                <a:latin typeface="Arial"/>
              </a:rPr>
              <a:t> coloanele (ca să vezi forma). A doua: aceleași 10 rânduri, dar </a:t>
            </a:r>
            <a:r>
              <a:rPr b="1" sz="1400">
                <a:solidFill>
                  <a:srgbClr val="F2F2F2"/>
                </a:solidFill>
                <a:latin typeface="Arial"/>
              </a:rPr>
              <a:t>doar 4 coloane</a:t>
            </a:r>
            <a:r>
              <a:rPr b="0" sz="1400">
                <a:solidFill>
                  <a:srgbClr val="F2F2F2"/>
                </a:solidFill>
                <a:latin typeface="Arial"/>
              </a:rPr>
              <a:t> — cele care contează. Un analist cere coloanele, nu </a:t>
            </a:r>
            <a:r>
              <a:rPr sz="1400">
                <a:solidFill>
                  <a:srgbClr val="FFA24E"/>
                </a:solidFill>
                <a:latin typeface="Consolas"/>
              </a:rPr>
              <a:t>*</a:t>
            </a:r>
            <a:r>
              <a:rPr b="0" sz="1400">
                <a:solidFill>
                  <a:srgbClr val="F2F2F2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L20 · SELECT/WHERE  ·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1 · SEPTEMBRIE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WHERE pe dată — comenzile din septembrie 2025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955547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OrderID, OrderDate, TotalAmount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FROM orders</a:t>
            </a:r>
          </a:p>
          <a:p>
            <a:pPr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WHERE OrderDate &gt;= '2025-09-01' AND OrderDate &lt; '2025-10-01';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875788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500">
                <a:solidFill>
                  <a:srgbClr val="F2F2F2"/>
                </a:solidFill>
                <a:latin typeface="Arial"/>
              </a:rPr>
              <a:t>454 de rânduri</a:t>
            </a:r>
            <a:r>
              <a:rPr b="0" sz="1500">
                <a:solidFill>
                  <a:srgbClr val="F2F2F2"/>
                </a:solidFill>
                <a:latin typeface="Arial"/>
              </a:rPr>
              <a:t> — felia din finding-ul #1, cerută direct bazei. Filtrul prinde tot ce e </a:t>
            </a:r>
            <a:r>
              <a:rPr b="1" sz="1500">
                <a:solidFill>
                  <a:srgbClr val="F2F2F2"/>
                </a:solidFill>
                <a:latin typeface="Arial"/>
              </a:rPr>
              <a:t>în</a:t>
            </a:r>
            <a:r>
              <a:rPr b="0" sz="1500">
                <a:solidFill>
                  <a:srgbClr val="F2F2F2"/>
                </a:solidFill>
                <a:latin typeface="Arial"/>
              </a:rPr>
              <a:t> septembrie: de la 1 septembrie inclusiv, până înainte de 1 octombrie.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4223472"/>
            <a:ext cx="10874959" cy="1450848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400">
                <a:solidFill>
                  <a:srgbClr val="F2F2F2"/>
                </a:solidFill>
                <a:latin typeface="Arial"/>
              </a:rPr>
              <a:t>✅ MILESTONE: investigația din Excel s-a re-deschis în SQL. O lună e un </a:t>
            </a:r>
            <a:r>
              <a:rPr b="1" sz="1400">
                <a:solidFill>
                  <a:srgbClr val="F2F2F2"/>
                </a:solidFill>
                <a:latin typeface="Arial"/>
              </a:rPr>
              <a:t>interval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&gt;= … AND &lt; …</a:t>
            </a:r>
            <a:r>
              <a:rPr b="0" sz="1400">
                <a:solidFill>
                  <a:srgbClr val="F2F2F2"/>
                </a:solidFill>
                <a:latin typeface="Arial"/>
              </a:rPr>
              <a:t>), nu «egal cu luna».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L20 · SELECT/WHERE  · 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PARTEA 2 · CLUJ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WHERE pe număr — comenzile de la Cluj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10874959" cy="489204"/>
          </a:xfrm>
          <a:prstGeom prst="roundRect">
            <a:avLst/>
          </a:prstGeom>
          <a:solidFill>
            <a:srgbClr val="1E1E22"/>
          </a:solidFill>
          <a:ln w="9525">
            <a:solidFill>
              <a:srgbClr val="2E2E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09728" bIns="109728"/>
          <a:lstStyle/>
          <a:p>
            <a:pPr algn="ctr">
              <a:lnSpc>
                <a:spcPct val="100000"/>
              </a:lnSpc>
            </a:pPr>
            <a:r>
              <a:rPr sz="1300">
                <a:solidFill>
                  <a:srgbClr val="FFA24E"/>
                </a:solidFill>
                <a:latin typeface="Consolas"/>
              </a:rPr>
              <a:t>SELECT * FROM orders WHERE StoreID = 2;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09444"/>
            <a:ext cx="10874959" cy="1237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b="0" sz="1500">
                <a:solidFill>
                  <a:srgbClr val="F2F2F2"/>
                </a:solidFill>
                <a:latin typeface="Arial"/>
              </a:rPr>
              <a:t>🖥️ </a:t>
            </a:r>
            <a:r>
              <a:rPr b="1" sz="1500">
                <a:solidFill>
                  <a:srgbClr val="F2F2F2"/>
                </a:solidFill>
                <a:latin typeface="Arial"/>
              </a:rPr>
              <a:t>855 de rânduri</a:t>
            </a:r>
            <a:r>
              <a:rPr b="0" sz="1500">
                <a:solidFill>
                  <a:srgbClr val="F2F2F2"/>
                </a:solidFill>
                <a:latin typeface="Arial"/>
              </a:rPr>
              <a:t> — toate comenzile magazinului cu </a:t>
            </a:r>
            <a:r>
              <a:rPr sz="1500">
                <a:solidFill>
                  <a:srgbClr val="FFA24E"/>
                </a:solidFill>
                <a:latin typeface="Consolas"/>
              </a:rPr>
              <a:t>StoreID = 2</a:t>
            </a:r>
            <a:r>
              <a:rPr b="0" sz="1500">
                <a:solidFill>
                  <a:srgbClr val="F2F2F2"/>
                </a:solidFill>
                <a:latin typeface="Arial"/>
              </a:rPr>
              <a:t>. Codul (număr) se scrie </a:t>
            </a:r>
            <a:r>
              <a:rPr b="1" sz="1500">
                <a:solidFill>
                  <a:srgbClr val="F2F2F2"/>
                </a:solidFill>
                <a:latin typeface="Arial"/>
              </a:rPr>
              <a:t>fără</a:t>
            </a:r>
            <a:r>
              <a:rPr b="0" sz="1500">
                <a:solidFill>
                  <a:srgbClr val="F2F2F2"/>
                </a:solidFill>
                <a:latin typeface="Arial"/>
              </a:rPr>
              <a:t> ghilimele.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3757128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✅ Verifică-te: septembrie → </a:t>
            </a:r>
            <a:r>
              <a:rPr b="1" sz="1300">
                <a:solidFill>
                  <a:srgbClr val="F2F2F2"/>
                </a:solidFill>
                <a:latin typeface="Arial"/>
              </a:rPr>
              <a:t>454</a:t>
            </a:r>
            <a:r>
              <a:rPr b="0" sz="1300">
                <a:solidFill>
                  <a:srgbClr val="F2F2F2"/>
                </a:solidFill>
                <a:latin typeface="Arial"/>
              </a:rPr>
              <a:t>; </a:t>
            </a:r>
            <a:r>
              <a:rPr sz="1300">
                <a:solidFill>
                  <a:srgbClr val="FFA24E"/>
                </a:solidFill>
                <a:latin typeface="Consolas"/>
              </a:rPr>
              <a:t>StoreID = 2</a:t>
            </a:r>
            <a:r>
              <a:rPr b="0" sz="1300">
                <a:solidFill>
                  <a:srgbClr val="F2F2F2"/>
                </a:solidFill>
                <a:latin typeface="Arial"/>
              </a:rPr>
              <a:t> → </a:t>
            </a:r>
            <a:r>
              <a:rPr b="1" sz="1300">
                <a:solidFill>
                  <a:srgbClr val="F2F2F2"/>
                </a:solidFill>
                <a:latin typeface="Arial"/>
              </a:rPr>
              <a:t>855</a:t>
            </a:r>
            <a:r>
              <a:rPr b="0" sz="1300">
                <a:solidFill>
                  <a:srgbClr val="F2F2F2"/>
                </a:solidFill>
                <a:latin typeface="Arial"/>
              </a:rPr>
              <a:t>; </a:t>
            </a:r>
            <a:r>
              <a:rPr sz="1300">
                <a:solidFill>
                  <a:srgbClr val="FFA24E"/>
                </a:solidFill>
                <a:latin typeface="Consolas"/>
              </a:rPr>
              <a:t>COUNT(*) FROM orders</a:t>
            </a:r>
            <a:r>
              <a:rPr b="0" sz="1300">
                <a:solidFill>
                  <a:srgbClr val="F2F2F2"/>
                </a:solidFill>
                <a:latin typeface="Arial"/>
              </a:rPr>
              <a:t> → </a:t>
            </a:r>
            <a:r>
              <a:rPr b="1" sz="1300">
                <a:solidFill>
                  <a:srgbClr val="F2F2F2"/>
                </a:solidFill>
                <a:latin typeface="Arial"/>
              </a:rPr>
              <a:t>14968</a:t>
            </a:r>
            <a:r>
              <a:rPr b="0" sz="1300">
                <a:solidFill>
                  <a:srgbClr val="F2F2F2"/>
                </a:solidFill>
                <a:latin typeface="Arial"/>
              </a:rPr>
              <a:t>. </a:t>
            </a:r>
            <a:r>
              <a:rPr sz="1300">
                <a:solidFill>
                  <a:srgbClr val="FFA24E"/>
                </a:solidFill>
                <a:latin typeface="Consolas"/>
              </a:rPr>
              <a:t>StoreID 2</a:t>
            </a:r>
            <a:r>
              <a:rPr b="0" sz="1300">
                <a:solidFill>
                  <a:srgbClr val="F2F2F2"/>
                </a:solidFill>
                <a:latin typeface="Arial"/>
              </a:rPr>
              <a:t> = Cluj-Napoca — numele vine din </a:t>
            </a:r>
            <a:r>
              <a:rPr sz="1300">
                <a:solidFill>
                  <a:srgbClr val="FFA24E"/>
                </a:solidFill>
                <a:latin typeface="Consolas"/>
              </a:rPr>
              <a:t>stores</a:t>
            </a:r>
            <a:r>
              <a:rPr b="0" sz="1300">
                <a:solidFill>
                  <a:srgbClr val="F2F2F2"/>
                </a:solidFill>
                <a:latin typeface="Arial"/>
              </a:rPr>
              <a:t> cu un JOIN (L25).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L20 · SELECT/WHERE  · 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DE CE CONTEAZĂ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Greșelile de junior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`SELECT *` fără `WHERE`</a:t>
            </a:r>
            <a:r>
              <a:rPr b="0" sz="1400">
                <a:solidFill>
                  <a:srgbClr val="F2F2F2"/>
                </a:solidFill>
                <a:latin typeface="Arial"/>
              </a:rPr>
              <a:t> pe un tabel mare → tragi tot (greșeala Ioanei)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data fără ghilimele / ca text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= 2025-09-01</a:t>
            </a:r>
            <a:r>
              <a:rPr b="0" sz="1400">
                <a:solidFill>
                  <a:srgbClr val="F2F2F2"/>
                </a:solidFill>
                <a:latin typeface="Arial"/>
              </a:rPr>
              <a:t>, </a:t>
            </a:r>
            <a:r>
              <a:rPr sz="1400">
                <a:solidFill>
                  <a:srgbClr val="FFA24E"/>
                </a:solidFill>
                <a:latin typeface="Consolas"/>
              </a:rPr>
              <a:t>= 'septembrie'</a:t>
            </a:r>
            <a:r>
              <a:rPr b="0" sz="1400">
                <a:solidFill>
                  <a:srgbClr val="F2F2F2"/>
                </a:solidFill>
                <a:latin typeface="Arial"/>
              </a:rPr>
              <a:t>) → format </a:t>
            </a:r>
            <a:r>
              <a:rPr sz="1400">
                <a:solidFill>
                  <a:srgbClr val="FFA24E"/>
                </a:solidFill>
                <a:latin typeface="Consolas"/>
              </a:rPr>
              <a:t>'AAAA-LL-ZZ'</a:t>
            </a:r>
            <a:r>
              <a:rPr b="0" sz="1400">
                <a:solidFill>
                  <a:srgbClr val="F2F2F2"/>
                </a:solidFill>
                <a:latin typeface="Arial"/>
              </a:rPr>
              <a:t>, interval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ghilimele pe un număr</a:t>
            </a:r>
            <a:r>
              <a:rPr b="0" sz="1400">
                <a:solidFill>
                  <a:srgbClr val="F2F2F2"/>
                </a:solidFill>
                <a:latin typeface="Arial"/>
              </a:rPr>
              <a:t> (</a:t>
            </a:r>
            <a:r>
              <a:rPr sz="1400">
                <a:solidFill>
                  <a:srgbClr val="FFA24E"/>
                </a:solidFill>
                <a:latin typeface="Consolas"/>
              </a:rPr>
              <a:t>StoreID = '2'</a:t>
            </a:r>
            <a:r>
              <a:rPr b="0" sz="1400">
                <a:solidFill>
                  <a:srgbClr val="F2F2F2"/>
                </a:solidFill>
                <a:latin typeface="Arial"/>
              </a:rPr>
              <a:t>) sau lipsă pe text (</a:t>
            </a:r>
            <a:r>
              <a:rPr sz="1400">
                <a:solidFill>
                  <a:srgbClr val="FFA24E"/>
                </a:solidFill>
                <a:latin typeface="Consolas"/>
              </a:rPr>
              <a:t>= Card</a:t>
            </a:r>
            <a:r>
              <a:rPr b="0" sz="1400">
                <a:solidFill>
                  <a:srgbClr val="F2F2F2"/>
                </a:solidFill>
                <a:latin typeface="Arial"/>
              </a:rPr>
              <a:t>) → confuzi tipurile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1" sz="1400">
                <a:solidFill>
                  <a:srgbClr val="F2F2F2"/>
                </a:solidFill>
                <a:latin typeface="Arial"/>
              </a:rPr>
              <a:t>uiți `;`</a:t>
            </a:r>
            <a:r>
              <a:rPr b="0" sz="1400">
                <a:solidFill>
                  <a:srgbClr val="F2F2F2"/>
                </a:solidFill>
                <a:latin typeface="Arial"/>
              </a:rPr>
              <a:t> — termină fiecare interogare cu punct și virgulă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L20 · SELECT/WHERE  · 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457200"/>
            <a:ext cx="93204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FF7900"/>
                </a:solidFill>
                <a:latin typeface="Consolas"/>
              </a:rPr>
              <a:t>● </a:t>
            </a:r>
            <a:r>
              <a:rPr sz="1150" b="1">
                <a:solidFill>
                  <a:srgbClr val="FFA24E"/>
                </a:solidFill>
                <a:latin typeface="Consolas"/>
              </a:rPr>
              <a:t>RECAP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96112"/>
            <a:ext cx="93204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rPr b="1" sz="3000">
                <a:solidFill>
                  <a:srgbClr val="F2F2F2"/>
                </a:solidFill>
                <a:latin typeface="Arial"/>
              </a:rPr>
              <a:t>Milestone: investigația, re-deschisă în SQL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664208"/>
            <a:ext cx="822960" cy="38100"/>
          </a:xfrm>
          <a:prstGeom prst="rect">
            <a:avLst/>
          </a:prstGeom>
          <a:solidFill>
            <a:srgbClr val="FF79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783080"/>
            <a:ext cx="10874959" cy="2511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o interogare = </a:t>
            </a:r>
            <a:r>
              <a:rPr sz="1400">
                <a:solidFill>
                  <a:srgbClr val="FFA24E"/>
                </a:solidFill>
                <a:latin typeface="Consolas"/>
              </a:rPr>
              <a:t>SELECT</a:t>
            </a:r>
            <a:r>
              <a:rPr b="0" sz="1400">
                <a:solidFill>
                  <a:srgbClr val="F2F2F2"/>
                </a:solidFill>
                <a:latin typeface="Arial"/>
              </a:rPr>
              <a:t> (coloane) · </a:t>
            </a:r>
            <a:r>
              <a:rPr sz="1400">
                <a:solidFill>
                  <a:srgbClr val="FFA24E"/>
                </a:solidFill>
                <a:latin typeface="Consolas"/>
              </a:rPr>
              <a:t>FROM</a:t>
            </a:r>
            <a:r>
              <a:rPr b="0" sz="1400">
                <a:solidFill>
                  <a:srgbClr val="F2F2F2"/>
                </a:solidFill>
                <a:latin typeface="Arial"/>
              </a:rPr>
              <a:t> (tabel) · </a:t>
            </a:r>
            <a:r>
              <a:rPr sz="14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400">
                <a:solidFill>
                  <a:srgbClr val="F2F2F2"/>
                </a:solidFill>
                <a:latin typeface="Arial"/>
              </a:rPr>
              <a:t> (rânduri) · </a:t>
            </a:r>
            <a:r>
              <a:rPr sz="1400">
                <a:solidFill>
                  <a:srgbClr val="FFA24E"/>
                </a:solidFill>
                <a:latin typeface="Consolas"/>
              </a:rPr>
              <a:t>;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ceri </a:t>
            </a:r>
            <a:r>
              <a:rPr b="1" sz="1400">
                <a:solidFill>
                  <a:srgbClr val="F2F2F2"/>
                </a:solidFill>
                <a:latin typeface="Arial"/>
              </a:rPr>
              <a:t>coloanele</a:t>
            </a:r>
            <a:r>
              <a:rPr b="0" sz="1400">
                <a:solidFill>
                  <a:srgbClr val="F2F2F2"/>
                </a:solidFill>
                <a:latin typeface="Arial"/>
              </a:rPr>
              <a:t> care-ți trebuie, nu </a:t>
            </a:r>
            <a:r>
              <a:rPr sz="1400">
                <a:solidFill>
                  <a:srgbClr val="FFA24E"/>
                </a:solidFill>
                <a:latin typeface="Consolas"/>
              </a:rPr>
              <a:t>SELECT *</a:t>
            </a:r>
            <a:r>
              <a:rPr b="0" sz="1400">
                <a:solidFill>
                  <a:srgbClr val="F2F2F2"/>
                </a:solidFill>
                <a:latin typeface="Arial"/>
              </a:rPr>
              <a:t>; </a:t>
            </a:r>
            <a:r>
              <a:rPr sz="1400">
                <a:solidFill>
                  <a:srgbClr val="FFA24E"/>
                </a:solidFill>
                <a:latin typeface="Consolas"/>
              </a:rPr>
              <a:t>*</a:t>
            </a:r>
            <a:r>
              <a:rPr b="0" sz="1400">
                <a:solidFill>
                  <a:srgbClr val="F2F2F2"/>
                </a:solidFill>
                <a:latin typeface="Arial"/>
              </a:rPr>
              <a:t> + </a:t>
            </a:r>
            <a:r>
              <a:rPr sz="1400">
                <a:solidFill>
                  <a:srgbClr val="FFA24E"/>
                </a:solidFill>
                <a:latin typeface="Consolas"/>
              </a:rPr>
              <a:t>LIMIT</a:t>
            </a:r>
            <a:r>
              <a:rPr b="0" sz="1400">
                <a:solidFill>
                  <a:srgbClr val="F2F2F2"/>
                </a:solidFill>
                <a:latin typeface="Arial"/>
              </a:rPr>
              <a:t> doar ca să tragi cu ochiul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în </a:t>
            </a:r>
            <a:r>
              <a:rPr sz="1400">
                <a:solidFill>
                  <a:srgbClr val="FFA24E"/>
                </a:solidFill>
                <a:latin typeface="Consolas"/>
              </a:rPr>
              <a:t>WHERE</a:t>
            </a:r>
            <a:r>
              <a:rPr b="0" sz="1400">
                <a:solidFill>
                  <a:srgbClr val="F2F2F2"/>
                </a:solidFill>
                <a:latin typeface="Arial"/>
              </a:rPr>
              <a:t>: numere fără ghilimele, text/date cu ghilimele simple; o lună e un </a:t>
            </a:r>
            <a:r>
              <a:rPr b="1" sz="1400">
                <a:solidFill>
                  <a:srgbClr val="F2F2F2"/>
                </a:solidFill>
                <a:latin typeface="Arial"/>
              </a:rPr>
              <a:t>interval</a:t>
            </a:r>
          </a:p>
          <a:p>
            <a:pPr>
              <a:lnSpc>
                <a:spcPct val="110000"/>
              </a:lnSpc>
              <a:spcAft>
                <a:spcPts val="700"/>
              </a:spcAft>
            </a:pPr>
            <a:r>
              <a:rPr sz="1400">
                <a:solidFill>
                  <a:srgbClr val="FF7900"/>
                </a:solidFill>
                <a:latin typeface="Consolas"/>
              </a:rPr>
              <a:t>— </a:t>
            </a:r>
            <a:r>
              <a:rPr b="0" sz="1400">
                <a:solidFill>
                  <a:srgbClr val="F2F2F2"/>
                </a:solidFill>
                <a:latin typeface="Arial"/>
              </a:rPr>
              <a:t>aceeași investigație ca în Excel — septembrie (</a:t>
            </a:r>
            <a:r>
              <a:rPr b="1" sz="1400">
                <a:solidFill>
                  <a:srgbClr val="F2F2F2"/>
                </a:solidFill>
                <a:latin typeface="Arial"/>
              </a:rPr>
              <a:t>454</a:t>
            </a:r>
            <a:r>
              <a:rPr b="0" sz="1400">
                <a:solidFill>
                  <a:srgbClr val="F2F2F2"/>
                </a:solidFill>
                <a:latin typeface="Arial"/>
              </a:rPr>
              <a:t>), Cluj (</a:t>
            </a:r>
            <a:r>
              <a:rPr b="1" sz="1400">
                <a:solidFill>
                  <a:srgbClr val="F2F2F2"/>
                </a:solidFill>
                <a:latin typeface="Arial"/>
              </a:rPr>
              <a:t>855</a:t>
            </a:r>
            <a:r>
              <a:rPr b="0" sz="1400">
                <a:solidFill>
                  <a:srgbClr val="F2F2F2"/>
                </a:solidFill>
                <a:latin typeface="Arial"/>
              </a:rPr>
              <a:t>) — dar pe o bază care scalează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4294632"/>
            <a:ext cx="10874959" cy="1374647"/>
          </a:xfrm>
          <a:prstGeom prst="roundRect">
            <a:avLst/>
          </a:prstGeom>
          <a:solidFill>
            <a:srgbClr val="1B1B1F"/>
          </a:solidFill>
          <a:ln w="12700">
            <a:solidFill>
              <a:srgbClr val="FF7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91440" bIns="91440"/>
          <a:lstStyle/>
          <a:p>
            <a:pPr algn="ctr">
              <a:lnSpc>
                <a:spcPct val="112000"/>
              </a:lnSpc>
            </a:pPr>
            <a:r>
              <a:rPr b="0" sz="1300">
                <a:solidFill>
                  <a:srgbClr val="F2F2F2"/>
                </a:solidFill>
                <a:latin typeface="Arial"/>
              </a:rPr>
              <a:t>Punte → </a:t>
            </a:r>
            <a:r>
              <a:rPr b="1" sz="1300">
                <a:solidFill>
                  <a:srgbClr val="F2F2F2"/>
                </a:solidFill>
                <a:latin typeface="Arial"/>
              </a:rPr>
              <a:t>L21: WHERE în detaliu</a:t>
            </a:r>
            <a:r>
              <a:rPr b="0" sz="1300">
                <a:solidFill>
                  <a:srgbClr val="F2F2F2"/>
                </a:solidFill>
                <a:latin typeface="Arial"/>
              </a:rPr>
              <a:t> — intervale, liste, tipare, valori lipsă (</a:t>
            </a:r>
            <a:r>
              <a:rPr sz="1300">
                <a:solidFill>
                  <a:srgbClr val="FFA24E"/>
                </a:solidFill>
                <a:latin typeface="Consolas"/>
              </a:rPr>
              <a:t>IS NULL</a:t>
            </a:r>
            <a:r>
              <a:rPr b="0" sz="1300">
                <a:solidFill>
                  <a:srgbClr val="F2F2F2"/>
                </a:solidFill>
                <a:latin typeface="Arial"/>
              </a:rPr>
              <a:t>) și paranteze.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L20 · SELECT/WHERE  ·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151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range_systems_logo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6007" y="310896"/>
            <a:ext cx="1417320" cy="51397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2468880"/>
            <a:ext cx="1087495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F2F2F2"/>
                </a:solidFill>
                <a:latin typeface="Arial"/>
              </a:rPr>
              <a:t>Q&amp;A</a:t>
            </a:r>
          </a:p>
          <a:p>
            <a:pPr algn="ctr"/>
            <a:r>
              <a:rPr sz="1500">
                <a:solidFill>
                  <a:srgbClr val="FFA24E"/>
                </a:solidFill>
                <a:latin typeface="Consolas"/>
              </a:rPr>
              <a:t>Întrebări · discuție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382512"/>
            <a:ext cx="10874959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FF7900"/>
                </a:solidFill>
                <a:latin typeface="Consolas"/>
              </a:rPr>
              <a:t>● </a:t>
            </a:r>
            <a:r>
              <a:rPr sz="850">
                <a:solidFill>
                  <a:srgbClr val="77777C"/>
                </a:solidFill>
                <a:latin typeface="Consolas"/>
              </a:rPr>
              <a:t>Orange Systems  ·  Data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47327" y="6382512"/>
            <a:ext cx="22860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>
                <a:solidFill>
                  <a:srgbClr val="77777C"/>
                </a:solidFill>
                <a:latin typeface="Consolas"/>
              </a:rPr>
              <a:t>L20 · SELECT/WHERE  · 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