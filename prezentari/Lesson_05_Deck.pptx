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Ultima lecție din Modulul 1 — se leagă tot. Azi nu se atinge niciun tool. La final: prima cerere reală de proiect.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Reluăm pe scurt L4. Un KPI e o măsură cu reper; cel mai mare nu e cel mai bun. Azi urcăm o treaptă peste KPI.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Obiectivele din §1. Accent: doar recomandarea ajută pe cineva să decidă. Ce reiei: tot Modulul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Povestea Ioanei (§2). CEO-ul cere «și ce facem?». Corect tehnic, dar nicio decizie. Andrei explică diferența.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§3. Propoziția e adevărată dar aproape inutilă — răspunde doar la «ce», nu la «de ce» și «ce facem».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§4 — momentul de reflecție. Cele două lucruri lipsă: de ce (insight) și ce facem (recomandare).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§5 — tabelul scării. Trei trepte, fiecare răspunde altei întrebări; doar împreună fac o concluzie.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stratul 1. Analogia medicului: temperatura e observația; concluzia e insight + recomandare.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stratul 2. Repeți «și ce?» după fiecare treaptă până ajungi la o acțiune. Recomandare = verb + decizie + consecință.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§7. Andrei ia slide-ul mut al Ioanei și urcă scara cu «și ce?». Apoi arată greșeala: mai multe observații ≠ concluzie.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§8 practică ghidată. Observația despre retention. Cursanții scriu insight + recomandare înainte de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§11. Patru greșeli: observație numită concluzie, sar la recomandare fără insight, «recomandare» care nu e acțiune, ascunsul în «nu avem date».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§12. Cele cinci idei. Punte spre milestone: prima cerere reală de proiect.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§14. Andrei îți dă oficial proiectul RetailHub. Cererea Elenei. Azi îl pornești, nu-l rezolvi.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1 · LECȚIA 5 · ULTIMA LECȚIE DIN MODULUL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Ce este, cu adevărat, o concluzie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Observație → Insight → Recomandare · scara de la un număr la o decizie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Miercuri, 30 septembrie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L5 · Concluzia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 · 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rămas: KPI-urile (L4)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Un </a:t>
            </a:r>
            <a:r>
              <a:rPr b="1" sz="1400">
                <a:solidFill>
                  <a:srgbClr val="F2F2F2"/>
                </a:solidFill>
                <a:latin typeface="Arial"/>
              </a:rPr>
              <a:t>KPI</a:t>
            </a:r>
            <a:r>
              <a:rPr b="0" sz="1400">
                <a:solidFill>
                  <a:srgbClr val="F2F2F2"/>
                </a:solidFill>
                <a:latin typeface="Arial"/>
              </a:rPr>
              <a:t> e o măsură care răspunde la o întrebare de business: Revenue, AOV, Retention, conversie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Un KPI fără </a:t>
            </a:r>
            <a:r>
              <a:rPr b="1" sz="1400">
                <a:solidFill>
                  <a:srgbClr val="F2F2F2"/>
                </a:solidFill>
                <a:latin typeface="Arial"/>
              </a:rPr>
              <a:t>reper</a:t>
            </a:r>
            <a:r>
              <a:rPr b="0" sz="1400">
                <a:solidFill>
                  <a:srgbClr val="F2F2F2"/>
                </a:solidFill>
                <a:latin typeface="Arial"/>
              </a:rPr>
              <a:t> («față de ce») nu spune nimic — un număr singur nu e verificabil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Capcana volum vs. eficiență: </a:t>
            </a:r>
            <a:r>
              <a:rPr b="1" sz="1400">
                <a:solidFill>
                  <a:srgbClr val="F2F2F2"/>
                </a:solidFill>
                <a:latin typeface="Arial"/>
              </a:rPr>
              <a:t>cel mai mare ≠ cel mai bun</a:t>
            </a:r>
            <a:r>
              <a:rPr b="0" sz="1400">
                <a:solidFill>
                  <a:srgbClr val="F2F2F2"/>
                </a:solidFill>
                <a:latin typeface="Arial"/>
              </a:rPr>
              <a:t> (Cluj vinde puțin, dar e și cel mai mic oraș)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5818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Azi urcăm o treaptă peste KPI: un număr corect </a:t>
            </a:r>
            <a:r>
              <a:rPr b="1" sz="1400">
                <a:solidFill>
                  <a:srgbClr val="F2F2F2"/>
                </a:solidFill>
                <a:latin typeface="Arial"/>
              </a:rPr>
              <a:t>nu e</a:t>
            </a:r>
            <a:r>
              <a:rPr b="0" sz="1400">
                <a:solidFill>
                  <a:srgbClr val="F2F2F2"/>
                </a:solidFill>
                <a:latin typeface="Arial"/>
              </a:rPr>
              <a:t> o concluzie. Învățăm ce-l transformă într-un răspuns.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L5 · Concluzia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distingi </a:t>
            </a:r>
            <a:r>
              <a:rPr b="1" sz="1400">
                <a:solidFill>
                  <a:srgbClr val="F2F2F2"/>
                </a:solidFill>
                <a:latin typeface="Arial"/>
              </a:rPr>
              <a:t>observație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b="1" sz="1400">
                <a:solidFill>
                  <a:srgbClr val="F2F2F2"/>
                </a:solidFill>
                <a:latin typeface="Arial"/>
              </a:rPr>
              <a:t>insight</a:t>
            </a:r>
            <a:r>
              <a:rPr b="0" sz="1400">
                <a:solidFill>
                  <a:srgbClr val="F2F2F2"/>
                </a:solidFill>
                <a:latin typeface="Arial"/>
              </a:rPr>
              <a:t> și </a:t>
            </a:r>
            <a:r>
              <a:rPr b="1" sz="1400">
                <a:solidFill>
                  <a:srgbClr val="F2F2F2"/>
                </a:solidFill>
                <a:latin typeface="Arial"/>
              </a:rPr>
              <a:t>recomandare</a:t>
            </a:r>
            <a:r>
              <a:rPr b="0" sz="1400">
                <a:solidFill>
                  <a:srgbClr val="F2F2F2"/>
                </a:solidFill>
                <a:latin typeface="Arial"/>
              </a:rPr>
              <a:t> — și de ce doar ultima ajută cineva să decidă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urci «scara» de la un număr la o acțiune cu testul </a:t>
            </a:r>
            <a:r>
              <a:rPr b="1" sz="1400">
                <a:solidFill>
                  <a:srgbClr val="F2F2F2"/>
                </a:solidFill>
                <a:latin typeface="Arial"/>
              </a:rPr>
              <a:t>«și ce-i cu asta?»</a:t>
            </a:r>
            <a:r>
              <a:rPr b="0" sz="1400">
                <a:solidFill>
                  <a:srgbClr val="F2F2F2"/>
                </a:solidFill>
                <a:latin typeface="Arial"/>
              </a:rPr>
              <a:t> (so what?)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scrii o recomandare </a:t>
            </a:r>
            <a:r>
              <a:rPr b="1" sz="1400">
                <a:solidFill>
                  <a:srgbClr val="F2F2F2"/>
                </a:solidFill>
                <a:latin typeface="Arial"/>
              </a:rPr>
              <a:t>legată de o decizie</a:t>
            </a:r>
            <a:r>
              <a:rPr b="0" sz="1400">
                <a:solidFill>
                  <a:srgbClr val="F2F2F2"/>
                </a:solidFill>
                <a:latin typeface="Arial"/>
              </a:rPr>
              <a:t>, cu consecința ei — nu un «să ne uităm mai bine»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</a:t>
            </a:r>
            <a:r>
              <a:rPr b="1" sz="1400">
                <a:solidFill>
                  <a:srgbClr val="F2F2F2"/>
                </a:solidFill>
                <a:latin typeface="Arial"/>
              </a:rPr>
              <a:t>pornești proiectul</a:t>
            </a:r>
            <a:r>
              <a:rPr b="0" sz="1400">
                <a:solidFill>
                  <a:srgbClr val="F2F2F2"/>
                </a:solidFill>
                <a:latin typeface="Arial"/>
              </a:rPr>
              <a:t> RetailHub cu prima cerere reală de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Ce reiei:</a:t>
            </a:r>
            <a:r>
              <a:rPr b="0" sz="1400">
                <a:solidFill>
                  <a:srgbClr val="F2F2F2"/>
                </a:solidFill>
                <a:latin typeface="Arial"/>
              </a:rPr>
              <a:t> tot Modulul 1 — L1 traduci cererea, L2 unde-s datele, L3 despici, L4 KPI. Azi se leagă tot.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L5 · Concluzia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Zece grafice corecte și o liniște lungă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Ioana a prezentat 10 slide-uri corecte. CEO-ul s-a uitat la ultimul — «Revenue a scăzut 14,9% în septembrie» — și a întrebat: «Bun. Și ce facem?»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710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Liniște. Ioana a mai arătat un grafic. CEO-ul, apăsat: «Văd </a:t>
            </a:r>
            <a:r>
              <a:rPr i="1" sz="1500">
                <a:solidFill>
                  <a:srgbClr val="F2F2F2"/>
                </a:solidFill>
                <a:latin typeface="Arial"/>
              </a:rPr>
              <a:t>că</a:t>
            </a:r>
            <a:r>
              <a:rPr b="0" sz="1500">
                <a:solidFill>
                  <a:srgbClr val="F2F2F2"/>
                </a:solidFill>
                <a:latin typeface="Arial"/>
              </a:rPr>
              <a:t> a scăzut — te întreb ce </a:t>
            </a:r>
            <a:r>
              <a:rPr b="1" sz="1500">
                <a:solidFill>
                  <a:srgbClr val="F2F2F2"/>
                </a:solidFill>
                <a:latin typeface="Arial"/>
              </a:rPr>
              <a:t>facem</a:t>
            </a:r>
            <a:r>
              <a:rPr b="0" sz="1500">
                <a:solidFill>
                  <a:srgbClr val="F2F2F2"/>
                </a:solidFill>
                <a:latin typeface="Arial"/>
              </a:rPr>
              <a:t>.» Fără răspuns.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71877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Andrei, după: «N-a greșit nimic tehnic. Dar a livrat zece </a:t>
            </a:r>
            <a:r>
              <a:rPr b="1" sz="1400">
                <a:solidFill>
                  <a:srgbClr val="F2F2F2"/>
                </a:solidFill>
                <a:latin typeface="Arial"/>
              </a:rPr>
              <a:t>observații</a:t>
            </a:r>
            <a:r>
              <a:rPr b="0" sz="1400">
                <a:solidFill>
                  <a:srgbClr val="F2F2F2"/>
                </a:solidFill>
                <a:latin typeface="Arial"/>
              </a:rPr>
              <a:t>, nu o </a:t>
            </a:r>
            <a:r>
              <a:rPr b="1" sz="1400">
                <a:solidFill>
                  <a:srgbClr val="F2F2F2"/>
                </a:solidFill>
                <a:latin typeface="Arial"/>
              </a:rPr>
              <a:t>concluzie</a:t>
            </a:r>
            <a:r>
              <a:rPr b="0" sz="1400">
                <a:solidFill>
                  <a:srgbClr val="F2F2F2"/>
                </a:solidFill>
                <a:latin typeface="Arial"/>
              </a:rPr>
              <a:t>.»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L5 · Concluzia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«Adevărat» nu înseamnă «util»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«Revenue a scăzut 14,9% în septembrie» e </a:t>
            </a:r>
            <a:r>
              <a:rPr b="1" sz="1500">
                <a:solidFill>
                  <a:srgbClr val="F2F2F2"/>
                </a:solidFill>
                <a:latin typeface="Arial"/>
              </a:rPr>
              <a:t>adevărat</a:t>
            </a:r>
            <a:r>
              <a:rPr b="0" sz="1500">
                <a:solidFill>
                  <a:srgbClr val="F2F2F2"/>
                </a:solidFill>
                <a:latin typeface="Arial"/>
              </a:rPr>
              <a:t>, verificat, precis. Și, singur, e aproape </a:t>
            </a:r>
            <a:r>
              <a:rPr b="1" sz="1500">
                <a:solidFill>
                  <a:srgbClr val="F2F2F2"/>
                </a:solidFill>
                <a:latin typeface="Arial"/>
              </a:rPr>
              <a:t>inutil</a:t>
            </a:r>
            <a:r>
              <a:rPr b="0" sz="1500">
                <a:solidFill>
                  <a:srgbClr val="F2F2F2"/>
                </a:solidFill>
                <a:latin typeface="Arial"/>
              </a:rPr>
              <a:t> pentru cineva care trebuie să decidă.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0764"/>
            <a:ext cx="10874959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Răspunde doar la </a:t>
            </a:r>
            <a:r>
              <a:rPr b="1" sz="1500">
                <a:solidFill>
                  <a:srgbClr val="F2F2F2"/>
                </a:solidFill>
                <a:latin typeface="Arial"/>
              </a:rPr>
              <a:t>ce s-a întâmplat</a:t>
            </a:r>
            <a:r>
              <a:rPr b="0" sz="1500">
                <a:solidFill>
                  <a:srgbClr val="F2F2F2"/>
                </a:solidFill>
                <a:latin typeface="Arial"/>
              </a:rPr>
              <a:t> — nu la </a:t>
            </a:r>
            <a:r>
              <a:rPr b="1" sz="1500">
                <a:solidFill>
                  <a:srgbClr val="F2F2F2"/>
                </a:solidFill>
                <a:latin typeface="Arial"/>
              </a:rPr>
              <a:t>de ce</a:t>
            </a:r>
            <a:r>
              <a:rPr b="0" sz="1500">
                <a:solidFill>
                  <a:srgbClr val="F2F2F2"/>
                </a:solidFill>
                <a:latin typeface="Arial"/>
              </a:rPr>
              <a:t> și nici la </a:t>
            </a:r>
            <a:r>
              <a:rPr b="1" sz="1500">
                <a:solidFill>
                  <a:srgbClr val="F2F2F2"/>
                </a:solidFill>
                <a:latin typeface="Arial"/>
              </a:rPr>
              <a:t>ce facem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CEO-ul nu voia să afle </a:t>
            </a:r>
            <a:r>
              <a:rPr i="1" sz="1500">
                <a:solidFill>
                  <a:srgbClr val="F2F2F2"/>
                </a:solidFill>
                <a:latin typeface="Arial"/>
              </a:rPr>
              <a:t>că</a:t>
            </a:r>
            <a:r>
              <a:rPr b="0" sz="1500">
                <a:solidFill>
                  <a:srgbClr val="F2F2F2"/>
                </a:solidFill>
                <a:latin typeface="Arial"/>
              </a:rPr>
              <a:t> a scăzut (o vede în raport) — voia să știe </a:t>
            </a:r>
            <a:r>
              <a:rPr b="1" sz="1500">
                <a:solidFill>
                  <a:srgbClr val="F2F2F2"/>
                </a:solidFill>
                <a:latin typeface="Arial"/>
              </a:rPr>
              <a:t>ce să schimbe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6303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Capcana începătorului: confunzi «am spus ceva adevărat» cu «am dat o concluzie». Între un număr și o decizie e o </a:t>
            </a:r>
            <a:r>
              <a:rPr b="1" sz="1400">
                <a:solidFill>
                  <a:srgbClr val="F2F2F2"/>
                </a:solidFill>
                <a:latin typeface="Arial"/>
              </a:rPr>
              <a:t>scară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L5 · Concluzia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ar fi trebuit să adauge Ioana?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Oprește-te. Ioana a spus «Revenue a scăzut 14,9%». Ce </a:t>
            </a:r>
            <a:r>
              <a:rPr b="1" sz="1500">
                <a:solidFill>
                  <a:srgbClr val="F2F2F2"/>
                </a:solidFill>
                <a:latin typeface="Arial"/>
              </a:rPr>
              <a:t>două</a:t>
            </a:r>
            <a:r>
              <a:rPr b="0" sz="1500">
                <a:solidFill>
                  <a:srgbClr val="F2F2F2"/>
                </a:solidFill>
                <a:latin typeface="Arial"/>
              </a:rPr>
              <a:t> lucruri ar fi trebuit să adauge ca CEO-ul să plece cu o decizie, nu cu o întrebare?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0764"/>
            <a:ext cx="10874959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De ce</a:t>
            </a:r>
            <a:r>
              <a:rPr b="0" sz="1500">
                <a:solidFill>
                  <a:srgbClr val="F2F2F2"/>
                </a:solidFill>
                <a:latin typeface="Arial"/>
              </a:rPr>
              <a:t> a scăzut — asta e </a:t>
            </a:r>
            <a:r>
              <a:rPr b="1" sz="1500">
                <a:solidFill>
                  <a:srgbClr val="F2F2F2"/>
                </a:solidFill>
                <a:latin typeface="Arial"/>
              </a:rPr>
              <a:t>insight-ul</a:t>
            </a:r>
            <a:r>
              <a:rPr b="0" sz="1500">
                <a:solidFill>
                  <a:srgbClr val="F2F2F2"/>
                </a:solidFill>
                <a:latin typeface="Arial"/>
              </a:rPr>
              <a:t> (sensul din spatele cifrei)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Ce facem</a:t>
            </a:r>
            <a:r>
              <a:rPr b="0" sz="1500">
                <a:solidFill>
                  <a:srgbClr val="F2F2F2"/>
                </a:solidFill>
                <a:latin typeface="Arial"/>
              </a:rPr>
              <a:t> — asta e </a:t>
            </a:r>
            <a:r>
              <a:rPr b="1" sz="1500">
                <a:solidFill>
                  <a:srgbClr val="F2F2F2"/>
                </a:solidFill>
                <a:latin typeface="Arial"/>
              </a:rPr>
              <a:t>recomandarea</a:t>
            </a:r>
            <a:r>
              <a:rPr b="0" sz="1500">
                <a:solidFill>
                  <a:srgbClr val="F2F2F2"/>
                </a:solidFill>
                <a:latin typeface="Arial"/>
              </a:rPr>
              <a:t> (acțiunea)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630380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Observația singură e doar prima treaptă. Un analist bun urcă toate trei, de fiecare dată.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L5 · Concluzia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Scara: observație → insight → recomandare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7033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Treaptă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Răspunde la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Exemplu (septembrie)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Observație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Ce s-a întâmplat?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Revenue −14,9%, pe electronice la Cluj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Insight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De ce / ce înseamnă?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top-3 produse epuizate, zero campanii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Recomandare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Ce facem?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reaprovizionăm top-3 la Cluj + campanie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72160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Doar treapta a treia e ce voia CEO-ul. Primele două o susțin — fără insight, recomandarea e o </a:t>
            </a:r>
            <a:r>
              <a:rPr b="1" sz="1400">
                <a:solidFill>
                  <a:srgbClr val="F2F2F2"/>
                </a:solidFill>
                <a:latin typeface="Arial"/>
              </a:rPr>
              <a:t>ghiceală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L5 · Concluzia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De la număr la decizie — intuiția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Un medic bun nu-ți spune «ai 39 de grade» și te trimite acasă — aia e o </a:t>
            </a:r>
            <a:r>
              <a:rPr b="1" sz="1500">
                <a:solidFill>
                  <a:srgbClr val="F2F2F2"/>
                </a:solidFill>
                <a:latin typeface="Arial"/>
              </a:rPr>
              <a:t>observație</a:t>
            </a:r>
            <a:r>
              <a:rPr b="0" sz="1500">
                <a:solidFill>
                  <a:srgbClr val="F2F2F2"/>
                </a:solidFill>
                <a:latin typeface="Arial"/>
              </a:rPr>
              <a:t>. Concluzia lui e «ai o infecție (insight), ia antibioticul 7 zile (recomandare)».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Nimeni nu plătește un medic să citească termometrul — îl plătești pentru </a:t>
            </a:r>
            <a:r>
              <a:rPr b="1" sz="1400">
                <a:solidFill>
                  <a:srgbClr val="F2F2F2"/>
                </a:solidFill>
                <a:latin typeface="Arial"/>
              </a:rPr>
              <a:t>insight</a:t>
            </a:r>
            <a:r>
              <a:rPr b="0" sz="1400">
                <a:solidFill>
                  <a:srgbClr val="F2F2F2"/>
                </a:solidFill>
                <a:latin typeface="Arial"/>
              </a:rPr>
              <a:t> și </a:t>
            </a:r>
            <a:r>
              <a:rPr b="1" sz="1400">
                <a:solidFill>
                  <a:srgbClr val="F2F2F2"/>
                </a:solidFill>
                <a:latin typeface="Arial"/>
              </a:rPr>
              <a:t>recomandare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718772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La fel, nimeni n-are nevoie de un analist ca să spună «Revenue a scăzut» — aia se vede în raport. Ai nevoie de el pentru </a:t>
            </a:r>
            <a:r>
              <a:rPr i="1" sz="1500">
                <a:solidFill>
                  <a:srgbClr val="F2F2F2"/>
                </a:solidFill>
                <a:latin typeface="Arial"/>
              </a:rPr>
              <a:t>de ce</a:t>
            </a:r>
            <a:r>
              <a:rPr b="0" sz="1500">
                <a:solidFill>
                  <a:srgbClr val="F2F2F2"/>
                </a:solidFill>
                <a:latin typeface="Arial"/>
              </a:rPr>
              <a:t> și </a:t>
            </a:r>
            <a:r>
              <a:rPr i="1" sz="1500">
                <a:solidFill>
                  <a:srgbClr val="F2F2F2"/>
                </a:solidFill>
                <a:latin typeface="Arial"/>
              </a:rPr>
              <a:t>ce facem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L5 · Concluzia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Testul «și ce-i cu asta?» (so what?)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Instrumentul care te ține pe scară e o singură întrebare, pusă după fiecare treaptă: </a:t>
            </a:r>
            <a:r>
              <a:rPr b="1" sz="1500">
                <a:solidFill>
                  <a:srgbClr val="F2F2F2"/>
                </a:solidFill>
                <a:latin typeface="Arial"/>
              </a:rPr>
              <a:t>«și ce-i cu asta?»</a:t>
            </a:r>
            <a:r>
              <a:rPr b="0" sz="1500">
                <a:solidFill>
                  <a:srgbClr val="F2F2F2"/>
                </a:solidFill>
                <a:latin typeface="Arial"/>
              </a:rPr>
              <a:t> (so what?).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0764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«Revenue −14,9%» → </a:t>
            </a:r>
            <a:r>
              <a:rPr i="1" sz="1400">
                <a:solidFill>
                  <a:srgbClr val="F2F2F2"/>
                </a:solidFill>
                <a:latin typeface="Arial"/>
              </a:rPr>
              <a:t>și ce?</a:t>
            </a:r>
            <a:r>
              <a:rPr b="0" sz="1400">
                <a:solidFill>
                  <a:srgbClr val="F2F2F2"/>
                </a:solidFill>
                <a:latin typeface="Arial"/>
              </a:rPr>
              <a:t> → «la Cluj, pe electronice, stoc epuizat + zero campanii» (insight)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i="1" sz="1400">
                <a:solidFill>
                  <a:srgbClr val="F2F2F2"/>
                </a:solidFill>
                <a:latin typeface="Arial"/>
              </a:rPr>
              <a:t>și ce?</a:t>
            </a:r>
            <a:r>
              <a:rPr b="0" sz="1400">
                <a:solidFill>
                  <a:srgbClr val="F2F2F2"/>
                </a:solidFill>
                <a:latin typeface="Arial"/>
              </a:rPr>
              <a:t> → «dacă nu reaprovizionăm și nu programăm campanie, se repetă» (recomandare)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i="1" sz="1400">
                <a:solidFill>
                  <a:srgbClr val="F2F2F2"/>
                </a:solidFill>
                <a:latin typeface="Arial"/>
              </a:rPr>
              <a:t>și ce?</a:t>
            </a:r>
            <a:r>
              <a:rPr b="0" sz="1400">
                <a:solidFill>
                  <a:srgbClr val="F2F2F2"/>
                </a:solidFill>
                <a:latin typeface="Arial"/>
              </a:rPr>
              <a:t> → «propun X până la data Y» — ai ajuns la o </a:t>
            </a:r>
            <a:r>
              <a:rPr b="1" sz="1400">
                <a:solidFill>
                  <a:srgbClr val="F2F2F2"/>
                </a:solidFill>
                <a:latin typeface="Arial"/>
              </a:rPr>
              <a:t>decizie</a:t>
            </a:r>
            <a:r>
              <a:rPr b="0" sz="1400">
                <a:solidFill>
                  <a:srgbClr val="F2F2F2"/>
                </a:solidFill>
                <a:latin typeface="Arial"/>
              </a:rPr>
              <a:t>, te oprești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105868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O recomandare adevărată = </a:t>
            </a:r>
            <a:r>
              <a:rPr b="1" sz="1400">
                <a:solidFill>
                  <a:srgbClr val="F2F2F2"/>
                </a:solidFill>
                <a:latin typeface="Arial"/>
              </a:rPr>
              <a:t>verb</a:t>
            </a:r>
            <a:r>
              <a:rPr b="0" sz="1400">
                <a:solidFill>
                  <a:srgbClr val="F2F2F2"/>
                </a:solidFill>
                <a:latin typeface="Arial"/>
              </a:rPr>
              <a:t> + </a:t>
            </a:r>
            <a:r>
              <a:rPr b="1" sz="1400">
                <a:solidFill>
                  <a:srgbClr val="F2F2F2"/>
                </a:solidFill>
                <a:latin typeface="Arial"/>
              </a:rPr>
              <a:t>decizie</a:t>
            </a:r>
            <a:r>
              <a:rPr b="0" sz="1400">
                <a:solidFill>
                  <a:srgbClr val="F2F2F2"/>
                </a:solidFill>
                <a:latin typeface="Arial"/>
              </a:rPr>
              <a:t> a cuiva + </a:t>
            </a:r>
            <a:r>
              <a:rPr b="1" sz="1400">
                <a:solidFill>
                  <a:srgbClr val="F2F2F2"/>
                </a:solidFill>
                <a:latin typeface="Arial"/>
              </a:rPr>
              <a:t>consecință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L5 · Concluzia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Cum urcă Andrei scara, cu voce tare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 ia slide-ul mut al Ioanei și urcă scara: «Observație. </a:t>
            </a:r>
            <a:r>
              <a:rPr i="1" sz="1400">
                <a:solidFill>
                  <a:srgbClr val="F2F2F2"/>
                </a:solidFill>
                <a:latin typeface="Arial"/>
              </a:rPr>
              <a:t>Și ce?</a:t>
            </a:r>
            <a:r>
              <a:rPr b="0" sz="1400">
                <a:solidFill>
                  <a:srgbClr val="F2F2F2"/>
                </a:solidFill>
                <a:latin typeface="Arial"/>
              </a:rPr>
              <a:t> La Cluj, pe electronice. </a:t>
            </a:r>
            <a:r>
              <a:rPr i="1" sz="1400">
                <a:solidFill>
                  <a:srgbClr val="F2F2F2"/>
                </a:solidFill>
                <a:latin typeface="Arial"/>
              </a:rPr>
              <a:t>Și ce?</a:t>
            </a:r>
            <a:r>
              <a:rPr b="0" sz="1400">
                <a:solidFill>
                  <a:srgbClr val="F2F2F2"/>
                </a:solidFill>
                <a:latin typeface="Arial"/>
              </a:rPr>
              <a:t> Top-3 epuizate, zero campanii — </a:t>
            </a:r>
            <a:r>
              <a:rPr b="1" sz="1400">
                <a:solidFill>
                  <a:srgbClr val="F2F2F2"/>
                </a:solidFill>
                <a:latin typeface="Arial"/>
              </a:rPr>
              <a:t>insight</a:t>
            </a:r>
            <a:r>
              <a:rPr b="0" sz="1400">
                <a:solidFill>
                  <a:srgbClr val="F2F2F2"/>
                </a:solidFill>
                <a:latin typeface="Arial"/>
              </a:rPr>
              <a:t>. </a:t>
            </a:r>
            <a:r>
              <a:rPr i="1" sz="1400">
                <a:solidFill>
                  <a:srgbClr val="F2F2F2"/>
                </a:solidFill>
                <a:latin typeface="Arial"/>
              </a:rPr>
              <a:t>Și ce?</a:t>
            </a:r>
            <a:r>
              <a:rPr b="0" sz="1400">
                <a:solidFill>
                  <a:srgbClr val="F2F2F2"/>
                </a:solidFill>
                <a:latin typeface="Arial"/>
              </a:rPr>
              <a:t> Reaprovizionăm + campanie — </a:t>
            </a:r>
            <a:r>
              <a:rPr b="1" sz="1400">
                <a:solidFill>
                  <a:srgbClr val="F2F2F2"/>
                </a:solidFill>
                <a:latin typeface="Arial"/>
              </a:rPr>
              <a:t>recomandarea</a:t>
            </a:r>
            <a:r>
              <a:rPr b="0" sz="1400">
                <a:solidFill>
                  <a:srgbClr val="F2F2F2"/>
                </a:solidFill>
                <a:latin typeface="Arial"/>
              </a:rPr>
              <a:t>.»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04488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Apoi pune degetul pe greșeala Ioanei: a avut observația, dar s-a oprit și a adăugat </a:t>
            </a:r>
            <a:r>
              <a:rPr i="1" sz="1500">
                <a:solidFill>
                  <a:srgbClr val="F2F2F2"/>
                </a:solidFill>
                <a:latin typeface="Arial"/>
              </a:rPr>
              <a:t>mai multe observații</a:t>
            </a:r>
            <a:r>
              <a:rPr b="0" sz="1500">
                <a:solidFill>
                  <a:srgbClr val="F2F2F2"/>
                </a:solidFill>
                <a:latin typeface="Arial"/>
              </a:rPr>
              <a:t>, sperând că una va părea o concluzie. Nu urci scara adăugând trepte de jos — urci întrebând «și ce?».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L5 · Concluzia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APLICARE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Rândul tău — urcă scara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Observație mută: «</a:t>
            </a:r>
            <a:r>
              <a:rPr b="1" sz="1400">
                <a:solidFill>
                  <a:srgbClr val="F2F2F2"/>
                </a:solidFill>
                <a:latin typeface="Arial"/>
              </a:rPr>
              <a:t>Retention</a:t>
            </a:r>
            <a:r>
              <a:rPr b="0" sz="1400">
                <a:solidFill>
                  <a:srgbClr val="F2F2F2"/>
                </a:solidFill>
                <a:latin typeface="Arial"/>
              </a:rPr>
              <a:t> a scăzut de la 45% la 38% în ultimul trimestru.» Urcă scara.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71088"/>
            <a:ext cx="10874959" cy="143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Treapta 1→2 (insight):</a:t>
            </a:r>
            <a:r>
              <a:rPr b="0" sz="1400">
                <a:solidFill>
                  <a:srgbClr val="F2F2F2"/>
                </a:solidFill>
                <a:latin typeface="Arial"/>
              </a:rPr>
              <a:t> </a:t>
            </a:r>
            <a:r>
              <a:rPr i="1" sz="1400">
                <a:solidFill>
                  <a:srgbClr val="F2F2F2"/>
                </a:solidFill>
                <a:latin typeface="Arial"/>
              </a:rPr>
              <a:t>și ce?</a:t>
            </a:r>
            <a:r>
              <a:rPr b="0" sz="1400">
                <a:solidFill>
                  <a:srgbClr val="F2F2F2"/>
                </a:solidFill>
                <a:latin typeface="Arial"/>
              </a:rPr>
              <a:t> Ce ai afla (Decision Tree + KPI) ca să transformi cifra în </a:t>
            </a:r>
            <a:r>
              <a:rPr i="1" sz="1400">
                <a:solidFill>
                  <a:srgbClr val="F2F2F2"/>
                </a:solidFill>
                <a:latin typeface="Arial"/>
              </a:rPr>
              <a:t>de ce</a:t>
            </a:r>
            <a:r>
              <a:rPr b="0" sz="1400">
                <a:solidFill>
                  <a:srgbClr val="F2F2F2"/>
                </a:solidFill>
                <a:latin typeface="Arial"/>
              </a:rPr>
              <a:t>?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Treapta 2→3 (recomandare):</a:t>
            </a:r>
            <a:r>
              <a:rPr b="0" sz="1400">
                <a:solidFill>
                  <a:srgbClr val="F2F2F2"/>
                </a:solidFill>
                <a:latin typeface="Arial"/>
              </a:rPr>
              <a:t> ce </a:t>
            </a:r>
            <a:r>
              <a:rPr b="1" sz="1400">
                <a:solidFill>
                  <a:srgbClr val="F2F2F2"/>
                </a:solidFill>
                <a:latin typeface="Arial"/>
              </a:rPr>
              <a:t>acțiune</a:t>
            </a:r>
            <a:r>
              <a:rPr b="0" sz="1400">
                <a:solidFill>
                  <a:srgbClr val="F2F2F2"/>
                </a:solidFill>
                <a:latin typeface="Arial"/>
              </a:rPr>
              <a:t>, legată de ce </a:t>
            </a:r>
            <a:r>
              <a:rPr b="1" sz="1400">
                <a:solidFill>
                  <a:srgbClr val="F2F2F2"/>
                </a:solidFill>
                <a:latin typeface="Arial"/>
              </a:rPr>
              <a:t>decizie</a:t>
            </a:r>
            <a:r>
              <a:rPr b="0" sz="1400">
                <a:solidFill>
                  <a:srgbClr val="F2F2F2"/>
                </a:solidFill>
                <a:latin typeface="Arial"/>
              </a:rPr>
              <a:t>, cu ce </a:t>
            </a:r>
            <a:r>
              <a:rPr b="1" sz="1400">
                <a:solidFill>
                  <a:srgbClr val="F2F2F2"/>
                </a:solidFill>
                <a:latin typeface="Arial"/>
              </a:rPr>
              <a:t>consecință</a:t>
            </a:r>
            <a:r>
              <a:rPr b="0" sz="1400">
                <a:solidFill>
                  <a:srgbClr val="F2F2F2"/>
                </a:solidFill>
                <a:latin typeface="Arial"/>
              </a:rPr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80974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Model: insight = clienți de unică folosință din campania de vară; recomandare = campanie cu motiv de revenire (decizia lui Radu).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L5 · Concluzia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GREȘELI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38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Livrezi o observație și o numești concluzie</a:t>
            </a:r>
            <a:r>
              <a:rPr b="0" sz="1300">
                <a:solidFill>
                  <a:srgbClr val="F2F2F2"/>
                </a:solidFill>
                <a:latin typeface="Arial"/>
              </a:rPr>
              <a:t> — «Revenue −14,9%» și te oprești (pare terminat)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Sari la recomandare fără insight</a:t>
            </a:r>
            <a:r>
              <a:rPr b="0" sz="1300">
                <a:solidFill>
                  <a:srgbClr val="F2F2F2"/>
                </a:solidFill>
                <a:latin typeface="Arial"/>
              </a:rPr>
              <a:t> — «hai să facem o campanie» fără să afli </a:t>
            </a:r>
            <a:r>
              <a:rPr i="1" sz="1300">
                <a:solidFill>
                  <a:srgbClr val="F2F2F2"/>
                </a:solidFill>
                <a:latin typeface="Arial"/>
              </a:rPr>
              <a:t>de ce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Recomanzi ceva ce nu e o acțiune</a:t>
            </a:r>
            <a:r>
              <a:rPr b="0" sz="1300">
                <a:solidFill>
                  <a:srgbClr val="F2F2F2"/>
                </a:solidFill>
                <a:latin typeface="Arial"/>
              </a:rPr>
              <a:t> — «să investigăm / să fim atenți / să monitorizăm»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Te ascunzi în «nu avem destule date»</a:t>
            </a:r>
            <a:r>
              <a:rPr b="0" sz="1300">
                <a:solidFill>
                  <a:srgbClr val="F2F2F2"/>
                </a:solidFill>
                <a:latin typeface="Arial"/>
              </a:rPr>
              <a:t> — refuzi să recomanzi ca să nu greșești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17271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Antidot: după orice observație, pune «și ce?» de cel puțin două ori. O recomandare fără verb + cine primește imediat «și?».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L5 · Concluzia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reții — în 5 idei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89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«Adevărat» ≠ «util»: o </a:t>
            </a:r>
            <a:r>
              <a:rPr b="1" sz="1300">
                <a:solidFill>
                  <a:srgbClr val="F2F2F2"/>
                </a:solidFill>
                <a:latin typeface="Arial"/>
              </a:rPr>
              <a:t>observație</a:t>
            </a:r>
            <a:r>
              <a:rPr b="0" sz="1300">
                <a:solidFill>
                  <a:srgbClr val="F2F2F2"/>
                </a:solidFill>
                <a:latin typeface="Arial"/>
              </a:rPr>
              <a:t> corectă nu e o </a:t>
            </a:r>
            <a:r>
              <a:rPr b="1" sz="1300">
                <a:solidFill>
                  <a:srgbClr val="F2F2F2"/>
                </a:solidFill>
                <a:latin typeface="Arial"/>
              </a:rPr>
              <a:t>concluzie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Scara: </a:t>
            </a:r>
            <a:r>
              <a:rPr b="1" sz="1300">
                <a:solidFill>
                  <a:srgbClr val="F2F2F2"/>
                </a:solidFill>
                <a:latin typeface="Arial"/>
              </a:rPr>
              <a:t>observație (ce) → insight (de ce) → recomandare (ce facem)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Urci cu testul </a:t>
            </a:r>
            <a:r>
              <a:rPr b="1" sz="1300">
                <a:solidFill>
                  <a:srgbClr val="F2F2F2"/>
                </a:solidFill>
                <a:latin typeface="Arial"/>
              </a:rPr>
              <a:t>«și ce-i cu asta?»</a:t>
            </a:r>
            <a:r>
              <a:rPr b="0" sz="1300">
                <a:solidFill>
                  <a:srgbClr val="F2F2F2"/>
                </a:solidFill>
                <a:latin typeface="Arial"/>
              </a:rPr>
              <a:t> până ajungi la o </a:t>
            </a:r>
            <a:r>
              <a:rPr b="1" sz="1300">
                <a:solidFill>
                  <a:srgbClr val="F2F2F2"/>
                </a:solidFill>
                <a:latin typeface="Arial"/>
              </a:rPr>
              <a:t>acțiune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Recomandare adevărată = </a:t>
            </a:r>
            <a:r>
              <a:rPr b="1" sz="1300">
                <a:solidFill>
                  <a:srgbClr val="F2F2F2"/>
                </a:solidFill>
                <a:latin typeface="Arial"/>
              </a:rPr>
              <a:t>verb + decizie a cuiva + consecință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Fără insight, recomandarea e o ghiceală; fără recomandare, ești corect și inutil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678680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Punte: azi primești </a:t>
            </a:r>
            <a:r>
              <a:rPr b="1" sz="1400">
                <a:solidFill>
                  <a:srgbClr val="F2F2F2"/>
                </a:solidFill>
                <a:latin typeface="Arial"/>
              </a:rPr>
              <a:t>prima cerere reală de proiect</a:t>
            </a:r>
            <a:r>
              <a:rPr b="0" sz="1400">
                <a:solidFill>
                  <a:srgbClr val="F2F2F2"/>
                </a:solidFill>
                <a:latin typeface="Arial"/>
              </a:rPr>
              <a:t> — firul roșu al întregului curs.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L5 · Concluzia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MILESTONE · START PROIECT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Prima ta cerere reală (start proiect)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MILESTONE — prima ta cerere reală.</a:t>
            </a:r>
            <a:r>
              <a:rPr b="0" sz="1400">
                <a:solidFill>
                  <a:srgbClr val="F2F2F2"/>
                </a:solidFill>
                <a:latin typeface="Arial"/>
              </a:rPr>
              <a:t> Andrei: «Gata cu antrenamentul. Elena a făcut o cerere oficială și e a ta — o duci de la cap la coadă, tot cursul.»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37108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Cererea (Elena Dobre): «De ce a scăzut </a:t>
            </a:r>
            <a:r>
              <a:rPr b="1" sz="1400">
                <a:solidFill>
                  <a:srgbClr val="F2F2F2"/>
                </a:solidFill>
                <a:latin typeface="Arial"/>
              </a:rPr>
              <a:t>Revenue în septembrie 2025</a:t>
            </a:r>
            <a:r>
              <a:rPr b="0" sz="1400">
                <a:solidFill>
                  <a:srgbClr val="F2F2F2"/>
                </a:solidFill>
                <a:latin typeface="Arial"/>
              </a:rPr>
              <a:t> și ce facem să nu se repete? Vreau o </a:t>
            </a:r>
            <a:r>
              <a:rPr b="1" sz="1400">
                <a:solidFill>
                  <a:srgbClr val="F2F2F2"/>
                </a:solidFill>
                <a:latin typeface="Arial"/>
              </a:rPr>
              <a:t>concluzie</a:t>
            </a:r>
            <a:r>
              <a:rPr b="0" sz="1400">
                <a:solidFill>
                  <a:srgbClr val="F2F2F2"/>
                </a:solidFill>
                <a:latin typeface="Arial"/>
              </a:rPr>
              <a:t> pentru CEO, nu grafice.»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959096"/>
            <a:ext cx="10874959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Azi îl </a:t>
            </a:r>
            <a:r>
              <a:rPr b="1" sz="1300">
                <a:solidFill>
                  <a:srgbClr val="F2F2F2"/>
                </a:solidFill>
                <a:latin typeface="Arial"/>
              </a:rPr>
              <a:t>pornești</a:t>
            </a:r>
            <a:r>
              <a:rPr b="0" sz="1300">
                <a:solidFill>
                  <a:srgbClr val="F2F2F2"/>
                </a:solidFill>
                <a:latin typeface="Arial"/>
              </a:rPr>
              <a:t>, nu-l rezolvi: încadrare (L1) · hartă (L2) · Decision Tree (L3) · KPI (L4) · schița concluziei (L5)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L5 · Concluzia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L5 · Concluzia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