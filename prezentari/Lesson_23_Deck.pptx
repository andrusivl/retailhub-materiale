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Deschidere. A patra zi de SQL. La L20–L22 ai învățat să ceri, să filtrezi și să sortezi — dar rezultatul a fost mereu o listă de rânduri. Un KPI nu e o listă, e un număr. Azi înveți funcțiile de agregare care strâng mii de rânduri într-o cifră — și regăsești, în SQL, exact KPI-urile din Excel (L13): Revenue, comenzi, AOV. Baza RetailHub e deja încărcată.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Construiești peste L20–L22. Știi să ceri, să filtrezi și să sortezi — dar rezultatul a fost mereu un teanc de rânduri. Un KPI e un singur număr. Pune degetul pe salt: de la listă la cifră.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Enunță obiectivele ca abilități concrete. Ideea mare, pe care o repetăm toată ora: agregarea strânge o coloană într-un număr. Un KPI e fix asta — nu vrei 14968 de comenzi, vrei un număr care le rezumă.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Foaie de referință: ce agregăm azi, totul din tabelul orders. Cheia: agregi o cantitate (bani), nu un cod. Și reține că CampaignID are goluri (NULL) — de-acolo vine capcana Ioanei de peste două slide-uri.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Contextul. Andrei vrea KPI-urile mari din L13, dar acum din baza reală, cu SQL, și pe septembrie separat. Ăsta e declanșatorul: un KPI = un număr, nu o listă.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Cârligul, și e o greșeală de gândire. Ioana a numărat o coloană cu NULL-uri (CampaignID) crezând că numără comenzile. A ieșit 4530, nu 14968. Curiozitatea de azi: care e diferența dintre «câte rânduri» și «câte valori completate»?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Ideea unică. Agregarea strânge un teanc într-un număr. COUNT numără, SUM adună, AVG mediază. Cu un WHERE, aceleași pe o felie. Un KPI e un rezumat, nu o listă.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Miezul de referință. Cinci funcții: COUNT(*) câte rânduri, COUNT(coloană) câte valori completate, SUM total, AVG media, MIN/MAX extremele. AS numește coloana din rezultat. Regula-cheie: COUNT(*) ≠ COUNT(coloană) când sunt NULL-uri.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Prima demonstrație, ca să se vadă mecanica. COUNT(*) strânge cele 14968 de rânduri într-un singur număr. AS dă un nume citibil coloanei.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 adună coloana (Revenue), AVG face media (AOV). Ies exact cifrele din L13 — aceeași firmă, dar calculate pe toată baza cu o linie. Atenție la AVG: arată zecimale suplimentare; ROUND(…, 2) îl curăță.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Poți cere mai multe agregate deodată. Un singur rând cu trei numere: comenzi, Revenue, AOV. Ăsta e dashboard-ul de KPI-uri din L13, acum într-o linie de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Vârful lecției — un KPI pe o felie. Un WHERE pe septembrie, apoi agregatul se calculează doar pe rândurile rămase. Iese 1.126.418,50; față de august 1.324.375,59 = −14,9%. Ăsta e finding-ul #1 din investigație, acum în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 doilea reveal tehnic: COUNT(*) = 14968, COUNT(CampaignID) = 4530. Diferența de 10438 sunt comenzile fără campanie — ecou din L21. Diferența dintre cele două numere e ea însăși un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Elicitează, mai ales prima. Patru greșeli: COUNT pe coloană cu NULL, agregi un cod, confunzi funcțiile, și pui un agregat lângă o coloană ne-agregată fără GROUP BY. Ultima e puntea spre L24.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Închide cu milestone-ul: ai reconstruit în SQL exact cifrele-titlu din Excel (L13) și ai recalculat finding-ul #1 (−14,9%). Regulile: COUNT(*) ≠ COUNT(coloană); agregi o cantitate; agregat + WHERE = KPI pe felie. Salvează scriptul. Urmează L24: GROUP BY.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4 · LECȚIA 23 · A PATRA LECȚIE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Agregate — COUNT, SUM, AVG (calculezi KPI-uri în SQL)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Business Question → Data → SQL (adună) →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Vineri, 30 octombrie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L23 · Agregate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am rămas (SQL, L20 → L22)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sz="1500">
                <a:solidFill>
                  <a:srgbClr val="FFA24E"/>
                </a:solidFill>
                <a:latin typeface="Consolas"/>
              </a:rPr>
              <a:t>SELECT</a:t>
            </a:r>
            <a:r>
              <a:rPr b="0" sz="1500">
                <a:solidFill>
                  <a:srgbClr val="F2F2F2"/>
                </a:solidFill>
                <a:latin typeface="Arial"/>
              </a:rPr>
              <a:t>/</a:t>
            </a:r>
            <a:r>
              <a:rPr sz="1500">
                <a:solidFill>
                  <a:srgbClr val="FFA24E"/>
                </a:solidFill>
                <a:latin typeface="Consolas"/>
              </a:rPr>
              <a:t>FROM</a:t>
            </a:r>
            <a:r>
              <a:rPr b="0" sz="1500">
                <a:solidFill>
                  <a:srgbClr val="F2F2F2"/>
                </a:solidFill>
                <a:latin typeface="Arial"/>
              </a:rPr>
              <a:t>/</a:t>
            </a:r>
            <a:r>
              <a:rPr sz="15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500">
                <a:solidFill>
                  <a:srgbClr val="F2F2F2"/>
                </a:solidFill>
                <a:latin typeface="Arial"/>
              </a:rPr>
              <a:t> — ceri coloanele, tabelul, rândurile (L20)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trusa </a:t>
            </a:r>
            <a:r>
              <a:rPr sz="15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500">
                <a:solidFill>
                  <a:srgbClr val="F2F2F2"/>
                </a:solidFill>
                <a:latin typeface="Arial"/>
              </a:rPr>
              <a:t> fină: </a:t>
            </a:r>
            <a:r>
              <a:rPr sz="1500">
                <a:solidFill>
                  <a:srgbClr val="FFA24E"/>
                </a:solidFill>
                <a:latin typeface="Consolas"/>
              </a:rPr>
              <a:t>BETWEEN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sz="1500">
                <a:solidFill>
                  <a:srgbClr val="FFA24E"/>
                </a:solidFill>
                <a:latin typeface="Consolas"/>
              </a:rPr>
              <a:t>IN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sz="1500">
                <a:solidFill>
                  <a:srgbClr val="FFA24E"/>
                </a:solidFill>
                <a:latin typeface="Consolas"/>
              </a:rPr>
              <a:t>LIKE '%…%'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sz="1500">
                <a:solidFill>
                  <a:srgbClr val="FFA24E"/>
                </a:solidFill>
                <a:latin typeface="Consolas"/>
              </a:rPr>
              <a:t>IS NULL</a:t>
            </a:r>
            <a:r>
              <a:rPr b="0" sz="1500">
                <a:solidFill>
                  <a:srgbClr val="F2F2F2"/>
                </a:solidFill>
                <a:latin typeface="Arial"/>
              </a:rPr>
              <a:t> (L21)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sz="1500">
                <a:solidFill>
                  <a:srgbClr val="FFA24E"/>
                </a:solidFill>
                <a:latin typeface="Consolas"/>
              </a:rPr>
              <a:t>ORDER BY</a:t>
            </a:r>
            <a:r>
              <a:rPr b="0" sz="1500">
                <a:solidFill>
                  <a:srgbClr val="F2F2F2"/>
                </a:solidFill>
                <a:latin typeface="Arial"/>
              </a:rPr>
              <a:t> + </a:t>
            </a:r>
            <a:r>
              <a:rPr sz="1500">
                <a:solidFill>
                  <a:srgbClr val="FFA24E"/>
                </a:solidFill>
                <a:latin typeface="Consolas"/>
              </a:rPr>
              <a:t>LIMIT</a:t>
            </a:r>
            <a:r>
              <a:rPr b="0" sz="1500">
                <a:solidFill>
                  <a:srgbClr val="F2F2F2"/>
                </a:solidFill>
                <a:latin typeface="Arial"/>
              </a:rPr>
              <a:t> → Top-N; produsele epuizate erau </a:t>
            </a:r>
            <a:r>
              <a:rPr b="1" sz="1500">
                <a:solidFill>
                  <a:srgbClr val="F2F2F2"/>
                </a:solidFill>
                <a:latin typeface="Arial"/>
              </a:rPr>
              <a:t>premium</a:t>
            </a:r>
            <a:r>
              <a:rPr b="0" sz="1500">
                <a:solidFill>
                  <a:srgbClr val="F2F2F2"/>
                </a:solidFill>
                <a:latin typeface="Arial"/>
              </a:rPr>
              <a:t> (L22)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dar</a:t>
            </a:r>
            <a:r>
              <a:rPr b="0" sz="1500">
                <a:solidFill>
                  <a:srgbClr val="F2F2F2"/>
                </a:solidFill>
                <a:latin typeface="Arial"/>
              </a:rPr>
              <a:t> rezultatul a fost mereu o </a:t>
            </a:r>
            <a:r>
              <a:rPr b="1" sz="1500">
                <a:solidFill>
                  <a:srgbClr val="F2F2F2"/>
                </a:solidFill>
                <a:latin typeface="Arial"/>
              </a:rPr>
              <a:t>listă</a:t>
            </a:r>
            <a:r>
              <a:rPr b="0" sz="1500">
                <a:solidFill>
                  <a:srgbClr val="F2F2F2"/>
                </a:solidFill>
                <a:latin typeface="Arial"/>
              </a:rPr>
              <a:t> de rânduri — nu un număr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41655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Un KPI nu e o listă, e </a:t>
            </a:r>
            <a:r>
              <a:rPr b="1" sz="1400">
                <a:solidFill>
                  <a:srgbClr val="F2F2F2"/>
                </a:solidFill>
                <a:latin typeface="Arial"/>
              </a:rPr>
              <a:t>un număr</a:t>
            </a:r>
            <a:r>
              <a:rPr b="0" sz="1400">
                <a:solidFill>
                  <a:srgbClr val="F2F2F2"/>
                </a:solidFill>
                <a:latin typeface="Arial"/>
              </a:rPr>
              <a:t>: „câte comenzi?”, „ce Revenue total?”, „ce valoare medie?”. Azi strângi mii de rânduri într-o cifră.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L23 · Agregate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vei putea face azi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710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Patru mișcări pe care le rezolvi azi cu funcțiile de agregare: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03226"/>
            <a:ext cx="10874959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numeri cu </a:t>
            </a:r>
            <a:r>
              <a:rPr sz="1500">
                <a:solidFill>
                  <a:srgbClr val="FFA24E"/>
                </a:solidFill>
                <a:latin typeface="Consolas"/>
              </a:rPr>
              <a:t>COUNT(*)</a:t>
            </a:r>
            <a:r>
              <a:rPr b="0" sz="1500">
                <a:solidFill>
                  <a:srgbClr val="F2F2F2"/>
                </a:solidFill>
                <a:latin typeface="Arial"/>
              </a:rPr>
              <a:t> (câte rânduri) vs </a:t>
            </a:r>
            <a:r>
              <a:rPr sz="1500">
                <a:solidFill>
                  <a:srgbClr val="FFA24E"/>
                </a:solidFill>
                <a:latin typeface="Consolas"/>
              </a:rPr>
              <a:t>COUNT(coloană)</a:t>
            </a:r>
            <a:r>
              <a:rPr b="0" sz="1500">
                <a:solidFill>
                  <a:srgbClr val="F2F2F2"/>
                </a:solidFill>
                <a:latin typeface="Arial"/>
              </a:rPr>
              <a:t> (sare peste </a:t>
            </a:r>
            <a:r>
              <a:rPr sz="1500">
                <a:solidFill>
                  <a:srgbClr val="FFA24E"/>
                </a:solidFill>
                <a:latin typeface="Consolas"/>
              </a:rPr>
              <a:t>NULL</a:t>
            </a:r>
            <a:r>
              <a:rPr b="0" sz="1500">
                <a:solidFill>
                  <a:srgbClr val="F2F2F2"/>
                </a:solidFill>
                <a:latin typeface="Arial"/>
              </a:rPr>
              <a:t>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calculezi totalul cu </a:t>
            </a:r>
            <a:r>
              <a:rPr sz="1500">
                <a:solidFill>
                  <a:srgbClr val="FFA24E"/>
                </a:solidFill>
                <a:latin typeface="Consolas"/>
              </a:rPr>
              <a:t>SUM</a:t>
            </a:r>
            <a:r>
              <a:rPr b="0" sz="1500">
                <a:solidFill>
                  <a:srgbClr val="F2F2F2"/>
                </a:solidFill>
                <a:latin typeface="Arial"/>
              </a:rPr>
              <a:t>, media cu </a:t>
            </a:r>
            <a:r>
              <a:rPr sz="1500">
                <a:solidFill>
                  <a:srgbClr val="FFA24E"/>
                </a:solidFill>
                <a:latin typeface="Consolas"/>
              </a:rPr>
              <a:t>AVG</a:t>
            </a:r>
            <a:r>
              <a:rPr b="0" sz="1500">
                <a:solidFill>
                  <a:srgbClr val="F2F2F2"/>
                </a:solidFill>
                <a:latin typeface="Arial"/>
              </a:rPr>
              <a:t>, extremele cu </a:t>
            </a:r>
            <a:r>
              <a:rPr sz="1500">
                <a:solidFill>
                  <a:srgbClr val="FFA24E"/>
                </a:solidFill>
                <a:latin typeface="Consolas"/>
              </a:rPr>
              <a:t>MIN</a:t>
            </a:r>
            <a:r>
              <a:rPr b="0" sz="1500">
                <a:solidFill>
                  <a:srgbClr val="F2F2F2"/>
                </a:solidFill>
                <a:latin typeface="Arial"/>
              </a:rPr>
              <a:t>/</a:t>
            </a:r>
            <a:r>
              <a:rPr sz="1500">
                <a:solidFill>
                  <a:srgbClr val="FFA24E"/>
                </a:solidFill>
                <a:latin typeface="Consolas"/>
              </a:rPr>
              <a:t>MAX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un agregat + </a:t>
            </a:r>
            <a:r>
              <a:rPr sz="15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500">
                <a:solidFill>
                  <a:srgbClr val="F2F2F2"/>
                </a:solidFill>
                <a:latin typeface="Arial"/>
              </a:rPr>
              <a:t> = un KPI pe o </a:t>
            </a:r>
            <a:r>
              <a:rPr b="1" sz="1500">
                <a:solidFill>
                  <a:srgbClr val="F2F2F2"/>
                </a:solidFill>
                <a:latin typeface="Arial"/>
              </a:rPr>
              <a:t>felie</a:t>
            </a:r>
            <a:r>
              <a:rPr b="0" sz="1500">
                <a:solidFill>
                  <a:srgbClr val="F2F2F2"/>
                </a:solidFill>
                <a:latin typeface="Arial"/>
              </a:rPr>
              <a:t> (ex. Revenue-ul din septembrie)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dai rezultatului un nume cu </a:t>
            </a:r>
            <a:r>
              <a:rPr sz="1500">
                <a:solidFill>
                  <a:srgbClr val="FFA24E"/>
                </a:solidFill>
                <a:latin typeface="Consolas"/>
              </a:rPr>
              <a:t>AS</a:t>
            </a:r>
            <a:r>
              <a:rPr b="0" sz="1500">
                <a:solidFill>
                  <a:srgbClr val="F2F2F2"/>
                </a:solidFill>
                <a:latin typeface="Arial"/>
              </a:rPr>
              <a:t> și scoți toată „linia de KPI” dintr-o interogare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236698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Ideea centrală: </a:t>
            </a:r>
            <a:r>
              <a:rPr b="1" sz="1400">
                <a:solidFill>
                  <a:srgbClr val="F2F2F2"/>
                </a:solidFill>
                <a:latin typeface="Arial"/>
              </a:rPr>
              <a:t>o funcție de agregare strânge o coloană într-un singur număr</a:t>
            </a:r>
            <a:r>
              <a:rPr b="0" sz="1400">
                <a:solidFill>
                  <a:srgbClr val="F2F2F2"/>
                </a:solidFill>
                <a:latin typeface="Arial"/>
              </a:rPr>
              <a:t> — exact ce e un KPI.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L23 · Agregate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REFERINȚĂ · ORDERS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agregăm azi (RetailHub)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7033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Coloană (orders)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Ce 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Agregi ca să…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TotalAmount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suma comenzii (bani)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SUM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 → Revenue · </a:t>
                      </a:r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AVG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 → AOV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OrderID (rând)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un rând = o comandă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COUNT(*)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 → câte comenzi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CampaignID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campania — </a:t>
                      </a:r>
                      <a:r>
                        <a:rPr b="1" sz="1100">
                          <a:solidFill>
                            <a:srgbClr val="F2F2F2"/>
                          </a:solidFill>
                          <a:latin typeface="Arial"/>
                        </a:rPr>
                        <a:t>poate fi `NULL`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COUNT(col)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 sare peste goluri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40156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Regula de tip (ecou L6): agregi o </a:t>
            </a:r>
            <a:r>
              <a:rPr b="1" sz="1300">
                <a:solidFill>
                  <a:srgbClr val="F2F2F2"/>
                </a:solidFill>
                <a:latin typeface="Arial"/>
              </a:rPr>
              <a:t>cantitate</a:t>
            </a:r>
            <a:r>
              <a:rPr b="0" sz="1300">
                <a:solidFill>
                  <a:srgbClr val="F2F2F2"/>
                </a:solidFill>
                <a:latin typeface="Arial"/>
              </a:rPr>
              <a:t> (</a:t>
            </a:r>
            <a:r>
              <a:rPr sz="1300">
                <a:solidFill>
                  <a:srgbClr val="FFA24E"/>
                </a:solidFill>
                <a:latin typeface="Consolas"/>
              </a:rPr>
              <a:t>TotalAmount</a:t>
            </a:r>
            <a:r>
              <a:rPr b="0" sz="1300">
                <a:solidFill>
                  <a:srgbClr val="F2F2F2"/>
                </a:solidFill>
                <a:latin typeface="Arial"/>
              </a:rPr>
              <a:t>) — </a:t>
            </a:r>
            <a:r>
              <a:rPr sz="1300">
                <a:solidFill>
                  <a:srgbClr val="FFA24E"/>
                </a:solidFill>
                <a:latin typeface="Consolas"/>
              </a:rPr>
              <a:t>SUM(StoreID)</a:t>
            </a:r>
            <a:r>
              <a:rPr b="0" sz="1300">
                <a:solidFill>
                  <a:srgbClr val="F2F2F2"/>
                </a:solidFill>
                <a:latin typeface="Arial"/>
              </a:rPr>
              <a:t> adună coduri de magazin, un număr fără sens.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L23 · Agregate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«Dă-mi cifrele-titlu, în SQL» (Andrei)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20985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„În Excel aveai Revenue-ul total, numărul de comenzi și valoarea medie (AOV). Acum vreau </a:t>
            </a:r>
            <a:r>
              <a:rPr b="1" sz="1500">
                <a:solidFill>
                  <a:srgbClr val="F2F2F2"/>
                </a:solidFill>
                <a:latin typeface="Arial"/>
              </a:rPr>
              <a:t>aceleași cifre</a:t>
            </a:r>
            <a:r>
              <a:rPr b="0" sz="1500">
                <a:solidFill>
                  <a:srgbClr val="F2F2F2"/>
                </a:solidFill>
                <a:latin typeface="Arial"/>
              </a:rPr>
              <a:t>, dar din baza reală, cu SQL — și pentru septembrie separat. Un număr, nu o listă de mii de rânduri.”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18788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Deschizi baza </a:t>
            </a:r>
            <a:r>
              <a:rPr sz="1500">
                <a:solidFill>
                  <a:srgbClr val="FFA24E"/>
                </a:solidFill>
                <a:latin typeface="Consolas"/>
              </a:rPr>
              <a:t>RetailHub</a:t>
            </a:r>
            <a:r>
              <a:rPr b="0" sz="1500">
                <a:solidFill>
                  <a:srgbClr val="F2F2F2"/>
                </a:solidFill>
                <a:latin typeface="Arial"/>
              </a:rPr>
              <a:t>. Până acum, orice interogare îți dădea </a:t>
            </a:r>
            <a:r>
              <a:rPr b="1" sz="1500">
                <a:solidFill>
                  <a:srgbClr val="F2F2F2"/>
                </a:solidFill>
                <a:latin typeface="Arial"/>
              </a:rPr>
              <a:t>rânduri</a:t>
            </a:r>
            <a:r>
              <a:rPr b="0" sz="1500">
                <a:solidFill>
                  <a:srgbClr val="F2F2F2"/>
                </a:solidFill>
                <a:latin typeface="Arial"/>
              </a:rPr>
              <a:t>. Pentru un KPI îți trebuie o funcție care le </a:t>
            </a:r>
            <a:r>
              <a:rPr b="1" sz="1500">
                <a:solidFill>
                  <a:srgbClr val="F2F2F2"/>
                </a:solidFill>
                <a:latin typeface="Arial"/>
              </a:rPr>
              <a:t>strânge</a:t>
            </a:r>
            <a:r>
              <a:rPr b="0" sz="1500">
                <a:solidFill>
                  <a:srgbClr val="F2F2F2"/>
                </a:solidFill>
                <a:latin typeface="Arial"/>
              </a:rPr>
              <a:t> pe toate într-un singur număr.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L23 · Agregate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ATENȚIE · ANTI-EXEMPLU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 pățit Ioana: COUNT(CampaignID)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722376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-- crede că numără comenzile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COUNT(CampaignID) FROM orders;   -- 4530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42616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A primit </a:t>
            </a:r>
            <a:r>
              <a:rPr b="1" sz="1500">
                <a:solidFill>
                  <a:srgbClr val="F2F2F2"/>
                </a:solidFill>
                <a:latin typeface="Arial"/>
              </a:rPr>
              <a:t>4530</a:t>
            </a:r>
            <a:r>
              <a:rPr b="0" sz="1500">
                <a:solidFill>
                  <a:srgbClr val="F2F2F2"/>
                </a:solidFill>
                <a:latin typeface="Arial"/>
              </a:rPr>
              <a:t> și a raportat că firma are 4530 de comenzi. Greșit: </a:t>
            </a:r>
            <a:r>
              <a:rPr sz="1500">
                <a:solidFill>
                  <a:srgbClr val="FFA24E"/>
                </a:solidFill>
                <a:latin typeface="Consolas"/>
              </a:rPr>
              <a:t>COUNT(coloană)</a:t>
            </a:r>
            <a:r>
              <a:rPr b="0" sz="1500">
                <a:solidFill>
                  <a:srgbClr val="F2F2F2"/>
                </a:solidFill>
                <a:latin typeface="Arial"/>
              </a:rPr>
              <a:t> numără doar valorile </a:t>
            </a:r>
            <a:r>
              <a:rPr b="1" sz="1500">
                <a:solidFill>
                  <a:srgbClr val="F2F2F2"/>
                </a:solidFill>
                <a:latin typeface="Arial"/>
              </a:rPr>
              <a:t>completate</a:t>
            </a:r>
            <a:r>
              <a:rPr b="0" sz="1500">
                <a:solidFill>
                  <a:srgbClr val="F2F2F2"/>
                </a:solidFill>
                <a:latin typeface="Arial"/>
              </a:rPr>
              <a:t> — iar 10438 de comenzi n-au campanie (</a:t>
            </a:r>
            <a:r>
              <a:rPr sz="1500">
                <a:solidFill>
                  <a:srgbClr val="FFA24E"/>
                </a:solidFill>
                <a:latin typeface="Consolas"/>
              </a:rPr>
              <a:t>NULL</a:t>
            </a:r>
            <a:r>
              <a:rPr b="0" sz="1500">
                <a:solidFill>
                  <a:srgbClr val="F2F2F2"/>
                </a:solidFill>
                <a:latin typeface="Arial"/>
              </a:rPr>
              <a:t>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99030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Comenzile-s </a:t>
            </a:r>
            <a:r>
              <a:rPr b="1" sz="1400">
                <a:solidFill>
                  <a:srgbClr val="F2F2F2"/>
                </a:solidFill>
                <a:latin typeface="Arial"/>
              </a:rPr>
              <a:t>14968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COUNT(*)</a:t>
            </a:r>
            <a:r>
              <a:rPr b="0" sz="1400">
                <a:solidFill>
                  <a:srgbClr val="F2F2F2"/>
                </a:solidFill>
                <a:latin typeface="Arial"/>
              </a:rPr>
              <a:t>). Ea a numărat o coloană cu goluri, nu rândurile. Antidotul: „câte rânduri” = </a:t>
            </a:r>
            <a:r>
              <a:rPr sz="1400">
                <a:solidFill>
                  <a:srgbClr val="FFA24E"/>
                </a:solidFill>
                <a:latin typeface="Consolas"/>
              </a:rPr>
              <a:t>COUNT(*)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L23 · Agregate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Agregarea strânge o coloană într-un număr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Până acum interogările îți dădeau un </a:t>
            </a:r>
            <a:r>
              <a:rPr b="1" sz="1500">
                <a:solidFill>
                  <a:srgbClr val="F2F2F2"/>
                </a:solidFill>
                <a:latin typeface="Arial"/>
              </a:rPr>
              <a:t>teanc</a:t>
            </a:r>
            <a:r>
              <a:rPr b="0" sz="1500">
                <a:solidFill>
                  <a:srgbClr val="F2F2F2"/>
                </a:solidFill>
                <a:latin typeface="Arial"/>
              </a:rPr>
              <a:t> de rânduri. O funcție de agregare ia tot teancul și-l </a:t>
            </a:r>
            <a:r>
              <a:rPr b="1" sz="1500">
                <a:solidFill>
                  <a:srgbClr val="F2F2F2"/>
                </a:solidFill>
                <a:latin typeface="Arial"/>
              </a:rPr>
              <a:t>strânge</a:t>
            </a:r>
            <a:r>
              <a:rPr b="0" sz="1500">
                <a:solidFill>
                  <a:srgbClr val="F2F2F2"/>
                </a:solidFill>
                <a:latin typeface="Arial"/>
              </a:rPr>
              <a:t> într-o cifră: </a:t>
            </a:r>
            <a:r>
              <a:rPr sz="1500">
                <a:solidFill>
                  <a:srgbClr val="FFA24E"/>
                </a:solidFill>
                <a:latin typeface="Consolas"/>
              </a:rPr>
              <a:t>COUNT</a:t>
            </a:r>
            <a:r>
              <a:rPr b="0" sz="1500">
                <a:solidFill>
                  <a:srgbClr val="F2F2F2"/>
                </a:solidFill>
                <a:latin typeface="Arial"/>
              </a:rPr>
              <a:t> „cântărește câte foi”, </a:t>
            </a:r>
            <a:r>
              <a:rPr sz="1500">
                <a:solidFill>
                  <a:srgbClr val="FFA24E"/>
                </a:solidFill>
                <a:latin typeface="Consolas"/>
              </a:rPr>
              <a:t>SUM</a:t>
            </a:r>
            <a:r>
              <a:rPr b="0" sz="1500">
                <a:solidFill>
                  <a:srgbClr val="F2F2F2"/>
                </a:solidFill>
                <a:latin typeface="Arial"/>
              </a:rPr>
              <a:t> „adună sumele de pe ele”, </a:t>
            </a:r>
            <a:r>
              <a:rPr sz="1500">
                <a:solidFill>
                  <a:srgbClr val="FFA24E"/>
                </a:solidFill>
                <a:latin typeface="Consolas"/>
              </a:rPr>
              <a:t>AVG</a:t>
            </a:r>
            <a:r>
              <a:rPr b="0" sz="1500">
                <a:solidFill>
                  <a:srgbClr val="F2F2F2"/>
                </a:solidFill>
                <a:latin typeface="Arial"/>
              </a:rPr>
              <a:t> „face media”.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Un KPI e fix asta — nu vrei să vezi cele 14968 de comenzi, vrei </a:t>
            </a:r>
            <a:r>
              <a:rPr i="1" sz="1400">
                <a:solidFill>
                  <a:srgbClr val="F2F2F2"/>
                </a:solidFill>
                <a:latin typeface="Arial"/>
              </a:rPr>
              <a:t>un</a:t>
            </a:r>
            <a:r>
              <a:rPr b="0" sz="1400">
                <a:solidFill>
                  <a:srgbClr val="F2F2F2"/>
                </a:solidFill>
                <a:latin typeface="Arial"/>
              </a:rPr>
              <a:t> număr care le rezumă. Pui întâi un </a:t>
            </a:r>
            <a:r>
              <a:rPr sz="14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400">
                <a:solidFill>
                  <a:srgbClr val="F2F2F2"/>
                </a:solidFill>
                <a:latin typeface="Arial"/>
              </a:rPr>
              <a:t> și strângi doar felia care te interesează (septembrie).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L23 · Agregate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ORIENTARE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Cele cinci funcții de agregare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2212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6880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Vrei…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Funcția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La noi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Câte rânduri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COUNT(*)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numărul de comenzi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Câte valori completate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COUNT(coloană)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comenzi </a:t>
                      </a:r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cu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campanie (sare </a:t>
                      </a:r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NULL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SUM(coloană)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Revenue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Media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AVG(coloană)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AOV (valoarea medie a comenzii)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Minim / maxim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MIN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/ </a:t>
                      </a:r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MAX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cea mai mică / mare comandă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413308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Dai rezultatului un nume cu </a:t>
            </a:r>
            <a:r>
              <a:rPr b="1" sz="1300">
                <a:solidFill>
                  <a:srgbClr val="F2F2F2"/>
                </a:solidFill>
                <a:latin typeface="Arial"/>
              </a:rPr>
              <a:t>`AS`</a:t>
            </a:r>
            <a:r>
              <a:rPr b="0" sz="1300">
                <a:solidFill>
                  <a:srgbClr val="F2F2F2"/>
                </a:solidFill>
                <a:latin typeface="Arial"/>
              </a:rPr>
              <a:t>: </a:t>
            </a:r>
            <a:r>
              <a:rPr sz="1300">
                <a:solidFill>
                  <a:srgbClr val="FFA24E"/>
                </a:solidFill>
                <a:latin typeface="Consolas"/>
              </a:rPr>
              <a:t>SUM(TotalAmount) AS Revenue</a:t>
            </a:r>
            <a:r>
              <a:rPr b="0" sz="1300">
                <a:solidFill>
                  <a:srgbClr val="F2F2F2"/>
                </a:solidFill>
                <a:latin typeface="Arial"/>
              </a:rPr>
              <a:t>. </a:t>
            </a:r>
            <a:r>
              <a:rPr sz="1300">
                <a:solidFill>
                  <a:srgbClr val="FFA24E"/>
                </a:solidFill>
                <a:latin typeface="Consolas"/>
              </a:rPr>
              <a:t>COUNT(*)</a:t>
            </a:r>
            <a:r>
              <a:rPr b="0" sz="1300">
                <a:solidFill>
                  <a:srgbClr val="F2F2F2"/>
                </a:solidFill>
                <a:latin typeface="Arial"/>
              </a:rPr>
              <a:t> numără rândurile; </a:t>
            </a:r>
            <a:r>
              <a:rPr sz="1300">
                <a:solidFill>
                  <a:srgbClr val="FFA24E"/>
                </a:solidFill>
                <a:latin typeface="Consolas"/>
              </a:rPr>
              <a:t>COUNT(coloană)</a:t>
            </a:r>
            <a:r>
              <a:rPr b="0" sz="1300">
                <a:solidFill>
                  <a:srgbClr val="F2F2F2"/>
                </a:solidFill>
                <a:latin typeface="Arial"/>
              </a:rPr>
              <a:t> doar non-</a:t>
            </a:r>
            <a:r>
              <a:rPr sz="1300">
                <a:solidFill>
                  <a:srgbClr val="FFA24E"/>
                </a:solidFill>
                <a:latin typeface="Consolas"/>
              </a:rPr>
              <a:t>NULL</a:t>
            </a:r>
            <a:r>
              <a:rPr b="0" sz="13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L23 · Agregate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EXEMPLU ·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Câte comenzi are firma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489204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COUNT(*) AS Comenzi FROM orders;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09444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🖥️ </a:t>
            </a:r>
            <a:r>
              <a:rPr b="1" sz="1500">
                <a:solidFill>
                  <a:srgbClr val="F2F2F2"/>
                </a:solidFill>
                <a:latin typeface="Arial"/>
              </a:rPr>
              <a:t>Ce vezi:</a:t>
            </a:r>
            <a:r>
              <a:rPr b="0" sz="1500">
                <a:solidFill>
                  <a:srgbClr val="F2F2F2"/>
                </a:solidFill>
                <a:latin typeface="Arial"/>
              </a:rPr>
              <a:t> un singur număr — </a:t>
            </a:r>
            <a:r>
              <a:rPr b="1" sz="1500">
                <a:solidFill>
                  <a:srgbClr val="F2F2F2"/>
                </a:solidFill>
                <a:latin typeface="Arial"/>
              </a:rPr>
              <a:t>14968</a:t>
            </a:r>
            <a:r>
              <a:rPr b="0" sz="1500">
                <a:solidFill>
                  <a:srgbClr val="F2F2F2"/>
                </a:solidFill>
                <a:latin typeface="Arial"/>
              </a:rPr>
              <a:t>. </a:t>
            </a:r>
            <a:r>
              <a:rPr sz="1500">
                <a:solidFill>
                  <a:srgbClr val="FFA24E"/>
                </a:solidFill>
                <a:latin typeface="Consolas"/>
              </a:rPr>
              <a:t>COUNT(*)</a:t>
            </a:r>
            <a:r>
              <a:rPr b="0" sz="1500">
                <a:solidFill>
                  <a:srgbClr val="F2F2F2"/>
                </a:solidFill>
                <a:latin typeface="Arial"/>
              </a:rPr>
              <a:t> numără </a:t>
            </a:r>
            <a:r>
              <a:rPr b="1" sz="1500">
                <a:solidFill>
                  <a:srgbClr val="F2F2F2"/>
                </a:solidFill>
                <a:latin typeface="Arial"/>
              </a:rPr>
              <a:t>rândurile</a:t>
            </a:r>
            <a:r>
              <a:rPr b="0" sz="1500">
                <a:solidFill>
                  <a:srgbClr val="F2F2F2"/>
                </a:solidFill>
                <a:latin typeface="Arial"/>
              </a:rPr>
              <a:t> (comenzile), nu o coloană anume.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75712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Prima demonstrație a mecanicii: mii de rânduri → o cifră. </a:t>
            </a:r>
            <a:r>
              <a:rPr sz="1300">
                <a:solidFill>
                  <a:srgbClr val="FFA24E"/>
                </a:solidFill>
                <a:latin typeface="Consolas"/>
              </a:rPr>
              <a:t>AS Comenzi</a:t>
            </a:r>
            <a:r>
              <a:rPr b="0" sz="1300">
                <a:solidFill>
                  <a:srgbClr val="F2F2F2"/>
                </a:solidFill>
                <a:latin typeface="Arial"/>
              </a:rPr>
              <a:t> face ca antetul coloanei să fie „Comenzi”, nu </a:t>
            </a:r>
            <a:r>
              <a:rPr sz="1300">
                <a:solidFill>
                  <a:srgbClr val="FFA24E"/>
                </a:solidFill>
                <a:latin typeface="Consolas"/>
              </a:rPr>
              <a:t>COUNT(*)</a:t>
            </a:r>
            <a:r>
              <a:rPr b="0" sz="13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L23 · Agregate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1 · REVENUE + AOV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SUM și AVG — cifrele din Excel (L13)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955547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SUM(TotalAmount) AS Revenue,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     ROUND(AVG(TotalAmount), 2) AS AOV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orders;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875788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🖥️ </a:t>
            </a:r>
            <a:r>
              <a:rPr b="1" sz="1500">
                <a:solidFill>
                  <a:srgbClr val="F2F2F2"/>
                </a:solidFill>
                <a:latin typeface="Arial"/>
              </a:rPr>
              <a:t>Revenue = 37.878.974,89</a:t>
            </a:r>
            <a:r>
              <a:rPr b="0" sz="1500">
                <a:solidFill>
                  <a:srgbClr val="F2F2F2"/>
                </a:solidFill>
                <a:latin typeface="Arial"/>
              </a:rPr>
              <a:t> și </a:t>
            </a:r>
            <a:r>
              <a:rPr b="1" sz="1500">
                <a:solidFill>
                  <a:srgbClr val="F2F2F2"/>
                </a:solidFill>
                <a:latin typeface="Arial"/>
              </a:rPr>
              <a:t>AOV = 2.530,66</a:t>
            </a:r>
            <a:r>
              <a:rPr b="0" sz="1500">
                <a:solidFill>
                  <a:srgbClr val="F2F2F2"/>
                </a:solidFill>
                <a:latin typeface="Arial"/>
              </a:rPr>
              <a:t> — </a:t>
            </a:r>
            <a:r>
              <a:rPr b="1" sz="1500">
                <a:solidFill>
                  <a:srgbClr val="F2F2F2"/>
                </a:solidFill>
                <a:latin typeface="Arial"/>
              </a:rPr>
              <a:t>exact</a:t>
            </a:r>
            <a:r>
              <a:rPr b="0" sz="1500">
                <a:solidFill>
                  <a:srgbClr val="F2F2F2"/>
                </a:solidFill>
                <a:latin typeface="Arial"/>
              </a:rPr>
              <a:t> cifrele din Excel (L13), acum pe toată baza cu o linie de SQL.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23472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⚠️ </a:t>
            </a:r>
            <a:r>
              <a:rPr sz="1300">
                <a:solidFill>
                  <a:srgbClr val="FFA24E"/>
                </a:solidFill>
                <a:latin typeface="Consolas"/>
              </a:rPr>
              <a:t>AVG</a:t>
            </a:r>
            <a:r>
              <a:rPr b="0" sz="1300">
                <a:solidFill>
                  <a:srgbClr val="F2F2F2"/>
                </a:solidFill>
                <a:latin typeface="Arial"/>
              </a:rPr>
              <a:t> împarte și afișează zecimale în plus (</a:t>
            </a:r>
            <a:r>
              <a:rPr sz="1300">
                <a:solidFill>
                  <a:srgbClr val="FFA24E"/>
                </a:solidFill>
                <a:latin typeface="Consolas"/>
              </a:rPr>
              <a:t>2530.6637…</a:t>
            </a:r>
            <a:r>
              <a:rPr b="0" sz="1300">
                <a:solidFill>
                  <a:srgbClr val="F2F2F2"/>
                </a:solidFill>
                <a:latin typeface="Arial"/>
              </a:rPr>
              <a:t>). Îl înfășori în </a:t>
            </a:r>
            <a:r>
              <a:rPr b="1" sz="1300">
                <a:solidFill>
                  <a:srgbClr val="F2F2F2"/>
                </a:solidFill>
                <a:latin typeface="Arial"/>
              </a:rPr>
              <a:t>`ROUND(AVG(…), 2)`</a:t>
            </a:r>
            <a:r>
              <a:rPr b="0" sz="1300">
                <a:solidFill>
                  <a:srgbClr val="F2F2F2"/>
                </a:solidFill>
                <a:latin typeface="Arial"/>
              </a:rPr>
              <a:t> pentru un KPI curat.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L23 · Agregate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2 · LINIA DE KPI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Tot dashboard-ul într-o interogare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188720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COUNT(*) AS Comenzi,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     SUM(TotalAmount) AS Revenue,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     ROUND(AVG(TotalAmount), 2) AS AOV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orders;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3108960"/>
          <a:ext cx="10874959" cy="7498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74904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Comenzi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Revenue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AOV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14968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37.878.974,89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2.530,66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" y="3995928"/>
            <a:ext cx="10874959" cy="8793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Un singur rând, trei numere: ai „dashboard-ul” de KPI-uri într-o interogare.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L23 · Agregate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3 · KPI PE FELIE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Septembrie: agregat + WHERE (−14,9%)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188720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COUNT(*) AS Comenzi, SUM(TotalAmount) AS Revenue,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     ROUND(AVG(TotalAmount), 2) AS AOV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orders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WHERE OrderDate &gt;= '2025-09-01' AND OrderDate &lt; '2025-10-01';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0896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🖥️ </a:t>
            </a:r>
            <a:r>
              <a:rPr b="1" sz="1500">
                <a:solidFill>
                  <a:srgbClr val="F2F2F2"/>
                </a:solidFill>
                <a:latin typeface="Arial"/>
              </a:rPr>
              <a:t>454</a:t>
            </a:r>
            <a:r>
              <a:rPr b="0" sz="1500">
                <a:solidFill>
                  <a:srgbClr val="F2F2F2"/>
                </a:solidFill>
                <a:latin typeface="Arial"/>
              </a:rPr>
              <a:t> comenzi, Revenue </a:t>
            </a:r>
            <a:r>
              <a:rPr b="1" sz="1500">
                <a:solidFill>
                  <a:srgbClr val="F2F2F2"/>
                </a:solidFill>
                <a:latin typeface="Arial"/>
              </a:rPr>
              <a:t>1.126.418,50</a:t>
            </a:r>
            <a:r>
              <a:rPr b="0" sz="1500">
                <a:solidFill>
                  <a:srgbClr val="F2F2F2"/>
                </a:solidFill>
                <a:latin typeface="Arial"/>
              </a:rPr>
              <a:t>, AOV </a:t>
            </a:r>
            <a:r>
              <a:rPr b="1" sz="1500">
                <a:solidFill>
                  <a:srgbClr val="F2F2F2"/>
                </a:solidFill>
                <a:latin typeface="Arial"/>
              </a:rPr>
              <a:t>2.481,10</a:t>
            </a:r>
            <a:r>
              <a:rPr b="0" sz="1500">
                <a:solidFill>
                  <a:srgbClr val="F2F2F2"/>
                </a:solidFill>
                <a:latin typeface="Arial"/>
              </a:rPr>
              <a:t> — felia din septembrie. Agregatul se aplică pe rândurile rămase după </a:t>
            </a:r>
            <a:r>
              <a:rPr sz="15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456644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✅ MILESTONE: august </a:t>
            </a:r>
            <a:r>
              <a:rPr sz="1300">
                <a:solidFill>
                  <a:srgbClr val="FFA24E"/>
                </a:solidFill>
                <a:latin typeface="Consolas"/>
              </a:rPr>
              <a:t>1.324.375,59</a:t>
            </a:r>
            <a:r>
              <a:rPr b="0" sz="1300">
                <a:solidFill>
                  <a:srgbClr val="F2F2F2"/>
                </a:solidFill>
                <a:latin typeface="Arial"/>
              </a:rPr>
              <a:t> → septembrie </a:t>
            </a:r>
            <a:r>
              <a:rPr sz="1300">
                <a:solidFill>
                  <a:srgbClr val="FFA24E"/>
                </a:solidFill>
                <a:latin typeface="Consolas"/>
              </a:rPr>
              <a:t>1.126.418,50</a:t>
            </a:r>
            <a:r>
              <a:rPr b="0" sz="1300">
                <a:solidFill>
                  <a:srgbClr val="F2F2F2"/>
                </a:solidFill>
                <a:latin typeface="Arial"/>
              </a:rPr>
              <a:t> = </a:t>
            </a:r>
            <a:r>
              <a:rPr b="1" sz="1300">
                <a:solidFill>
                  <a:srgbClr val="F2F2F2"/>
                </a:solidFill>
                <a:latin typeface="Arial"/>
              </a:rPr>
              <a:t>−14,9%</a:t>
            </a:r>
            <a:r>
              <a:rPr b="0" sz="1300">
                <a:solidFill>
                  <a:srgbClr val="F2F2F2"/>
                </a:solidFill>
                <a:latin typeface="Arial"/>
              </a:rPr>
              <a:t> — finding-ul #1, recalculat în SQL cu două </a:t>
            </a:r>
            <a:r>
              <a:rPr sz="1300">
                <a:solidFill>
                  <a:srgbClr val="FFA24E"/>
                </a:solidFill>
                <a:latin typeface="Consolas"/>
              </a:rPr>
              <a:t>SUM</a:t>
            </a:r>
            <a:r>
              <a:rPr b="0" sz="1300">
                <a:solidFill>
                  <a:srgbClr val="F2F2F2"/>
                </a:solidFill>
                <a:latin typeface="Arial"/>
              </a:rPr>
              <a:t>-uri.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L23 · Agregate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4 · COUNT VS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Capcana Ioanei, rezolvată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955547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COUNT(*) AS Toate,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     COUNT(CampaignID) AS CuCampanie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orders;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2875788"/>
          <a:ext cx="10874959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7033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Agregat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Ce numără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Rezultat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COUNT(*)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toate rândurile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14968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COUNT(CampaignID)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doar non-</a:t>
                      </a:r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NULL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4530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diferența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comenzi fără campanie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10438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" y="4494276"/>
            <a:ext cx="10874959" cy="8793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Diferența — </a:t>
            </a:r>
            <a:r>
              <a:rPr b="1" sz="1300">
                <a:solidFill>
                  <a:srgbClr val="F2F2F2"/>
                </a:solidFill>
                <a:latin typeface="Arial"/>
              </a:rPr>
              <a:t>10438</a:t>
            </a:r>
            <a:r>
              <a:rPr b="0" sz="1300">
                <a:solidFill>
                  <a:srgbClr val="F2F2F2"/>
                </a:solidFill>
                <a:latin typeface="Arial"/>
              </a:rPr>
              <a:t> — sunt comenzile fără campanie (ecou L21). De-aia Ioana a greșit.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L23 · Agregate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 CE CONTEAZĂ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Greșelile de junior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`COUNT(coloană)` când voiai `COUNT(*)`</a:t>
            </a:r>
            <a:r>
              <a:rPr b="0" sz="1400">
                <a:solidFill>
                  <a:srgbClr val="F2F2F2"/>
                </a:solidFill>
                <a:latin typeface="Arial"/>
              </a:rPr>
              <a:t> → numeri doar non-</a:t>
            </a:r>
            <a:r>
              <a:rPr sz="1400">
                <a:solidFill>
                  <a:srgbClr val="FFA24E"/>
                </a:solidFill>
                <a:latin typeface="Consolas"/>
              </a:rPr>
              <a:t>NULL</a:t>
            </a:r>
            <a:r>
              <a:rPr b="0" sz="1400">
                <a:solidFill>
                  <a:srgbClr val="F2F2F2"/>
                </a:solidFill>
                <a:latin typeface="Arial"/>
              </a:rPr>
              <a:t> (4530, nu 14968) — greșeala Ioanei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agregi un cod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SUM(StoreID)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sz="1400">
                <a:solidFill>
                  <a:srgbClr val="FFA24E"/>
                </a:solidFill>
                <a:latin typeface="Consolas"/>
              </a:rPr>
              <a:t>AVG(OrderID)</a:t>
            </a:r>
            <a:r>
              <a:rPr b="0" sz="1400">
                <a:solidFill>
                  <a:srgbClr val="F2F2F2"/>
                </a:solidFill>
                <a:latin typeface="Arial"/>
              </a:rPr>
              <a:t>) → agregi o </a:t>
            </a:r>
            <a:r>
              <a:rPr b="1" sz="1400">
                <a:solidFill>
                  <a:srgbClr val="F2F2F2"/>
                </a:solidFill>
                <a:latin typeface="Arial"/>
              </a:rPr>
              <a:t>cantitate</a:t>
            </a:r>
            <a:r>
              <a:rPr b="0" sz="1400">
                <a:solidFill>
                  <a:srgbClr val="F2F2F2"/>
                </a:solidFill>
                <a:latin typeface="Arial"/>
              </a:rPr>
              <a:t>, nu un cod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confunzi funcțiile</a:t>
            </a:r>
            <a:r>
              <a:rPr b="0" sz="1400">
                <a:solidFill>
                  <a:srgbClr val="F2F2F2"/>
                </a:solidFill>
                <a:latin typeface="Arial"/>
              </a:rPr>
              <a:t> → </a:t>
            </a:r>
            <a:r>
              <a:rPr sz="1400">
                <a:solidFill>
                  <a:srgbClr val="FFA24E"/>
                </a:solidFill>
                <a:latin typeface="Consolas"/>
              </a:rPr>
              <a:t>COUNT</a:t>
            </a:r>
            <a:r>
              <a:rPr b="0" sz="1400">
                <a:solidFill>
                  <a:srgbClr val="F2F2F2"/>
                </a:solidFill>
                <a:latin typeface="Arial"/>
              </a:rPr>
              <a:t> = câte · </a:t>
            </a:r>
            <a:r>
              <a:rPr sz="1400">
                <a:solidFill>
                  <a:srgbClr val="FFA24E"/>
                </a:solidFill>
                <a:latin typeface="Consolas"/>
              </a:rPr>
              <a:t>SUM</a:t>
            </a:r>
            <a:r>
              <a:rPr b="0" sz="1400">
                <a:solidFill>
                  <a:srgbClr val="F2F2F2"/>
                </a:solidFill>
                <a:latin typeface="Arial"/>
              </a:rPr>
              <a:t> = total · </a:t>
            </a:r>
            <a:r>
              <a:rPr sz="1400">
                <a:solidFill>
                  <a:srgbClr val="FFA24E"/>
                </a:solidFill>
                <a:latin typeface="Consolas"/>
              </a:rPr>
              <a:t>AVG</a:t>
            </a:r>
            <a:r>
              <a:rPr b="0" sz="1400">
                <a:solidFill>
                  <a:srgbClr val="F2F2F2"/>
                </a:solidFill>
                <a:latin typeface="Arial"/>
              </a:rPr>
              <a:t> = media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agregat lângă o coloană ne-agregată</a:t>
            </a:r>
            <a:r>
              <a:rPr b="0" sz="1400">
                <a:solidFill>
                  <a:srgbClr val="F2F2F2"/>
                </a:solidFill>
                <a:latin typeface="Arial"/>
              </a:rPr>
              <a:t>, fără </a:t>
            </a:r>
            <a:r>
              <a:rPr sz="1400">
                <a:solidFill>
                  <a:srgbClr val="FFA24E"/>
                </a:solidFill>
                <a:latin typeface="Consolas"/>
              </a:rPr>
              <a:t>GROUP BY</a:t>
            </a:r>
            <a:r>
              <a:rPr b="0" sz="1400">
                <a:solidFill>
                  <a:srgbClr val="F2F2F2"/>
                </a:solidFill>
                <a:latin typeface="Arial"/>
              </a:rPr>
              <a:t> → dă eroare (aia e L24)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L23 · Agregate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Milestone: KPI-urile din Excel, în 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funcțiile de agregare strâng o coloană într-un număr: </a:t>
            </a:r>
            <a:r>
              <a:rPr sz="1400">
                <a:solidFill>
                  <a:srgbClr val="FFA24E"/>
                </a:solidFill>
                <a:latin typeface="Consolas"/>
              </a:rPr>
              <a:t>COUNT</a:t>
            </a:r>
            <a:r>
              <a:rPr b="0" sz="1400">
                <a:solidFill>
                  <a:srgbClr val="F2F2F2"/>
                </a:solidFill>
                <a:latin typeface="Arial"/>
              </a:rPr>
              <a:t>/</a:t>
            </a:r>
            <a:r>
              <a:rPr sz="1400">
                <a:solidFill>
                  <a:srgbClr val="FFA24E"/>
                </a:solidFill>
                <a:latin typeface="Consolas"/>
              </a:rPr>
              <a:t>SUM</a:t>
            </a:r>
            <a:r>
              <a:rPr b="0" sz="1400">
                <a:solidFill>
                  <a:srgbClr val="F2F2F2"/>
                </a:solidFill>
                <a:latin typeface="Arial"/>
              </a:rPr>
              <a:t>/</a:t>
            </a:r>
            <a:r>
              <a:rPr sz="1400">
                <a:solidFill>
                  <a:srgbClr val="FFA24E"/>
                </a:solidFill>
                <a:latin typeface="Consolas"/>
              </a:rPr>
              <a:t>AVG</a:t>
            </a:r>
            <a:r>
              <a:rPr b="0" sz="1400">
                <a:solidFill>
                  <a:srgbClr val="F2F2F2"/>
                </a:solidFill>
                <a:latin typeface="Arial"/>
              </a:rPr>
              <a:t>/</a:t>
            </a:r>
            <a:r>
              <a:rPr sz="1400">
                <a:solidFill>
                  <a:srgbClr val="FFA24E"/>
                </a:solidFill>
                <a:latin typeface="Consolas"/>
              </a:rPr>
              <a:t>MIN</a:t>
            </a:r>
            <a:r>
              <a:rPr b="0" sz="1400">
                <a:solidFill>
                  <a:srgbClr val="F2F2F2"/>
                </a:solidFill>
                <a:latin typeface="Arial"/>
              </a:rPr>
              <a:t>/</a:t>
            </a:r>
            <a:r>
              <a:rPr sz="1400">
                <a:solidFill>
                  <a:srgbClr val="FFA24E"/>
                </a:solidFill>
                <a:latin typeface="Consolas"/>
              </a:rPr>
              <a:t>MAX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`COUNT(*)` numără rândurile; `COUNT(coloană)` sare peste `NULL`</a:t>
            </a:r>
            <a:r>
              <a:rPr b="0" sz="1400">
                <a:solidFill>
                  <a:srgbClr val="F2F2F2"/>
                </a:solidFill>
                <a:latin typeface="Arial"/>
              </a:rPr>
              <a:t> (14968 vs 4530)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un </a:t>
            </a:r>
            <a:r>
              <a:rPr b="1" sz="1400">
                <a:solidFill>
                  <a:srgbClr val="F2F2F2"/>
                </a:solidFill>
                <a:latin typeface="Arial"/>
              </a:rPr>
              <a:t>agregat + `WHERE`</a:t>
            </a:r>
            <a:r>
              <a:rPr b="0" sz="1400">
                <a:solidFill>
                  <a:srgbClr val="F2F2F2"/>
                </a:solidFill>
                <a:latin typeface="Arial"/>
              </a:rPr>
              <a:t> = un KPI pe o felie (septembrie </a:t>
            </a:r>
            <a:r>
              <a:rPr sz="1400">
                <a:solidFill>
                  <a:srgbClr val="FFA24E"/>
                </a:solidFill>
                <a:latin typeface="Consolas"/>
              </a:rPr>
              <a:t>1.126.418,50</a:t>
            </a:r>
            <a:r>
              <a:rPr b="0" sz="1400">
                <a:solidFill>
                  <a:srgbClr val="F2F2F2"/>
                </a:solidFill>
                <a:latin typeface="Arial"/>
              </a:rPr>
              <a:t>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ai regăsit KPI-urile din L13: Revenue </a:t>
            </a:r>
            <a:r>
              <a:rPr sz="1400">
                <a:solidFill>
                  <a:srgbClr val="FFA24E"/>
                </a:solidFill>
                <a:latin typeface="Consolas"/>
              </a:rPr>
              <a:t>37.878.974,89</a:t>
            </a:r>
            <a:r>
              <a:rPr b="0" sz="1400">
                <a:solidFill>
                  <a:srgbClr val="F2F2F2"/>
                </a:solidFill>
                <a:latin typeface="Arial"/>
              </a:rPr>
              <a:t>, comenzi </a:t>
            </a:r>
            <a:r>
              <a:rPr sz="1400">
                <a:solidFill>
                  <a:srgbClr val="FFA24E"/>
                </a:solidFill>
                <a:latin typeface="Consolas"/>
              </a:rPr>
              <a:t>14968</a:t>
            </a:r>
            <a:r>
              <a:rPr b="0" sz="1400">
                <a:solidFill>
                  <a:srgbClr val="F2F2F2"/>
                </a:solidFill>
                <a:latin typeface="Arial"/>
              </a:rPr>
              <a:t>, AOV </a:t>
            </a:r>
            <a:r>
              <a:rPr sz="1400">
                <a:solidFill>
                  <a:srgbClr val="FFA24E"/>
                </a:solidFill>
                <a:latin typeface="Consolas"/>
              </a:rPr>
              <a:t>2.530,66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MILESTONE de proiect: KPI-urile din Excel trăiesc în SQL. Punte → </a:t>
            </a:r>
            <a:r>
              <a:rPr b="1" sz="1300">
                <a:solidFill>
                  <a:srgbClr val="F2F2F2"/>
                </a:solidFill>
                <a:latin typeface="Arial"/>
              </a:rPr>
              <a:t>L24: `GROUP BY`</a:t>
            </a:r>
            <a:r>
              <a:rPr b="0" sz="1300">
                <a:solidFill>
                  <a:srgbClr val="F2F2F2"/>
                </a:solidFill>
                <a:latin typeface="Arial"/>
              </a:rPr>
              <a:t> — aceleași agregate, dar </a:t>
            </a:r>
            <a:r>
              <a:rPr b="1" sz="1300">
                <a:solidFill>
                  <a:srgbClr val="F2F2F2"/>
                </a:solidFill>
                <a:latin typeface="Arial"/>
              </a:rPr>
              <a:t>pe fiecare grup</a:t>
            </a:r>
            <a:r>
              <a:rPr b="0" sz="1300">
                <a:solidFill>
                  <a:srgbClr val="F2F2F2"/>
                </a:solidFill>
                <a:latin typeface="Arial"/>
              </a:rPr>
              <a:t> (magazin, categorie, lună).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L23 · Agregate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L23 · Agregate  ·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